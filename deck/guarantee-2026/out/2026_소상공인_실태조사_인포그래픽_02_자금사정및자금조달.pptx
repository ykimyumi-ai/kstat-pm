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753905" cy="14630400"/>
  <p:notesSz cx="14630400" cy="97539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현재 (2025→2026)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91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원자재·재료비 상승</c:v>
                  </c:pt>
                  <c:pt idx="2">
                    <c:v>자금조달 여건</c:v>
                  </c:pt>
                  <c:pt idx="3">
                    <c:v>경기 불확실성</c:v>
                  </c:pt>
                  <c:pt idx="4">
                    <c:v>매출 변화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15.8</c:v>
                </c:pt>
                <c:pt idx="2">
                  <c:v>23.3</c:v>
                </c:pt>
                <c:pt idx="3">
                  <c:v>57.1</c:v>
                </c:pt>
                <c:pt idx="4">
                  <c:v>68.9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91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미래 전망 (2026→2027)</c:v>
                </c:pt>
              </c:strCache>
            </c:strRef>
          </c:tx>
          <c:spPr>
            <a:solidFill>
              <a:srgbClr val="B9DBF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910" u="none">
                    <a:solidFill>
                      <a:srgbClr val="00449C"/>
                    </a:solidFill>
                    <a:latin typeface="KoPub돋움체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DB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C0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9B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6F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4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기타</c:v>
                  </c:pt>
                  <c:pt idx="1">
                    <c:v>원자재·재료비 상승</c:v>
                  </c:pt>
                  <c:pt idx="2">
                    <c:v>자금조달 여건</c:v>
                  </c:pt>
                  <c:pt idx="3">
                    <c:v>경기 불확실성</c:v>
                  </c:pt>
                  <c:pt idx="4">
                    <c:v>매출 변화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6.6</c:v>
                </c:pt>
                <c:pt idx="1">
                  <c:v>17</c:v>
                </c:pt>
                <c:pt idx="2">
                  <c:v>24.4</c:v>
                </c:pt>
                <c:pt idx="3">
                  <c:v>64</c:v>
                </c:pt>
                <c:pt idx="4">
                  <c:v>73.9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910" u="none">
                  <a:solidFill>
                    <a:srgbClr val="00449C"/>
                  </a:solidFill>
                  <a:latin typeface="KoPub돋움체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chart" Target="/ppt/charts/chart1.xml"/><Relationship Id="rId12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3" Type="http://schemas.openxmlformats.org/officeDocument/2006/relationships/image" Target="../media/image-1-11.png"/><Relationship Id="rId14" Type="http://schemas.openxmlformats.org/officeDocument/2006/relationships/image" Target="../media/image-1-12.png"/><Relationship Id="rId15" Type="http://schemas.openxmlformats.org/officeDocument/2006/relationships/image" Target="../media/image-1-13.png"/><Relationship Id="rId16" Type="http://schemas.openxmlformats.org/officeDocument/2006/relationships/image" Target="../media/image-1-14.png"/><Relationship Id="rId17" Type="http://schemas.openxmlformats.org/officeDocument/2006/relationships/image" Target="../media/image-1-15.png"/><Relationship Id="rId18" Type="http://schemas.openxmlformats.org/officeDocument/2006/relationships/image" Target="../media/image-1-16.png"/><Relationship Id="rId19" Type="http://schemas.openxmlformats.org/officeDocument/2006/relationships/image" Target="../media/image-1-17.png"/><Relationship Id="rId20" Type="http://schemas.openxmlformats.org/officeDocument/2006/relationships/image" Target="../media/image-1-18.png"/><Relationship Id="rId21" Type="http://schemas.openxmlformats.org/officeDocument/2006/relationships/image" Target="../media/image-1-19.png"/><Relationship Id="rId22" Type="http://schemas.openxmlformats.org/officeDocument/2006/relationships/image" Target="../media/image-1-20.png"/><Relationship Id="rId23" Type="http://schemas.openxmlformats.org/officeDocument/2006/relationships/image" Target="../media/image-1-21.png"/><Relationship Id="rId24" Type="http://schemas.openxmlformats.org/officeDocument/2006/relationships/image" Target="../media/image-1-22.png"/><Relationship Id="rId25" Type="http://schemas.openxmlformats.org/officeDocument/2006/relationships/image" Target="../media/image-1-23.png"/><Relationship Id="rId26" Type="http://schemas.openxmlformats.org/officeDocument/2006/relationships/image" Target="../media/image-1-24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02-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496" y="182880"/>
            <a:ext cx="3267151" cy="1780337"/>
          </a:xfrm>
          <a:prstGeom prst="rect">
            <a:avLst/>
          </a:prstGeom>
        </p:spPr>
      </p:pic>
      <p:pic>
        <p:nvPicPr>
          <p:cNvPr id="3" name="Image 1" descr="g02-hero-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926287"/>
            <a:ext cx="390449" cy="10241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04495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5" name="Shape 1"/>
          <p:cNvSpPr/>
          <p:nvPr/>
        </p:nvSpPr>
        <p:spPr>
          <a:xfrm>
            <a:off x="1140257" y="21305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6" name="Shape 2"/>
          <p:cNvSpPr/>
          <p:nvPr/>
        </p:nvSpPr>
        <p:spPr>
          <a:xfrm>
            <a:off x="304495" y="94457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7" name="Shape 3"/>
          <p:cNvSpPr/>
          <p:nvPr/>
        </p:nvSpPr>
        <p:spPr>
          <a:xfrm>
            <a:off x="1140257" y="944575"/>
            <a:ext cx="267919" cy="267919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8" name="Shape 4"/>
          <p:cNvSpPr/>
          <p:nvPr/>
        </p:nvSpPr>
        <p:spPr>
          <a:xfrm>
            <a:off x="438912" y="213055"/>
            <a:ext cx="834847" cy="999439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9" name="Shape 5"/>
          <p:cNvSpPr/>
          <p:nvPr/>
        </p:nvSpPr>
        <p:spPr>
          <a:xfrm>
            <a:off x="304495" y="347472"/>
            <a:ext cx="1103681" cy="731520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0" name="Text 6"/>
          <p:cNvSpPr/>
          <p:nvPr/>
        </p:nvSpPr>
        <p:spPr>
          <a:xfrm>
            <a:off x="304495" y="213055"/>
            <a:ext cx="1103681" cy="999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0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5030" dirty="0"/>
          </a:p>
        </p:txBody>
      </p:sp>
      <p:sp>
        <p:nvSpPr>
          <p:cNvPr id="11" name="Text 7"/>
          <p:cNvSpPr/>
          <p:nvPr/>
        </p:nvSpPr>
        <p:spPr>
          <a:xfrm>
            <a:off x="1719072" y="280721"/>
            <a:ext cx="4541825" cy="67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780" b="1" dirty="0">
                <a:solidFill>
                  <a:srgbClr val="00337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 사정 및 자금 조달</a:t>
            </a:r>
            <a:endParaRPr lang="en-US" sz="3780" dirty="0"/>
          </a:p>
        </p:txBody>
      </p:sp>
      <p:sp>
        <p:nvSpPr>
          <p:cNvPr id="12" name="Text 8"/>
          <p:cNvSpPr/>
          <p:nvPr/>
        </p:nvSpPr>
        <p:spPr>
          <a:xfrm>
            <a:off x="1719072" y="920801"/>
            <a:ext cx="4267505" cy="792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 자금사정은 다소 어렵지만,</a:t>
            </a:r>
            <a:endParaRPr lang="en-US" sz="171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71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회복과 불확실성 해소가 핵심 과제입니다.</a:t>
            </a:r>
            <a:endParaRPr lang="en-US" sz="1710" dirty="0"/>
          </a:p>
        </p:txBody>
      </p:sp>
      <p:sp>
        <p:nvSpPr>
          <p:cNvPr id="13" name="Shape 9"/>
          <p:cNvSpPr/>
          <p:nvPr/>
        </p:nvSpPr>
        <p:spPr>
          <a:xfrm>
            <a:off x="317297" y="201808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107424" y="201808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7297" y="517550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07424" y="517550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5488" y="2018081"/>
            <a:ext cx="879104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17297" y="2176272"/>
            <a:ext cx="9107424" cy="3157423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" y="2027225"/>
            <a:ext cx="8791042" cy="3456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26441" y="2176272"/>
            <a:ext cx="9089136" cy="315742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487375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2" name="Shape 18"/>
          <p:cNvSpPr/>
          <p:nvPr/>
        </p:nvSpPr>
        <p:spPr>
          <a:xfrm>
            <a:off x="2566721" y="2157984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3" name="Shape 19"/>
          <p:cNvSpPr/>
          <p:nvPr/>
        </p:nvSpPr>
        <p:spPr>
          <a:xfrm>
            <a:off x="487375" y="248716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4" name="Shape 20"/>
          <p:cNvSpPr/>
          <p:nvPr/>
        </p:nvSpPr>
        <p:spPr>
          <a:xfrm>
            <a:off x="2566721" y="248716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25" name="Shape 21"/>
          <p:cNvSpPr/>
          <p:nvPr/>
        </p:nvSpPr>
        <p:spPr>
          <a:xfrm>
            <a:off x="560527" y="2157984"/>
            <a:ext cx="2078431" cy="47548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6" name="Shape 22"/>
          <p:cNvSpPr/>
          <p:nvPr/>
        </p:nvSpPr>
        <p:spPr>
          <a:xfrm>
            <a:off x="487375" y="2231136"/>
            <a:ext cx="2224735" cy="329184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8" name="Shape 24"/>
          <p:cNvSpPr/>
          <p:nvPr/>
        </p:nvSpPr>
        <p:spPr>
          <a:xfrm>
            <a:off x="792785" y="2157984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9" name="Shape 25"/>
          <p:cNvSpPr/>
          <p:nvPr/>
        </p:nvSpPr>
        <p:spPr>
          <a:xfrm>
            <a:off x="487375" y="248716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0" name="Shape 26"/>
          <p:cNvSpPr/>
          <p:nvPr/>
        </p:nvSpPr>
        <p:spPr>
          <a:xfrm>
            <a:off x="792785" y="248716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31" name="Shape 27"/>
          <p:cNvSpPr/>
          <p:nvPr/>
        </p:nvSpPr>
        <p:spPr>
          <a:xfrm>
            <a:off x="560527" y="2157984"/>
            <a:ext cx="304495" cy="4754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2" name="Shape 28"/>
          <p:cNvSpPr/>
          <p:nvPr/>
        </p:nvSpPr>
        <p:spPr>
          <a:xfrm>
            <a:off x="487375" y="2231136"/>
            <a:ext cx="450799" cy="32918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33" name="Text 29"/>
          <p:cNvSpPr/>
          <p:nvPr/>
        </p:nvSpPr>
        <p:spPr>
          <a:xfrm>
            <a:off x="487375" y="2157984"/>
            <a:ext cx="45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2310" dirty="0"/>
          </a:p>
        </p:txBody>
      </p:sp>
      <p:sp>
        <p:nvSpPr>
          <p:cNvPr id="34" name="Text 30"/>
          <p:cNvSpPr/>
          <p:nvPr/>
        </p:nvSpPr>
        <p:spPr>
          <a:xfrm>
            <a:off x="1097280" y="21579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자금사정 체감도</a:t>
            </a:r>
            <a:endParaRPr lang="en-US" sz="1730" dirty="0"/>
          </a:p>
        </p:txBody>
      </p:sp>
      <p:sp>
        <p:nvSpPr>
          <p:cNvPr id="35" name="Text 31"/>
          <p:cNvSpPr/>
          <p:nvPr/>
        </p:nvSpPr>
        <p:spPr>
          <a:xfrm>
            <a:off x="2901391" y="2243023"/>
            <a:ext cx="6340450" cy="377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1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현재와 미래 전망 모두 ‘보통(4점)’에 못 미쳐, 체감 자금사정은 다소 어려운 수준입니다.</a:t>
            </a:r>
            <a:endParaRPr lang="en-US" sz="1310" dirty="0"/>
          </a:p>
        </p:txBody>
      </p:sp>
      <p:sp>
        <p:nvSpPr>
          <p:cNvPr id="36" name="Shape 32"/>
          <p:cNvSpPr/>
          <p:nvPr/>
        </p:nvSpPr>
        <p:spPr>
          <a:xfrm>
            <a:off x="4913986" y="2864815"/>
            <a:ext cx="0" cy="2438705"/>
          </a:xfrm>
          <a:prstGeom prst="line">
            <a:avLst/>
          </a:prstGeom>
          <a:noFill/>
          <a:ln w="12700">
            <a:solidFill>
              <a:srgbClr val="DCE6F1"/>
            </a:solidFill>
            <a:prstDash val="solid"/>
          </a:ln>
        </p:spPr>
      </p:sp>
      <p:pic>
        <p:nvPicPr>
          <p:cNvPr id="37" name="Image 2" descr="g02-th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49" y="2974543"/>
            <a:ext cx="1292047" cy="2402129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1877263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39" name="Shape 34"/>
          <p:cNvSpPr/>
          <p:nvPr/>
        </p:nvSpPr>
        <p:spPr>
          <a:xfrm>
            <a:off x="4297680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0" name="Shape 35"/>
          <p:cNvSpPr/>
          <p:nvPr/>
        </p:nvSpPr>
        <p:spPr>
          <a:xfrm>
            <a:off x="1877263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1" name="Shape 36"/>
          <p:cNvSpPr/>
          <p:nvPr/>
        </p:nvSpPr>
        <p:spPr>
          <a:xfrm>
            <a:off x="4297680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42" name="Shape 37"/>
          <p:cNvSpPr/>
          <p:nvPr/>
        </p:nvSpPr>
        <p:spPr>
          <a:xfrm>
            <a:off x="1999793" y="2907792"/>
            <a:ext cx="2420417" cy="408737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3" name="Shape 38"/>
          <p:cNvSpPr/>
          <p:nvPr/>
        </p:nvSpPr>
        <p:spPr>
          <a:xfrm>
            <a:off x="1877263" y="3029407"/>
            <a:ext cx="2663647" cy="164592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44" name="Text 39"/>
          <p:cNvSpPr/>
          <p:nvPr/>
        </p:nvSpPr>
        <p:spPr>
          <a:xfrm>
            <a:off x="1877263" y="2907792"/>
            <a:ext cx="2663647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 자금사정</a:t>
            </a:r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(2025→2026)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1737360" y="3474720"/>
            <a:ext cx="304769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7점 평균 (①매우악화 ~ ⑦매우호전)</a:t>
            </a:r>
            <a:endParaRPr lang="en-US" sz="1490" dirty="0"/>
          </a:p>
        </p:txBody>
      </p:sp>
      <p:sp>
        <p:nvSpPr>
          <p:cNvPr id="46" name="Text 41"/>
          <p:cNvSpPr/>
          <p:nvPr/>
        </p:nvSpPr>
        <p:spPr>
          <a:xfrm>
            <a:off x="2586775" y="3448787"/>
            <a:ext cx="1016573" cy="86626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5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3.18</a:t>
            </a:r>
            <a:endParaRPr lang="en-US" sz="3590" dirty="0"/>
          </a:p>
        </p:txBody>
      </p:sp>
      <p:sp>
        <p:nvSpPr>
          <p:cNvPr id="47" name="Text 42"/>
          <p:cNvSpPr/>
          <p:nvPr/>
        </p:nvSpPr>
        <p:spPr>
          <a:xfrm>
            <a:off x="3493620" y="3727552"/>
            <a:ext cx="368869" cy="5646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2340" dirty="0"/>
          </a:p>
        </p:txBody>
      </p:sp>
      <p:sp>
        <p:nvSpPr>
          <p:cNvPr id="48" name="Shape 43"/>
          <p:cNvSpPr/>
          <p:nvPr/>
        </p:nvSpPr>
        <p:spPr>
          <a:xfrm>
            <a:off x="1968703" y="4736592"/>
            <a:ext cx="2377440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1700784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1700784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420" dirty="0"/>
          </a:p>
        </p:txBody>
      </p:sp>
      <p:sp>
        <p:nvSpPr>
          <p:cNvPr id="51" name="Shape 46"/>
          <p:cNvSpPr/>
          <p:nvPr/>
        </p:nvSpPr>
        <p:spPr>
          <a:xfrm>
            <a:off x="2141525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141525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420" dirty="0"/>
          </a:p>
        </p:txBody>
      </p:sp>
      <p:sp>
        <p:nvSpPr>
          <p:cNvPr id="53" name="Shape 48"/>
          <p:cNvSpPr/>
          <p:nvPr/>
        </p:nvSpPr>
        <p:spPr>
          <a:xfrm>
            <a:off x="2583180" y="4602175"/>
            <a:ext cx="267919" cy="267919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B3C88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2583180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420" dirty="0"/>
          </a:p>
        </p:txBody>
      </p:sp>
      <p:sp>
        <p:nvSpPr>
          <p:cNvPr id="55" name="Shape 50"/>
          <p:cNvSpPr/>
          <p:nvPr/>
        </p:nvSpPr>
        <p:spPr>
          <a:xfrm>
            <a:off x="3023921" y="4602175"/>
            <a:ext cx="267919" cy="267919"/>
          </a:xfrm>
          <a:prstGeom prst="ellipse">
            <a:avLst/>
          </a:prstGeom>
          <a:solidFill>
            <a:srgbClr val="BFC6C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3023921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420" dirty="0"/>
          </a:p>
        </p:txBody>
      </p:sp>
      <p:sp>
        <p:nvSpPr>
          <p:cNvPr id="57" name="Shape 52"/>
          <p:cNvSpPr/>
          <p:nvPr/>
        </p:nvSpPr>
        <p:spPr>
          <a:xfrm>
            <a:off x="3464662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3464662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420" dirty="0"/>
          </a:p>
        </p:txBody>
      </p:sp>
      <p:sp>
        <p:nvSpPr>
          <p:cNvPr id="59" name="Shape 54"/>
          <p:cNvSpPr/>
          <p:nvPr/>
        </p:nvSpPr>
        <p:spPr>
          <a:xfrm>
            <a:off x="3905402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3905402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420" dirty="0"/>
          </a:p>
        </p:txBody>
      </p:sp>
      <p:sp>
        <p:nvSpPr>
          <p:cNvPr id="61" name="Shape 56"/>
          <p:cNvSpPr/>
          <p:nvPr/>
        </p:nvSpPr>
        <p:spPr>
          <a:xfrm>
            <a:off x="4346143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4346143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420" dirty="0"/>
          </a:p>
        </p:txBody>
      </p:sp>
      <p:sp>
        <p:nvSpPr>
          <p:cNvPr id="63" name="Shape 58"/>
          <p:cNvSpPr/>
          <p:nvPr/>
        </p:nvSpPr>
        <p:spPr>
          <a:xfrm rot="10800000">
            <a:off x="2625242" y="4395521"/>
            <a:ext cx="182880" cy="158191"/>
          </a:xfrm>
          <a:prstGeom prst="triangle">
            <a:avLst/>
          </a:prstGeom>
          <a:solidFill>
            <a:srgbClr val="0B3C88"/>
          </a:solidFill>
          <a:ln/>
        </p:spPr>
      </p:sp>
      <p:sp>
        <p:nvSpPr>
          <p:cNvPr id="64" name="Text 59"/>
          <p:cNvSpPr/>
          <p:nvPr/>
        </p:nvSpPr>
        <p:spPr>
          <a:xfrm>
            <a:off x="1456639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악화</a:t>
            </a:r>
            <a:endParaRPr lang="en-US" sz="1420" dirty="0"/>
          </a:p>
        </p:txBody>
      </p:sp>
      <p:sp>
        <p:nvSpPr>
          <p:cNvPr id="65" name="Text 60"/>
          <p:cNvSpPr/>
          <p:nvPr/>
        </p:nvSpPr>
        <p:spPr>
          <a:xfrm>
            <a:off x="2779776" y="4889297"/>
            <a:ext cx="75620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보통</a:t>
            </a:r>
            <a:endParaRPr lang="en-US" sz="1420" dirty="0"/>
          </a:p>
        </p:txBody>
      </p:sp>
      <p:sp>
        <p:nvSpPr>
          <p:cNvPr id="66" name="Text 61"/>
          <p:cNvSpPr/>
          <p:nvPr/>
        </p:nvSpPr>
        <p:spPr>
          <a:xfrm>
            <a:off x="4102913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호전</a:t>
            </a:r>
            <a:endParaRPr lang="en-US" sz="1420" dirty="0"/>
          </a:p>
        </p:txBody>
      </p:sp>
      <p:pic>
        <p:nvPicPr>
          <p:cNvPr id="67" name="Image 3" descr="g02-scop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290" y="2889504"/>
            <a:ext cx="1426464" cy="1986991"/>
          </a:xfrm>
          <a:prstGeom prst="rect">
            <a:avLst/>
          </a:prstGeom>
        </p:spPr>
      </p:pic>
      <p:pic>
        <p:nvPicPr>
          <p:cNvPr id="68" name="Image 4" descr="g02-scope-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290" y="4864608"/>
            <a:ext cx="926287" cy="512064"/>
          </a:xfrm>
          <a:prstGeom prst="rect">
            <a:avLst/>
          </a:prstGeom>
        </p:spPr>
      </p:pic>
      <p:sp>
        <p:nvSpPr>
          <p:cNvPr id="69" name="Shape 62"/>
          <p:cNvSpPr/>
          <p:nvPr/>
        </p:nvSpPr>
        <p:spPr>
          <a:xfrm>
            <a:off x="5810098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0" name="Shape 63"/>
          <p:cNvSpPr/>
          <p:nvPr/>
        </p:nvSpPr>
        <p:spPr>
          <a:xfrm>
            <a:off x="8650224" y="2907792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1" name="Shape 64"/>
          <p:cNvSpPr/>
          <p:nvPr/>
        </p:nvSpPr>
        <p:spPr>
          <a:xfrm>
            <a:off x="5810098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2" name="Shape 65"/>
          <p:cNvSpPr/>
          <p:nvPr/>
        </p:nvSpPr>
        <p:spPr>
          <a:xfrm>
            <a:off x="8650224" y="3072384"/>
            <a:ext cx="244145" cy="244145"/>
          </a:xfrm>
          <a:prstGeom prst="ellipse">
            <a:avLst/>
          </a:prstGeom>
          <a:solidFill>
            <a:srgbClr val="E8F1FB"/>
          </a:solidFill>
          <a:ln/>
        </p:spPr>
      </p:sp>
      <p:sp>
        <p:nvSpPr>
          <p:cNvPr id="73" name="Shape 66"/>
          <p:cNvSpPr/>
          <p:nvPr/>
        </p:nvSpPr>
        <p:spPr>
          <a:xfrm>
            <a:off x="5931713" y="2907792"/>
            <a:ext cx="2841041" cy="408737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74" name="Shape 67"/>
          <p:cNvSpPr/>
          <p:nvPr/>
        </p:nvSpPr>
        <p:spPr>
          <a:xfrm>
            <a:off x="5810098" y="3029407"/>
            <a:ext cx="3084271" cy="164592"/>
          </a:xfrm>
          <a:prstGeom prst="rect">
            <a:avLst/>
          </a:prstGeom>
          <a:solidFill>
            <a:srgbClr val="E8F1FB"/>
          </a:solidFill>
          <a:ln/>
        </p:spPr>
      </p:sp>
      <p:sp>
        <p:nvSpPr>
          <p:cNvPr id="75" name="Text 68"/>
          <p:cNvSpPr/>
          <p:nvPr/>
        </p:nvSpPr>
        <p:spPr>
          <a:xfrm>
            <a:off x="5810098" y="2907792"/>
            <a:ext cx="3084271" cy="408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1년 후 자금사정 전망</a:t>
            </a:r>
            <a:pPr algn="ctr" indent="0" marL="0">
              <a:lnSpc>
                <a:spcPct val="95000"/>
              </a:lnSpc>
              <a:buNone/>
            </a:pPr>
            <a:r>
              <a:rPr lang="en-US" sz="13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(2026→2027)</a:t>
            </a:r>
            <a:endParaRPr lang="en-US" sz="1200" dirty="0"/>
          </a:p>
        </p:txBody>
      </p:sp>
      <p:sp>
        <p:nvSpPr>
          <p:cNvPr id="76" name="Text 69"/>
          <p:cNvSpPr/>
          <p:nvPr/>
        </p:nvSpPr>
        <p:spPr>
          <a:xfrm>
            <a:off x="6096305" y="3474720"/>
            <a:ext cx="3047695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7점 평균 (①매우악화 ~ ⑦매우호전)</a:t>
            </a:r>
            <a:endParaRPr lang="en-US" sz="1490" dirty="0"/>
          </a:p>
        </p:txBody>
      </p:sp>
      <p:sp>
        <p:nvSpPr>
          <p:cNvPr id="77" name="Text 70"/>
          <p:cNvSpPr/>
          <p:nvPr/>
        </p:nvSpPr>
        <p:spPr>
          <a:xfrm>
            <a:off x="6975895" y="3448787"/>
            <a:ext cx="1016573" cy="86626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5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3.32</a:t>
            </a:r>
            <a:endParaRPr lang="en-US" sz="3590" dirty="0"/>
          </a:p>
        </p:txBody>
      </p:sp>
      <p:sp>
        <p:nvSpPr>
          <p:cNvPr id="78" name="Text 71"/>
          <p:cNvSpPr/>
          <p:nvPr/>
        </p:nvSpPr>
        <p:spPr>
          <a:xfrm>
            <a:off x="7882740" y="3727552"/>
            <a:ext cx="368869" cy="56464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4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점</a:t>
            </a:r>
            <a:endParaRPr lang="en-US" sz="2340" dirty="0"/>
          </a:p>
        </p:txBody>
      </p:sp>
      <p:sp>
        <p:nvSpPr>
          <p:cNvPr id="79" name="Shape 72"/>
          <p:cNvSpPr/>
          <p:nvPr/>
        </p:nvSpPr>
        <p:spPr>
          <a:xfrm>
            <a:off x="6315761" y="4736592"/>
            <a:ext cx="2395728" cy="0"/>
          </a:xfrm>
          <a:prstGeom prst="line">
            <a:avLst/>
          </a:prstGeom>
          <a:noFill/>
          <a:ln w="19050">
            <a:solidFill>
              <a:srgbClr val="DCE3EB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6047842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1" name="Text 74"/>
          <p:cNvSpPr/>
          <p:nvPr/>
        </p:nvSpPr>
        <p:spPr>
          <a:xfrm>
            <a:off x="6047842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420" dirty="0"/>
          </a:p>
        </p:txBody>
      </p:sp>
      <p:sp>
        <p:nvSpPr>
          <p:cNvPr id="82" name="Shape 75"/>
          <p:cNvSpPr/>
          <p:nvPr/>
        </p:nvSpPr>
        <p:spPr>
          <a:xfrm>
            <a:off x="6491326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3" name="Text 76"/>
          <p:cNvSpPr/>
          <p:nvPr/>
        </p:nvSpPr>
        <p:spPr>
          <a:xfrm>
            <a:off x="6491326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420" dirty="0"/>
          </a:p>
        </p:txBody>
      </p:sp>
      <p:sp>
        <p:nvSpPr>
          <p:cNvPr id="84" name="Shape 77"/>
          <p:cNvSpPr/>
          <p:nvPr/>
        </p:nvSpPr>
        <p:spPr>
          <a:xfrm>
            <a:off x="6935724" y="4602175"/>
            <a:ext cx="267919" cy="267919"/>
          </a:xfrm>
          <a:prstGeom prst="ellipse">
            <a:avLst/>
          </a:prstGeom>
          <a:solidFill>
            <a:srgbClr val="FFFFFF"/>
          </a:solidFill>
          <a:ln w="44450">
            <a:solidFill>
              <a:srgbClr val="0B3C88"/>
            </a:solidFill>
            <a:prstDash val="solid"/>
          </a:ln>
        </p:spPr>
      </p:sp>
      <p:sp>
        <p:nvSpPr>
          <p:cNvPr id="85" name="Text 78"/>
          <p:cNvSpPr/>
          <p:nvPr/>
        </p:nvSpPr>
        <p:spPr>
          <a:xfrm>
            <a:off x="6935724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420" dirty="0"/>
          </a:p>
        </p:txBody>
      </p:sp>
      <p:sp>
        <p:nvSpPr>
          <p:cNvPr id="86" name="Shape 79"/>
          <p:cNvSpPr/>
          <p:nvPr/>
        </p:nvSpPr>
        <p:spPr>
          <a:xfrm>
            <a:off x="7379208" y="4602175"/>
            <a:ext cx="267919" cy="267919"/>
          </a:xfrm>
          <a:prstGeom prst="ellipse">
            <a:avLst/>
          </a:prstGeom>
          <a:solidFill>
            <a:srgbClr val="BFC6C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7" name="Text 80"/>
          <p:cNvSpPr/>
          <p:nvPr/>
        </p:nvSpPr>
        <p:spPr>
          <a:xfrm>
            <a:off x="7379208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</a:t>
            </a:r>
            <a:endParaRPr lang="en-US" sz="1420" dirty="0"/>
          </a:p>
        </p:txBody>
      </p:sp>
      <p:sp>
        <p:nvSpPr>
          <p:cNvPr id="88" name="Shape 81"/>
          <p:cNvSpPr/>
          <p:nvPr/>
        </p:nvSpPr>
        <p:spPr>
          <a:xfrm>
            <a:off x="7823606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89" name="Text 82"/>
          <p:cNvSpPr/>
          <p:nvPr/>
        </p:nvSpPr>
        <p:spPr>
          <a:xfrm>
            <a:off x="7823606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5</a:t>
            </a:r>
            <a:endParaRPr lang="en-US" sz="1420" dirty="0"/>
          </a:p>
        </p:txBody>
      </p:sp>
      <p:sp>
        <p:nvSpPr>
          <p:cNvPr id="90" name="Shape 83"/>
          <p:cNvSpPr/>
          <p:nvPr/>
        </p:nvSpPr>
        <p:spPr>
          <a:xfrm>
            <a:off x="8267090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91" name="Text 84"/>
          <p:cNvSpPr/>
          <p:nvPr/>
        </p:nvSpPr>
        <p:spPr>
          <a:xfrm>
            <a:off x="8267090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6</a:t>
            </a:r>
            <a:endParaRPr lang="en-US" sz="1420" dirty="0"/>
          </a:p>
        </p:txBody>
      </p:sp>
      <p:sp>
        <p:nvSpPr>
          <p:cNvPr id="92" name="Shape 85"/>
          <p:cNvSpPr/>
          <p:nvPr/>
        </p:nvSpPr>
        <p:spPr>
          <a:xfrm>
            <a:off x="8711489" y="4602175"/>
            <a:ext cx="267919" cy="26791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93" name="Text 86"/>
          <p:cNvSpPr/>
          <p:nvPr/>
        </p:nvSpPr>
        <p:spPr>
          <a:xfrm>
            <a:off x="8711489" y="4602175"/>
            <a:ext cx="26791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3A3A3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7</a:t>
            </a:r>
            <a:endParaRPr lang="en-US" sz="1420" dirty="0"/>
          </a:p>
        </p:txBody>
      </p:sp>
      <p:sp>
        <p:nvSpPr>
          <p:cNvPr id="94" name="Shape 87"/>
          <p:cNvSpPr/>
          <p:nvPr/>
        </p:nvSpPr>
        <p:spPr>
          <a:xfrm rot="10800000">
            <a:off x="6977786" y="4395521"/>
            <a:ext cx="182880" cy="158191"/>
          </a:xfrm>
          <a:prstGeom prst="triangle">
            <a:avLst/>
          </a:prstGeom>
          <a:solidFill>
            <a:srgbClr val="0B3C88"/>
          </a:solidFill>
          <a:ln/>
        </p:spPr>
      </p:sp>
      <p:sp>
        <p:nvSpPr>
          <p:cNvPr id="95" name="Text 88"/>
          <p:cNvSpPr/>
          <p:nvPr/>
        </p:nvSpPr>
        <p:spPr>
          <a:xfrm>
            <a:off x="5803697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E23B3B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악화</a:t>
            </a:r>
            <a:endParaRPr lang="en-US" sz="1420" dirty="0"/>
          </a:p>
        </p:txBody>
      </p:sp>
      <p:sp>
        <p:nvSpPr>
          <p:cNvPr id="96" name="Text 89"/>
          <p:cNvSpPr/>
          <p:nvPr/>
        </p:nvSpPr>
        <p:spPr>
          <a:xfrm>
            <a:off x="7135978" y="4889297"/>
            <a:ext cx="756209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보통</a:t>
            </a:r>
            <a:endParaRPr lang="en-US" sz="1420" dirty="0"/>
          </a:p>
        </p:txBody>
      </p:sp>
      <p:sp>
        <p:nvSpPr>
          <p:cNvPr id="97" name="Text 90"/>
          <p:cNvSpPr/>
          <p:nvPr/>
        </p:nvSpPr>
        <p:spPr>
          <a:xfrm>
            <a:off x="8467344" y="4889297"/>
            <a:ext cx="75620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매우</a:t>
            </a:r>
            <a:endParaRPr lang="en-US" sz="142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42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호전</a:t>
            </a:r>
            <a:endParaRPr lang="en-US" sz="1420" dirty="0"/>
          </a:p>
        </p:txBody>
      </p:sp>
      <p:sp>
        <p:nvSpPr>
          <p:cNvPr id="98" name="Shape 91"/>
          <p:cNvSpPr/>
          <p:nvPr/>
        </p:nvSpPr>
        <p:spPr>
          <a:xfrm>
            <a:off x="317297" y="564459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9107424" y="5644591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317297" y="9095537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9107424" y="9095537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475488" y="5644591"/>
            <a:ext cx="8791042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317297" y="5803697"/>
            <a:ext cx="9107424" cy="3450031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475488" y="5653735"/>
            <a:ext cx="8791042" cy="3749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Shape 98"/>
          <p:cNvSpPr/>
          <p:nvPr/>
        </p:nvSpPr>
        <p:spPr>
          <a:xfrm>
            <a:off x="326441" y="5803697"/>
            <a:ext cx="9089136" cy="34500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Shape 99"/>
          <p:cNvSpPr/>
          <p:nvPr/>
        </p:nvSpPr>
        <p:spPr>
          <a:xfrm>
            <a:off x="487375" y="5785409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7" name="Shape 100"/>
          <p:cNvSpPr/>
          <p:nvPr/>
        </p:nvSpPr>
        <p:spPr>
          <a:xfrm>
            <a:off x="5394960" y="5785409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8" name="Shape 101"/>
          <p:cNvSpPr/>
          <p:nvPr/>
        </p:nvSpPr>
        <p:spPr>
          <a:xfrm>
            <a:off x="487375" y="611459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09" name="Shape 102"/>
          <p:cNvSpPr/>
          <p:nvPr/>
        </p:nvSpPr>
        <p:spPr>
          <a:xfrm>
            <a:off x="5394960" y="6114593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10" name="Shape 103"/>
          <p:cNvSpPr/>
          <p:nvPr/>
        </p:nvSpPr>
        <p:spPr>
          <a:xfrm>
            <a:off x="560527" y="5785409"/>
            <a:ext cx="4907585" cy="47548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1" name="Shape 104"/>
          <p:cNvSpPr/>
          <p:nvPr/>
        </p:nvSpPr>
        <p:spPr>
          <a:xfrm>
            <a:off x="487375" y="5858561"/>
            <a:ext cx="5053889" cy="329184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12" name="Shape 105"/>
          <p:cNvSpPr/>
          <p:nvPr/>
        </p:nvSpPr>
        <p:spPr>
          <a:xfrm>
            <a:off x="487375" y="5785409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3" name="Shape 106"/>
          <p:cNvSpPr/>
          <p:nvPr/>
        </p:nvSpPr>
        <p:spPr>
          <a:xfrm>
            <a:off x="792785" y="5785409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4" name="Shape 107"/>
          <p:cNvSpPr/>
          <p:nvPr/>
        </p:nvSpPr>
        <p:spPr>
          <a:xfrm>
            <a:off x="487375" y="611459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5" name="Shape 108"/>
          <p:cNvSpPr/>
          <p:nvPr/>
        </p:nvSpPr>
        <p:spPr>
          <a:xfrm>
            <a:off x="792785" y="6114593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16" name="Shape 109"/>
          <p:cNvSpPr/>
          <p:nvPr/>
        </p:nvSpPr>
        <p:spPr>
          <a:xfrm>
            <a:off x="560527" y="5785409"/>
            <a:ext cx="304495" cy="4754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7" name="Shape 110"/>
          <p:cNvSpPr/>
          <p:nvPr/>
        </p:nvSpPr>
        <p:spPr>
          <a:xfrm>
            <a:off x="487375" y="5858561"/>
            <a:ext cx="450799" cy="32918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18" name="Text 111"/>
          <p:cNvSpPr/>
          <p:nvPr/>
        </p:nvSpPr>
        <p:spPr>
          <a:xfrm>
            <a:off x="487375" y="5785409"/>
            <a:ext cx="45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2310" dirty="0"/>
          </a:p>
        </p:txBody>
      </p:sp>
      <p:sp>
        <p:nvSpPr>
          <p:cNvPr id="119" name="Text 112"/>
          <p:cNvSpPr/>
          <p:nvPr/>
        </p:nvSpPr>
        <p:spPr>
          <a:xfrm>
            <a:off x="1097280" y="5785409"/>
            <a:ext cx="4382719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자금사정에 가장 큰 영향을 미치는 요인</a:t>
            </a:r>
            <a:pPr algn="l" indent="0" marL="0">
              <a:lnSpc>
                <a:spcPct val="9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610" dirty="0"/>
          </a:p>
        </p:txBody>
      </p:sp>
      <p:sp>
        <p:nvSpPr>
          <p:cNvPr id="120" name="Text 113"/>
          <p:cNvSpPr/>
          <p:nvPr/>
        </p:nvSpPr>
        <p:spPr>
          <a:xfrm>
            <a:off x="5730545" y="5767121"/>
            <a:ext cx="36576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현재와 미래 전망 모두 ‘매출 변화’와</a:t>
            </a:r>
            <a:endParaRPr lang="en-US" sz="157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570" b="1" dirty="0">
                <a:solidFill>
                  <a:srgbClr val="0B3C88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‘경기 불확실성’이 가장 큰 영향을 미칩니다.</a:t>
            </a:r>
            <a:endParaRPr lang="en-US" sz="1570" dirty="0"/>
          </a:p>
        </p:txBody>
      </p:sp>
      <p:sp>
        <p:nvSpPr>
          <p:cNvPr id="121" name="Text 114"/>
          <p:cNvSpPr/>
          <p:nvPr/>
        </p:nvSpPr>
        <p:spPr>
          <a:xfrm>
            <a:off x="1218895" y="6462065"/>
            <a:ext cx="280446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현재 (2025→2026)</a:t>
            </a:r>
            <a:endParaRPr lang="en-US" sz="1730" dirty="0"/>
          </a:p>
        </p:txBody>
      </p:sp>
      <p:sp>
        <p:nvSpPr>
          <p:cNvPr id="122" name="Text 115"/>
          <p:cNvSpPr/>
          <p:nvPr/>
        </p:nvSpPr>
        <p:spPr>
          <a:xfrm>
            <a:off x="6035040" y="6462065"/>
            <a:ext cx="2804465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미래 전망 (2026→2027)</a:t>
            </a:r>
            <a:endParaRPr lang="en-US" sz="1730" dirty="0"/>
          </a:p>
        </p:txBody>
      </p:sp>
      <p:sp>
        <p:nvSpPr>
          <p:cNvPr id="123" name="Text 116"/>
          <p:cNvSpPr/>
          <p:nvPr/>
        </p:nvSpPr>
        <p:spPr>
          <a:xfrm>
            <a:off x="365760" y="7010705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변화</a:t>
            </a:r>
            <a:endParaRPr lang="en-US" sz="1420" dirty="0"/>
          </a:p>
        </p:txBody>
      </p:sp>
      <p:pic>
        <p:nvPicPr>
          <p:cNvPr id="124" name="Image 5" descr="g02-fac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1551" y="6949440"/>
            <a:ext cx="536753" cy="487375"/>
          </a:xfrm>
          <a:prstGeom prst="rect">
            <a:avLst/>
          </a:prstGeom>
        </p:spPr>
      </p:pic>
      <p:sp>
        <p:nvSpPr>
          <p:cNvPr id="125" name="Text 117"/>
          <p:cNvSpPr/>
          <p:nvPr/>
        </p:nvSpPr>
        <p:spPr>
          <a:xfrm>
            <a:off x="4821631" y="7010705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변화</a:t>
            </a:r>
            <a:endParaRPr lang="en-US" sz="1420" dirty="0"/>
          </a:p>
        </p:txBody>
      </p:sp>
      <p:sp>
        <p:nvSpPr>
          <p:cNvPr id="126" name="Shape 118"/>
          <p:cNvSpPr/>
          <p:nvPr/>
        </p:nvSpPr>
        <p:spPr>
          <a:xfrm>
            <a:off x="365760" y="7396582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27" name="Shape 119"/>
          <p:cNvSpPr/>
          <p:nvPr/>
        </p:nvSpPr>
        <p:spPr>
          <a:xfrm>
            <a:off x="4821631" y="7396582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28" name="Text 120"/>
          <p:cNvSpPr/>
          <p:nvPr/>
        </p:nvSpPr>
        <p:spPr>
          <a:xfrm>
            <a:off x="365760" y="7511796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경기 불확실성</a:t>
            </a:r>
            <a:endParaRPr lang="en-US" sz="1360" dirty="0"/>
          </a:p>
        </p:txBody>
      </p:sp>
      <p:pic>
        <p:nvPicPr>
          <p:cNvPr id="129" name="Image 6" descr="g02-fac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1551" y="7451446"/>
            <a:ext cx="536753" cy="487375"/>
          </a:xfrm>
          <a:prstGeom prst="rect">
            <a:avLst/>
          </a:prstGeom>
        </p:spPr>
      </p:pic>
      <p:sp>
        <p:nvSpPr>
          <p:cNvPr id="130" name="Text 121"/>
          <p:cNvSpPr/>
          <p:nvPr/>
        </p:nvSpPr>
        <p:spPr>
          <a:xfrm>
            <a:off x="4821631" y="7511796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경기 불확실성</a:t>
            </a:r>
            <a:endParaRPr lang="en-US" sz="1420" dirty="0"/>
          </a:p>
        </p:txBody>
      </p:sp>
      <p:sp>
        <p:nvSpPr>
          <p:cNvPr id="131" name="Shape 122"/>
          <p:cNvSpPr/>
          <p:nvPr/>
        </p:nvSpPr>
        <p:spPr>
          <a:xfrm>
            <a:off x="365760" y="7897673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2" name="Shape 123"/>
          <p:cNvSpPr/>
          <p:nvPr/>
        </p:nvSpPr>
        <p:spPr>
          <a:xfrm>
            <a:off x="4821631" y="7897673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3" name="Text 124"/>
          <p:cNvSpPr/>
          <p:nvPr/>
        </p:nvSpPr>
        <p:spPr>
          <a:xfrm>
            <a:off x="365760" y="8013802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36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여건</a:t>
            </a:r>
            <a:endParaRPr lang="en-US" sz="1360" dirty="0"/>
          </a:p>
        </p:txBody>
      </p:sp>
      <p:pic>
        <p:nvPicPr>
          <p:cNvPr id="134" name="Image 7" descr="g02-fac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1551" y="7952537"/>
            <a:ext cx="536753" cy="487375"/>
          </a:xfrm>
          <a:prstGeom prst="rect">
            <a:avLst/>
          </a:prstGeom>
        </p:spPr>
      </p:pic>
      <p:sp>
        <p:nvSpPr>
          <p:cNvPr id="135" name="Text 125"/>
          <p:cNvSpPr/>
          <p:nvPr/>
        </p:nvSpPr>
        <p:spPr>
          <a:xfrm>
            <a:off x="4821631" y="8013802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여건</a:t>
            </a:r>
            <a:endParaRPr lang="en-US" sz="1420" dirty="0"/>
          </a:p>
        </p:txBody>
      </p:sp>
      <p:sp>
        <p:nvSpPr>
          <p:cNvPr id="136" name="Shape 126"/>
          <p:cNvSpPr/>
          <p:nvPr/>
        </p:nvSpPr>
        <p:spPr>
          <a:xfrm>
            <a:off x="365760" y="8399678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4821631" y="8399678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38" name="Text 128"/>
          <p:cNvSpPr/>
          <p:nvPr/>
        </p:nvSpPr>
        <p:spPr>
          <a:xfrm>
            <a:off x="365760" y="8515807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원자재·재료비 상승</a:t>
            </a:r>
            <a:endParaRPr lang="en-US" sz="1000" dirty="0"/>
          </a:p>
        </p:txBody>
      </p:sp>
      <p:pic>
        <p:nvPicPr>
          <p:cNvPr id="139" name="Image 8" descr="g02-fac4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1551" y="8454542"/>
            <a:ext cx="536753" cy="487375"/>
          </a:xfrm>
          <a:prstGeom prst="rect">
            <a:avLst/>
          </a:prstGeom>
        </p:spPr>
      </p:pic>
      <p:sp>
        <p:nvSpPr>
          <p:cNvPr id="140" name="Text 129"/>
          <p:cNvSpPr/>
          <p:nvPr/>
        </p:nvSpPr>
        <p:spPr>
          <a:xfrm>
            <a:off x="4821631" y="8515807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원자재·재료비 상승</a:t>
            </a:r>
            <a:endParaRPr lang="en-US" sz="1220" dirty="0"/>
          </a:p>
        </p:txBody>
      </p:sp>
      <p:sp>
        <p:nvSpPr>
          <p:cNvPr id="141" name="Shape 130"/>
          <p:cNvSpPr/>
          <p:nvPr/>
        </p:nvSpPr>
        <p:spPr>
          <a:xfrm>
            <a:off x="365760" y="8901684"/>
            <a:ext cx="3657600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42" name="Shape 131"/>
          <p:cNvSpPr/>
          <p:nvPr/>
        </p:nvSpPr>
        <p:spPr>
          <a:xfrm>
            <a:off x="4821631" y="8901684"/>
            <a:ext cx="451073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sp>
        <p:nvSpPr>
          <p:cNvPr id="143" name="Text 132"/>
          <p:cNvSpPr/>
          <p:nvPr/>
        </p:nvSpPr>
        <p:spPr>
          <a:xfrm>
            <a:off x="365760" y="9016898"/>
            <a:ext cx="106070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420" dirty="0"/>
          </a:p>
        </p:txBody>
      </p:sp>
      <p:pic>
        <p:nvPicPr>
          <p:cNvPr id="144" name="Image 9" descr="g02-fac5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1551" y="8956548"/>
            <a:ext cx="536753" cy="487375"/>
          </a:xfrm>
          <a:prstGeom prst="rect">
            <a:avLst/>
          </a:prstGeom>
        </p:spPr>
      </p:pic>
      <p:sp>
        <p:nvSpPr>
          <p:cNvPr id="145" name="Text 133"/>
          <p:cNvSpPr/>
          <p:nvPr/>
        </p:nvSpPr>
        <p:spPr>
          <a:xfrm>
            <a:off x="4821631" y="9016898"/>
            <a:ext cx="140177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기타</a:t>
            </a:r>
            <a:endParaRPr lang="en-US" sz="1420" dirty="0"/>
          </a:p>
        </p:txBody>
      </p:sp>
      <p:graphicFrame>
        <p:nvGraphicFramePr>
          <p:cNvPr id="146" name="Chart 0" descr=""/>
          <p:cNvGraphicFramePr/>
          <p:nvPr/>
        </p:nvGraphicFramePr>
        <p:xfrm>
          <a:off x="1560881" y="6890918"/>
          <a:ext cx="2585009" cy="25081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47" name="Chart 1" descr=""/>
          <p:cNvGraphicFramePr/>
          <p:nvPr/>
        </p:nvGraphicFramePr>
        <p:xfrm>
          <a:off x="6279185" y="6890918"/>
          <a:ext cx="3145536" cy="250819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148" name="Shape 134"/>
          <p:cNvSpPr/>
          <p:nvPr/>
        </p:nvSpPr>
        <p:spPr>
          <a:xfrm>
            <a:off x="317297" y="956462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49" name="Shape 135"/>
          <p:cNvSpPr/>
          <p:nvPr/>
        </p:nvSpPr>
        <p:spPr>
          <a:xfrm>
            <a:off x="9107424" y="956462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0" name="Shape 136"/>
          <p:cNvSpPr/>
          <p:nvPr/>
        </p:nvSpPr>
        <p:spPr>
          <a:xfrm>
            <a:off x="317297" y="1303934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1" name="Shape 137"/>
          <p:cNvSpPr/>
          <p:nvPr/>
        </p:nvSpPr>
        <p:spPr>
          <a:xfrm>
            <a:off x="9107424" y="13039344"/>
            <a:ext cx="317297" cy="31729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2" name="Shape 138"/>
          <p:cNvSpPr/>
          <p:nvPr/>
        </p:nvSpPr>
        <p:spPr>
          <a:xfrm>
            <a:off x="475488" y="9564624"/>
            <a:ext cx="8791042" cy="3792017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3" name="Shape 139"/>
          <p:cNvSpPr/>
          <p:nvPr/>
        </p:nvSpPr>
        <p:spPr>
          <a:xfrm>
            <a:off x="317297" y="9722815"/>
            <a:ext cx="9107424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5F2"/>
            </a:solidFill>
            <a:prstDash val="solid"/>
          </a:ln>
        </p:spPr>
      </p:sp>
      <p:sp>
        <p:nvSpPr>
          <p:cNvPr id="154" name="Shape 140"/>
          <p:cNvSpPr/>
          <p:nvPr/>
        </p:nvSpPr>
        <p:spPr>
          <a:xfrm>
            <a:off x="475488" y="9573768"/>
            <a:ext cx="8791042" cy="37737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5" name="Shape 141"/>
          <p:cNvSpPr/>
          <p:nvPr/>
        </p:nvSpPr>
        <p:spPr>
          <a:xfrm>
            <a:off x="326441" y="9722815"/>
            <a:ext cx="9089136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6" name="Shape 142"/>
          <p:cNvSpPr/>
          <p:nvPr/>
        </p:nvSpPr>
        <p:spPr>
          <a:xfrm>
            <a:off x="487375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57" name="Shape 143"/>
          <p:cNvSpPr/>
          <p:nvPr/>
        </p:nvSpPr>
        <p:spPr>
          <a:xfrm>
            <a:off x="3956609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58" name="Shape 144"/>
          <p:cNvSpPr/>
          <p:nvPr/>
        </p:nvSpPr>
        <p:spPr>
          <a:xfrm>
            <a:off x="487375" y="10040112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59" name="Shape 145"/>
          <p:cNvSpPr/>
          <p:nvPr/>
        </p:nvSpPr>
        <p:spPr>
          <a:xfrm>
            <a:off x="3956609" y="10040112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60" name="Shape 146"/>
          <p:cNvSpPr/>
          <p:nvPr/>
        </p:nvSpPr>
        <p:spPr>
          <a:xfrm>
            <a:off x="560527" y="9710928"/>
            <a:ext cx="3468319" cy="475488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61" name="Shape 147"/>
          <p:cNvSpPr/>
          <p:nvPr/>
        </p:nvSpPr>
        <p:spPr>
          <a:xfrm>
            <a:off x="487375" y="9784080"/>
            <a:ext cx="3614623" cy="329184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62" name="Shape 148"/>
          <p:cNvSpPr/>
          <p:nvPr/>
        </p:nvSpPr>
        <p:spPr>
          <a:xfrm>
            <a:off x="487375" y="971092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3" name="Shape 149"/>
          <p:cNvSpPr/>
          <p:nvPr/>
        </p:nvSpPr>
        <p:spPr>
          <a:xfrm>
            <a:off x="792785" y="9710928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4" name="Shape 150"/>
          <p:cNvSpPr/>
          <p:nvPr/>
        </p:nvSpPr>
        <p:spPr>
          <a:xfrm>
            <a:off x="487375" y="10040112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5" name="Shape 151"/>
          <p:cNvSpPr/>
          <p:nvPr/>
        </p:nvSpPr>
        <p:spPr>
          <a:xfrm>
            <a:off x="792785" y="10040112"/>
            <a:ext cx="146304" cy="146304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166" name="Shape 152"/>
          <p:cNvSpPr/>
          <p:nvPr/>
        </p:nvSpPr>
        <p:spPr>
          <a:xfrm>
            <a:off x="560527" y="9710928"/>
            <a:ext cx="304495" cy="475488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67" name="Shape 153"/>
          <p:cNvSpPr/>
          <p:nvPr/>
        </p:nvSpPr>
        <p:spPr>
          <a:xfrm>
            <a:off x="487375" y="9784080"/>
            <a:ext cx="450799" cy="329184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168" name="Text 154"/>
          <p:cNvSpPr/>
          <p:nvPr/>
        </p:nvSpPr>
        <p:spPr>
          <a:xfrm>
            <a:off x="487375" y="9710928"/>
            <a:ext cx="45079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2310" dirty="0"/>
          </a:p>
        </p:txBody>
      </p:sp>
      <p:sp>
        <p:nvSpPr>
          <p:cNvPr id="169" name="Text 155"/>
          <p:cNvSpPr/>
          <p:nvPr/>
        </p:nvSpPr>
        <p:spPr>
          <a:xfrm>
            <a:off x="1097280" y="9710928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부채 총액</a:t>
            </a:r>
            <a:endParaRPr lang="en-US" sz="1730" dirty="0"/>
          </a:p>
        </p:txBody>
      </p:sp>
      <p:sp>
        <p:nvSpPr>
          <p:cNvPr id="170" name="Shape 156"/>
          <p:cNvSpPr/>
          <p:nvPr/>
        </p:nvSpPr>
        <p:spPr>
          <a:xfrm>
            <a:off x="4315968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1" name="Shape 157"/>
          <p:cNvSpPr/>
          <p:nvPr/>
        </p:nvSpPr>
        <p:spPr>
          <a:xfrm>
            <a:off x="9125712" y="9710928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2" name="Shape 158"/>
          <p:cNvSpPr/>
          <p:nvPr/>
        </p:nvSpPr>
        <p:spPr>
          <a:xfrm>
            <a:off x="4315968" y="10033711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3" name="Shape 159"/>
          <p:cNvSpPr/>
          <p:nvPr/>
        </p:nvSpPr>
        <p:spPr>
          <a:xfrm>
            <a:off x="9125712" y="10033711"/>
            <a:ext cx="146304" cy="146304"/>
          </a:xfrm>
          <a:prstGeom prst="ellipse">
            <a:avLst/>
          </a:prstGeom>
          <a:solidFill>
            <a:srgbClr val="0B3C88"/>
          </a:solidFill>
          <a:ln/>
        </p:spPr>
      </p:sp>
      <p:sp>
        <p:nvSpPr>
          <p:cNvPr id="174" name="Shape 160"/>
          <p:cNvSpPr/>
          <p:nvPr/>
        </p:nvSpPr>
        <p:spPr>
          <a:xfrm>
            <a:off x="4389120" y="9710928"/>
            <a:ext cx="4809744" cy="469087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75" name="Shape 161"/>
          <p:cNvSpPr/>
          <p:nvPr/>
        </p:nvSpPr>
        <p:spPr>
          <a:xfrm>
            <a:off x="4315968" y="9784080"/>
            <a:ext cx="4956048" cy="322783"/>
          </a:xfrm>
          <a:prstGeom prst="rect">
            <a:avLst/>
          </a:prstGeom>
          <a:solidFill>
            <a:srgbClr val="0B3C88"/>
          </a:solidFill>
          <a:ln/>
        </p:spPr>
      </p:sp>
      <p:sp>
        <p:nvSpPr>
          <p:cNvPr id="176" name="Text 162"/>
          <p:cNvSpPr/>
          <p:nvPr/>
        </p:nvSpPr>
        <p:spPr>
          <a:xfrm>
            <a:off x="4510735" y="9710928"/>
            <a:ext cx="4633265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경영상 가장 큰 애로사항</a:t>
            </a:r>
            <a:pPr algn="l" indent="0" marL="0">
              <a:lnSpc>
                <a:spcPct val="9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  (1·2순위 합산)</a:t>
            </a:r>
            <a:endParaRPr lang="en-US" sz="1200" dirty="0"/>
          </a:p>
        </p:txBody>
      </p:sp>
      <p:sp>
        <p:nvSpPr>
          <p:cNvPr id="177" name="Shape 163"/>
          <p:cNvSpPr/>
          <p:nvPr/>
        </p:nvSpPr>
        <p:spPr>
          <a:xfrm>
            <a:off x="4206240" y="10302545"/>
            <a:ext cx="0" cy="2864815"/>
          </a:xfrm>
          <a:prstGeom prst="line">
            <a:avLst/>
          </a:prstGeom>
          <a:noFill/>
          <a:ln w="12700">
            <a:solidFill>
              <a:srgbClr val="DCE6F1"/>
            </a:solidFill>
            <a:prstDash val="solid"/>
          </a:ln>
        </p:spPr>
      </p:sp>
      <p:pic>
        <p:nvPicPr>
          <p:cNvPr id="178" name="Image 10" descr="g02-moneyba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216" y="10533888"/>
            <a:ext cx="1511503" cy="1597457"/>
          </a:xfrm>
          <a:prstGeom prst="rect">
            <a:avLst/>
          </a:prstGeom>
        </p:spPr>
      </p:pic>
      <p:sp>
        <p:nvSpPr>
          <p:cNvPr id="179" name="Text 164"/>
          <p:cNvSpPr/>
          <p:nvPr/>
        </p:nvSpPr>
        <p:spPr>
          <a:xfrm>
            <a:off x="2121408" y="10424160"/>
            <a:ext cx="1828800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평균</a:t>
            </a:r>
            <a:endParaRPr lang="en-US" sz="1680" dirty="0"/>
          </a:p>
        </p:txBody>
      </p:sp>
      <p:sp>
        <p:nvSpPr>
          <p:cNvPr id="180" name="Text 165"/>
          <p:cNvSpPr/>
          <p:nvPr/>
        </p:nvSpPr>
        <p:spPr>
          <a:xfrm>
            <a:off x="2121408" y="10418343"/>
            <a:ext cx="1536342" cy="69253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7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2억 232</a:t>
            </a:r>
            <a:endParaRPr lang="en-US" sz="2870" dirty="0"/>
          </a:p>
        </p:txBody>
      </p:sp>
      <p:sp>
        <p:nvSpPr>
          <p:cNvPr id="181" name="Text 166"/>
          <p:cNvSpPr/>
          <p:nvPr/>
        </p:nvSpPr>
        <p:spPr>
          <a:xfrm>
            <a:off x="3548022" y="10658831"/>
            <a:ext cx="506192" cy="431927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9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1790" dirty="0"/>
          </a:p>
        </p:txBody>
      </p:sp>
      <p:sp>
        <p:nvSpPr>
          <p:cNvPr id="182" name="Text 167"/>
          <p:cNvSpPr/>
          <p:nvPr/>
        </p:nvSpPr>
        <p:spPr>
          <a:xfrm>
            <a:off x="2121408" y="11399825"/>
            <a:ext cx="1828800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8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중앙값</a:t>
            </a:r>
            <a:endParaRPr lang="en-US" sz="1680" dirty="0"/>
          </a:p>
        </p:txBody>
      </p:sp>
      <p:sp>
        <p:nvSpPr>
          <p:cNvPr id="183" name="Text 168"/>
          <p:cNvSpPr/>
          <p:nvPr/>
        </p:nvSpPr>
        <p:spPr>
          <a:xfrm>
            <a:off x="2121408" y="11510239"/>
            <a:ext cx="1583958" cy="5863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3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1억 1,000</a:t>
            </a:r>
            <a:endParaRPr lang="en-US" sz="2430" dirty="0"/>
          </a:p>
        </p:txBody>
      </p:sp>
      <p:sp>
        <p:nvSpPr>
          <p:cNvPr id="184" name="Text 169"/>
          <p:cNvSpPr/>
          <p:nvPr/>
        </p:nvSpPr>
        <p:spPr>
          <a:xfrm>
            <a:off x="3595638" y="11713362"/>
            <a:ext cx="446390" cy="36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2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만원</a:t>
            </a:r>
            <a:endParaRPr lang="en-US" sz="1520" dirty="0"/>
          </a:p>
        </p:txBody>
      </p:sp>
      <p:sp>
        <p:nvSpPr>
          <p:cNvPr id="185" name="Shape 170"/>
          <p:cNvSpPr/>
          <p:nvPr/>
        </p:nvSpPr>
        <p:spPr>
          <a:xfrm>
            <a:off x="2121408" y="11290097"/>
            <a:ext cx="1804111" cy="0"/>
          </a:xfrm>
          <a:prstGeom prst="line">
            <a:avLst/>
          </a:prstGeom>
          <a:noFill/>
          <a:ln w="9525">
            <a:solidFill>
              <a:srgbClr val="DCE6F1"/>
            </a:solidFill>
            <a:prstDash val="solid"/>
          </a:ln>
        </p:spPr>
      </p:sp>
      <p:sp>
        <p:nvSpPr>
          <p:cNvPr id="186" name="Shape 171"/>
          <p:cNvSpPr/>
          <p:nvPr/>
        </p:nvSpPr>
        <p:spPr>
          <a:xfrm>
            <a:off x="560527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87" name="Shape 172"/>
          <p:cNvSpPr/>
          <p:nvPr/>
        </p:nvSpPr>
        <p:spPr>
          <a:xfrm>
            <a:off x="3755441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88" name="Shape 173"/>
          <p:cNvSpPr/>
          <p:nvPr/>
        </p:nvSpPr>
        <p:spPr>
          <a:xfrm>
            <a:off x="560527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89" name="Shape 174"/>
          <p:cNvSpPr/>
          <p:nvPr/>
        </p:nvSpPr>
        <p:spPr>
          <a:xfrm>
            <a:off x="3755441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190" name="Shape 175"/>
          <p:cNvSpPr/>
          <p:nvPr/>
        </p:nvSpPr>
        <p:spPr>
          <a:xfrm>
            <a:off x="670255" y="12460529"/>
            <a:ext cx="3193999" cy="743407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191" name="Shape 176"/>
          <p:cNvSpPr/>
          <p:nvPr/>
        </p:nvSpPr>
        <p:spPr>
          <a:xfrm>
            <a:off x="560527" y="12570257"/>
            <a:ext cx="3413455" cy="523951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192" name="Image 11" descr="g02-bul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679" y="12508992"/>
            <a:ext cx="694944" cy="646481"/>
          </a:xfrm>
          <a:prstGeom prst="rect">
            <a:avLst/>
          </a:prstGeom>
        </p:spPr>
      </p:pic>
      <p:sp>
        <p:nvSpPr>
          <p:cNvPr id="193" name="Text 177"/>
          <p:cNvSpPr/>
          <p:nvPr/>
        </p:nvSpPr>
        <p:spPr>
          <a:xfrm>
            <a:off x="1353312" y="12460529"/>
            <a:ext cx="252374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기업별 편차가 큰 편으로,</a:t>
            </a:r>
            <a:endParaRPr lang="en-US" sz="149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9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재무 건전성 관리가 중요합니다.</a:t>
            </a:r>
            <a:endParaRPr lang="en-US" sz="1490" dirty="0"/>
          </a:p>
        </p:txBody>
      </p:sp>
      <p:pic>
        <p:nvPicPr>
          <p:cNvPr id="194" name="Image 12" descr="g02-medal1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5424" y="10265969"/>
            <a:ext cx="560527" cy="487375"/>
          </a:xfrm>
          <a:prstGeom prst="rect">
            <a:avLst/>
          </a:prstGeom>
        </p:spPr>
      </p:pic>
      <p:pic>
        <p:nvPicPr>
          <p:cNvPr id="195" name="Image 13" descr="g02-rank1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96866" y="10326319"/>
            <a:ext cx="621792" cy="450799"/>
          </a:xfrm>
          <a:prstGeom prst="rect">
            <a:avLst/>
          </a:prstGeom>
        </p:spPr>
      </p:pic>
      <p:sp>
        <p:nvSpPr>
          <p:cNvPr id="196" name="Text 178"/>
          <p:cNvSpPr/>
          <p:nvPr/>
        </p:nvSpPr>
        <p:spPr>
          <a:xfrm>
            <a:off x="5840273" y="10339121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</a:t>
            </a:r>
            <a:endParaRPr lang="en-US" sz="1830" dirty="0"/>
          </a:p>
        </p:txBody>
      </p:sp>
      <p:sp>
        <p:nvSpPr>
          <p:cNvPr id="197" name="Text 179"/>
          <p:cNvSpPr/>
          <p:nvPr/>
        </p:nvSpPr>
        <p:spPr>
          <a:xfrm>
            <a:off x="8186485" y="10134676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43.5</a:t>
            </a:r>
            <a:endParaRPr lang="en-US" sz="2310" dirty="0"/>
          </a:p>
        </p:txBody>
      </p:sp>
      <p:sp>
        <p:nvSpPr>
          <p:cNvPr id="198" name="Text 180"/>
          <p:cNvSpPr/>
          <p:nvPr/>
        </p:nvSpPr>
        <p:spPr>
          <a:xfrm>
            <a:off x="8769998" y="10326649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199" name="Shape 181"/>
          <p:cNvSpPr/>
          <p:nvPr/>
        </p:nvSpPr>
        <p:spPr>
          <a:xfrm>
            <a:off x="5060290" y="10698480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00" name="Image 14" descr="g02-medal2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5424" y="10698480"/>
            <a:ext cx="560527" cy="487375"/>
          </a:xfrm>
          <a:prstGeom prst="rect">
            <a:avLst/>
          </a:prstGeom>
        </p:spPr>
      </p:pic>
      <p:pic>
        <p:nvPicPr>
          <p:cNvPr id="201" name="Image 15" descr="g02-rank2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96866" y="10759745"/>
            <a:ext cx="621792" cy="450799"/>
          </a:xfrm>
          <a:prstGeom prst="rect">
            <a:avLst/>
          </a:prstGeom>
        </p:spPr>
      </p:pic>
      <p:sp>
        <p:nvSpPr>
          <p:cNvPr id="202" name="Text 182"/>
          <p:cNvSpPr/>
          <p:nvPr/>
        </p:nvSpPr>
        <p:spPr>
          <a:xfrm>
            <a:off x="5840273" y="10771632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원자재·재료비 부담</a:t>
            </a:r>
            <a:endParaRPr lang="en-US" sz="1830" dirty="0"/>
          </a:p>
        </p:txBody>
      </p:sp>
      <p:sp>
        <p:nvSpPr>
          <p:cNvPr id="203" name="Text 183"/>
          <p:cNvSpPr/>
          <p:nvPr/>
        </p:nvSpPr>
        <p:spPr>
          <a:xfrm>
            <a:off x="8186485" y="10568102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36.6</a:t>
            </a:r>
            <a:endParaRPr lang="en-US" sz="2310" dirty="0"/>
          </a:p>
        </p:txBody>
      </p:sp>
      <p:sp>
        <p:nvSpPr>
          <p:cNvPr id="204" name="Text 184"/>
          <p:cNvSpPr/>
          <p:nvPr/>
        </p:nvSpPr>
        <p:spPr>
          <a:xfrm>
            <a:off x="8769998" y="10759161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05" name="Shape 185"/>
          <p:cNvSpPr/>
          <p:nvPr/>
        </p:nvSpPr>
        <p:spPr>
          <a:xfrm>
            <a:off x="5060290" y="11130991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06" name="Image 16" descr="g02-medal3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35424" y="11130991"/>
            <a:ext cx="560527" cy="487375"/>
          </a:xfrm>
          <a:prstGeom prst="rect">
            <a:avLst/>
          </a:prstGeom>
        </p:spPr>
      </p:pic>
      <p:pic>
        <p:nvPicPr>
          <p:cNvPr id="207" name="Image 17" descr="g02-rank3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6866" y="11192256"/>
            <a:ext cx="621792" cy="450799"/>
          </a:xfrm>
          <a:prstGeom prst="rect">
            <a:avLst/>
          </a:prstGeom>
        </p:spPr>
      </p:pic>
      <p:sp>
        <p:nvSpPr>
          <p:cNvPr id="208" name="Text 186"/>
          <p:cNvSpPr/>
          <p:nvPr/>
        </p:nvSpPr>
        <p:spPr>
          <a:xfrm>
            <a:off x="5840273" y="11204143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경기 침체·내수부진</a:t>
            </a:r>
            <a:endParaRPr lang="en-US" sz="1830" dirty="0"/>
          </a:p>
        </p:txBody>
      </p:sp>
      <p:sp>
        <p:nvSpPr>
          <p:cNvPr id="209" name="Text 187"/>
          <p:cNvSpPr/>
          <p:nvPr/>
        </p:nvSpPr>
        <p:spPr>
          <a:xfrm>
            <a:off x="8186485" y="11000613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33.5</a:t>
            </a:r>
            <a:endParaRPr lang="en-US" sz="2310" dirty="0"/>
          </a:p>
        </p:txBody>
      </p:sp>
      <p:sp>
        <p:nvSpPr>
          <p:cNvPr id="210" name="Text 188"/>
          <p:cNvSpPr/>
          <p:nvPr/>
        </p:nvSpPr>
        <p:spPr>
          <a:xfrm>
            <a:off x="8769998" y="11192586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11" name="Shape 189"/>
          <p:cNvSpPr/>
          <p:nvPr/>
        </p:nvSpPr>
        <p:spPr>
          <a:xfrm>
            <a:off x="5060290" y="11564417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12" name="Image 18" descr="g02-medal4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35424" y="11564417"/>
            <a:ext cx="560527" cy="487375"/>
          </a:xfrm>
          <a:prstGeom prst="rect">
            <a:avLst/>
          </a:prstGeom>
        </p:spPr>
      </p:pic>
      <p:pic>
        <p:nvPicPr>
          <p:cNvPr id="213" name="Image 19" descr="g02-rank4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96866" y="11624767"/>
            <a:ext cx="621792" cy="450799"/>
          </a:xfrm>
          <a:prstGeom prst="rect">
            <a:avLst/>
          </a:prstGeom>
        </p:spPr>
      </p:pic>
      <p:sp>
        <p:nvSpPr>
          <p:cNvPr id="214" name="Text 190"/>
          <p:cNvSpPr/>
          <p:nvPr/>
        </p:nvSpPr>
        <p:spPr>
          <a:xfrm>
            <a:off x="5840273" y="11637569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금융비용 상환 부담</a:t>
            </a:r>
            <a:endParaRPr lang="en-US" sz="1830" dirty="0"/>
          </a:p>
        </p:txBody>
      </p:sp>
      <p:sp>
        <p:nvSpPr>
          <p:cNvPr id="215" name="Text 191"/>
          <p:cNvSpPr/>
          <p:nvPr/>
        </p:nvSpPr>
        <p:spPr>
          <a:xfrm>
            <a:off x="8186485" y="11433124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31.7</a:t>
            </a:r>
            <a:endParaRPr lang="en-US" sz="2310" dirty="0"/>
          </a:p>
        </p:txBody>
      </p:sp>
      <p:sp>
        <p:nvSpPr>
          <p:cNvPr id="216" name="Text 192"/>
          <p:cNvSpPr/>
          <p:nvPr/>
        </p:nvSpPr>
        <p:spPr>
          <a:xfrm>
            <a:off x="8769998" y="11625097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17" name="Shape 193"/>
          <p:cNvSpPr/>
          <p:nvPr/>
        </p:nvSpPr>
        <p:spPr>
          <a:xfrm>
            <a:off x="5060290" y="11996928"/>
            <a:ext cx="4267505" cy="0"/>
          </a:xfrm>
          <a:prstGeom prst="line">
            <a:avLst/>
          </a:prstGeom>
          <a:noFill/>
          <a:ln w="9525">
            <a:solidFill>
              <a:srgbClr val="EDF3FA"/>
            </a:solidFill>
            <a:prstDash val="solid"/>
          </a:ln>
        </p:spPr>
      </p:sp>
      <p:pic>
        <p:nvPicPr>
          <p:cNvPr id="218" name="Image 20" descr="g02-medal5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35424" y="11996928"/>
            <a:ext cx="560527" cy="487375"/>
          </a:xfrm>
          <a:prstGeom prst="rect">
            <a:avLst/>
          </a:prstGeom>
        </p:spPr>
      </p:pic>
      <p:pic>
        <p:nvPicPr>
          <p:cNvPr id="219" name="Image 21" descr="g02-rank5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096866" y="12058193"/>
            <a:ext cx="621792" cy="450799"/>
          </a:xfrm>
          <a:prstGeom prst="rect">
            <a:avLst/>
          </a:prstGeom>
        </p:spPr>
      </p:pic>
      <p:sp>
        <p:nvSpPr>
          <p:cNvPr id="220" name="Text 194"/>
          <p:cNvSpPr/>
          <p:nvPr/>
        </p:nvSpPr>
        <p:spPr>
          <a:xfrm>
            <a:off x="5840273" y="12070080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3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인력관리</a:t>
            </a:r>
            <a:endParaRPr lang="en-US" sz="1830" dirty="0"/>
          </a:p>
        </p:txBody>
      </p:sp>
      <p:sp>
        <p:nvSpPr>
          <p:cNvPr id="221" name="Text 195"/>
          <p:cNvSpPr/>
          <p:nvPr/>
        </p:nvSpPr>
        <p:spPr>
          <a:xfrm>
            <a:off x="8186485" y="11866550"/>
            <a:ext cx="693241" cy="557403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31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16.1</a:t>
            </a:r>
            <a:endParaRPr lang="en-US" sz="2310" dirty="0"/>
          </a:p>
        </p:txBody>
      </p:sp>
      <p:sp>
        <p:nvSpPr>
          <p:cNvPr id="222" name="Text 196"/>
          <p:cNvSpPr/>
          <p:nvPr/>
        </p:nvSpPr>
        <p:spPr>
          <a:xfrm>
            <a:off x="8769998" y="12057609"/>
            <a:ext cx="270675" cy="3498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0449C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%</a:t>
            </a:r>
            <a:endParaRPr lang="en-US" sz="1450" dirty="0"/>
          </a:p>
        </p:txBody>
      </p:sp>
      <p:sp>
        <p:nvSpPr>
          <p:cNvPr id="223" name="Shape 197"/>
          <p:cNvSpPr/>
          <p:nvPr/>
        </p:nvSpPr>
        <p:spPr>
          <a:xfrm>
            <a:off x="4462272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4" name="Shape 198"/>
          <p:cNvSpPr/>
          <p:nvPr/>
        </p:nvSpPr>
        <p:spPr>
          <a:xfrm>
            <a:off x="9058961" y="12460529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5" name="Shape 199"/>
          <p:cNvSpPr/>
          <p:nvPr/>
        </p:nvSpPr>
        <p:spPr>
          <a:xfrm>
            <a:off x="4462272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6" name="Shape 200"/>
          <p:cNvSpPr/>
          <p:nvPr/>
        </p:nvSpPr>
        <p:spPr>
          <a:xfrm>
            <a:off x="9058961" y="12984480"/>
            <a:ext cx="219456" cy="219456"/>
          </a:xfrm>
          <a:prstGeom prst="ellipse">
            <a:avLst/>
          </a:prstGeom>
          <a:solidFill>
            <a:srgbClr val="D9E9F9"/>
          </a:solidFill>
          <a:ln/>
        </p:spPr>
      </p:sp>
      <p:sp>
        <p:nvSpPr>
          <p:cNvPr id="227" name="Shape 201"/>
          <p:cNvSpPr/>
          <p:nvPr/>
        </p:nvSpPr>
        <p:spPr>
          <a:xfrm>
            <a:off x="4572000" y="12460529"/>
            <a:ext cx="4596689" cy="743407"/>
          </a:xfrm>
          <a:prstGeom prst="rect">
            <a:avLst/>
          </a:prstGeom>
          <a:solidFill>
            <a:srgbClr val="D9E9F9"/>
          </a:solidFill>
          <a:ln/>
        </p:spPr>
      </p:sp>
      <p:sp>
        <p:nvSpPr>
          <p:cNvPr id="228" name="Shape 202"/>
          <p:cNvSpPr/>
          <p:nvPr/>
        </p:nvSpPr>
        <p:spPr>
          <a:xfrm>
            <a:off x="4462272" y="12570257"/>
            <a:ext cx="4816145" cy="523951"/>
          </a:xfrm>
          <a:prstGeom prst="rect">
            <a:avLst/>
          </a:prstGeom>
          <a:solidFill>
            <a:srgbClr val="D9E9F9"/>
          </a:solidFill>
          <a:ln/>
        </p:spPr>
      </p:sp>
      <p:pic>
        <p:nvPicPr>
          <p:cNvPr id="229" name="Image 22" descr="g02-target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35424" y="12508992"/>
            <a:ext cx="694944" cy="646481"/>
          </a:xfrm>
          <a:prstGeom prst="rect">
            <a:avLst/>
          </a:prstGeom>
        </p:spPr>
      </p:pic>
      <p:sp>
        <p:nvSpPr>
          <p:cNvPr id="230" name="Text 203"/>
          <p:cNvSpPr/>
          <p:nvPr/>
        </p:nvSpPr>
        <p:spPr>
          <a:xfrm>
            <a:off x="5255057" y="12460529"/>
            <a:ext cx="3925519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자금조달 부담이 가장 크며,</a:t>
            </a:r>
            <a:endParaRPr lang="en-US" sz="147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7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원가·경기·금융비용 부담이 뒤를 잇고 있습니다.</a:t>
            </a:r>
            <a:endParaRPr lang="en-US" sz="1470" dirty="0"/>
          </a:p>
        </p:txBody>
      </p:sp>
      <p:sp>
        <p:nvSpPr>
          <p:cNvPr id="231" name="Shape 204"/>
          <p:cNvSpPr/>
          <p:nvPr/>
        </p:nvSpPr>
        <p:spPr>
          <a:xfrm>
            <a:off x="317297" y="13466369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2" name="Shape 205"/>
          <p:cNvSpPr/>
          <p:nvPr/>
        </p:nvSpPr>
        <p:spPr>
          <a:xfrm>
            <a:off x="9180576" y="13466369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3" name="Shape 206"/>
          <p:cNvSpPr/>
          <p:nvPr/>
        </p:nvSpPr>
        <p:spPr>
          <a:xfrm>
            <a:off x="317297" y="1418508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4" name="Shape 207"/>
          <p:cNvSpPr/>
          <p:nvPr/>
        </p:nvSpPr>
        <p:spPr>
          <a:xfrm>
            <a:off x="9180576" y="14185087"/>
            <a:ext cx="244145" cy="244145"/>
          </a:xfrm>
          <a:prstGeom prst="ellipse">
            <a:avLst/>
          </a:prstGeom>
          <a:solidFill>
            <a:srgbClr val="00337F"/>
          </a:solidFill>
          <a:ln/>
        </p:spPr>
      </p:sp>
      <p:sp>
        <p:nvSpPr>
          <p:cNvPr id="235" name="Shape 208"/>
          <p:cNvSpPr/>
          <p:nvPr/>
        </p:nvSpPr>
        <p:spPr>
          <a:xfrm>
            <a:off x="438912" y="13466369"/>
            <a:ext cx="8864194" cy="962863"/>
          </a:xfrm>
          <a:prstGeom prst="rect">
            <a:avLst/>
          </a:prstGeom>
          <a:solidFill>
            <a:srgbClr val="00337F"/>
          </a:solidFill>
          <a:ln/>
        </p:spPr>
      </p:sp>
      <p:sp>
        <p:nvSpPr>
          <p:cNvPr id="236" name="Shape 209"/>
          <p:cNvSpPr/>
          <p:nvPr/>
        </p:nvSpPr>
        <p:spPr>
          <a:xfrm>
            <a:off x="317297" y="13587984"/>
            <a:ext cx="9107424" cy="719633"/>
          </a:xfrm>
          <a:prstGeom prst="rect">
            <a:avLst/>
          </a:prstGeom>
          <a:solidFill>
            <a:srgbClr val="00337F"/>
          </a:solidFill>
          <a:ln/>
        </p:spPr>
      </p:sp>
      <p:pic>
        <p:nvPicPr>
          <p:cNvPr id="237" name="Image 23" descr="g02-clipboard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6209" y="13618159"/>
            <a:ext cx="1048817" cy="694944"/>
          </a:xfrm>
          <a:prstGeom prst="rect">
            <a:avLst/>
          </a:prstGeom>
        </p:spPr>
      </p:pic>
      <p:sp>
        <p:nvSpPr>
          <p:cNvPr id="238" name="Text 210"/>
          <p:cNvSpPr/>
          <p:nvPr/>
        </p:nvSpPr>
        <p:spPr>
          <a:xfrm>
            <a:off x="1950415" y="13606272"/>
            <a:ext cx="6889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8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매출 회복과 경기 불확실성 해소가 자금사정 개선의 핵심 열쇠!</a:t>
            </a:r>
            <a:endParaRPr lang="en-US" sz="1780" dirty="0"/>
          </a:p>
        </p:txBody>
      </p:sp>
      <p:sp>
        <p:nvSpPr>
          <p:cNvPr id="239" name="Text 211"/>
          <p:cNvSpPr/>
          <p:nvPr/>
        </p:nvSpPr>
        <p:spPr>
          <a:xfrm>
            <a:off x="1950415" y="13960145"/>
            <a:ext cx="6889090" cy="341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80" b="1" dirty="0">
                <a:solidFill>
                  <a:srgbClr val="FFD34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안정적 자금확보와 비용관리로 위기에 견디는 체력을 키워야 합니다.</a:t>
            </a:r>
            <a:endParaRPr lang="en-US" sz="1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소상공인 실태조사 인포그래픽</dc:title>
  <dc:subject>PptxGenJS Presentation</dc:subject>
  <dc:creator>케이스탯리서치</dc:creator>
  <cp:lastModifiedBy>케이스탯리서치</cp:lastModifiedBy>
  <cp:revision>1</cp:revision>
  <dcterms:created xsi:type="dcterms:W3CDTF">2026-08-26T09:17:36Z</dcterms:created>
  <dcterms:modified xsi:type="dcterms:W3CDTF">2026-08-26T09:17:36Z</dcterms:modified>
</cp:coreProperties>
</file>
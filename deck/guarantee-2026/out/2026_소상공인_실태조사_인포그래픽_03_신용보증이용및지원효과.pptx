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753905" cy="14630400"/>
  <p:notesSz cx="14630400" cy="975390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인지 경로</c:v>
                </c:pt>
              </c:strCache>
            </c:strRef>
          </c:tx>
          <c:spPr>
            <a:solidFill>
              <a:srgbClr val="B9DBF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450" u="none">
                    <a:solidFill>
                      <a:srgbClr val="00449C"/>
                    </a:solidFill>
                    <a:latin typeface="KoPub돋움체 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DB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DC0F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E9BD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D6FB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449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재단 홈페이지</c:v>
                  </c:pt>
                  <c:pt idx="1">
                    <c:v>온라인 매체 (SNS, 인터넷 등)</c:v>
                  </c:pt>
                  <c:pt idx="2">
                    <c:v>금융기관</c:v>
                  </c:pt>
                  <c:pt idx="3">
                    <c:v>소상공인 협회·조합</c:v>
                  </c:pt>
                  <c:pt idx="4">
                    <c:v>지인 또는 이용경험자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8.7</c:v>
                </c:pt>
                <c:pt idx="1">
                  <c:v>8.7</c:v>
                </c:pt>
                <c:pt idx="2">
                  <c:v>18.6</c:v>
                </c:pt>
                <c:pt idx="3">
                  <c:v>22.4</c:v>
                </c:pt>
                <c:pt idx="4">
                  <c:v>32.9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450" u="none">
                  <a:solidFill>
                    <a:srgbClr val="00449C"/>
                  </a:solidFill>
                  <a:latin typeface="KoPub돋움체 Bol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보증부대출의 장단점 평가</c:v>
                </c:pt>
              </c:strCache>
            </c:strRef>
          </c:tx>
          <c:spPr>
            <a:solidFill>
              <a:srgbClr val="B9DBF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500" u="none">
                    <a:solidFill>
                      <a:srgbClr val="00449C"/>
                    </a:solidFill>
                    <a:latin typeface="KoPub돋움체 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DB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6D4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6C4F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E9BD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D6FB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449C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대출한도</c:v>
                  </c:pt>
                  <c:pt idx="1">
                    <c:v>대출 조건·문턱</c:v>
                  </c:pt>
                  <c:pt idx="2">
                    <c:v>상환조건(기간·상환방식)</c:v>
                  </c:pt>
                  <c:pt idx="3">
                    <c:v>금융기관 협력도</c:v>
                  </c:pt>
                  <c:pt idx="4">
                    <c:v>금리 수준</c:v>
                  </c:pt>
                  <c:pt idx="5">
                    <c:v>지원절차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4.53</c:v>
                </c:pt>
                <c:pt idx="1">
                  <c:v>4.58</c:v>
                </c:pt>
                <c:pt idx="2">
                  <c:v>4.65</c:v>
                </c:pt>
                <c:pt idx="3">
                  <c:v>4.71</c:v>
                </c:pt>
                <c:pt idx="4">
                  <c:v>4.92</c:v>
                </c:pt>
                <c:pt idx="5">
                  <c:v>4.98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500" u="none">
                  <a:solidFill>
                    <a:srgbClr val="00449C"/>
                  </a:solidFill>
                  <a:latin typeface="KoPub돋움체 Bol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.7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자금 운용 상황 변화</c:v>
                </c:pt>
              </c:strCache>
            </c:strRef>
          </c:tx>
          <c:spPr>
            <a:solidFill>
              <a:srgbClr val="B9DBF6"/>
            </a:solidFill>
            <a:effectLst/>
          </c:spPr>
          <c:invertIfNegative val="0"/>
          <c:dLbls>
            <c:numFmt formatCode="0.00&quot;점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449C"/>
                    </a:solidFill>
                    <a:latin typeface="KoPub돋움체 Bold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DB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449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보증 당시 (신청 시)</c:v>
                  </c:pt>
                  <c:pt idx="1">
                    <c:v>보증 이용 후 (현재)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3.99</c:v>
                </c:pt>
                <c:pt idx="1">
                  <c:v>4.59</c:v>
                </c:pt>
              </c:numCache>
            </c:numRef>
          </c:val>
        </c:ser>
        <c:dLbls>
          <c:numFmt formatCode="0.00&quot;점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00449C"/>
                  </a:solidFill>
                  <a:latin typeface="KoPub돋움체 Bol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2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95"/>
          <c:min val="3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 변화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449C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C6CBD2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7DC0F0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KoPub돋움체 Bold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KoPub돋움체 Bold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KoPub돋움체 Bold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증가</c:v>
                </c:pt>
                <c:pt idx="1">
                  <c:v>변화없음</c:v>
                </c:pt>
                <c:pt idx="2">
                  <c:v>감소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6.2</c:v>
                </c:pt>
                <c:pt idx="1">
                  <c:v>78.9</c:v>
                </c:pt>
                <c:pt idx="2">
                  <c:v>14.9</c:v>
                </c:pt>
              </c:numCache>
            </c:numRef>
          </c:val>
        </c:ser>
        <c:firstSliceAng val="0"/>
        <c:holeSize val="64"/>
      </c:doughnutChart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수익성(영업이익) 변화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449C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C6CBD2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7DC0F0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KoPub돋움체 Bold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KoPub돋움체 Bold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KoPub돋움체 Bold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증가</c:v>
                </c:pt>
                <c:pt idx="1">
                  <c:v>변화없음</c:v>
                </c:pt>
                <c:pt idx="2">
                  <c:v>감소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27.3</c:v>
                </c:pt>
                <c:pt idx="1">
                  <c:v>44.1</c:v>
                </c:pt>
                <c:pt idx="2">
                  <c:v>28.6</c:v>
                </c:pt>
              </c:numCache>
            </c:numRef>
          </c:val>
        </c:ser>
        <c:firstSliceAng val="0"/>
        <c:holeSize val="64"/>
      </c:doughnutChart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월평균 금융비용 변화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449C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C6CBD2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7DC0F0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KoPub돋움체 Bold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KoPub돋움체 Bold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KoPub돋움체 Bold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증가</c:v>
                </c:pt>
                <c:pt idx="1">
                  <c:v>변화없음</c:v>
                </c:pt>
                <c:pt idx="2">
                  <c:v>감소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21.1</c:v>
                </c:pt>
                <c:pt idx="1">
                  <c:v>66.5</c:v>
                </c:pt>
                <c:pt idx="2">
                  <c:v>12.4</c:v>
                </c:pt>
              </c:numCache>
            </c:numRef>
          </c:val>
        </c:ser>
        <c:firstSliceAng val="0"/>
        <c:holeSize val="64"/>
      </c:doughnutChart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만족도</c:v>
                </c:pt>
              </c:strCache>
            </c:strRef>
          </c:tx>
          <c:spPr>
            <a:solidFill>
              <a:srgbClr val="9FC8E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330" u="none">
                    <a:solidFill>
                      <a:srgbClr val="00449C"/>
                    </a:solidFill>
                    <a:latin typeface="KoPub돋움체 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대출한도</c:v>
                  </c:pt>
                  <c:pt idx="1">
                    <c:v>보증료</c:v>
                  </c:pt>
                  <c:pt idx="2">
                    <c:v>금리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3.49</c:v>
                </c:pt>
                <c:pt idx="1">
                  <c:v>4.44</c:v>
                </c:pt>
                <c:pt idx="2">
                  <c:v>4.54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중요도</c:v>
                </c:pt>
              </c:strCache>
            </c:strRef>
          </c:tx>
          <c:spPr>
            <a:solidFill>
              <a:srgbClr val="1D6FB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330" u="none">
                    <a:solidFill>
                      <a:srgbClr val="00449C"/>
                    </a:solidFill>
                    <a:latin typeface="KoPub돋움체 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대출한도</c:v>
                  </c:pt>
                  <c:pt idx="1">
                    <c:v>보증료</c:v>
                  </c:pt>
                  <c:pt idx="2">
                    <c:v>금리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4.6</c:v>
                </c:pt>
                <c:pt idx="1">
                  <c:v>5.74</c:v>
                </c:pt>
                <c:pt idx="2">
                  <c:v>5.94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330" u="none">
                  <a:solidFill>
                    <a:srgbClr val="00449C"/>
                  </a:solidFill>
                  <a:latin typeface="KoPub돋움체 Bol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-2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.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가장 필요한 보완·강화 정책</c:v>
                </c:pt>
              </c:strCache>
            </c:strRef>
          </c:tx>
          <c:spPr>
            <a:solidFill>
              <a:srgbClr val="B9DBF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449C"/>
                    </a:solidFill>
                    <a:latin typeface="KoPub돋움체 Bold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DB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DC0F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E9BD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D6FB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449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기타</c:v>
                  </c:pt>
                  <c:pt idx="1">
                    <c:v>상환기간 연장</c:v>
                  </c:pt>
                  <c:pt idx="2">
                    <c:v>보증료 인하</c:v>
                  </c:pt>
                  <c:pt idx="3">
                    <c:v>금리 인하</c:v>
                  </c:pt>
                  <c:pt idx="4">
                    <c:v>지원 금액 확대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3.6</c:v>
                </c:pt>
                <c:pt idx="1">
                  <c:v>20.5</c:v>
                </c:pt>
                <c:pt idx="2">
                  <c:v>28.6</c:v>
                </c:pt>
                <c:pt idx="3">
                  <c:v>52.2</c:v>
                </c:pt>
                <c:pt idx="4">
                  <c:v>64.6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00449C"/>
                  </a:solidFill>
                  <a:latin typeface="KoPub돋움체 Bol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8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chart" Target="/ppt/charts/chart1.xml"/><Relationship Id="rId14" Type="http://schemas.openxmlformats.org/officeDocument/2006/relationships/chart" Target="/ppt/charts/chart2.xml"/><Relationship Id="rId15" Type="http://schemas.openxmlformats.org/officeDocument/2006/relationships/chart" Target="/ppt/charts/chart3.xml"/><Relationship Id="rId17" Type="http://schemas.openxmlformats.org/officeDocument/2006/relationships/chart" Target="/ppt/charts/chart4.xml"/><Relationship Id="rId19" Type="http://schemas.openxmlformats.org/officeDocument/2006/relationships/chart" Target="/ppt/charts/chart5.xml"/><Relationship Id="rId21" Type="http://schemas.openxmlformats.org/officeDocument/2006/relationships/chart" Target="/ppt/charts/chart6.xml"/><Relationship Id="rId30" Type="http://schemas.openxmlformats.org/officeDocument/2006/relationships/chart" Target="/ppt/charts/chart7.xml"/><Relationship Id="rId31" Type="http://schemas.openxmlformats.org/officeDocument/2006/relationships/chart" Target="/ppt/charts/chart8.xm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8" Type="http://schemas.openxmlformats.org/officeDocument/2006/relationships/image" Target="../media/image-1-7.png"/><Relationship Id="rId9" Type="http://schemas.openxmlformats.org/officeDocument/2006/relationships/image" Target="../media/image-1-8.png"/><Relationship Id="rId10" Type="http://schemas.openxmlformats.org/officeDocument/2006/relationships/image" Target="../media/image-1-9.png"/><Relationship Id="rId11" Type="http://schemas.openxmlformats.org/officeDocument/2006/relationships/image" Target="../media/image-1-10.png"/><Relationship Id="rId12" Type="http://schemas.openxmlformats.org/officeDocument/2006/relationships/image" Target="../media/image-1-11.png"/><Relationship Id="rId13" Type="http://schemas.openxmlformats.org/officeDocument/2006/relationships/image" Target="../media/image-1-12.png"/><Relationship Id="rId16" Type="http://schemas.openxmlformats.org/officeDocument/2006/relationships/image" Target="../media/image-1-13.png"/><Relationship Id="rId18" Type="http://schemas.openxmlformats.org/officeDocument/2006/relationships/image" Target="../media/image-1-14.png"/><Relationship Id="rId20" Type="http://schemas.openxmlformats.org/officeDocument/2006/relationships/image" Target="../media/image-1-15.png"/><Relationship Id="rId22" Type="http://schemas.openxmlformats.org/officeDocument/2006/relationships/image" Target="../media/image-1-16.png"/><Relationship Id="rId23" Type="http://schemas.openxmlformats.org/officeDocument/2006/relationships/image" Target="../media/image-1-17.png"/><Relationship Id="rId24" Type="http://schemas.openxmlformats.org/officeDocument/2006/relationships/image" Target="../media/image-1-18.png"/><Relationship Id="rId25" Type="http://schemas.openxmlformats.org/officeDocument/2006/relationships/image" Target="../media/image-1-19.png"/><Relationship Id="rId26" Type="http://schemas.openxmlformats.org/officeDocument/2006/relationships/image" Target="../media/image-1-20.png"/><Relationship Id="rId27" Type="http://schemas.openxmlformats.org/officeDocument/2006/relationships/image" Target="../media/image-1-21.png"/><Relationship Id="rId28" Type="http://schemas.openxmlformats.org/officeDocument/2006/relationships/image" Target="../media/image-1-22.png"/><Relationship Id="rId29" Type="http://schemas.openxmlformats.org/officeDocument/2006/relationships/image" Target="../media/image-1-23.png"/><Relationship Id="rId32" Type="http://schemas.openxmlformats.org/officeDocument/2006/relationships/image" Target="../media/image-1-24.png"/><Relationship Id="rId33" Type="http://schemas.openxmlformats.org/officeDocument/2006/relationships/image" Target="../media/image-1-25.png"/><Relationship Id="rId34" Type="http://schemas.openxmlformats.org/officeDocument/2006/relationships/slideLayout" Target="../slideLayouts/slideLayout1.xml"/><Relationship Id="rId3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03-he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1698" y="158191"/>
            <a:ext cx="2462479" cy="13533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64592" y="182880"/>
            <a:ext cx="267919" cy="267919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4" name="Shape 1"/>
          <p:cNvSpPr/>
          <p:nvPr/>
        </p:nvSpPr>
        <p:spPr>
          <a:xfrm>
            <a:off x="939089" y="182880"/>
            <a:ext cx="267919" cy="267919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5" name="Shape 2"/>
          <p:cNvSpPr/>
          <p:nvPr/>
        </p:nvSpPr>
        <p:spPr>
          <a:xfrm>
            <a:off x="164592" y="847649"/>
            <a:ext cx="267919" cy="267919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6" name="Shape 3"/>
          <p:cNvSpPr/>
          <p:nvPr/>
        </p:nvSpPr>
        <p:spPr>
          <a:xfrm>
            <a:off x="939089" y="847649"/>
            <a:ext cx="267919" cy="267919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7" name="Shape 4"/>
          <p:cNvSpPr/>
          <p:nvPr/>
        </p:nvSpPr>
        <p:spPr>
          <a:xfrm>
            <a:off x="299009" y="182880"/>
            <a:ext cx="774497" cy="932688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8" name="Shape 5"/>
          <p:cNvSpPr/>
          <p:nvPr/>
        </p:nvSpPr>
        <p:spPr>
          <a:xfrm>
            <a:off x="164592" y="317297"/>
            <a:ext cx="1042416" cy="664769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9" name="Text 6"/>
          <p:cNvSpPr/>
          <p:nvPr/>
        </p:nvSpPr>
        <p:spPr>
          <a:xfrm>
            <a:off x="164592" y="182880"/>
            <a:ext cx="104241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463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03</a:t>
            </a:r>
            <a:endParaRPr lang="en-US" sz="4630" dirty="0"/>
          </a:p>
        </p:txBody>
      </p:sp>
      <p:sp>
        <p:nvSpPr>
          <p:cNvPr id="10" name="Text 7"/>
          <p:cNvSpPr/>
          <p:nvPr/>
        </p:nvSpPr>
        <p:spPr>
          <a:xfrm>
            <a:off x="1444752" y="207569"/>
            <a:ext cx="5486400" cy="6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850" b="1" dirty="0">
                <a:solidFill>
                  <a:srgbClr val="00337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신용보증 이용 및 지원 효과</a:t>
            </a:r>
            <a:endParaRPr lang="en-US" sz="3850" dirty="0"/>
          </a:p>
        </p:txBody>
      </p:sp>
      <p:sp>
        <p:nvSpPr>
          <p:cNvPr id="11" name="Text 8"/>
          <p:cNvSpPr/>
          <p:nvPr/>
        </p:nvSpPr>
        <p:spPr>
          <a:xfrm>
            <a:off x="1444752" y="889711"/>
            <a:ext cx="548640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7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신용보증은 기업의 성장과 안정에 실질적인 도움을 주고 있습니다.</a:t>
            </a:r>
            <a:endParaRPr lang="en-US" sz="1570" dirty="0"/>
          </a:p>
        </p:txBody>
      </p:sp>
      <p:sp>
        <p:nvSpPr>
          <p:cNvPr id="12" name="Shape 9"/>
          <p:cNvSpPr/>
          <p:nvPr/>
        </p:nvSpPr>
        <p:spPr>
          <a:xfrm>
            <a:off x="170993" y="1639519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974543" y="1639519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70993" y="5461711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974543" y="5461711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04495" y="1639519"/>
            <a:ext cx="2804465" cy="4090111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70993" y="1773936"/>
            <a:ext cx="3072384" cy="38221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04495" y="1648663"/>
            <a:ext cx="2804465" cy="40718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180137" y="1773936"/>
            <a:ext cx="3054096" cy="3822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7"/>
          <p:cNvSpPr/>
          <p:nvPr/>
        </p:nvSpPr>
        <p:spPr>
          <a:xfrm>
            <a:off x="3346704" y="1639519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85586" y="1639519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346704" y="5461711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85586" y="5461711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481121" y="1639519"/>
            <a:ext cx="2937967" cy="4090111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346704" y="1773936"/>
            <a:ext cx="3206801" cy="38221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481121" y="1648663"/>
            <a:ext cx="2937967" cy="40718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4"/>
          <p:cNvSpPr/>
          <p:nvPr/>
        </p:nvSpPr>
        <p:spPr>
          <a:xfrm>
            <a:off x="3355848" y="1773936"/>
            <a:ext cx="3188513" cy="3822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6651346" y="1639519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314993" y="1639519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651346" y="5461711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314993" y="5461711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784848" y="1639519"/>
            <a:ext cx="2663647" cy="4090111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651346" y="1773936"/>
            <a:ext cx="2932481" cy="38221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84848" y="1648663"/>
            <a:ext cx="2663647" cy="40718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2"/>
          <p:cNvSpPr/>
          <p:nvPr/>
        </p:nvSpPr>
        <p:spPr>
          <a:xfrm>
            <a:off x="6660490" y="1773936"/>
            <a:ext cx="2914193" cy="3822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3"/>
          <p:cNvSpPr/>
          <p:nvPr/>
        </p:nvSpPr>
        <p:spPr>
          <a:xfrm>
            <a:off x="299009" y="1688897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37" name="Shape 34"/>
          <p:cNvSpPr/>
          <p:nvPr/>
        </p:nvSpPr>
        <p:spPr>
          <a:xfrm>
            <a:off x="2292401" y="1688897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38" name="Shape 35"/>
          <p:cNvSpPr/>
          <p:nvPr/>
        </p:nvSpPr>
        <p:spPr>
          <a:xfrm>
            <a:off x="299009" y="1950415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39" name="Shape 36"/>
          <p:cNvSpPr/>
          <p:nvPr/>
        </p:nvSpPr>
        <p:spPr>
          <a:xfrm>
            <a:off x="2292401" y="1950415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40" name="Shape 37"/>
          <p:cNvSpPr/>
          <p:nvPr/>
        </p:nvSpPr>
        <p:spPr>
          <a:xfrm>
            <a:off x="365760" y="1688897"/>
            <a:ext cx="1993392" cy="395935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41" name="Shape 38"/>
          <p:cNvSpPr/>
          <p:nvPr/>
        </p:nvSpPr>
        <p:spPr>
          <a:xfrm>
            <a:off x="299009" y="1755648"/>
            <a:ext cx="2127809" cy="262433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42" name="Shape 39"/>
          <p:cNvSpPr/>
          <p:nvPr/>
        </p:nvSpPr>
        <p:spPr>
          <a:xfrm>
            <a:off x="299009" y="1688897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43" name="Shape 40"/>
          <p:cNvSpPr/>
          <p:nvPr/>
        </p:nvSpPr>
        <p:spPr>
          <a:xfrm>
            <a:off x="542239" y="1688897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44" name="Shape 41"/>
          <p:cNvSpPr/>
          <p:nvPr/>
        </p:nvSpPr>
        <p:spPr>
          <a:xfrm>
            <a:off x="299009" y="1950415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45" name="Shape 42"/>
          <p:cNvSpPr/>
          <p:nvPr/>
        </p:nvSpPr>
        <p:spPr>
          <a:xfrm>
            <a:off x="542239" y="1950415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46" name="Shape 43"/>
          <p:cNvSpPr/>
          <p:nvPr/>
        </p:nvSpPr>
        <p:spPr>
          <a:xfrm>
            <a:off x="365760" y="1688897"/>
            <a:ext cx="244145" cy="395935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47" name="Shape 44"/>
          <p:cNvSpPr/>
          <p:nvPr/>
        </p:nvSpPr>
        <p:spPr>
          <a:xfrm>
            <a:off x="299009" y="1755648"/>
            <a:ext cx="377647" cy="262433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48" name="Text 45"/>
          <p:cNvSpPr/>
          <p:nvPr/>
        </p:nvSpPr>
        <p:spPr>
          <a:xfrm>
            <a:off x="299009" y="1688897"/>
            <a:ext cx="377647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8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</a:t>
            </a:r>
            <a:endParaRPr lang="en-US" sz="2080" dirty="0"/>
          </a:p>
        </p:txBody>
      </p:sp>
      <p:sp>
        <p:nvSpPr>
          <p:cNvPr id="49" name="Text 46"/>
          <p:cNvSpPr/>
          <p:nvPr/>
        </p:nvSpPr>
        <p:spPr>
          <a:xfrm>
            <a:off x="811073" y="1688897"/>
            <a:ext cx="1554480" cy="3959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6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인지 경로</a:t>
            </a:r>
            <a:pPr algn="l" indent="0" marL="0">
              <a:lnSpc>
                <a:spcPct val="95000"/>
              </a:lnSpc>
              <a:buNone/>
            </a:pPr>
            <a:r>
              <a:rPr lang="en-US" sz="118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  (복수응답)</a:t>
            </a:r>
            <a:endParaRPr lang="en-US" sz="1560" dirty="0"/>
          </a:p>
        </p:txBody>
      </p:sp>
      <p:sp>
        <p:nvSpPr>
          <p:cNvPr id="50" name="Text 47"/>
          <p:cNvSpPr/>
          <p:nvPr/>
        </p:nvSpPr>
        <p:spPr>
          <a:xfrm>
            <a:off x="365760" y="2169871"/>
            <a:ext cx="2804465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지인·이용경험자 통한 인지가 가장 많고,</a:t>
            </a:r>
            <a:endParaRPr lang="en-US" sz="130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30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온라인 채널 활용도는 낮습니다.</a:t>
            </a:r>
            <a:endParaRPr lang="en-US" sz="1300" dirty="0"/>
          </a:p>
        </p:txBody>
      </p:sp>
      <p:pic>
        <p:nvPicPr>
          <p:cNvPr id="51" name="Image 1" descr="g03-ch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2822753"/>
            <a:ext cx="402336" cy="390449"/>
          </a:xfrm>
          <a:prstGeom prst="rect">
            <a:avLst/>
          </a:prstGeom>
        </p:spPr>
      </p:pic>
      <p:sp>
        <p:nvSpPr>
          <p:cNvPr id="52" name="Text 48"/>
          <p:cNvSpPr/>
          <p:nvPr/>
        </p:nvSpPr>
        <p:spPr>
          <a:xfrm>
            <a:off x="768096" y="2804465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지인 또는</a:t>
            </a:r>
            <a:endParaRPr lang="en-US" sz="137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3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이용경험자</a:t>
            </a:r>
            <a:endParaRPr lang="en-US" sz="1370" dirty="0"/>
          </a:p>
        </p:txBody>
      </p:sp>
      <p:pic>
        <p:nvPicPr>
          <p:cNvPr id="53" name="Image 2" descr="g03-ch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3351276"/>
            <a:ext cx="402336" cy="390449"/>
          </a:xfrm>
          <a:prstGeom prst="rect">
            <a:avLst/>
          </a:prstGeom>
        </p:spPr>
      </p:pic>
      <p:sp>
        <p:nvSpPr>
          <p:cNvPr id="54" name="Text 49"/>
          <p:cNvSpPr/>
          <p:nvPr/>
        </p:nvSpPr>
        <p:spPr>
          <a:xfrm>
            <a:off x="768096" y="3332988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소상공인</a:t>
            </a:r>
            <a:endParaRPr lang="en-US" sz="137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3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협회·조합</a:t>
            </a:r>
            <a:endParaRPr lang="en-US" sz="1370" dirty="0"/>
          </a:p>
        </p:txBody>
      </p:sp>
      <p:pic>
        <p:nvPicPr>
          <p:cNvPr id="55" name="Image 3" descr="g03-ch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" y="3879799"/>
            <a:ext cx="402336" cy="390449"/>
          </a:xfrm>
          <a:prstGeom prst="rect">
            <a:avLst/>
          </a:prstGeom>
        </p:spPr>
      </p:pic>
      <p:sp>
        <p:nvSpPr>
          <p:cNvPr id="56" name="Text 50"/>
          <p:cNvSpPr/>
          <p:nvPr/>
        </p:nvSpPr>
        <p:spPr>
          <a:xfrm>
            <a:off x="768096" y="3861511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금융기관</a:t>
            </a:r>
            <a:endParaRPr lang="en-US" sz="1370" dirty="0"/>
          </a:p>
        </p:txBody>
      </p:sp>
      <p:pic>
        <p:nvPicPr>
          <p:cNvPr id="57" name="Image 4" descr="g03-ch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" y="4409237"/>
            <a:ext cx="402336" cy="390449"/>
          </a:xfrm>
          <a:prstGeom prst="rect">
            <a:avLst/>
          </a:prstGeom>
        </p:spPr>
      </p:pic>
      <p:sp>
        <p:nvSpPr>
          <p:cNvPr id="58" name="Text 51"/>
          <p:cNvSpPr/>
          <p:nvPr/>
        </p:nvSpPr>
        <p:spPr>
          <a:xfrm>
            <a:off x="768096" y="4390949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온라인 매체</a:t>
            </a:r>
            <a:endParaRPr lang="en-US" sz="10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(SNS, 인터넷 등)</a:t>
            </a:r>
            <a:endParaRPr lang="en-US" sz="1000" dirty="0"/>
          </a:p>
        </p:txBody>
      </p:sp>
      <p:pic>
        <p:nvPicPr>
          <p:cNvPr id="59" name="Image 5" descr="g03-ch5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" y="4937760"/>
            <a:ext cx="402336" cy="390449"/>
          </a:xfrm>
          <a:prstGeom prst="rect">
            <a:avLst/>
          </a:prstGeom>
        </p:spPr>
      </p:pic>
      <p:sp>
        <p:nvSpPr>
          <p:cNvPr id="60" name="Text 52"/>
          <p:cNvSpPr/>
          <p:nvPr/>
        </p:nvSpPr>
        <p:spPr>
          <a:xfrm>
            <a:off x="768096" y="4919472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재단 홈페이지</a:t>
            </a:r>
            <a:endParaRPr lang="en-US" sz="1100" dirty="0"/>
          </a:p>
        </p:txBody>
      </p:sp>
      <p:graphicFrame>
        <p:nvGraphicFramePr>
          <p:cNvPr id="61" name="Chart 0" descr=""/>
          <p:cNvGraphicFramePr/>
          <p:nvPr/>
        </p:nvGraphicFramePr>
        <p:xfrm>
          <a:off x="1584655" y="2756002"/>
          <a:ext cx="1634033" cy="264444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62" name="Text 53"/>
          <p:cNvSpPr/>
          <p:nvPr/>
        </p:nvSpPr>
        <p:spPr>
          <a:xfrm>
            <a:off x="353873" y="5474513"/>
            <a:ext cx="1828800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20" dirty="0">
                <a:solidFill>
                  <a:srgbClr val="6B728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※ 복수응답 기준</a:t>
            </a:r>
            <a:endParaRPr lang="en-US" sz="1220" dirty="0"/>
          </a:p>
        </p:txBody>
      </p:sp>
      <p:sp>
        <p:nvSpPr>
          <p:cNvPr id="63" name="Shape 54"/>
          <p:cNvSpPr/>
          <p:nvPr/>
        </p:nvSpPr>
        <p:spPr>
          <a:xfrm>
            <a:off x="3468319" y="1688897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64" name="Shape 55"/>
          <p:cNvSpPr/>
          <p:nvPr/>
        </p:nvSpPr>
        <p:spPr>
          <a:xfrm>
            <a:off x="5401361" y="1688897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65" name="Shape 56"/>
          <p:cNvSpPr/>
          <p:nvPr/>
        </p:nvSpPr>
        <p:spPr>
          <a:xfrm>
            <a:off x="3468319" y="1950415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66" name="Shape 57"/>
          <p:cNvSpPr/>
          <p:nvPr/>
        </p:nvSpPr>
        <p:spPr>
          <a:xfrm>
            <a:off x="5401361" y="1950415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67" name="Shape 58"/>
          <p:cNvSpPr/>
          <p:nvPr/>
        </p:nvSpPr>
        <p:spPr>
          <a:xfrm>
            <a:off x="3535985" y="1688897"/>
            <a:ext cx="1932127" cy="395935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68" name="Shape 59"/>
          <p:cNvSpPr/>
          <p:nvPr/>
        </p:nvSpPr>
        <p:spPr>
          <a:xfrm>
            <a:off x="3468319" y="1755648"/>
            <a:ext cx="2066544" cy="262433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69" name="Shape 60"/>
          <p:cNvSpPr/>
          <p:nvPr/>
        </p:nvSpPr>
        <p:spPr>
          <a:xfrm>
            <a:off x="3468319" y="1688897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70" name="Shape 61"/>
          <p:cNvSpPr/>
          <p:nvPr/>
        </p:nvSpPr>
        <p:spPr>
          <a:xfrm>
            <a:off x="3712464" y="1688897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71" name="Shape 62"/>
          <p:cNvSpPr/>
          <p:nvPr/>
        </p:nvSpPr>
        <p:spPr>
          <a:xfrm>
            <a:off x="3468319" y="1950415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72" name="Shape 63"/>
          <p:cNvSpPr/>
          <p:nvPr/>
        </p:nvSpPr>
        <p:spPr>
          <a:xfrm>
            <a:off x="3712464" y="1950415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73" name="Shape 64"/>
          <p:cNvSpPr/>
          <p:nvPr/>
        </p:nvSpPr>
        <p:spPr>
          <a:xfrm>
            <a:off x="3535985" y="1688897"/>
            <a:ext cx="244145" cy="395935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74" name="Shape 65"/>
          <p:cNvSpPr/>
          <p:nvPr/>
        </p:nvSpPr>
        <p:spPr>
          <a:xfrm>
            <a:off x="3468319" y="1755648"/>
            <a:ext cx="377647" cy="262433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75" name="Text 66"/>
          <p:cNvSpPr/>
          <p:nvPr/>
        </p:nvSpPr>
        <p:spPr>
          <a:xfrm>
            <a:off x="3468319" y="1688897"/>
            <a:ext cx="377647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8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</a:t>
            </a:r>
            <a:endParaRPr lang="en-US" sz="2080" dirty="0"/>
          </a:p>
        </p:txBody>
      </p:sp>
      <p:sp>
        <p:nvSpPr>
          <p:cNvPr id="76" name="Text 67"/>
          <p:cNvSpPr/>
          <p:nvPr/>
        </p:nvSpPr>
        <p:spPr>
          <a:xfrm>
            <a:off x="3980383" y="1688897"/>
            <a:ext cx="1493215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4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이용 방식 및 장점</a:t>
            </a:r>
            <a:endParaRPr lang="en-US" sz="1540" dirty="0"/>
          </a:p>
        </p:txBody>
      </p:sp>
      <p:sp>
        <p:nvSpPr>
          <p:cNvPr id="77" name="Text 68"/>
          <p:cNvSpPr/>
          <p:nvPr/>
        </p:nvSpPr>
        <p:spPr>
          <a:xfrm>
            <a:off x="3517697" y="2169871"/>
            <a:ext cx="2864815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51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대면 이용이 절대 다수이며,</a:t>
            </a:r>
            <a:endParaRPr lang="en-US" sz="151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51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각 방식별로 다른 장점을 체감합니다.</a:t>
            </a:r>
            <a:endParaRPr lang="en-US" sz="1510" dirty="0"/>
          </a:p>
        </p:txBody>
      </p:sp>
      <p:sp>
        <p:nvSpPr>
          <p:cNvPr id="78" name="Text 69"/>
          <p:cNvSpPr/>
          <p:nvPr/>
        </p:nvSpPr>
        <p:spPr>
          <a:xfrm>
            <a:off x="3517697" y="2841041"/>
            <a:ext cx="1584655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대면 이용</a:t>
            </a:r>
            <a:endParaRPr lang="en-US" sz="1630" dirty="0"/>
          </a:p>
        </p:txBody>
      </p:sp>
      <p:sp>
        <p:nvSpPr>
          <p:cNvPr id="79" name="Text 70"/>
          <p:cNvSpPr/>
          <p:nvPr/>
        </p:nvSpPr>
        <p:spPr>
          <a:xfrm>
            <a:off x="3517697" y="2772512"/>
            <a:ext cx="781652" cy="64185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6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89.4</a:t>
            </a:r>
            <a:endParaRPr lang="en-US" sz="2660" dirty="0"/>
          </a:p>
        </p:txBody>
      </p:sp>
      <p:sp>
        <p:nvSpPr>
          <p:cNvPr id="80" name="Text 71"/>
          <p:cNvSpPr/>
          <p:nvPr/>
        </p:nvSpPr>
        <p:spPr>
          <a:xfrm>
            <a:off x="4189621" y="3004261"/>
            <a:ext cx="289545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620" dirty="0"/>
          </a:p>
        </p:txBody>
      </p:sp>
      <p:sp>
        <p:nvSpPr>
          <p:cNvPr id="81" name="Text 72"/>
          <p:cNvSpPr/>
          <p:nvPr/>
        </p:nvSpPr>
        <p:spPr>
          <a:xfrm>
            <a:off x="5639105" y="2841041"/>
            <a:ext cx="1584655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비대면 이용</a:t>
            </a:r>
            <a:endParaRPr lang="en-US" sz="1630" dirty="0"/>
          </a:p>
        </p:txBody>
      </p:sp>
      <p:sp>
        <p:nvSpPr>
          <p:cNvPr id="82" name="Text 73"/>
          <p:cNvSpPr/>
          <p:nvPr/>
        </p:nvSpPr>
        <p:spPr>
          <a:xfrm>
            <a:off x="5639105" y="2772512"/>
            <a:ext cx="781652" cy="64185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6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10.6</a:t>
            </a:r>
            <a:endParaRPr lang="en-US" sz="2660" dirty="0"/>
          </a:p>
        </p:txBody>
      </p:sp>
      <p:sp>
        <p:nvSpPr>
          <p:cNvPr id="83" name="Text 74"/>
          <p:cNvSpPr/>
          <p:nvPr/>
        </p:nvSpPr>
        <p:spPr>
          <a:xfrm>
            <a:off x="6311029" y="3004261"/>
            <a:ext cx="289545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620" dirty="0"/>
          </a:p>
        </p:txBody>
      </p:sp>
      <p:pic>
        <p:nvPicPr>
          <p:cNvPr id="84" name="Image 6" descr="g03-mee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65169" y="3389681"/>
            <a:ext cx="1755648" cy="987552"/>
          </a:xfrm>
          <a:prstGeom prst="rect">
            <a:avLst/>
          </a:prstGeom>
        </p:spPr>
      </p:pic>
      <p:pic>
        <p:nvPicPr>
          <p:cNvPr id="85" name="Image 7" descr="g03-phon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8658" y="3535985"/>
            <a:ext cx="573329" cy="829361"/>
          </a:xfrm>
          <a:prstGeom prst="rect">
            <a:avLst/>
          </a:prstGeom>
        </p:spPr>
      </p:pic>
      <p:sp>
        <p:nvSpPr>
          <p:cNvPr id="86" name="Shape 75"/>
          <p:cNvSpPr/>
          <p:nvPr/>
        </p:nvSpPr>
        <p:spPr>
          <a:xfrm>
            <a:off x="3444545" y="4450385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87" name="Shape 76"/>
          <p:cNvSpPr/>
          <p:nvPr/>
        </p:nvSpPr>
        <p:spPr>
          <a:xfrm>
            <a:off x="4711903" y="4450385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88" name="Shape 77"/>
          <p:cNvSpPr/>
          <p:nvPr/>
        </p:nvSpPr>
        <p:spPr>
          <a:xfrm>
            <a:off x="3444545" y="5449824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89" name="Shape 78"/>
          <p:cNvSpPr/>
          <p:nvPr/>
        </p:nvSpPr>
        <p:spPr>
          <a:xfrm>
            <a:off x="4711903" y="5449824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90" name="Shape 79"/>
          <p:cNvSpPr/>
          <p:nvPr/>
        </p:nvSpPr>
        <p:spPr>
          <a:xfrm>
            <a:off x="3541471" y="4450385"/>
            <a:ext cx="1268273" cy="1195121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91" name="Shape 80"/>
          <p:cNvSpPr/>
          <p:nvPr/>
        </p:nvSpPr>
        <p:spPr>
          <a:xfrm>
            <a:off x="3444545" y="4547311"/>
            <a:ext cx="1463040" cy="999439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92" name="Shape 81"/>
          <p:cNvSpPr/>
          <p:nvPr/>
        </p:nvSpPr>
        <p:spPr>
          <a:xfrm>
            <a:off x="3541471" y="4459529"/>
            <a:ext cx="1268273" cy="117683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3" name="Shape 82"/>
          <p:cNvSpPr/>
          <p:nvPr/>
        </p:nvSpPr>
        <p:spPr>
          <a:xfrm>
            <a:off x="3453689" y="4547311"/>
            <a:ext cx="1444752" cy="99943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4" name="Shape 83"/>
          <p:cNvSpPr/>
          <p:nvPr/>
        </p:nvSpPr>
        <p:spPr>
          <a:xfrm>
            <a:off x="3444545" y="4450385"/>
            <a:ext cx="194767" cy="194767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95" name="Shape 84"/>
          <p:cNvSpPr/>
          <p:nvPr/>
        </p:nvSpPr>
        <p:spPr>
          <a:xfrm>
            <a:off x="4711903" y="4450385"/>
            <a:ext cx="194767" cy="194767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96" name="Shape 85"/>
          <p:cNvSpPr/>
          <p:nvPr/>
        </p:nvSpPr>
        <p:spPr>
          <a:xfrm>
            <a:off x="3444545" y="4535424"/>
            <a:ext cx="194767" cy="194767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97" name="Shape 86"/>
          <p:cNvSpPr/>
          <p:nvPr/>
        </p:nvSpPr>
        <p:spPr>
          <a:xfrm>
            <a:off x="4711903" y="4535424"/>
            <a:ext cx="194767" cy="194767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98" name="Shape 87"/>
          <p:cNvSpPr/>
          <p:nvPr/>
        </p:nvSpPr>
        <p:spPr>
          <a:xfrm>
            <a:off x="3541471" y="4450385"/>
            <a:ext cx="1268273" cy="280721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99" name="Shape 88"/>
          <p:cNvSpPr/>
          <p:nvPr/>
        </p:nvSpPr>
        <p:spPr>
          <a:xfrm>
            <a:off x="3444545" y="4547311"/>
            <a:ext cx="1463040" cy="85039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100" name="Shape 89"/>
          <p:cNvSpPr/>
          <p:nvPr/>
        </p:nvSpPr>
        <p:spPr>
          <a:xfrm>
            <a:off x="3444545" y="4620463"/>
            <a:ext cx="109728" cy="109728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101" name="Shape 90"/>
          <p:cNvSpPr/>
          <p:nvPr/>
        </p:nvSpPr>
        <p:spPr>
          <a:xfrm>
            <a:off x="4797857" y="4620463"/>
            <a:ext cx="109728" cy="109728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102" name="Shape 91"/>
          <p:cNvSpPr/>
          <p:nvPr/>
        </p:nvSpPr>
        <p:spPr>
          <a:xfrm>
            <a:off x="3444545" y="4620463"/>
            <a:ext cx="109728" cy="109728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103" name="Shape 92"/>
          <p:cNvSpPr/>
          <p:nvPr/>
        </p:nvSpPr>
        <p:spPr>
          <a:xfrm>
            <a:off x="4797857" y="4620463"/>
            <a:ext cx="109728" cy="109728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104" name="Shape 93"/>
          <p:cNvSpPr/>
          <p:nvPr/>
        </p:nvSpPr>
        <p:spPr>
          <a:xfrm>
            <a:off x="3499409" y="4620463"/>
            <a:ext cx="1353312" cy="109728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105" name="Shape 94"/>
          <p:cNvSpPr/>
          <p:nvPr/>
        </p:nvSpPr>
        <p:spPr>
          <a:xfrm>
            <a:off x="3444545" y="4675327"/>
            <a:ext cx="1463040" cy="0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106" name="Text 95"/>
          <p:cNvSpPr/>
          <p:nvPr/>
        </p:nvSpPr>
        <p:spPr>
          <a:xfrm>
            <a:off x="3444545" y="4450385"/>
            <a:ext cx="1463040" cy="280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대면 이용자의 장점 TOP1</a:t>
            </a:r>
            <a:endParaRPr lang="en-US" sz="1020" dirty="0"/>
          </a:p>
        </p:txBody>
      </p:sp>
      <p:pic>
        <p:nvPicPr>
          <p:cNvPr id="107" name="Image 8" descr="g03-bubbl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78047" y="4839919"/>
            <a:ext cx="573329" cy="475488"/>
          </a:xfrm>
          <a:prstGeom prst="rect">
            <a:avLst/>
          </a:prstGeom>
        </p:spPr>
      </p:pic>
      <p:sp>
        <p:nvSpPr>
          <p:cNvPr id="108" name="Text 96"/>
          <p:cNvSpPr/>
          <p:nvPr/>
        </p:nvSpPr>
        <p:spPr>
          <a:xfrm>
            <a:off x="4163263" y="4816145"/>
            <a:ext cx="694944" cy="463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1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충실한 상담</a:t>
            </a:r>
            <a:endParaRPr lang="en-US" sz="101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01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및 설명</a:t>
            </a:r>
            <a:endParaRPr lang="en-US" sz="1010" dirty="0"/>
          </a:p>
        </p:txBody>
      </p:sp>
      <p:sp>
        <p:nvSpPr>
          <p:cNvPr id="109" name="Text 97"/>
          <p:cNvSpPr/>
          <p:nvPr/>
        </p:nvSpPr>
        <p:spPr>
          <a:xfrm>
            <a:off x="4059766" y="5017999"/>
            <a:ext cx="723553" cy="58635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43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70.8</a:t>
            </a:r>
            <a:endParaRPr lang="en-US" sz="2430" dirty="0"/>
          </a:p>
        </p:txBody>
      </p:sp>
      <p:sp>
        <p:nvSpPr>
          <p:cNvPr id="110" name="Text 98"/>
          <p:cNvSpPr/>
          <p:nvPr/>
        </p:nvSpPr>
        <p:spPr>
          <a:xfrm>
            <a:off x="4673592" y="5225034"/>
            <a:ext cx="27622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500" dirty="0"/>
          </a:p>
        </p:txBody>
      </p:sp>
      <p:sp>
        <p:nvSpPr>
          <p:cNvPr id="111" name="Shape 99"/>
          <p:cNvSpPr/>
          <p:nvPr/>
        </p:nvSpPr>
        <p:spPr>
          <a:xfrm>
            <a:off x="4980737" y="4450385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112" name="Shape 100"/>
          <p:cNvSpPr/>
          <p:nvPr/>
        </p:nvSpPr>
        <p:spPr>
          <a:xfrm>
            <a:off x="6267298" y="4450385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113" name="Shape 101"/>
          <p:cNvSpPr/>
          <p:nvPr/>
        </p:nvSpPr>
        <p:spPr>
          <a:xfrm>
            <a:off x="4980737" y="5449824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114" name="Shape 102"/>
          <p:cNvSpPr/>
          <p:nvPr/>
        </p:nvSpPr>
        <p:spPr>
          <a:xfrm>
            <a:off x="6267298" y="5449824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115" name="Shape 103"/>
          <p:cNvSpPr/>
          <p:nvPr/>
        </p:nvSpPr>
        <p:spPr>
          <a:xfrm>
            <a:off x="5078578" y="4450385"/>
            <a:ext cx="1286561" cy="1195121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116" name="Shape 104"/>
          <p:cNvSpPr/>
          <p:nvPr/>
        </p:nvSpPr>
        <p:spPr>
          <a:xfrm>
            <a:off x="4980737" y="4547311"/>
            <a:ext cx="1481328" cy="999439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117" name="Shape 105"/>
          <p:cNvSpPr/>
          <p:nvPr/>
        </p:nvSpPr>
        <p:spPr>
          <a:xfrm>
            <a:off x="5078578" y="4459529"/>
            <a:ext cx="1286561" cy="117683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8" name="Shape 106"/>
          <p:cNvSpPr/>
          <p:nvPr/>
        </p:nvSpPr>
        <p:spPr>
          <a:xfrm>
            <a:off x="4989881" y="4547311"/>
            <a:ext cx="1463040" cy="99943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9" name="Shape 107"/>
          <p:cNvSpPr/>
          <p:nvPr/>
        </p:nvSpPr>
        <p:spPr>
          <a:xfrm>
            <a:off x="4980737" y="4450385"/>
            <a:ext cx="194767" cy="194767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120" name="Shape 108"/>
          <p:cNvSpPr/>
          <p:nvPr/>
        </p:nvSpPr>
        <p:spPr>
          <a:xfrm>
            <a:off x="6267298" y="4450385"/>
            <a:ext cx="194767" cy="194767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121" name="Shape 109"/>
          <p:cNvSpPr/>
          <p:nvPr/>
        </p:nvSpPr>
        <p:spPr>
          <a:xfrm>
            <a:off x="4980737" y="4535424"/>
            <a:ext cx="194767" cy="194767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122" name="Shape 110"/>
          <p:cNvSpPr/>
          <p:nvPr/>
        </p:nvSpPr>
        <p:spPr>
          <a:xfrm>
            <a:off x="6267298" y="4535424"/>
            <a:ext cx="194767" cy="194767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123" name="Shape 111"/>
          <p:cNvSpPr/>
          <p:nvPr/>
        </p:nvSpPr>
        <p:spPr>
          <a:xfrm>
            <a:off x="5078578" y="4450385"/>
            <a:ext cx="1286561" cy="280721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124" name="Shape 112"/>
          <p:cNvSpPr/>
          <p:nvPr/>
        </p:nvSpPr>
        <p:spPr>
          <a:xfrm>
            <a:off x="4980737" y="4547311"/>
            <a:ext cx="1481328" cy="85039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125" name="Shape 113"/>
          <p:cNvSpPr/>
          <p:nvPr/>
        </p:nvSpPr>
        <p:spPr>
          <a:xfrm>
            <a:off x="4980737" y="4620463"/>
            <a:ext cx="109728" cy="109728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126" name="Shape 114"/>
          <p:cNvSpPr/>
          <p:nvPr/>
        </p:nvSpPr>
        <p:spPr>
          <a:xfrm>
            <a:off x="6352337" y="4620463"/>
            <a:ext cx="109728" cy="109728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127" name="Shape 115"/>
          <p:cNvSpPr/>
          <p:nvPr/>
        </p:nvSpPr>
        <p:spPr>
          <a:xfrm>
            <a:off x="4980737" y="4620463"/>
            <a:ext cx="109728" cy="109728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128" name="Shape 116"/>
          <p:cNvSpPr/>
          <p:nvPr/>
        </p:nvSpPr>
        <p:spPr>
          <a:xfrm>
            <a:off x="6352337" y="4620463"/>
            <a:ext cx="109728" cy="109728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129" name="Shape 117"/>
          <p:cNvSpPr/>
          <p:nvPr/>
        </p:nvSpPr>
        <p:spPr>
          <a:xfrm>
            <a:off x="5035601" y="4620463"/>
            <a:ext cx="1371600" cy="109728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130" name="Shape 118"/>
          <p:cNvSpPr/>
          <p:nvPr/>
        </p:nvSpPr>
        <p:spPr>
          <a:xfrm>
            <a:off x="4980737" y="4675327"/>
            <a:ext cx="1481328" cy="0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131" name="Text 119"/>
          <p:cNvSpPr/>
          <p:nvPr/>
        </p:nvSpPr>
        <p:spPr>
          <a:xfrm>
            <a:off x="4980737" y="4450385"/>
            <a:ext cx="1481328" cy="280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비대면 이용자의 장점 TOP1</a:t>
            </a:r>
            <a:endParaRPr lang="en-US" sz="1000" dirty="0"/>
          </a:p>
        </p:txBody>
      </p:sp>
      <p:pic>
        <p:nvPicPr>
          <p:cNvPr id="132" name="Image 9" descr="g03-clock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15154" y="4839919"/>
            <a:ext cx="573329" cy="475488"/>
          </a:xfrm>
          <a:prstGeom prst="rect">
            <a:avLst/>
          </a:prstGeom>
        </p:spPr>
      </p:pic>
      <p:sp>
        <p:nvSpPr>
          <p:cNvPr id="133" name="Text 120"/>
          <p:cNvSpPr/>
          <p:nvPr/>
        </p:nvSpPr>
        <p:spPr>
          <a:xfrm>
            <a:off x="5700370" y="4816145"/>
            <a:ext cx="713232" cy="463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신속한 지원</a:t>
            </a:r>
            <a:endParaRPr lang="en-US" sz="10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절차</a:t>
            </a:r>
            <a:endParaRPr lang="en-US" sz="1050" dirty="0"/>
          </a:p>
        </p:txBody>
      </p:sp>
      <p:sp>
        <p:nvSpPr>
          <p:cNvPr id="134" name="Text 121"/>
          <p:cNvSpPr/>
          <p:nvPr/>
        </p:nvSpPr>
        <p:spPr>
          <a:xfrm>
            <a:off x="5606017" y="5017999"/>
            <a:ext cx="723553" cy="58635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43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70.6</a:t>
            </a:r>
            <a:endParaRPr lang="en-US" sz="2430" dirty="0"/>
          </a:p>
        </p:txBody>
      </p:sp>
      <p:sp>
        <p:nvSpPr>
          <p:cNvPr id="135" name="Text 122"/>
          <p:cNvSpPr/>
          <p:nvPr/>
        </p:nvSpPr>
        <p:spPr>
          <a:xfrm>
            <a:off x="6219842" y="5225034"/>
            <a:ext cx="27622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500" dirty="0"/>
          </a:p>
        </p:txBody>
      </p:sp>
      <p:sp>
        <p:nvSpPr>
          <p:cNvPr id="136" name="Shape 123"/>
          <p:cNvSpPr/>
          <p:nvPr/>
        </p:nvSpPr>
        <p:spPr>
          <a:xfrm>
            <a:off x="6784848" y="1688897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37" name="Shape 124"/>
          <p:cNvSpPr/>
          <p:nvPr/>
        </p:nvSpPr>
        <p:spPr>
          <a:xfrm>
            <a:off x="9120226" y="1688897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38" name="Shape 125"/>
          <p:cNvSpPr/>
          <p:nvPr/>
        </p:nvSpPr>
        <p:spPr>
          <a:xfrm>
            <a:off x="6784848" y="1950415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39" name="Shape 126"/>
          <p:cNvSpPr/>
          <p:nvPr/>
        </p:nvSpPr>
        <p:spPr>
          <a:xfrm>
            <a:off x="9120226" y="1950415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40" name="Shape 127"/>
          <p:cNvSpPr/>
          <p:nvPr/>
        </p:nvSpPr>
        <p:spPr>
          <a:xfrm>
            <a:off x="6852514" y="1688897"/>
            <a:ext cx="2334463" cy="395935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141" name="Shape 128"/>
          <p:cNvSpPr/>
          <p:nvPr/>
        </p:nvSpPr>
        <p:spPr>
          <a:xfrm>
            <a:off x="6784848" y="1755648"/>
            <a:ext cx="2468880" cy="262433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142" name="Shape 129"/>
          <p:cNvSpPr/>
          <p:nvPr/>
        </p:nvSpPr>
        <p:spPr>
          <a:xfrm>
            <a:off x="6784848" y="1688897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43" name="Shape 130"/>
          <p:cNvSpPr/>
          <p:nvPr/>
        </p:nvSpPr>
        <p:spPr>
          <a:xfrm>
            <a:off x="7028993" y="1688897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44" name="Shape 131"/>
          <p:cNvSpPr/>
          <p:nvPr/>
        </p:nvSpPr>
        <p:spPr>
          <a:xfrm>
            <a:off x="6784848" y="1950415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45" name="Shape 132"/>
          <p:cNvSpPr/>
          <p:nvPr/>
        </p:nvSpPr>
        <p:spPr>
          <a:xfrm>
            <a:off x="7028993" y="1950415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46" name="Shape 133"/>
          <p:cNvSpPr/>
          <p:nvPr/>
        </p:nvSpPr>
        <p:spPr>
          <a:xfrm>
            <a:off x="6852514" y="1688897"/>
            <a:ext cx="244145" cy="395935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147" name="Shape 134"/>
          <p:cNvSpPr/>
          <p:nvPr/>
        </p:nvSpPr>
        <p:spPr>
          <a:xfrm>
            <a:off x="6784848" y="1755648"/>
            <a:ext cx="377647" cy="262433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148" name="Text 135"/>
          <p:cNvSpPr/>
          <p:nvPr/>
        </p:nvSpPr>
        <p:spPr>
          <a:xfrm>
            <a:off x="6784848" y="1688897"/>
            <a:ext cx="377647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8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</a:t>
            </a:r>
            <a:endParaRPr lang="en-US" sz="2080" dirty="0"/>
          </a:p>
        </p:txBody>
      </p:sp>
      <p:sp>
        <p:nvSpPr>
          <p:cNvPr id="149" name="Text 136"/>
          <p:cNvSpPr/>
          <p:nvPr/>
        </p:nvSpPr>
        <p:spPr>
          <a:xfrm>
            <a:off x="7296912" y="1688897"/>
            <a:ext cx="1895551" cy="3959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2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조달 자금 용도</a:t>
            </a:r>
            <a:pPr algn="l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  (복수응답)</a:t>
            </a:r>
            <a:endParaRPr lang="en-US" sz="1520" dirty="0"/>
          </a:p>
        </p:txBody>
      </p:sp>
      <p:sp>
        <p:nvSpPr>
          <p:cNvPr id="150" name="Text 137"/>
          <p:cNvSpPr/>
          <p:nvPr/>
        </p:nvSpPr>
        <p:spPr>
          <a:xfrm>
            <a:off x="6834226" y="2169871"/>
            <a:ext cx="2621585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63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운영자금과 시설투자 용도로</a:t>
            </a:r>
            <a:endParaRPr lang="en-US" sz="163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63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주로 사용되고 있습니다.</a:t>
            </a:r>
            <a:endParaRPr lang="en-US" sz="1630" dirty="0"/>
          </a:p>
        </p:txBody>
      </p:sp>
      <p:sp>
        <p:nvSpPr>
          <p:cNvPr id="151" name="Shape 138"/>
          <p:cNvSpPr/>
          <p:nvPr/>
        </p:nvSpPr>
        <p:spPr>
          <a:xfrm>
            <a:off x="6779362" y="2779776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152" name="Shape 139"/>
          <p:cNvSpPr/>
          <p:nvPr/>
        </p:nvSpPr>
        <p:spPr>
          <a:xfrm>
            <a:off x="9266530" y="2779776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153" name="Shape 140"/>
          <p:cNvSpPr/>
          <p:nvPr/>
        </p:nvSpPr>
        <p:spPr>
          <a:xfrm>
            <a:off x="6779362" y="3742639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154" name="Shape 141"/>
          <p:cNvSpPr/>
          <p:nvPr/>
        </p:nvSpPr>
        <p:spPr>
          <a:xfrm>
            <a:off x="9266530" y="3742639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155" name="Shape 142"/>
          <p:cNvSpPr/>
          <p:nvPr/>
        </p:nvSpPr>
        <p:spPr>
          <a:xfrm>
            <a:off x="6876288" y="2779776"/>
            <a:ext cx="2487168" cy="1158545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156" name="Shape 143"/>
          <p:cNvSpPr/>
          <p:nvPr/>
        </p:nvSpPr>
        <p:spPr>
          <a:xfrm>
            <a:off x="6779362" y="2877617"/>
            <a:ext cx="2681935" cy="962863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157" name="Shape 144"/>
          <p:cNvSpPr/>
          <p:nvPr/>
        </p:nvSpPr>
        <p:spPr>
          <a:xfrm>
            <a:off x="6876288" y="2788920"/>
            <a:ext cx="2487168" cy="114025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8" name="Shape 145"/>
          <p:cNvSpPr/>
          <p:nvPr/>
        </p:nvSpPr>
        <p:spPr>
          <a:xfrm>
            <a:off x="6788506" y="2877617"/>
            <a:ext cx="2663647" cy="96286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9" name="Image 10" descr="g03-coins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86016" y="3060497"/>
            <a:ext cx="902513" cy="865937"/>
          </a:xfrm>
          <a:prstGeom prst="rect">
            <a:avLst/>
          </a:prstGeom>
        </p:spPr>
      </p:pic>
      <p:sp>
        <p:nvSpPr>
          <p:cNvPr id="160" name="Text 146"/>
          <p:cNvSpPr/>
          <p:nvPr/>
        </p:nvSpPr>
        <p:spPr>
          <a:xfrm>
            <a:off x="7986370" y="3047695"/>
            <a:ext cx="1341425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운영자금</a:t>
            </a:r>
            <a:endParaRPr lang="en-US" sz="1730" dirty="0"/>
          </a:p>
        </p:txBody>
      </p:sp>
      <p:sp>
        <p:nvSpPr>
          <p:cNvPr id="161" name="Text 147"/>
          <p:cNvSpPr/>
          <p:nvPr/>
        </p:nvSpPr>
        <p:spPr>
          <a:xfrm>
            <a:off x="7986370" y="2979674"/>
            <a:ext cx="1044359" cy="89281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7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92.5</a:t>
            </a:r>
            <a:endParaRPr lang="en-US" sz="3700" dirty="0"/>
          </a:p>
        </p:txBody>
      </p:sp>
      <p:sp>
        <p:nvSpPr>
          <p:cNvPr id="162" name="Text 148"/>
          <p:cNvSpPr/>
          <p:nvPr/>
        </p:nvSpPr>
        <p:spPr>
          <a:xfrm>
            <a:off x="8921001" y="3340405"/>
            <a:ext cx="340604" cy="50190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8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2080" dirty="0"/>
          </a:p>
        </p:txBody>
      </p:sp>
      <p:sp>
        <p:nvSpPr>
          <p:cNvPr id="163" name="Shape 149"/>
          <p:cNvSpPr/>
          <p:nvPr/>
        </p:nvSpPr>
        <p:spPr>
          <a:xfrm>
            <a:off x="6779362" y="4157777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164" name="Shape 150"/>
          <p:cNvSpPr/>
          <p:nvPr/>
        </p:nvSpPr>
        <p:spPr>
          <a:xfrm>
            <a:off x="9266530" y="4157777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165" name="Shape 151"/>
          <p:cNvSpPr/>
          <p:nvPr/>
        </p:nvSpPr>
        <p:spPr>
          <a:xfrm>
            <a:off x="6779362" y="5120640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166" name="Shape 152"/>
          <p:cNvSpPr/>
          <p:nvPr/>
        </p:nvSpPr>
        <p:spPr>
          <a:xfrm>
            <a:off x="9266530" y="5120640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167" name="Shape 153"/>
          <p:cNvSpPr/>
          <p:nvPr/>
        </p:nvSpPr>
        <p:spPr>
          <a:xfrm>
            <a:off x="6876288" y="4157777"/>
            <a:ext cx="2487168" cy="1158545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168" name="Shape 154"/>
          <p:cNvSpPr/>
          <p:nvPr/>
        </p:nvSpPr>
        <p:spPr>
          <a:xfrm>
            <a:off x="6779362" y="4254703"/>
            <a:ext cx="2681935" cy="962863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169" name="Shape 155"/>
          <p:cNvSpPr/>
          <p:nvPr/>
        </p:nvSpPr>
        <p:spPr>
          <a:xfrm>
            <a:off x="6876288" y="4166921"/>
            <a:ext cx="2487168" cy="114025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0" name="Shape 156"/>
          <p:cNvSpPr/>
          <p:nvPr/>
        </p:nvSpPr>
        <p:spPr>
          <a:xfrm>
            <a:off x="6788506" y="4254703"/>
            <a:ext cx="2663647" cy="96286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71" name="Image 11" descr="g03-bld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86016" y="4437583"/>
            <a:ext cx="902513" cy="865937"/>
          </a:xfrm>
          <a:prstGeom prst="rect">
            <a:avLst/>
          </a:prstGeom>
        </p:spPr>
      </p:pic>
      <p:sp>
        <p:nvSpPr>
          <p:cNvPr id="172" name="Text 157"/>
          <p:cNvSpPr/>
          <p:nvPr/>
        </p:nvSpPr>
        <p:spPr>
          <a:xfrm>
            <a:off x="7986370" y="4425696"/>
            <a:ext cx="1341425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시설투자</a:t>
            </a:r>
            <a:endParaRPr lang="en-US" sz="1730" dirty="0"/>
          </a:p>
        </p:txBody>
      </p:sp>
      <p:sp>
        <p:nvSpPr>
          <p:cNvPr id="173" name="Text 158"/>
          <p:cNvSpPr/>
          <p:nvPr/>
        </p:nvSpPr>
        <p:spPr>
          <a:xfrm>
            <a:off x="7986370" y="4356760"/>
            <a:ext cx="1044359" cy="89281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7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50.9</a:t>
            </a:r>
            <a:endParaRPr lang="en-US" sz="3700" dirty="0"/>
          </a:p>
        </p:txBody>
      </p:sp>
      <p:sp>
        <p:nvSpPr>
          <p:cNvPr id="174" name="Text 159"/>
          <p:cNvSpPr/>
          <p:nvPr/>
        </p:nvSpPr>
        <p:spPr>
          <a:xfrm>
            <a:off x="8921001" y="4718406"/>
            <a:ext cx="340604" cy="50190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8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2080" dirty="0"/>
          </a:p>
        </p:txBody>
      </p:sp>
      <p:sp>
        <p:nvSpPr>
          <p:cNvPr id="175" name="Shape 160"/>
          <p:cNvSpPr/>
          <p:nvPr/>
        </p:nvSpPr>
        <p:spPr>
          <a:xfrm>
            <a:off x="170993" y="5955487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76" name="Shape 161"/>
          <p:cNvSpPr/>
          <p:nvPr/>
        </p:nvSpPr>
        <p:spPr>
          <a:xfrm>
            <a:off x="4480560" y="5955487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77" name="Shape 162"/>
          <p:cNvSpPr/>
          <p:nvPr/>
        </p:nvSpPr>
        <p:spPr>
          <a:xfrm>
            <a:off x="170993" y="9601200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78" name="Shape 163"/>
          <p:cNvSpPr/>
          <p:nvPr/>
        </p:nvSpPr>
        <p:spPr>
          <a:xfrm>
            <a:off x="4480560" y="9601200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79" name="Shape 164"/>
          <p:cNvSpPr/>
          <p:nvPr/>
        </p:nvSpPr>
        <p:spPr>
          <a:xfrm>
            <a:off x="304495" y="5955487"/>
            <a:ext cx="4309567" cy="39136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80" name="Shape 165"/>
          <p:cNvSpPr/>
          <p:nvPr/>
        </p:nvSpPr>
        <p:spPr>
          <a:xfrm>
            <a:off x="170993" y="6089904"/>
            <a:ext cx="4578401" cy="3645713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81" name="Shape 166"/>
          <p:cNvSpPr/>
          <p:nvPr/>
        </p:nvSpPr>
        <p:spPr>
          <a:xfrm>
            <a:off x="304495" y="5964631"/>
            <a:ext cx="4309567" cy="38953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2" name="Shape 167"/>
          <p:cNvSpPr/>
          <p:nvPr/>
        </p:nvSpPr>
        <p:spPr>
          <a:xfrm>
            <a:off x="180137" y="6089904"/>
            <a:ext cx="4560113" cy="36457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3" name="Shape 168"/>
          <p:cNvSpPr/>
          <p:nvPr/>
        </p:nvSpPr>
        <p:spPr>
          <a:xfrm>
            <a:off x="4858207" y="5955487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84" name="Shape 169"/>
          <p:cNvSpPr/>
          <p:nvPr/>
        </p:nvSpPr>
        <p:spPr>
          <a:xfrm>
            <a:off x="9314993" y="5955487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85" name="Shape 170"/>
          <p:cNvSpPr/>
          <p:nvPr/>
        </p:nvSpPr>
        <p:spPr>
          <a:xfrm>
            <a:off x="4858207" y="9601200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86" name="Shape 171"/>
          <p:cNvSpPr/>
          <p:nvPr/>
        </p:nvSpPr>
        <p:spPr>
          <a:xfrm>
            <a:off x="9314993" y="9601200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87" name="Shape 172"/>
          <p:cNvSpPr/>
          <p:nvPr/>
        </p:nvSpPr>
        <p:spPr>
          <a:xfrm>
            <a:off x="4992624" y="5955487"/>
            <a:ext cx="4455871" cy="39136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88" name="Shape 173"/>
          <p:cNvSpPr/>
          <p:nvPr/>
        </p:nvSpPr>
        <p:spPr>
          <a:xfrm>
            <a:off x="4858207" y="6089904"/>
            <a:ext cx="4724705" cy="3645713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89" name="Shape 174"/>
          <p:cNvSpPr/>
          <p:nvPr/>
        </p:nvSpPr>
        <p:spPr>
          <a:xfrm>
            <a:off x="4992624" y="5964631"/>
            <a:ext cx="4455871" cy="38953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0" name="Shape 175"/>
          <p:cNvSpPr/>
          <p:nvPr/>
        </p:nvSpPr>
        <p:spPr>
          <a:xfrm>
            <a:off x="4867351" y="6089904"/>
            <a:ext cx="4706417" cy="36457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1" name="Shape 176"/>
          <p:cNvSpPr/>
          <p:nvPr/>
        </p:nvSpPr>
        <p:spPr>
          <a:xfrm>
            <a:off x="286207" y="5992063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92" name="Shape 177"/>
          <p:cNvSpPr/>
          <p:nvPr/>
        </p:nvSpPr>
        <p:spPr>
          <a:xfrm>
            <a:off x="4505249" y="5992063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93" name="Shape 178"/>
          <p:cNvSpPr/>
          <p:nvPr/>
        </p:nvSpPr>
        <p:spPr>
          <a:xfrm>
            <a:off x="286207" y="6248095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94" name="Shape 179"/>
          <p:cNvSpPr/>
          <p:nvPr/>
        </p:nvSpPr>
        <p:spPr>
          <a:xfrm>
            <a:off x="4505249" y="6248095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95" name="Shape 180"/>
          <p:cNvSpPr/>
          <p:nvPr/>
        </p:nvSpPr>
        <p:spPr>
          <a:xfrm>
            <a:off x="353873" y="5992063"/>
            <a:ext cx="4218127" cy="390449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196" name="Shape 181"/>
          <p:cNvSpPr/>
          <p:nvPr/>
        </p:nvSpPr>
        <p:spPr>
          <a:xfrm>
            <a:off x="286207" y="6059729"/>
            <a:ext cx="4352544" cy="256032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197" name="Shape 182"/>
          <p:cNvSpPr/>
          <p:nvPr/>
        </p:nvSpPr>
        <p:spPr>
          <a:xfrm>
            <a:off x="286207" y="5992063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98" name="Shape 183"/>
          <p:cNvSpPr/>
          <p:nvPr/>
        </p:nvSpPr>
        <p:spPr>
          <a:xfrm>
            <a:off x="530352" y="5992063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99" name="Shape 184"/>
          <p:cNvSpPr/>
          <p:nvPr/>
        </p:nvSpPr>
        <p:spPr>
          <a:xfrm>
            <a:off x="286207" y="6248095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00" name="Shape 185"/>
          <p:cNvSpPr/>
          <p:nvPr/>
        </p:nvSpPr>
        <p:spPr>
          <a:xfrm>
            <a:off x="530352" y="6248095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01" name="Shape 186"/>
          <p:cNvSpPr/>
          <p:nvPr/>
        </p:nvSpPr>
        <p:spPr>
          <a:xfrm>
            <a:off x="353873" y="5992063"/>
            <a:ext cx="244145" cy="390449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202" name="Shape 187"/>
          <p:cNvSpPr/>
          <p:nvPr/>
        </p:nvSpPr>
        <p:spPr>
          <a:xfrm>
            <a:off x="286207" y="6059729"/>
            <a:ext cx="377647" cy="256032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203" name="Text 188"/>
          <p:cNvSpPr/>
          <p:nvPr/>
        </p:nvSpPr>
        <p:spPr>
          <a:xfrm>
            <a:off x="286207" y="5992063"/>
            <a:ext cx="377647" cy="390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8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</a:t>
            </a:r>
            <a:endParaRPr lang="en-US" sz="2080" dirty="0"/>
          </a:p>
        </p:txBody>
      </p:sp>
      <p:sp>
        <p:nvSpPr>
          <p:cNvPr id="204" name="Text 189"/>
          <p:cNvSpPr/>
          <p:nvPr/>
        </p:nvSpPr>
        <p:spPr>
          <a:xfrm>
            <a:off x="798271" y="5992063"/>
            <a:ext cx="3779215" cy="3904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4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보증부대출 평가 &amp; 자금 운용 상황</a:t>
            </a:r>
            <a:pPr algn="l" indent="0" marL="0">
              <a:lnSpc>
                <a:spcPct val="95000"/>
              </a:lnSpc>
              <a:buNone/>
            </a:pPr>
            <a:r>
              <a:rPr lang="en-US" sz="124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  (7점 척도)</a:t>
            </a:r>
            <a:endParaRPr lang="en-US" sz="1640" dirty="0"/>
          </a:p>
        </p:txBody>
      </p:sp>
      <p:sp>
        <p:nvSpPr>
          <p:cNvPr id="205" name="Text 190"/>
          <p:cNvSpPr/>
          <p:nvPr/>
        </p:nvSpPr>
        <p:spPr>
          <a:xfrm>
            <a:off x="353873" y="6449263"/>
            <a:ext cx="4267505" cy="463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8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지원절차·금리는 높게 평가된 반면, 대출한도·조건은 낮게 평가되었습니다.</a:t>
            </a:r>
            <a:endParaRPr lang="en-US" sz="108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08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보증 이용 후 자금 운용 상황은 개선되었습니다.</a:t>
            </a:r>
            <a:endParaRPr lang="en-US" sz="1080" dirty="0"/>
          </a:p>
        </p:txBody>
      </p:sp>
      <p:sp>
        <p:nvSpPr>
          <p:cNvPr id="206" name="Shape 191"/>
          <p:cNvSpPr/>
          <p:nvPr/>
        </p:nvSpPr>
        <p:spPr>
          <a:xfrm>
            <a:off x="274320" y="7040880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207" name="Shape 192"/>
          <p:cNvSpPr/>
          <p:nvPr/>
        </p:nvSpPr>
        <p:spPr>
          <a:xfrm>
            <a:off x="2383841" y="7040880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208" name="Shape 193"/>
          <p:cNvSpPr/>
          <p:nvPr/>
        </p:nvSpPr>
        <p:spPr>
          <a:xfrm>
            <a:off x="274320" y="9649663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209" name="Shape 194"/>
          <p:cNvSpPr/>
          <p:nvPr/>
        </p:nvSpPr>
        <p:spPr>
          <a:xfrm>
            <a:off x="2383841" y="9649663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210" name="Shape 195"/>
          <p:cNvSpPr/>
          <p:nvPr/>
        </p:nvSpPr>
        <p:spPr>
          <a:xfrm>
            <a:off x="372161" y="7040880"/>
            <a:ext cx="2109521" cy="2804465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211" name="Shape 196"/>
          <p:cNvSpPr/>
          <p:nvPr/>
        </p:nvSpPr>
        <p:spPr>
          <a:xfrm>
            <a:off x="274320" y="7138721"/>
            <a:ext cx="2304288" cy="2608783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212" name="Shape 197"/>
          <p:cNvSpPr/>
          <p:nvPr/>
        </p:nvSpPr>
        <p:spPr>
          <a:xfrm>
            <a:off x="372161" y="7050024"/>
            <a:ext cx="2109521" cy="27861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3" name="Shape 198"/>
          <p:cNvSpPr/>
          <p:nvPr/>
        </p:nvSpPr>
        <p:spPr>
          <a:xfrm>
            <a:off x="283464" y="7138721"/>
            <a:ext cx="2286000" cy="26087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4" name="Shape 199"/>
          <p:cNvSpPr/>
          <p:nvPr/>
        </p:nvSpPr>
        <p:spPr>
          <a:xfrm>
            <a:off x="2639873" y="7040880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215" name="Shape 200"/>
          <p:cNvSpPr/>
          <p:nvPr/>
        </p:nvSpPr>
        <p:spPr>
          <a:xfrm>
            <a:off x="4517136" y="7040880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216" name="Shape 201"/>
          <p:cNvSpPr/>
          <p:nvPr/>
        </p:nvSpPr>
        <p:spPr>
          <a:xfrm>
            <a:off x="2639873" y="9649663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217" name="Shape 202"/>
          <p:cNvSpPr/>
          <p:nvPr/>
        </p:nvSpPr>
        <p:spPr>
          <a:xfrm>
            <a:off x="4517136" y="9649663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218" name="Shape 203"/>
          <p:cNvSpPr/>
          <p:nvPr/>
        </p:nvSpPr>
        <p:spPr>
          <a:xfrm>
            <a:off x="2736799" y="7040880"/>
            <a:ext cx="1877263" cy="2804465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219" name="Shape 204"/>
          <p:cNvSpPr/>
          <p:nvPr/>
        </p:nvSpPr>
        <p:spPr>
          <a:xfrm>
            <a:off x="2639873" y="7138721"/>
            <a:ext cx="2072945" cy="2608783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220" name="Shape 205"/>
          <p:cNvSpPr/>
          <p:nvPr/>
        </p:nvSpPr>
        <p:spPr>
          <a:xfrm>
            <a:off x="2736799" y="7050024"/>
            <a:ext cx="1877263" cy="27861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1" name="Shape 206"/>
          <p:cNvSpPr/>
          <p:nvPr/>
        </p:nvSpPr>
        <p:spPr>
          <a:xfrm>
            <a:off x="2649017" y="7138721"/>
            <a:ext cx="2054657" cy="26087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2" name="Text 207"/>
          <p:cNvSpPr/>
          <p:nvPr/>
        </p:nvSpPr>
        <p:spPr>
          <a:xfrm>
            <a:off x="274320" y="7107631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보증부대출의 장단점 평가</a:t>
            </a:r>
            <a:endParaRPr lang="en-US" sz="1570" dirty="0"/>
          </a:p>
        </p:txBody>
      </p:sp>
      <p:sp>
        <p:nvSpPr>
          <p:cNvPr id="223" name="Text 208"/>
          <p:cNvSpPr/>
          <p:nvPr/>
        </p:nvSpPr>
        <p:spPr>
          <a:xfrm>
            <a:off x="1542593" y="7388352"/>
            <a:ext cx="975665" cy="194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170" dirty="0">
                <a:solidFill>
                  <a:srgbClr val="6B728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(7점 척도)</a:t>
            </a:r>
            <a:endParaRPr lang="en-US" sz="1170" dirty="0"/>
          </a:p>
        </p:txBody>
      </p:sp>
      <p:sp>
        <p:nvSpPr>
          <p:cNvPr id="224" name="Text 209"/>
          <p:cNvSpPr/>
          <p:nvPr/>
        </p:nvSpPr>
        <p:spPr>
          <a:xfrm>
            <a:off x="304495" y="7601407"/>
            <a:ext cx="96286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지원절차</a:t>
            </a:r>
            <a:endParaRPr lang="en-US" sz="1120" dirty="0"/>
          </a:p>
        </p:txBody>
      </p:sp>
      <p:sp>
        <p:nvSpPr>
          <p:cNvPr id="225" name="Shape 210"/>
          <p:cNvSpPr/>
          <p:nvPr/>
        </p:nvSpPr>
        <p:spPr>
          <a:xfrm>
            <a:off x="335585" y="7879385"/>
            <a:ext cx="2133295" cy="0"/>
          </a:xfrm>
          <a:prstGeom prst="line">
            <a:avLst/>
          </a:prstGeom>
          <a:noFill/>
          <a:ln w="9525">
            <a:solidFill>
              <a:srgbClr val="F0F5FA"/>
            </a:solidFill>
            <a:prstDash val="solid"/>
          </a:ln>
        </p:spPr>
      </p:sp>
      <p:sp>
        <p:nvSpPr>
          <p:cNvPr id="226" name="Text 211"/>
          <p:cNvSpPr/>
          <p:nvPr/>
        </p:nvSpPr>
        <p:spPr>
          <a:xfrm>
            <a:off x="304495" y="7892186"/>
            <a:ext cx="96286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금리 수준</a:t>
            </a:r>
            <a:endParaRPr lang="en-US" sz="1120" dirty="0"/>
          </a:p>
        </p:txBody>
      </p:sp>
      <p:sp>
        <p:nvSpPr>
          <p:cNvPr id="227" name="Shape 212"/>
          <p:cNvSpPr/>
          <p:nvPr/>
        </p:nvSpPr>
        <p:spPr>
          <a:xfrm>
            <a:off x="335585" y="8170164"/>
            <a:ext cx="2133295" cy="0"/>
          </a:xfrm>
          <a:prstGeom prst="line">
            <a:avLst/>
          </a:prstGeom>
          <a:noFill/>
          <a:ln w="9525">
            <a:solidFill>
              <a:srgbClr val="F0F5FA"/>
            </a:solidFill>
            <a:prstDash val="solid"/>
          </a:ln>
        </p:spPr>
      </p:sp>
      <p:sp>
        <p:nvSpPr>
          <p:cNvPr id="228" name="Text 213"/>
          <p:cNvSpPr/>
          <p:nvPr/>
        </p:nvSpPr>
        <p:spPr>
          <a:xfrm>
            <a:off x="304495" y="8182051"/>
            <a:ext cx="96286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금융기관 협력도</a:t>
            </a:r>
            <a:endParaRPr lang="en-US" sz="1120" dirty="0"/>
          </a:p>
        </p:txBody>
      </p:sp>
      <p:sp>
        <p:nvSpPr>
          <p:cNvPr id="229" name="Shape 214"/>
          <p:cNvSpPr/>
          <p:nvPr/>
        </p:nvSpPr>
        <p:spPr>
          <a:xfrm>
            <a:off x="335585" y="8460029"/>
            <a:ext cx="2133295" cy="0"/>
          </a:xfrm>
          <a:prstGeom prst="line">
            <a:avLst/>
          </a:prstGeom>
          <a:noFill/>
          <a:ln w="9525">
            <a:solidFill>
              <a:srgbClr val="F0F5FA"/>
            </a:solidFill>
            <a:prstDash val="solid"/>
          </a:ln>
        </p:spPr>
      </p:sp>
      <p:sp>
        <p:nvSpPr>
          <p:cNvPr id="230" name="Text 215"/>
          <p:cNvSpPr/>
          <p:nvPr/>
        </p:nvSpPr>
        <p:spPr>
          <a:xfrm>
            <a:off x="304495" y="8471916"/>
            <a:ext cx="96286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상환조건(기간·상환방식)</a:t>
            </a:r>
            <a:endParaRPr lang="en-US" sz="1120" dirty="0"/>
          </a:p>
        </p:txBody>
      </p:sp>
      <p:sp>
        <p:nvSpPr>
          <p:cNvPr id="231" name="Shape 216"/>
          <p:cNvSpPr/>
          <p:nvPr/>
        </p:nvSpPr>
        <p:spPr>
          <a:xfrm>
            <a:off x="335585" y="8749894"/>
            <a:ext cx="2133295" cy="0"/>
          </a:xfrm>
          <a:prstGeom prst="line">
            <a:avLst/>
          </a:prstGeom>
          <a:noFill/>
          <a:ln w="9525">
            <a:solidFill>
              <a:srgbClr val="F0F5FA"/>
            </a:solidFill>
            <a:prstDash val="solid"/>
          </a:ln>
        </p:spPr>
      </p:sp>
      <p:sp>
        <p:nvSpPr>
          <p:cNvPr id="232" name="Text 217"/>
          <p:cNvSpPr/>
          <p:nvPr/>
        </p:nvSpPr>
        <p:spPr>
          <a:xfrm>
            <a:off x="304495" y="8762695"/>
            <a:ext cx="96286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대출 조건·문턱</a:t>
            </a:r>
            <a:endParaRPr lang="en-US" sz="1120" dirty="0"/>
          </a:p>
        </p:txBody>
      </p:sp>
      <p:sp>
        <p:nvSpPr>
          <p:cNvPr id="233" name="Shape 218"/>
          <p:cNvSpPr/>
          <p:nvPr/>
        </p:nvSpPr>
        <p:spPr>
          <a:xfrm>
            <a:off x="335585" y="9040673"/>
            <a:ext cx="2133295" cy="0"/>
          </a:xfrm>
          <a:prstGeom prst="line">
            <a:avLst/>
          </a:prstGeom>
          <a:noFill/>
          <a:ln w="9525">
            <a:solidFill>
              <a:srgbClr val="F0F5FA"/>
            </a:solidFill>
            <a:prstDash val="solid"/>
          </a:ln>
        </p:spPr>
      </p:sp>
      <p:sp>
        <p:nvSpPr>
          <p:cNvPr id="234" name="Text 219"/>
          <p:cNvSpPr/>
          <p:nvPr/>
        </p:nvSpPr>
        <p:spPr>
          <a:xfrm>
            <a:off x="304495" y="9052560"/>
            <a:ext cx="96286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대출한도</a:t>
            </a:r>
            <a:endParaRPr lang="en-US" sz="1120" dirty="0"/>
          </a:p>
        </p:txBody>
      </p:sp>
      <p:graphicFrame>
        <p:nvGraphicFramePr>
          <p:cNvPr id="235" name="Chart 1" descr=""/>
          <p:cNvGraphicFramePr/>
          <p:nvPr/>
        </p:nvGraphicFramePr>
        <p:xfrm>
          <a:off x="1316736" y="7581290"/>
          <a:ext cx="1292047" cy="174101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4"/>
          </a:graphicData>
        </a:graphic>
      </p:graphicFrame>
      <p:sp>
        <p:nvSpPr>
          <p:cNvPr id="236" name="Text 220"/>
          <p:cNvSpPr/>
          <p:nvPr/>
        </p:nvSpPr>
        <p:spPr>
          <a:xfrm>
            <a:off x="2639873" y="7107631"/>
            <a:ext cx="207294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자금 운용 상황 변화</a:t>
            </a:r>
            <a:endParaRPr lang="en-US" sz="1570" dirty="0"/>
          </a:p>
        </p:txBody>
      </p:sp>
      <p:sp>
        <p:nvSpPr>
          <p:cNvPr id="237" name="Text 221"/>
          <p:cNvSpPr/>
          <p:nvPr/>
        </p:nvSpPr>
        <p:spPr>
          <a:xfrm>
            <a:off x="3657600" y="7388352"/>
            <a:ext cx="975665" cy="194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170" dirty="0">
                <a:solidFill>
                  <a:srgbClr val="6B728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(7점 척도)</a:t>
            </a:r>
            <a:endParaRPr lang="en-US" sz="1170" dirty="0"/>
          </a:p>
        </p:txBody>
      </p:sp>
      <p:graphicFrame>
        <p:nvGraphicFramePr>
          <p:cNvPr id="238" name="Chart 2" descr=""/>
          <p:cNvGraphicFramePr/>
          <p:nvPr/>
        </p:nvGraphicFramePr>
        <p:xfrm>
          <a:off x="2694737" y="7669073"/>
          <a:ext cx="1950415" cy="103601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5"/>
          </a:graphicData>
        </a:graphic>
      </p:graphicFrame>
      <p:sp>
        <p:nvSpPr>
          <p:cNvPr id="239" name="Text 222"/>
          <p:cNvSpPr/>
          <p:nvPr/>
        </p:nvSpPr>
        <p:spPr>
          <a:xfrm>
            <a:off x="2892424" y="7771003"/>
            <a:ext cx="546731" cy="41744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3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3.99</a:t>
            </a:r>
            <a:endParaRPr lang="en-US" sz="1730" dirty="0"/>
          </a:p>
        </p:txBody>
      </p:sp>
      <p:sp>
        <p:nvSpPr>
          <p:cNvPr id="240" name="Text 223"/>
          <p:cNvSpPr/>
          <p:nvPr/>
        </p:nvSpPr>
        <p:spPr>
          <a:xfrm>
            <a:off x="3329428" y="7896073"/>
            <a:ext cx="239298" cy="282321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7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점</a:t>
            </a:r>
            <a:endParaRPr lang="en-US" sz="1170" dirty="0"/>
          </a:p>
        </p:txBody>
      </p:sp>
      <p:sp>
        <p:nvSpPr>
          <p:cNvPr id="241" name="Text 224"/>
          <p:cNvSpPr/>
          <p:nvPr/>
        </p:nvSpPr>
        <p:spPr>
          <a:xfrm>
            <a:off x="3856202" y="7466508"/>
            <a:ext cx="546731" cy="41744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3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4.59</a:t>
            </a:r>
            <a:endParaRPr lang="en-US" sz="1730" dirty="0"/>
          </a:p>
        </p:txBody>
      </p:sp>
      <p:sp>
        <p:nvSpPr>
          <p:cNvPr id="242" name="Text 225"/>
          <p:cNvSpPr/>
          <p:nvPr/>
        </p:nvSpPr>
        <p:spPr>
          <a:xfrm>
            <a:off x="4293205" y="7590663"/>
            <a:ext cx="239298" cy="282321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7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점</a:t>
            </a:r>
            <a:endParaRPr lang="en-US" sz="1170" dirty="0"/>
          </a:p>
        </p:txBody>
      </p:sp>
      <p:pic>
        <p:nvPicPr>
          <p:cNvPr id="243" name="Image 12" descr="g03-uparrow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99409" y="7851953"/>
            <a:ext cx="365760" cy="353873"/>
          </a:xfrm>
          <a:prstGeom prst="rect">
            <a:avLst/>
          </a:prstGeom>
        </p:spPr>
      </p:pic>
      <p:sp>
        <p:nvSpPr>
          <p:cNvPr id="244" name="Shape 226"/>
          <p:cNvSpPr/>
          <p:nvPr/>
        </p:nvSpPr>
        <p:spPr>
          <a:xfrm>
            <a:off x="2755087" y="8662111"/>
            <a:ext cx="1828800" cy="0"/>
          </a:xfrm>
          <a:prstGeom prst="line">
            <a:avLst/>
          </a:prstGeom>
          <a:noFill/>
          <a:ln w="15875">
            <a:solidFill>
              <a:srgbClr val="C9D4E0"/>
            </a:solidFill>
            <a:prstDash val="solid"/>
          </a:ln>
        </p:spPr>
      </p:sp>
      <p:sp>
        <p:nvSpPr>
          <p:cNvPr id="245" name="Text 227"/>
          <p:cNvSpPr/>
          <p:nvPr/>
        </p:nvSpPr>
        <p:spPr>
          <a:xfrm>
            <a:off x="2755087" y="8716975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3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보증 당시</a:t>
            </a:r>
            <a:endParaRPr lang="en-US" sz="137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3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(신청 시)</a:t>
            </a:r>
            <a:endParaRPr lang="en-US" sz="1370" dirty="0"/>
          </a:p>
        </p:txBody>
      </p:sp>
      <p:sp>
        <p:nvSpPr>
          <p:cNvPr id="246" name="Text 228"/>
          <p:cNvSpPr/>
          <p:nvPr/>
        </p:nvSpPr>
        <p:spPr>
          <a:xfrm>
            <a:off x="3718865" y="8716975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29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보증 이용 후</a:t>
            </a:r>
            <a:endParaRPr lang="en-US" sz="129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29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(현재)</a:t>
            </a:r>
            <a:endParaRPr lang="en-US" sz="1290" dirty="0"/>
          </a:p>
        </p:txBody>
      </p:sp>
      <p:sp>
        <p:nvSpPr>
          <p:cNvPr id="247" name="Shape 229"/>
          <p:cNvSpPr/>
          <p:nvPr/>
        </p:nvSpPr>
        <p:spPr>
          <a:xfrm>
            <a:off x="2852928" y="9205265"/>
            <a:ext cx="170993" cy="170993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248" name="Shape 230"/>
          <p:cNvSpPr/>
          <p:nvPr/>
        </p:nvSpPr>
        <p:spPr>
          <a:xfrm>
            <a:off x="4279392" y="9205265"/>
            <a:ext cx="170993" cy="170993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249" name="Shape 231"/>
          <p:cNvSpPr/>
          <p:nvPr/>
        </p:nvSpPr>
        <p:spPr>
          <a:xfrm>
            <a:off x="2852928" y="9411919"/>
            <a:ext cx="170993" cy="170993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250" name="Shape 232"/>
          <p:cNvSpPr/>
          <p:nvPr/>
        </p:nvSpPr>
        <p:spPr>
          <a:xfrm>
            <a:off x="4279392" y="9411919"/>
            <a:ext cx="170993" cy="170993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251" name="Shape 233"/>
          <p:cNvSpPr/>
          <p:nvPr/>
        </p:nvSpPr>
        <p:spPr>
          <a:xfrm>
            <a:off x="2937967" y="9205265"/>
            <a:ext cx="1426464" cy="377647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252" name="Shape 234"/>
          <p:cNvSpPr/>
          <p:nvPr/>
        </p:nvSpPr>
        <p:spPr>
          <a:xfrm>
            <a:off x="2852928" y="9290304"/>
            <a:ext cx="1597457" cy="207569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253" name="Text 235"/>
          <p:cNvSpPr/>
          <p:nvPr/>
        </p:nvSpPr>
        <p:spPr>
          <a:xfrm>
            <a:off x="2852928" y="9205265"/>
            <a:ext cx="1597457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7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+0.54점 개선 ↑</a:t>
            </a:r>
            <a:endParaRPr lang="en-US" sz="1670" dirty="0"/>
          </a:p>
        </p:txBody>
      </p:sp>
      <p:sp>
        <p:nvSpPr>
          <p:cNvPr id="254" name="Shape 236"/>
          <p:cNvSpPr/>
          <p:nvPr/>
        </p:nvSpPr>
        <p:spPr>
          <a:xfrm>
            <a:off x="4974336" y="5986577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255" name="Shape 237"/>
          <p:cNvSpPr/>
          <p:nvPr/>
        </p:nvSpPr>
        <p:spPr>
          <a:xfrm>
            <a:off x="8284464" y="5986577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256" name="Shape 238"/>
          <p:cNvSpPr/>
          <p:nvPr/>
        </p:nvSpPr>
        <p:spPr>
          <a:xfrm>
            <a:off x="4974336" y="6248095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257" name="Shape 239"/>
          <p:cNvSpPr/>
          <p:nvPr/>
        </p:nvSpPr>
        <p:spPr>
          <a:xfrm>
            <a:off x="8284464" y="6248095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258" name="Shape 240"/>
          <p:cNvSpPr/>
          <p:nvPr/>
        </p:nvSpPr>
        <p:spPr>
          <a:xfrm>
            <a:off x="5042002" y="5986577"/>
            <a:ext cx="3310128" cy="395935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259" name="Shape 241"/>
          <p:cNvSpPr/>
          <p:nvPr/>
        </p:nvSpPr>
        <p:spPr>
          <a:xfrm>
            <a:off x="4974336" y="6053328"/>
            <a:ext cx="3444545" cy="262433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260" name="Shape 242"/>
          <p:cNvSpPr/>
          <p:nvPr/>
        </p:nvSpPr>
        <p:spPr>
          <a:xfrm>
            <a:off x="4974336" y="5986577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61" name="Shape 243"/>
          <p:cNvSpPr/>
          <p:nvPr/>
        </p:nvSpPr>
        <p:spPr>
          <a:xfrm>
            <a:off x="5218481" y="5986577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62" name="Shape 244"/>
          <p:cNvSpPr/>
          <p:nvPr/>
        </p:nvSpPr>
        <p:spPr>
          <a:xfrm>
            <a:off x="4974336" y="6248095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63" name="Shape 245"/>
          <p:cNvSpPr/>
          <p:nvPr/>
        </p:nvSpPr>
        <p:spPr>
          <a:xfrm>
            <a:off x="5218481" y="6248095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64" name="Shape 246"/>
          <p:cNvSpPr/>
          <p:nvPr/>
        </p:nvSpPr>
        <p:spPr>
          <a:xfrm>
            <a:off x="5042002" y="5986577"/>
            <a:ext cx="244145" cy="395935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265" name="Shape 247"/>
          <p:cNvSpPr/>
          <p:nvPr/>
        </p:nvSpPr>
        <p:spPr>
          <a:xfrm>
            <a:off x="4974336" y="6053328"/>
            <a:ext cx="377647" cy="262433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266" name="Text 248"/>
          <p:cNvSpPr/>
          <p:nvPr/>
        </p:nvSpPr>
        <p:spPr>
          <a:xfrm>
            <a:off x="4974336" y="5986577"/>
            <a:ext cx="377647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8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5</a:t>
            </a:r>
            <a:endParaRPr lang="en-US" sz="2080" dirty="0"/>
          </a:p>
        </p:txBody>
      </p:sp>
      <p:sp>
        <p:nvSpPr>
          <p:cNvPr id="267" name="Text 249"/>
          <p:cNvSpPr/>
          <p:nvPr/>
        </p:nvSpPr>
        <p:spPr>
          <a:xfrm>
            <a:off x="5486400" y="5986577"/>
            <a:ext cx="2871216" cy="3959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6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경영 성과 변화</a:t>
            </a:r>
            <a:pPr algn="l" indent="0" marL="0">
              <a:lnSpc>
                <a:spcPct val="95000"/>
              </a:lnSpc>
              <a:buNone/>
            </a:pPr>
            <a:r>
              <a:rPr lang="en-US" sz="118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  (보증신청 당시 대비 현재)</a:t>
            </a:r>
            <a:endParaRPr lang="en-US" sz="1560" dirty="0"/>
          </a:p>
        </p:txBody>
      </p:sp>
      <p:sp>
        <p:nvSpPr>
          <p:cNvPr id="268" name="Text 250"/>
          <p:cNvSpPr/>
          <p:nvPr/>
        </p:nvSpPr>
        <p:spPr>
          <a:xfrm>
            <a:off x="5042002" y="6449263"/>
            <a:ext cx="3901745" cy="463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5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매출은 대체로 안정적이나, 수익성과 금융비용은</a:t>
            </a:r>
            <a:endParaRPr lang="en-US" sz="152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5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변동 쪽이 더 크게 나타났습니다.</a:t>
            </a:r>
            <a:endParaRPr lang="en-US" sz="1520" dirty="0"/>
          </a:p>
        </p:txBody>
      </p:sp>
      <p:sp>
        <p:nvSpPr>
          <p:cNvPr id="269" name="Shape 251"/>
          <p:cNvSpPr/>
          <p:nvPr/>
        </p:nvSpPr>
        <p:spPr>
          <a:xfrm>
            <a:off x="4937760" y="7040880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270" name="Shape 252"/>
          <p:cNvSpPr/>
          <p:nvPr/>
        </p:nvSpPr>
        <p:spPr>
          <a:xfrm>
            <a:off x="6084418" y="7040880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271" name="Shape 253"/>
          <p:cNvSpPr/>
          <p:nvPr/>
        </p:nvSpPr>
        <p:spPr>
          <a:xfrm>
            <a:off x="4937760" y="9528048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272" name="Shape 254"/>
          <p:cNvSpPr/>
          <p:nvPr/>
        </p:nvSpPr>
        <p:spPr>
          <a:xfrm>
            <a:off x="6084418" y="9528048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273" name="Shape 255"/>
          <p:cNvSpPr/>
          <p:nvPr/>
        </p:nvSpPr>
        <p:spPr>
          <a:xfrm>
            <a:off x="5035601" y="7040880"/>
            <a:ext cx="1145743" cy="2681935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274" name="Shape 256"/>
          <p:cNvSpPr/>
          <p:nvPr/>
        </p:nvSpPr>
        <p:spPr>
          <a:xfrm>
            <a:off x="4937760" y="7138721"/>
            <a:ext cx="1341425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275" name="Shape 257"/>
          <p:cNvSpPr/>
          <p:nvPr/>
        </p:nvSpPr>
        <p:spPr>
          <a:xfrm>
            <a:off x="5035601" y="7050024"/>
            <a:ext cx="1145743" cy="26636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6" name="Shape 258"/>
          <p:cNvSpPr/>
          <p:nvPr/>
        </p:nvSpPr>
        <p:spPr>
          <a:xfrm>
            <a:off x="4946904" y="7138721"/>
            <a:ext cx="1323137" cy="2487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7" name="Text 259"/>
          <p:cNvSpPr/>
          <p:nvPr/>
        </p:nvSpPr>
        <p:spPr>
          <a:xfrm>
            <a:off x="4937760" y="7120433"/>
            <a:ext cx="1341425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매출액 변화</a:t>
            </a:r>
            <a:endParaRPr lang="en-US" sz="1470" dirty="0"/>
          </a:p>
        </p:txBody>
      </p:sp>
      <p:graphicFrame>
        <p:nvGraphicFramePr>
          <p:cNvPr id="278" name="Chart 3" descr=""/>
          <p:cNvGraphicFramePr/>
          <p:nvPr/>
        </p:nvGraphicFramePr>
        <p:xfrm>
          <a:off x="5042002" y="7534656"/>
          <a:ext cx="1133856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7"/>
          </a:graphicData>
        </a:graphic>
      </p:graphicFrame>
      <p:pic>
        <p:nvPicPr>
          <p:cNvPr id="279" name="Image 13" descr="g03-dn1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86400" y="7979969"/>
            <a:ext cx="244145" cy="244145"/>
          </a:xfrm>
          <a:prstGeom prst="rect">
            <a:avLst/>
          </a:prstGeom>
        </p:spPr>
      </p:pic>
      <p:sp>
        <p:nvSpPr>
          <p:cNvPr id="280" name="Text 260"/>
          <p:cNvSpPr/>
          <p:nvPr/>
        </p:nvSpPr>
        <p:spPr>
          <a:xfrm>
            <a:off x="5023714" y="8729777"/>
            <a:ext cx="560527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증가</a:t>
            </a:r>
            <a:endParaRPr lang="en-US" sz="1220" dirty="0"/>
          </a:p>
        </p:txBody>
      </p:sp>
      <p:sp>
        <p:nvSpPr>
          <p:cNvPr id="281" name="Text 261"/>
          <p:cNvSpPr/>
          <p:nvPr/>
        </p:nvSpPr>
        <p:spPr>
          <a:xfrm>
            <a:off x="5777748" y="8551012"/>
            <a:ext cx="403113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6.2</a:t>
            </a:r>
            <a:endParaRPr lang="en-US" sz="1620" dirty="0"/>
          </a:p>
        </p:txBody>
      </p:sp>
      <p:sp>
        <p:nvSpPr>
          <p:cNvPr id="282" name="Text 262"/>
          <p:cNvSpPr/>
          <p:nvPr/>
        </p:nvSpPr>
        <p:spPr>
          <a:xfrm>
            <a:off x="6071133" y="8667344"/>
            <a:ext cx="231826" cy="26543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00" dirty="0"/>
          </a:p>
        </p:txBody>
      </p:sp>
      <p:sp>
        <p:nvSpPr>
          <p:cNvPr id="283" name="Shape 263"/>
          <p:cNvSpPr/>
          <p:nvPr/>
        </p:nvSpPr>
        <p:spPr>
          <a:xfrm>
            <a:off x="5023714" y="8997696"/>
            <a:ext cx="1170432" cy="0"/>
          </a:xfrm>
          <a:prstGeom prst="line">
            <a:avLst/>
          </a:prstGeom>
          <a:noFill/>
          <a:ln w="9525">
            <a:solidFill>
              <a:srgbClr val="EDF3FA"/>
            </a:solidFill>
            <a:prstDash val="solid"/>
          </a:ln>
        </p:spPr>
      </p:sp>
      <p:sp>
        <p:nvSpPr>
          <p:cNvPr id="284" name="Text 264"/>
          <p:cNvSpPr/>
          <p:nvPr/>
        </p:nvSpPr>
        <p:spPr>
          <a:xfrm>
            <a:off x="5023714" y="9034272"/>
            <a:ext cx="560527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6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변화없음</a:t>
            </a:r>
            <a:endParaRPr lang="en-US" sz="1060" dirty="0"/>
          </a:p>
        </p:txBody>
      </p:sp>
      <p:sp>
        <p:nvSpPr>
          <p:cNvPr id="285" name="Text 265"/>
          <p:cNvSpPr/>
          <p:nvPr/>
        </p:nvSpPr>
        <p:spPr>
          <a:xfrm>
            <a:off x="5661917" y="8856421"/>
            <a:ext cx="518945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78.9</a:t>
            </a:r>
            <a:endParaRPr lang="en-US" sz="1620" dirty="0"/>
          </a:p>
        </p:txBody>
      </p:sp>
      <p:sp>
        <p:nvSpPr>
          <p:cNvPr id="286" name="Text 266"/>
          <p:cNvSpPr/>
          <p:nvPr/>
        </p:nvSpPr>
        <p:spPr>
          <a:xfrm>
            <a:off x="6071133" y="8971839"/>
            <a:ext cx="231826" cy="26543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00" dirty="0"/>
          </a:p>
        </p:txBody>
      </p:sp>
      <p:sp>
        <p:nvSpPr>
          <p:cNvPr id="287" name="Shape 267"/>
          <p:cNvSpPr/>
          <p:nvPr/>
        </p:nvSpPr>
        <p:spPr>
          <a:xfrm>
            <a:off x="5023714" y="9302191"/>
            <a:ext cx="1170432" cy="0"/>
          </a:xfrm>
          <a:prstGeom prst="line">
            <a:avLst/>
          </a:prstGeom>
          <a:noFill/>
          <a:ln w="9525">
            <a:solidFill>
              <a:srgbClr val="EDF3FA"/>
            </a:solidFill>
            <a:prstDash val="solid"/>
          </a:ln>
        </p:spPr>
      </p:sp>
      <p:sp>
        <p:nvSpPr>
          <p:cNvPr id="288" name="Text 268"/>
          <p:cNvSpPr/>
          <p:nvPr/>
        </p:nvSpPr>
        <p:spPr>
          <a:xfrm>
            <a:off x="5023714" y="9338767"/>
            <a:ext cx="560527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감소</a:t>
            </a:r>
            <a:endParaRPr lang="en-US" sz="1220" dirty="0"/>
          </a:p>
        </p:txBody>
      </p:sp>
      <p:sp>
        <p:nvSpPr>
          <p:cNvPr id="289" name="Text 269"/>
          <p:cNvSpPr/>
          <p:nvPr/>
        </p:nvSpPr>
        <p:spPr>
          <a:xfrm>
            <a:off x="5661917" y="9160916"/>
            <a:ext cx="518945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14.9</a:t>
            </a:r>
            <a:endParaRPr lang="en-US" sz="1620" dirty="0"/>
          </a:p>
        </p:txBody>
      </p:sp>
      <p:sp>
        <p:nvSpPr>
          <p:cNvPr id="290" name="Text 270"/>
          <p:cNvSpPr/>
          <p:nvPr/>
        </p:nvSpPr>
        <p:spPr>
          <a:xfrm>
            <a:off x="6071133" y="9276334"/>
            <a:ext cx="231826" cy="26543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00" dirty="0"/>
          </a:p>
        </p:txBody>
      </p:sp>
      <p:sp>
        <p:nvSpPr>
          <p:cNvPr id="291" name="Shape 271"/>
          <p:cNvSpPr/>
          <p:nvPr/>
        </p:nvSpPr>
        <p:spPr>
          <a:xfrm>
            <a:off x="6340450" y="7040880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292" name="Shape 272"/>
          <p:cNvSpPr/>
          <p:nvPr/>
        </p:nvSpPr>
        <p:spPr>
          <a:xfrm>
            <a:off x="7760513" y="7040880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293" name="Shape 273"/>
          <p:cNvSpPr/>
          <p:nvPr/>
        </p:nvSpPr>
        <p:spPr>
          <a:xfrm>
            <a:off x="6340450" y="9528048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294" name="Shape 274"/>
          <p:cNvSpPr/>
          <p:nvPr/>
        </p:nvSpPr>
        <p:spPr>
          <a:xfrm>
            <a:off x="7760513" y="9528048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295" name="Shape 275"/>
          <p:cNvSpPr/>
          <p:nvPr/>
        </p:nvSpPr>
        <p:spPr>
          <a:xfrm>
            <a:off x="6437376" y="7040880"/>
            <a:ext cx="1420063" cy="2681935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296" name="Shape 276"/>
          <p:cNvSpPr/>
          <p:nvPr/>
        </p:nvSpPr>
        <p:spPr>
          <a:xfrm>
            <a:off x="6340450" y="7138721"/>
            <a:ext cx="1615745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297" name="Shape 277"/>
          <p:cNvSpPr/>
          <p:nvPr/>
        </p:nvSpPr>
        <p:spPr>
          <a:xfrm>
            <a:off x="6437376" y="7050024"/>
            <a:ext cx="1420063" cy="26636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8" name="Shape 278"/>
          <p:cNvSpPr/>
          <p:nvPr/>
        </p:nvSpPr>
        <p:spPr>
          <a:xfrm>
            <a:off x="6349594" y="7138721"/>
            <a:ext cx="1597457" cy="2487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9" name="Text 279"/>
          <p:cNvSpPr/>
          <p:nvPr/>
        </p:nvSpPr>
        <p:spPr>
          <a:xfrm>
            <a:off x="6340450" y="7120433"/>
            <a:ext cx="1615745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수익성(영업이익) 변화</a:t>
            </a:r>
            <a:endParaRPr lang="en-US" sz="1230" dirty="0"/>
          </a:p>
        </p:txBody>
      </p:sp>
      <p:graphicFrame>
        <p:nvGraphicFramePr>
          <p:cNvPr id="300" name="Chart 4" descr=""/>
          <p:cNvGraphicFramePr/>
          <p:nvPr/>
        </p:nvGraphicFramePr>
        <p:xfrm>
          <a:off x="6580937" y="7534656"/>
          <a:ext cx="1133856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9"/>
          </a:graphicData>
        </a:graphic>
      </p:graphicFrame>
      <p:pic>
        <p:nvPicPr>
          <p:cNvPr id="301" name="Image 14" descr="g03-dn2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026250" y="7979969"/>
            <a:ext cx="244145" cy="244145"/>
          </a:xfrm>
          <a:prstGeom prst="rect">
            <a:avLst/>
          </a:prstGeom>
        </p:spPr>
      </p:pic>
      <p:sp>
        <p:nvSpPr>
          <p:cNvPr id="302" name="Text 280"/>
          <p:cNvSpPr/>
          <p:nvPr/>
        </p:nvSpPr>
        <p:spPr>
          <a:xfrm>
            <a:off x="6425489" y="8729777"/>
            <a:ext cx="560527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증가</a:t>
            </a:r>
            <a:endParaRPr lang="en-US" sz="1220" dirty="0"/>
          </a:p>
        </p:txBody>
      </p:sp>
      <p:sp>
        <p:nvSpPr>
          <p:cNvPr id="303" name="Text 281"/>
          <p:cNvSpPr/>
          <p:nvPr/>
        </p:nvSpPr>
        <p:spPr>
          <a:xfrm>
            <a:off x="7338926" y="8551012"/>
            <a:ext cx="518945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27.3</a:t>
            </a:r>
            <a:endParaRPr lang="en-US" sz="1620" dirty="0"/>
          </a:p>
        </p:txBody>
      </p:sp>
      <p:sp>
        <p:nvSpPr>
          <p:cNvPr id="304" name="Text 282"/>
          <p:cNvSpPr/>
          <p:nvPr/>
        </p:nvSpPr>
        <p:spPr>
          <a:xfrm>
            <a:off x="7748143" y="8667344"/>
            <a:ext cx="231826" cy="26543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00" dirty="0"/>
          </a:p>
        </p:txBody>
      </p:sp>
      <p:sp>
        <p:nvSpPr>
          <p:cNvPr id="305" name="Shape 283"/>
          <p:cNvSpPr/>
          <p:nvPr/>
        </p:nvSpPr>
        <p:spPr>
          <a:xfrm>
            <a:off x="6425489" y="8997696"/>
            <a:ext cx="1444752" cy="0"/>
          </a:xfrm>
          <a:prstGeom prst="line">
            <a:avLst/>
          </a:prstGeom>
          <a:noFill/>
          <a:ln w="9525">
            <a:solidFill>
              <a:srgbClr val="EDF3FA"/>
            </a:solidFill>
            <a:prstDash val="solid"/>
          </a:ln>
        </p:spPr>
      </p:sp>
      <p:sp>
        <p:nvSpPr>
          <p:cNvPr id="306" name="Text 284"/>
          <p:cNvSpPr/>
          <p:nvPr/>
        </p:nvSpPr>
        <p:spPr>
          <a:xfrm>
            <a:off x="6425489" y="9034272"/>
            <a:ext cx="560527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6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변화없음</a:t>
            </a:r>
            <a:endParaRPr lang="en-US" sz="1060" dirty="0"/>
          </a:p>
        </p:txBody>
      </p:sp>
      <p:sp>
        <p:nvSpPr>
          <p:cNvPr id="307" name="Text 285"/>
          <p:cNvSpPr/>
          <p:nvPr/>
        </p:nvSpPr>
        <p:spPr>
          <a:xfrm>
            <a:off x="7338926" y="8856421"/>
            <a:ext cx="518945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44.1</a:t>
            </a:r>
            <a:endParaRPr lang="en-US" sz="1620" dirty="0"/>
          </a:p>
        </p:txBody>
      </p:sp>
      <p:sp>
        <p:nvSpPr>
          <p:cNvPr id="308" name="Text 286"/>
          <p:cNvSpPr/>
          <p:nvPr/>
        </p:nvSpPr>
        <p:spPr>
          <a:xfrm>
            <a:off x="7748143" y="8971839"/>
            <a:ext cx="231826" cy="26543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00" dirty="0"/>
          </a:p>
        </p:txBody>
      </p:sp>
      <p:sp>
        <p:nvSpPr>
          <p:cNvPr id="309" name="Shape 287"/>
          <p:cNvSpPr/>
          <p:nvPr/>
        </p:nvSpPr>
        <p:spPr>
          <a:xfrm>
            <a:off x="6425489" y="9302191"/>
            <a:ext cx="1444752" cy="0"/>
          </a:xfrm>
          <a:prstGeom prst="line">
            <a:avLst/>
          </a:prstGeom>
          <a:noFill/>
          <a:ln w="9525">
            <a:solidFill>
              <a:srgbClr val="EDF3FA"/>
            </a:solidFill>
            <a:prstDash val="solid"/>
          </a:ln>
        </p:spPr>
      </p:sp>
      <p:sp>
        <p:nvSpPr>
          <p:cNvPr id="310" name="Text 288"/>
          <p:cNvSpPr/>
          <p:nvPr/>
        </p:nvSpPr>
        <p:spPr>
          <a:xfrm>
            <a:off x="6425489" y="9338767"/>
            <a:ext cx="560527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감소</a:t>
            </a:r>
            <a:endParaRPr lang="en-US" sz="1220" dirty="0"/>
          </a:p>
        </p:txBody>
      </p:sp>
      <p:sp>
        <p:nvSpPr>
          <p:cNvPr id="311" name="Text 289"/>
          <p:cNvSpPr/>
          <p:nvPr/>
        </p:nvSpPr>
        <p:spPr>
          <a:xfrm>
            <a:off x="7338926" y="9160916"/>
            <a:ext cx="518945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28.6</a:t>
            </a:r>
            <a:endParaRPr lang="en-US" sz="1620" dirty="0"/>
          </a:p>
        </p:txBody>
      </p:sp>
      <p:sp>
        <p:nvSpPr>
          <p:cNvPr id="312" name="Text 290"/>
          <p:cNvSpPr/>
          <p:nvPr/>
        </p:nvSpPr>
        <p:spPr>
          <a:xfrm>
            <a:off x="7748143" y="9276334"/>
            <a:ext cx="231826" cy="26543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00" dirty="0"/>
          </a:p>
        </p:txBody>
      </p:sp>
      <p:sp>
        <p:nvSpPr>
          <p:cNvPr id="313" name="Shape 291"/>
          <p:cNvSpPr/>
          <p:nvPr/>
        </p:nvSpPr>
        <p:spPr>
          <a:xfrm>
            <a:off x="8016545" y="7040880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314" name="Shape 292"/>
          <p:cNvSpPr/>
          <p:nvPr/>
        </p:nvSpPr>
        <p:spPr>
          <a:xfrm>
            <a:off x="9376258" y="7040880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315" name="Shape 293"/>
          <p:cNvSpPr/>
          <p:nvPr/>
        </p:nvSpPr>
        <p:spPr>
          <a:xfrm>
            <a:off x="8016545" y="9528048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316" name="Shape 294"/>
          <p:cNvSpPr/>
          <p:nvPr/>
        </p:nvSpPr>
        <p:spPr>
          <a:xfrm>
            <a:off x="9376258" y="9528048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317" name="Shape 295"/>
          <p:cNvSpPr/>
          <p:nvPr/>
        </p:nvSpPr>
        <p:spPr>
          <a:xfrm>
            <a:off x="8114386" y="7040880"/>
            <a:ext cx="1359713" cy="2681935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318" name="Shape 296"/>
          <p:cNvSpPr/>
          <p:nvPr/>
        </p:nvSpPr>
        <p:spPr>
          <a:xfrm>
            <a:off x="8016545" y="7138721"/>
            <a:ext cx="1554480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319" name="Shape 297"/>
          <p:cNvSpPr/>
          <p:nvPr/>
        </p:nvSpPr>
        <p:spPr>
          <a:xfrm>
            <a:off x="8114386" y="7050024"/>
            <a:ext cx="1359713" cy="26636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0" name="Shape 298"/>
          <p:cNvSpPr/>
          <p:nvPr/>
        </p:nvSpPr>
        <p:spPr>
          <a:xfrm>
            <a:off x="8025689" y="7138721"/>
            <a:ext cx="1536192" cy="2487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1" name="Text 299"/>
          <p:cNvSpPr/>
          <p:nvPr/>
        </p:nvSpPr>
        <p:spPr>
          <a:xfrm>
            <a:off x="8016545" y="7120433"/>
            <a:ext cx="1554480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월평균 금융비용 변화</a:t>
            </a:r>
            <a:endParaRPr lang="en-US" sz="1330" dirty="0"/>
          </a:p>
        </p:txBody>
      </p:sp>
      <p:graphicFrame>
        <p:nvGraphicFramePr>
          <p:cNvPr id="322" name="Chart 5" descr=""/>
          <p:cNvGraphicFramePr/>
          <p:nvPr/>
        </p:nvGraphicFramePr>
        <p:xfrm>
          <a:off x="8226857" y="7534656"/>
          <a:ext cx="1133856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1"/>
          </a:graphicData>
        </a:graphic>
      </p:graphicFrame>
      <p:pic>
        <p:nvPicPr>
          <p:cNvPr id="323" name="Image 15" descr="g03-dn3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672170" y="7979969"/>
            <a:ext cx="244145" cy="244145"/>
          </a:xfrm>
          <a:prstGeom prst="rect">
            <a:avLst/>
          </a:prstGeom>
        </p:spPr>
      </p:pic>
      <p:sp>
        <p:nvSpPr>
          <p:cNvPr id="324" name="Text 300"/>
          <p:cNvSpPr/>
          <p:nvPr/>
        </p:nvSpPr>
        <p:spPr>
          <a:xfrm>
            <a:off x="8101584" y="8729777"/>
            <a:ext cx="560527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증가</a:t>
            </a:r>
            <a:endParaRPr lang="en-US" sz="1220" dirty="0"/>
          </a:p>
        </p:txBody>
      </p:sp>
      <p:sp>
        <p:nvSpPr>
          <p:cNvPr id="325" name="Text 301"/>
          <p:cNvSpPr/>
          <p:nvPr/>
        </p:nvSpPr>
        <p:spPr>
          <a:xfrm>
            <a:off x="8953757" y="8551012"/>
            <a:ext cx="518945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21.1</a:t>
            </a:r>
            <a:endParaRPr lang="en-US" sz="1620" dirty="0"/>
          </a:p>
        </p:txBody>
      </p:sp>
      <p:sp>
        <p:nvSpPr>
          <p:cNvPr id="326" name="Text 302"/>
          <p:cNvSpPr/>
          <p:nvPr/>
        </p:nvSpPr>
        <p:spPr>
          <a:xfrm>
            <a:off x="9362973" y="8667344"/>
            <a:ext cx="231826" cy="26543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00" dirty="0"/>
          </a:p>
        </p:txBody>
      </p:sp>
      <p:sp>
        <p:nvSpPr>
          <p:cNvPr id="327" name="Shape 303"/>
          <p:cNvSpPr/>
          <p:nvPr/>
        </p:nvSpPr>
        <p:spPr>
          <a:xfrm>
            <a:off x="8101584" y="8997696"/>
            <a:ext cx="1383487" cy="0"/>
          </a:xfrm>
          <a:prstGeom prst="line">
            <a:avLst/>
          </a:prstGeom>
          <a:noFill/>
          <a:ln w="9525">
            <a:solidFill>
              <a:srgbClr val="EDF3FA"/>
            </a:solidFill>
            <a:prstDash val="solid"/>
          </a:ln>
        </p:spPr>
      </p:sp>
      <p:sp>
        <p:nvSpPr>
          <p:cNvPr id="328" name="Text 304"/>
          <p:cNvSpPr/>
          <p:nvPr/>
        </p:nvSpPr>
        <p:spPr>
          <a:xfrm>
            <a:off x="8101584" y="9034272"/>
            <a:ext cx="560527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6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변화없음</a:t>
            </a:r>
            <a:endParaRPr lang="en-US" sz="1060" dirty="0"/>
          </a:p>
        </p:txBody>
      </p:sp>
      <p:sp>
        <p:nvSpPr>
          <p:cNvPr id="329" name="Text 305"/>
          <p:cNvSpPr/>
          <p:nvPr/>
        </p:nvSpPr>
        <p:spPr>
          <a:xfrm>
            <a:off x="8953757" y="8856421"/>
            <a:ext cx="518945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66.5</a:t>
            </a:r>
            <a:endParaRPr lang="en-US" sz="1620" dirty="0"/>
          </a:p>
        </p:txBody>
      </p:sp>
      <p:sp>
        <p:nvSpPr>
          <p:cNvPr id="330" name="Text 306"/>
          <p:cNvSpPr/>
          <p:nvPr/>
        </p:nvSpPr>
        <p:spPr>
          <a:xfrm>
            <a:off x="9362973" y="8971839"/>
            <a:ext cx="231826" cy="26543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00" dirty="0"/>
          </a:p>
        </p:txBody>
      </p:sp>
      <p:sp>
        <p:nvSpPr>
          <p:cNvPr id="331" name="Shape 307"/>
          <p:cNvSpPr/>
          <p:nvPr/>
        </p:nvSpPr>
        <p:spPr>
          <a:xfrm>
            <a:off x="8101584" y="9302191"/>
            <a:ext cx="1383487" cy="0"/>
          </a:xfrm>
          <a:prstGeom prst="line">
            <a:avLst/>
          </a:prstGeom>
          <a:noFill/>
          <a:ln w="9525">
            <a:solidFill>
              <a:srgbClr val="EDF3FA"/>
            </a:solidFill>
            <a:prstDash val="solid"/>
          </a:ln>
        </p:spPr>
      </p:sp>
      <p:sp>
        <p:nvSpPr>
          <p:cNvPr id="332" name="Text 308"/>
          <p:cNvSpPr/>
          <p:nvPr/>
        </p:nvSpPr>
        <p:spPr>
          <a:xfrm>
            <a:off x="8101584" y="9338767"/>
            <a:ext cx="560527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감소</a:t>
            </a:r>
            <a:endParaRPr lang="en-US" sz="1220" dirty="0"/>
          </a:p>
        </p:txBody>
      </p:sp>
      <p:sp>
        <p:nvSpPr>
          <p:cNvPr id="333" name="Text 309"/>
          <p:cNvSpPr/>
          <p:nvPr/>
        </p:nvSpPr>
        <p:spPr>
          <a:xfrm>
            <a:off x="8953757" y="9160916"/>
            <a:ext cx="518945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12.4</a:t>
            </a:r>
            <a:endParaRPr lang="en-US" sz="1620" dirty="0"/>
          </a:p>
        </p:txBody>
      </p:sp>
      <p:sp>
        <p:nvSpPr>
          <p:cNvPr id="334" name="Text 310"/>
          <p:cNvSpPr/>
          <p:nvPr/>
        </p:nvSpPr>
        <p:spPr>
          <a:xfrm>
            <a:off x="9362973" y="9276334"/>
            <a:ext cx="231826" cy="26543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00" dirty="0"/>
          </a:p>
        </p:txBody>
      </p:sp>
      <p:sp>
        <p:nvSpPr>
          <p:cNvPr id="335" name="Text 311"/>
          <p:cNvSpPr/>
          <p:nvPr/>
        </p:nvSpPr>
        <p:spPr>
          <a:xfrm>
            <a:off x="4950562" y="9729216"/>
            <a:ext cx="2438705" cy="194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20" dirty="0">
                <a:solidFill>
                  <a:srgbClr val="6B728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※ 각 항목 단수응답 기준</a:t>
            </a:r>
            <a:endParaRPr lang="en-US" sz="1220" dirty="0"/>
          </a:p>
        </p:txBody>
      </p:sp>
      <p:sp>
        <p:nvSpPr>
          <p:cNvPr id="336" name="Shape 312"/>
          <p:cNvSpPr/>
          <p:nvPr/>
        </p:nvSpPr>
        <p:spPr>
          <a:xfrm>
            <a:off x="170993" y="10088575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337" name="Shape 313"/>
          <p:cNvSpPr/>
          <p:nvPr/>
        </p:nvSpPr>
        <p:spPr>
          <a:xfrm>
            <a:off x="4389120" y="10088575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338" name="Shape 314"/>
          <p:cNvSpPr/>
          <p:nvPr/>
        </p:nvSpPr>
        <p:spPr>
          <a:xfrm>
            <a:off x="170993" y="13313664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339" name="Shape 315"/>
          <p:cNvSpPr/>
          <p:nvPr/>
        </p:nvSpPr>
        <p:spPr>
          <a:xfrm>
            <a:off x="4389120" y="13313664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340" name="Shape 316"/>
          <p:cNvSpPr/>
          <p:nvPr/>
        </p:nvSpPr>
        <p:spPr>
          <a:xfrm>
            <a:off x="304495" y="10088575"/>
            <a:ext cx="4218127" cy="3493008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341" name="Shape 317"/>
          <p:cNvSpPr/>
          <p:nvPr/>
        </p:nvSpPr>
        <p:spPr>
          <a:xfrm>
            <a:off x="170993" y="10222992"/>
            <a:ext cx="4486961" cy="3225089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342" name="Shape 318"/>
          <p:cNvSpPr/>
          <p:nvPr/>
        </p:nvSpPr>
        <p:spPr>
          <a:xfrm>
            <a:off x="304495" y="10097719"/>
            <a:ext cx="4218127" cy="3474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3" name="Shape 319"/>
          <p:cNvSpPr/>
          <p:nvPr/>
        </p:nvSpPr>
        <p:spPr>
          <a:xfrm>
            <a:off x="180137" y="10222992"/>
            <a:ext cx="4468673" cy="32250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4" name="Shape 320"/>
          <p:cNvSpPr/>
          <p:nvPr/>
        </p:nvSpPr>
        <p:spPr>
          <a:xfrm>
            <a:off x="4761281" y="10088575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345" name="Shape 321"/>
          <p:cNvSpPr/>
          <p:nvPr/>
        </p:nvSpPr>
        <p:spPr>
          <a:xfrm>
            <a:off x="9314993" y="10088575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346" name="Shape 322"/>
          <p:cNvSpPr/>
          <p:nvPr/>
        </p:nvSpPr>
        <p:spPr>
          <a:xfrm>
            <a:off x="4761281" y="13313664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347" name="Shape 323"/>
          <p:cNvSpPr/>
          <p:nvPr/>
        </p:nvSpPr>
        <p:spPr>
          <a:xfrm>
            <a:off x="9314993" y="13313664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348" name="Shape 324"/>
          <p:cNvSpPr/>
          <p:nvPr/>
        </p:nvSpPr>
        <p:spPr>
          <a:xfrm>
            <a:off x="4895698" y="10088575"/>
            <a:ext cx="4553712" cy="3493008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349" name="Shape 325"/>
          <p:cNvSpPr/>
          <p:nvPr/>
        </p:nvSpPr>
        <p:spPr>
          <a:xfrm>
            <a:off x="4761281" y="10222992"/>
            <a:ext cx="4821631" cy="3225089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350" name="Shape 326"/>
          <p:cNvSpPr/>
          <p:nvPr/>
        </p:nvSpPr>
        <p:spPr>
          <a:xfrm>
            <a:off x="4895698" y="10097719"/>
            <a:ext cx="4553712" cy="3474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1" name="Shape 327"/>
          <p:cNvSpPr/>
          <p:nvPr/>
        </p:nvSpPr>
        <p:spPr>
          <a:xfrm>
            <a:off x="4770425" y="10222992"/>
            <a:ext cx="4803343" cy="32250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2" name="Shape 328"/>
          <p:cNvSpPr/>
          <p:nvPr/>
        </p:nvSpPr>
        <p:spPr>
          <a:xfrm>
            <a:off x="280721" y="10119665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353" name="Shape 329"/>
          <p:cNvSpPr/>
          <p:nvPr/>
        </p:nvSpPr>
        <p:spPr>
          <a:xfrm>
            <a:off x="4267505" y="10119665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354" name="Shape 330"/>
          <p:cNvSpPr/>
          <p:nvPr/>
        </p:nvSpPr>
        <p:spPr>
          <a:xfrm>
            <a:off x="280721" y="10381183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355" name="Shape 331"/>
          <p:cNvSpPr/>
          <p:nvPr/>
        </p:nvSpPr>
        <p:spPr>
          <a:xfrm>
            <a:off x="4267505" y="10381183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356" name="Shape 332"/>
          <p:cNvSpPr/>
          <p:nvPr/>
        </p:nvSpPr>
        <p:spPr>
          <a:xfrm>
            <a:off x="347472" y="10119665"/>
            <a:ext cx="3986784" cy="395935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357" name="Shape 333"/>
          <p:cNvSpPr/>
          <p:nvPr/>
        </p:nvSpPr>
        <p:spPr>
          <a:xfrm>
            <a:off x="280721" y="10186416"/>
            <a:ext cx="4121201" cy="262433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358" name="Shape 334"/>
          <p:cNvSpPr/>
          <p:nvPr/>
        </p:nvSpPr>
        <p:spPr>
          <a:xfrm>
            <a:off x="280721" y="10119665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359" name="Shape 335"/>
          <p:cNvSpPr/>
          <p:nvPr/>
        </p:nvSpPr>
        <p:spPr>
          <a:xfrm>
            <a:off x="523951" y="10119665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360" name="Shape 336"/>
          <p:cNvSpPr/>
          <p:nvPr/>
        </p:nvSpPr>
        <p:spPr>
          <a:xfrm>
            <a:off x="280721" y="10381183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361" name="Shape 337"/>
          <p:cNvSpPr/>
          <p:nvPr/>
        </p:nvSpPr>
        <p:spPr>
          <a:xfrm>
            <a:off x="523951" y="10381183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362" name="Shape 338"/>
          <p:cNvSpPr/>
          <p:nvPr/>
        </p:nvSpPr>
        <p:spPr>
          <a:xfrm>
            <a:off x="347472" y="10119665"/>
            <a:ext cx="244145" cy="395935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363" name="Shape 339"/>
          <p:cNvSpPr/>
          <p:nvPr/>
        </p:nvSpPr>
        <p:spPr>
          <a:xfrm>
            <a:off x="280721" y="10186416"/>
            <a:ext cx="377647" cy="262433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364" name="Text 340"/>
          <p:cNvSpPr/>
          <p:nvPr/>
        </p:nvSpPr>
        <p:spPr>
          <a:xfrm>
            <a:off x="280721" y="10119665"/>
            <a:ext cx="377647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8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6</a:t>
            </a:r>
            <a:endParaRPr lang="en-US" sz="2080" dirty="0"/>
          </a:p>
        </p:txBody>
      </p:sp>
      <p:sp>
        <p:nvSpPr>
          <p:cNvPr id="365" name="Text 341"/>
          <p:cNvSpPr/>
          <p:nvPr/>
        </p:nvSpPr>
        <p:spPr>
          <a:xfrm>
            <a:off x="792785" y="10119665"/>
            <a:ext cx="3547872" cy="3959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보증부대출의 기여도</a:t>
            </a:r>
            <a:pPr algn="l" indent="0" marL="0">
              <a:lnSpc>
                <a:spcPct val="95000"/>
              </a:lnSpc>
              <a:buNone/>
            </a:pPr>
            <a:r>
              <a:rPr lang="en-US" sz="12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  (7점 척도, 상위 3개 항목)</a:t>
            </a:r>
            <a:endParaRPr lang="en-US" sz="1600" dirty="0"/>
          </a:p>
        </p:txBody>
      </p:sp>
      <p:sp>
        <p:nvSpPr>
          <p:cNvPr id="366" name="Text 342"/>
          <p:cNvSpPr/>
          <p:nvPr/>
        </p:nvSpPr>
        <p:spPr>
          <a:xfrm>
            <a:off x="377647" y="10558577"/>
            <a:ext cx="4144975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금융거래와 경영개선 측면 모두에서 높은 기여도를 보이고 있습니다.</a:t>
            </a:r>
            <a:endParaRPr lang="en-US" sz="1150" dirty="0"/>
          </a:p>
        </p:txBody>
      </p:sp>
      <p:sp>
        <p:nvSpPr>
          <p:cNvPr id="367" name="Shape 343"/>
          <p:cNvSpPr/>
          <p:nvPr/>
        </p:nvSpPr>
        <p:spPr>
          <a:xfrm>
            <a:off x="274320" y="10936224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368" name="Shape 344"/>
          <p:cNvSpPr/>
          <p:nvPr/>
        </p:nvSpPr>
        <p:spPr>
          <a:xfrm>
            <a:off x="2048256" y="10936224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369" name="Shape 345"/>
          <p:cNvSpPr/>
          <p:nvPr/>
        </p:nvSpPr>
        <p:spPr>
          <a:xfrm>
            <a:off x="274320" y="12643409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370" name="Shape 346"/>
          <p:cNvSpPr/>
          <p:nvPr/>
        </p:nvSpPr>
        <p:spPr>
          <a:xfrm>
            <a:off x="2048256" y="12643409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371" name="Shape 347"/>
          <p:cNvSpPr/>
          <p:nvPr/>
        </p:nvSpPr>
        <p:spPr>
          <a:xfrm>
            <a:off x="372161" y="10936224"/>
            <a:ext cx="1773936" cy="1901952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372" name="Shape 348"/>
          <p:cNvSpPr/>
          <p:nvPr/>
        </p:nvSpPr>
        <p:spPr>
          <a:xfrm>
            <a:off x="274320" y="11034065"/>
            <a:ext cx="1968703" cy="1707185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373" name="Shape 349"/>
          <p:cNvSpPr/>
          <p:nvPr/>
        </p:nvSpPr>
        <p:spPr>
          <a:xfrm>
            <a:off x="372161" y="10945368"/>
            <a:ext cx="1773936" cy="18836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4" name="Shape 350"/>
          <p:cNvSpPr/>
          <p:nvPr/>
        </p:nvSpPr>
        <p:spPr>
          <a:xfrm>
            <a:off x="283464" y="11034065"/>
            <a:ext cx="1950415" cy="17071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5" name="Shape 351"/>
          <p:cNvSpPr/>
          <p:nvPr/>
        </p:nvSpPr>
        <p:spPr>
          <a:xfrm>
            <a:off x="274320" y="10936224"/>
            <a:ext cx="194767" cy="194767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376" name="Shape 352"/>
          <p:cNvSpPr/>
          <p:nvPr/>
        </p:nvSpPr>
        <p:spPr>
          <a:xfrm>
            <a:off x="2048256" y="10936224"/>
            <a:ext cx="194767" cy="194767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377" name="Shape 353"/>
          <p:cNvSpPr/>
          <p:nvPr/>
        </p:nvSpPr>
        <p:spPr>
          <a:xfrm>
            <a:off x="274320" y="11094415"/>
            <a:ext cx="194767" cy="194767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378" name="Shape 354"/>
          <p:cNvSpPr/>
          <p:nvPr/>
        </p:nvSpPr>
        <p:spPr>
          <a:xfrm>
            <a:off x="2048256" y="11094415"/>
            <a:ext cx="194767" cy="194767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379" name="Shape 355"/>
          <p:cNvSpPr/>
          <p:nvPr/>
        </p:nvSpPr>
        <p:spPr>
          <a:xfrm>
            <a:off x="372161" y="10936224"/>
            <a:ext cx="1773936" cy="353873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380" name="Shape 356"/>
          <p:cNvSpPr/>
          <p:nvPr/>
        </p:nvSpPr>
        <p:spPr>
          <a:xfrm>
            <a:off x="274320" y="11034065"/>
            <a:ext cx="1968703" cy="158191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381" name="Shape 357"/>
          <p:cNvSpPr/>
          <p:nvPr/>
        </p:nvSpPr>
        <p:spPr>
          <a:xfrm>
            <a:off x="274320" y="11107217"/>
            <a:ext cx="182880" cy="182880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382" name="Shape 358"/>
          <p:cNvSpPr/>
          <p:nvPr/>
        </p:nvSpPr>
        <p:spPr>
          <a:xfrm>
            <a:off x="2060143" y="11107217"/>
            <a:ext cx="182880" cy="182880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383" name="Shape 359"/>
          <p:cNvSpPr/>
          <p:nvPr/>
        </p:nvSpPr>
        <p:spPr>
          <a:xfrm>
            <a:off x="274320" y="11107217"/>
            <a:ext cx="182880" cy="182880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384" name="Shape 360"/>
          <p:cNvSpPr/>
          <p:nvPr/>
        </p:nvSpPr>
        <p:spPr>
          <a:xfrm>
            <a:off x="2060143" y="11107217"/>
            <a:ext cx="182880" cy="182880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385" name="Shape 361"/>
          <p:cNvSpPr/>
          <p:nvPr/>
        </p:nvSpPr>
        <p:spPr>
          <a:xfrm>
            <a:off x="365760" y="11107217"/>
            <a:ext cx="1785823" cy="182880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386" name="Shape 362"/>
          <p:cNvSpPr/>
          <p:nvPr/>
        </p:nvSpPr>
        <p:spPr>
          <a:xfrm>
            <a:off x="274320" y="11198657"/>
            <a:ext cx="1968703" cy="0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387" name="Text 363"/>
          <p:cNvSpPr/>
          <p:nvPr/>
        </p:nvSpPr>
        <p:spPr>
          <a:xfrm>
            <a:off x="274320" y="10936224"/>
            <a:ext cx="1968703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금융거래 측면 TOP3</a:t>
            </a:r>
            <a:endParaRPr lang="en-US" sz="1520" dirty="0"/>
          </a:p>
        </p:txBody>
      </p:sp>
      <p:pic>
        <p:nvPicPr>
          <p:cNvPr id="388" name="Image 16" descr="g03-fa1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3873" y="11399825"/>
            <a:ext cx="377647" cy="390449"/>
          </a:xfrm>
          <a:prstGeom prst="rect">
            <a:avLst/>
          </a:prstGeom>
        </p:spPr>
      </p:pic>
      <p:sp>
        <p:nvSpPr>
          <p:cNvPr id="389" name="Text 364"/>
          <p:cNvSpPr/>
          <p:nvPr/>
        </p:nvSpPr>
        <p:spPr>
          <a:xfrm>
            <a:off x="834847" y="11436401"/>
            <a:ext cx="871423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4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담보 문제 해결</a:t>
            </a:r>
            <a:endParaRPr lang="en-US" sz="1040" dirty="0"/>
          </a:p>
        </p:txBody>
      </p:sp>
      <p:sp>
        <p:nvSpPr>
          <p:cNvPr id="390" name="Text 365"/>
          <p:cNvSpPr/>
          <p:nvPr/>
        </p:nvSpPr>
        <p:spPr>
          <a:xfrm>
            <a:off x="1664665" y="11246409"/>
            <a:ext cx="614934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5.02</a:t>
            </a:r>
            <a:endParaRPr lang="en-US" sz="2000" dirty="0"/>
          </a:p>
        </p:txBody>
      </p:sp>
      <p:pic>
        <p:nvPicPr>
          <p:cNvPr id="391" name="Image 17" descr="g03-fa2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53873" y="11857025"/>
            <a:ext cx="377647" cy="390449"/>
          </a:xfrm>
          <a:prstGeom prst="rect">
            <a:avLst/>
          </a:prstGeom>
        </p:spPr>
      </p:pic>
      <p:sp>
        <p:nvSpPr>
          <p:cNvPr id="392" name="Text 366"/>
          <p:cNvSpPr/>
          <p:nvPr/>
        </p:nvSpPr>
        <p:spPr>
          <a:xfrm>
            <a:off x="834847" y="11893601"/>
            <a:ext cx="871423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금융비용 절감</a:t>
            </a:r>
            <a:endParaRPr lang="en-US" sz="1100" dirty="0"/>
          </a:p>
        </p:txBody>
      </p:sp>
      <p:sp>
        <p:nvSpPr>
          <p:cNvPr id="393" name="Text 367"/>
          <p:cNvSpPr/>
          <p:nvPr/>
        </p:nvSpPr>
        <p:spPr>
          <a:xfrm>
            <a:off x="1664665" y="11703609"/>
            <a:ext cx="614934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4.98</a:t>
            </a:r>
            <a:endParaRPr lang="en-US" sz="2000" dirty="0"/>
          </a:p>
        </p:txBody>
      </p:sp>
      <p:pic>
        <p:nvPicPr>
          <p:cNvPr id="394" name="Image 18" descr="g03-fa3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53873" y="12314225"/>
            <a:ext cx="377647" cy="390449"/>
          </a:xfrm>
          <a:prstGeom prst="rect">
            <a:avLst/>
          </a:prstGeom>
        </p:spPr>
      </p:pic>
      <p:sp>
        <p:nvSpPr>
          <p:cNvPr id="395" name="Text 368"/>
          <p:cNvSpPr/>
          <p:nvPr/>
        </p:nvSpPr>
        <p:spPr>
          <a:xfrm>
            <a:off x="834847" y="12350801"/>
            <a:ext cx="871423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대출심사 간소화</a:t>
            </a:r>
            <a:endParaRPr lang="en-US" sz="1000" dirty="0"/>
          </a:p>
        </p:txBody>
      </p:sp>
      <p:sp>
        <p:nvSpPr>
          <p:cNvPr id="396" name="Text 369"/>
          <p:cNvSpPr/>
          <p:nvPr/>
        </p:nvSpPr>
        <p:spPr>
          <a:xfrm>
            <a:off x="1664665" y="12160809"/>
            <a:ext cx="614934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4.94</a:t>
            </a:r>
            <a:endParaRPr lang="en-US" sz="2000" dirty="0"/>
          </a:p>
        </p:txBody>
      </p:sp>
      <p:sp>
        <p:nvSpPr>
          <p:cNvPr id="397" name="Shape 370"/>
          <p:cNvSpPr/>
          <p:nvPr/>
        </p:nvSpPr>
        <p:spPr>
          <a:xfrm>
            <a:off x="2316175" y="10936224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398" name="Shape 371"/>
          <p:cNvSpPr/>
          <p:nvPr/>
        </p:nvSpPr>
        <p:spPr>
          <a:xfrm>
            <a:off x="4242816" y="10936224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399" name="Shape 372"/>
          <p:cNvSpPr/>
          <p:nvPr/>
        </p:nvSpPr>
        <p:spPr>
          <a:xfrm>
            <a:off x="2316175" y="12643409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400" name="Shape 373"/>
          <p:cNvSpPr/>
          <p:nvPr/>
        </p:nvSpPr>
        <p:spPr>
          <a:xfrm>
            <a:off x="4242816" y="12643409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401" name="Shape 374"/>
          <p:cNvSpPr/>
          <p:nvPr/>
        </p:nvSpPr>
        <p:spPr>
          <a:xfrm>
            <a:off x="2414016" y="10936224"/>
            <a:ext cx="1926641" cy="1901952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402" name="Shape 375"/>
          <p:cNvSpPr/>
          <p:nvPr/>
        </p:nvSpPr>
        <p:spPr>
          <a:xfrm>
            <a:off x="2316175" y="11034065"/>
            <a:ext cx="2121408" cy="1707185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403" name="Shape 376"/>
          <p:cNvSpPr/>
          <p:nvPr/>
        </p:nvSpPr>
        <p:spPr>
          <a:xfrm>
            <a:off x="2414016" y="10945368"/>
            <a:ext cx="1926641" cy="18836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4" name="Shape 377"/>
          <p:cNvSpPr/>
          <p:nvPr/>
        </p:nvSpPr>
        <p:spPr>
          <a:xfrm>
            <a:off x="2325319" y="11034065"/>
            <a:ext cx="2103120" cy="17071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5" name="Shape 378"/>
          <p:cNvSpPr/>
          <p:nvPr/>
        </p:nvSpPr>
        <p:spPr>
          <a:xfrm>
            <a:off x="2316175" y="10936224"/>
            <a:ext cx="194767" cy="194767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406" name="Shape 379"/>
          <p:cNvSpPr/>
          <p:nvPr/>
        </p:nvSpPr>
        <p:spPr>
          <a:xfrm>
            <a:off x="4242816" y="10936224"/>
            <a:ext cx="194767" cy="194767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407" name="Shape 380"/>
          <p:cNvSpPr/>
          <p:nvPr/>
        </p:nvSpPr>
        <p:spPr>
          <a:xfrm>
            <a:off x="2316175" y="11094415"/>
            <a:ext cx="194767" cy="194767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408" name="Shape 381"/>
          <p:cNvSpPr/>
          <p:nvPr/>
        </p:nvSpPr>
        <p:spPr>
          <a:xfrm>
            <a:off x="4242816" y="11094415"/>
            <a:ext cx="194767" cy="194767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409" name="Shape 382"/>
          <p:cNvSpPr/>
          <p:nvPr/>
        </p:nvSpPr>
        <p:spPr>
          <a:xfrm>
            <a:off x="2414016" y="10936224"/>
            <a:ext cx="1926641" cy="353873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410" name="Shape 383"/>
          <p:cNvSpPr/>
          <p:nvPr/>
        </p:nvSpPr>
        <p:spPr>
          <a:xfrm>
            <a:off x="2316175" y="11034065"/>
            <a:ext cx="2121408" cy="158191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411" name="Shape 384"/>
          <p:cNvSpPr/>
          <p:nvPr/>
        </p:nvSpPr>
        <p:spPr>
          <a:xfrm>
            <a:off x="2316175" y="11107217"/>
            <a:ext cx="182880" cy="182880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412" name="Shape 385"/>
          <p:cNvSpPr/>
          <p:nvPr/>
        </p:nvSpPr>
        <p:spPr>
          <a:xfrm>
            <a:off x="4254703" y="11107217"/>
            <a:ext cx="182880" cy="182880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413" name="Shape 386"/>
          <p:cNvSpPr/>
          <p:nvPr/>
        </p:nvSpPr>
        <p:spPr>
          <a:xfrm>
            <a:off x="2316175" y="11107217"/>
            <a:ext cx="182880" cy="182880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414" name="Shape 387"/>
          <p:cNvSpPr/>
          <p:nvPr/>
        </p:nvSpPr>
        <p:spPr>
          <a:xfrm>
            <a:off x="4254703" y="11107217"/>
            <a:ext cx="182880" cy="182880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415" name="Shape 388"/>
          <p:cNvSpPr/>
          <p:nvPr/>
        </p:nvSpPr>
        <p:spPr>
          <a:xfrm>
            <a:off x="2407615" y="11107217"/>
            <a:ext cx="1938528" cy="182880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416" name="Shape 389"/>
          <p:cNvSpPr/>
          <p:nvPr/>
        </p:nvSpPr>
        <p:spPr>
          <a:xfrm>
            <a:off x="2316175" y="11198657"/>
            <a:ext cx="2121408" cy="0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417" name="Text 390"/>
          <p:cNvSpPr/>
          <p:nvPr/>
        </p:nvSpPr>
        <p:spPr>
          <a:xfrm>
            <a:off x="2316175" y="10936224"/>
            <a:ext cx="2121408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경영개선 측면 TOP3</a:t>
            </a:r>
            <a:endParaRPr lang="en-US" sz="1520" dirty="0"/>
          </a:p>
        </p:txBody>
      </p:sp>
      <p:pic>
        <p:nvPicPr>
          <p:cNvPr id="418" name="Image 19" descr="g03-fb1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395728" y="11399825"/>
            <a:ext cx="377647" cy="390449"/>
          </a:xfrm>
          <a:prstGeom prst="rect">
            <a:avLst/>
          </a:prstGeom>
        </p:spPr>
      </p:pic>
      <p:sp>
        <p:nvSpPr>
          <p:cNvPr id="419" name="Text 391"/>
          <p:cNvSpPr/>
          <p:nvPr/>
        </p:nvSpPr>
        <p:spPr>
          <a:xfrm>
            <a:off x="2877617" y="11436401"/>
            <a:ext cx="1024128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자금조달 편의성</a:t>
            </a:r>
            <a:endParaRPr lang="en-US" sz="1120" dirty="0"/>
          </a:p>
        </p:txBody>
      </p:sp>
      <p:sp>
        <p:nvSpPr>
          <p:cNvPr id="420" name="Text 392"/>
          <p:cNvSpPr/>
          <p:nvPr/>
        </p:nvSpPr>
        <p:spPr>
          <a:xfrm>
            <a:off x="3859225" y="11246409"/>
            <a:ext cx="614934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5.17</a:t>
            </a:r>
            <a:endParaRPr lang="en-US" sz="2000" dirty="0"/>
          </a:p>
        </p:txBody>
      </p:sp>
      <p:pic>
        <p:nvPicPr>
          <p:cNvPr id="421" name="Image 20" descr="g03-fb2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395728" y="11857025"/>
            <a:ext cx="377647" cy="390449"/>
          </a:xfrm>
          <a:prstGeom prst="rect">
            <a:avLst/>
          </a:prstGeom>
        </p:spPr>
      </p:pic>
      <p:sp>
        <p:nvSpPr>
          <p:cNvPr id="422" name="Text 393"/>
          <p:cNvSpPr/>
          <p:nvPr/>
        </p:nvSpPr>
        <p:spPr>
          <a:xfrm>
            <a:off x="2877617" y="11893601"/>
            <a:ext cx="1024128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8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사업에 대한 의욕</a:t>
            </a:r>
            <a:endParaRPr lang="en-US" sz="1080" dirty="0"/>
          </a:p>
        </p:txBody>
      </p:sp>
      <p:sp>
        <p:nvSpPr>
          <p:cNvPr id="423" name="Text 394"/>
          <p:cNvSpPr/>
          <p:nvPr/>
        </p:nvSpPr>
        <p:spPr>
          <a:xfrm>
            <a:off x="3859225" y="11703609"/>
            <a:ext cx="614934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4.99</a:t>
            </a:r>
            <a:endParaRPr lang="en-US" sz="2000" dirty="0"/>
          </a:p>
        </p:txBody>
      </p:sp>
      <p:pic>
        <p:nvPicPr>
          <p:cNvPr id="424" name="Image 21" descr="g03-fb3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395728" y="12314225"/>
            <a:ext cx="377647" cy="390449"/>
          </a:xfrm>
          <a:prstGeom prst="rect">
            <a:avLst/>
          </a:prstGeom>
        </p:spPr>
      </p:pic>
      <p:sp>
        <p:nvSpPr>
          <p:cNvPr id="425" name="Text 395"/>
          <p:cNvSpPr/>
          <p:nvPr/>
        </p:nvSpPr>
        <p:spPr>
          <a:xfrm>
            <a:off x="2877617" y="12350801"/>
            <a:ext cx="1024128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설비투자</a:t>
            </a:r>
            <a:endParaRPr lang="en-US" sz="1520" dirty="0"/>
          </a:p>
        </p:txBody>
      </p:sp>
      <p:sp>
        <p:nvSpPr>
          <p:cNvPr id="426" name="Text 396"/>
          <p:cNvSpPr/>
          <p:nvPr/>
        </p:nvSpPr>
        <p:spPr>
          <a:xfrm>
            <a:off x="3859225" y="12160809"/>
            <a:ext cx="614934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4.98</a:t>
            </a:r>
            <a:endParaRPr lang="en-US" sz="2000" dirty="0"/>
          </a:p>
        </p:txBody>
      </p:sp>
      <p:sp>
        <p:nvSpPr>
          <p:cNvPr id="427" name="Shape 397"/>
          <p:cNvSpPr/>
          <p:nvPr/>
        </p:nvSpPr>
        <p:spPr>
          <a:xfrm>
            <a:off x="274320" y="12911328"/>
            <a:ext cx="194767" cy="194767"/>
          </a:xfrm>
          <a:prstGeom prst="ellipse">
            <a:avLst/>
          </a:prstGeom>
          <a:solidFill>
            <a:srgbClr val="D9E9F9"/>
          </a:solidFill>
          <a:ln/>
        </p:spPr>
      </p:sp>
      <p:sp>
        <p:nvSpPr>
          <p:cNvPr id="428" name="Shape 398"/>
          <p:cNvSpPr/>
          <p:nvPr/>
        </p:nvSpPr>
        <p:spPr>
          <a:xfrm>
            <a:off x="4242816" y="12911328"/>
            <a:ext cx="194767" cy="194767"/>
          </a:xfrm>
          <a:prstGeom prst="ellipse">
            <a:avLst/>
          </a:prstGeom>
          <a:solidFill>
            <a:srgbClr val="D9E9F9"/>
          </a:solidFill>
          <a:ln/>
        </p:spPr>
      </p:sp>
      <p:sp>
        <p:nvSpPr>
          <p:cNvPr id="429" name="Shape 399"/>
          <p:cNvSpPr/>
          <p:nvPr/>
        </p:nvSpPr>
        <p:spPr>
          <a:xfrm>
            <a:off x="274320" y="13313664"/>
            <a:ext cx="194767" cy="194767"/>
          </a:xfrm>
          <a:prstGeom prst="ellipse">
            <a:avLst/>
          </a:prstGeom>
          <a:solidFill>
            <a:srgbClr val="D9E9F9"/>
          </a:solidFill>
          <a:ln/>
        </p:spPr>
      </p:sp>
      <p:sp>
        <p:nvSpPr>
          <p:cNvPr id="430" name="Shape 400"/>
          <p:cNvSpPr/>
          <p:nvPr/>
        </p:nvSpPr>
        <p:spPr>
          <a:xfrm>
            <a:off x="4242816" y="13313664"/>
            <a:ext cx="194767" cy="194767"/>
          </a:xfrm>
          <a:prstGeom prst="ellipse">
            <a:avLst/>
          </a:prstGeom>
          <a:solidFill>
            <a:srgbClr val="D9E9F9"/>
          </a:solidFill>
          <a:ln/>
        </p:spPr>
      </p:sp>
      <p:sp>
        <p:nvSpPr>
          <p:cNvPr id="431" name="Shape 401"/>
          <p:cNvSpPr/>
          <p:nvPr/>
        </p:nvSpPr>
        <p:spPr>
          <a:xfrm>
            <a:off x="372161" y="12911328"/>
            <a:ext cx="3968496" cy="597103"/>
          </a:xfrm>
          <a:prstGeom prst="rect">
            <a:avLst/>
          </a:prstGeom>
          <a:solidFill>
            <a:srgbClr val="D9E9F9"/>
          </a:solidFill>
          <a:ln/>
        </p:spPr>
      </p:sp>
      <p:sp>
        <p:nvSpPr>
          <p:cNvPr id="432" name="Shape 402"/>
          <p:cNvSpPr/>
          <p:nvPr/>
        </p:nvSpPr>
        <p:spPr>
          <a:xfrm>
            <a:off x="274320" y="13009169"/>
            <a:ext cx="4163263" cy="402336"/>
          </a:xfrm>
          <a:prstGeom prst="rect">
            <a:avLst/>
          </a:prstGeom>
          <a:solidFill>
            <a:srgbClr val="D9E9F9"/>
          </a:solidFill>
          <a:ln/>
        </p:spPr>
      </p:sp>
      <p:pic>
        <p:nvPicPr>
          <p:cNvPr id="433" name="Image 22" descr="g03-bulb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53873" y="12959791"/>
            <a:ext cx="609905" cy="560527"/>
          </a:xfrm>
          <a:prstGeom prst="rect">
            <a:avLst/>
          </a:prstGeom>
        </p:spPr>
      </p:pic>
      <p:sp>
        <p:nvSpPr>
          <p:cNvPr id="434" name="Text 403"/>
          <p:cNvSpPr/>
          <p:nvPr/>
        </p:nvSpPr>
        <p:spPr>
          <a:xfrm>
            <a:off x="1005840" y="12911328"/>
            <a:ext cx="3334817" cy="597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보증은 금융 접근성을 높이고,</a:t>
            </a:r>
            <a:endParaRPr lang="en-US" sz="152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기업의 성장 의지와 투자를 뒷받침합니다.</a:t>
            </a:r>
            <a:endParaRPr lang="en-US" sz="1520" dirty="0"/>
          </a:p>
        </p:txBody>
      </p:sp>
      <p:sp>
        <p:nvSpPr>
          <p:cNvPr id="435" name="Shape 404"/>
          <p:cNvSpPr/>
          <p:nvPr/>
        </p:nvSpPr>
        <p:spPr>
          <a:xfrm>
            <a:off x="4773168" y="10119665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436" name="Shape 405"/>
          <p:cNvSpPr/>
          <p:nvPr/>
        </p:nvSpPr>
        <p:spPr>
          <a:xfrm>
            <a:off x="8864194" y="10119665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437" name="Shape 406"/>
          <p:cNvSpPr/>
          <p:nvPr/>
        </p:nvSpPr>
        <p:spPr>
          <a:xfrm>
            <a:off x="4773168" y="10381183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438" name="Shape 407"/>
          <p:cNvSpPr/>
          <p:nvPr/>
        </p:nvSpPr>
        <p:spPr>
          <a:xfrm>
            <a:off x="8864194" y="10381183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439" name="Shape 408"/>
          <p:cNvSpPr/>
          <p:nvPr/>
        </p:nvSpPr>
        <p:spPr>
          <a:xfrm>
            <a:off x="4839919" y="10119665"/>
            <a:ext cx="4090111" cy="395935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440" name="Shape 409"/>
          <p:cNvSpPr/>
          <p:nvPr/>
        </p:nvSpPr>
        <p:spPr>
          <a:xfrm>
            <a:off x="4773168" y="10186416"/>
            <a:ext cx="4224528" cy="262433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441" name="Shape 410"/>
          <p:cNvSpPr/>
          <p:nvPr/>
        </p:nvSpPr>
        <p:spPr>
          <a:xfrm>
            <a:off x="4773168" y="10119665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442" name="Shape 411"/>
          <p:cNvSpPr/>
          <p:nvPr/>
        </p:nvSpPr>
        <p:spPr>
          <a:xfrm>
            <a:off x="5017313" y="10119665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443" name="Shape 412"/>
          <p:cNvSpPr/>
          <p:nvPr/>
        </p:nvSpPr>
        <p:spPr>
          <a:xfrm>
            <a:off x="4773168" y="10381183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444" name="Shape 413"/>
          <p:cNvSpPr/>
          <p:nvPr/>
        </p:nvSpPr>
        <p:spPr>
          <a:xfrm>
            <a:off x="5017313" y="10381183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445" name="Shape 414"/>
          <p:cNvSpPr/>
          <p:nvPr/>
        </p:nvSpPr>
        <p:spPr>
          <a:xfrm>
            <a:off x="4839919" y="10119665"/>
            <a:ext cx="244145" cy="395935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446" name="Shape 415"/>
          <p:cNvSpPr/>
          <p:nvPr/>
        </p:nvSpPr>
        <p:spPr>
          <a:xfrm>
            <a:off x="4773168" y="10186416"/>
            <a:ext cx="377647" cy="262433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447" name="Text 416"/>
          <p:cNvSpPr/>
          <p:nvPr/>
        </p:nvSpPr>
        <p:spPr>
          <a:xfrm>
            <a:off x="4773168" y="10119665"/>
            <a:ext cx="377647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8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7</a:t>
            </a:r>
            <a:endParaRPr lang="en-US" sz="2080" dirty="0"/>
          </a:p>
        </p:txBody>
      </p:sp>
      <p:sp>
        <p:nvSpPr>
          <p:cNvPr id="448" name="Text 417"/>
          <p:cNvSpPr/>
          <p:nvPr/>
        </p:nvSpPr>
        <p:spPr>
          <a:xfrm>
            <a:off x="5285232" y="10119665"/>
            <a:ext cx="3651199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제도 평가 &amp; 정책 보완·강화 필요사항</a:t>
            </a:r>
            <a:endParaRPr lang="en-US" sz="1680" dirty="0"/>
          </a:p>
        </p:txBody>
      </p:sp>
      <p:sp>
        <p:nvSpPr>
          <p:cNvPr id="449" name="Text 418"/>
          <p:cNvSpPr/>
          <p:nvPr/>
        </p:nvSpPr>
        <p:spPr>
          <a:xfrm>
            <a:off x="4864608" y="10533888"/>
            <a:ext cx="4633265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4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금리·보증료에 대한 불만족이 가장 크며,</a:t>
            </a:r>
            <a:endParaRPr lang="en-US" sz="144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44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지원 금액 확대·금리 인하가 최우선 정책과제로 나타났습니다.</a:t>
            </a:r>
            <a:endParaRPr lang="en-US" sz="1440" dirty="0"/>
          </a:p>
        </p:txBody>
      </p:sp>
      <p:sp>
        <p:nvSpPr>
          <p:cNvPr id="450" name="Shape 419"/>
          <p:cNvSpPr/>
          <p:nvPr/>
        </p:nvSpPr>
        <p:spPr>
          <a:xfrm>
            <a:off x="4816145" y="11082528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451" name="Shape 420"/>
          <p:cNvSpPr/>
          <p:nvPr/>
        </p:nvSpPr>
        <p:spPr>
          <a:xfrm>
            <a:off x="6937553" y="11082528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452" name="Shape 421"/>
          <p:cNvSpPr/>
          <p:nvPr/>
        </p:nvSpPr>
        <p:spPr>
          <a:xfrm>
            <a:off x="4816145" y="13301777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453" name="Shape 422"/>
          <p:cNvSpPr/>
          <p:nvPr/>
        </p:nvSpPr>
        <p:spPr>
          <a:xfrm>
            <a:off x="6937553" y="13301777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454" name="Shape 423"/>
          <p:cNvSpPr/>
          <p:nvPr/>
        </p:nvSpPr>
        <p:spPr>
          <a:xfrm>
            <a:off x="4913986" y="11082528"/>
            <a:ext cx="2121408" cy="2414016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455" name="Shape 424"/>
          <p:cNvSpPr/>
          <p:nvPr/>
        </p:nvSpPr>
        <p:spPr>
          <a:xfrm>
            <a:off x="4816145" y="11180369"/>
            <a:ext cx="2316175" cy="2219249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456" name="Shape 425"/>
          <p:cNvSpPr/>
          <p:nvPr/>
        </p:nvSpPr>
        <p:spPr>
          <a:xfrm>
            <a:off x="4913986" y="11091672"/>
            <a:ext cx="2121408" cy="23957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7" name="Shape 426"/>
          <p:cNvSpPr/>
          <p:nvPr/>
        </p:nvSpPr>
        <p:spPr>
          <a:xfrm>
            <a:off x="4825289" y="11180369"/>
            <a:ext cx="2297887" cy="22192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8" name="Shape 427"/>
          <p:cNvSpPr/>
          <p:nvPr/>
        </p:nvSpPr>
        <p:spPr>
          <a:xfrm>
            <a:off x="7193585" y="11082528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459" name="Shape 428"/>
          <p:cNvSpPr/>
          <p:nvPr/>
        </p:nvSpPr>
        <p:spPr>
          <a:xfrm>
            <a:off x="9339682" y="11082528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460" name="Shape 429"/>
          <p:cNvSpPr/>
          <p:nvPr/>
        </p:nvSpPr>
        <p:spPr>
          <a:xfrm>
            <a:off x="7193585" y="13301777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461" name="Shape 430"/>
          <p:cNvSpPr/>
          <p:nvPr/>
        </p:nvSpPr>
        <p:spPr>
          <a:xfrm>
            <a:off x="9339682" y="13301777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462" name="Shape 431"/>
          <p:cNvSpPr/>
          <p:nvPr/>
        </p:nvSpPr>
        <p:spPr>
          <a:xfrm>
            <a:off x="7291426" y="11082528"/>
            <a:ext cx="2146097" cy="2414016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463" name="Shape 432"/>
          <p:cNvSpPr/>
          <p:nvPr/>
        </p:nvSpPr>
        <p:spPr>
          <a:xfrm>
            <a:off x="7193585" y="11180369"/>
            <a:ext cx="2340864" cy="2219249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464" name="Shape 433"/>
          <p:cNvSpPr/>
          <p:nvPr/>
        </p:nvSpPr>
        <p:spPr>
          <a:xfrm>
            <a:off x="7291426" y="11091672"/>
            <a:ext cx="2146097" cy="23957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5" name="Shape 434"/>
          <p:cNvSpPr/>
          <p:nvPr/>
        </p:nvSpPr>
        <p:spPr>
          <a:xfrm>
            <a:off x="7202729" y="11180369"/>
            <a:ext cx="2322576" cy="22192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6" name="Text 435"/>
          <p:cNvSpPr/>
          <p:nvPr/>
        </p:nvSpPr>
        <p:spPr>
          <a:xfrm>
            <a:off x="4816145" y="11130991"/>
            <a:ext cx="2316175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6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제도 항목별 중요도−만족도 격차</a:t>
            </a:r>
            <a:endParaRPr lang="en-US" sz="1260" dirty="0"/>
          </a:p>
        </p:txBody>
      </p:sp>
      <p:sp>
        <p:nvSpPr>
          <p:cNvPr id="467" name="Text 436"/>
          <p:cNvSpPr/>
          <p:nvPr/>
        </p:nvSpPr>
        <p:spPr>
          <a:xfrm>
            <a:off x="4816145" y="11411712"/>
            <a:ext cx="2316175" cy="194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20" dirty="0">
                <a:solidFill>
                  <a:srgbClr val="6B728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(상위 항목)</a:t>
            </a:r>
            <a:endParaRPr lang="en-US" sz="1220" dirty="0"/>
          </a:p>
        </p:txBody>
      </p:sp>
      <p:sp>
        <p:nvSpPr>
          <p:cNvPr id="468" name="Text 437"/>
          <p:cNvSpPr/>
          <p:nvPr/>
        </p:nvSpPr>
        <p:spPr>
          <a:xfrm>
            <a:off x="5389474" y="11631168"/>
            <a:ext cx="609905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2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중요도</a:t>
            </a:r>
            <a:endParaRPr lang="en-US" sz="1220" dirty="0"/>
          </a:p>
        </p:txBody>
      </p:sp>
      <p:sp>
        <p:nvSpPr>
          <p:cNvPr id="469" name="Text 438"/>
          <p:cNvSpPr/>
          <p:nvPr/>
        </p:nvSpPr>
        <p:spPr>
          <a:xfrm>
            <a:off x="6096305" y="11631168"/>
            <a:ext cx="609905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2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만족도</a:t>
            </a:r>
            <a:endParaRPr lang="en-US" sz="1220" dirty="0"/>
          </a:p>
        </p:txBody>
      </p:sp>
      <p:sp>
        <p:nvSpPr>
          <p:cNvPr id="470" name="Text 439"/>
          <p:cNvSpPr/>
          <p:nvPr/>
        </p:nvSpPr>
        <p:spPr>
          <a:xfrm>
            <a:off x="6681521" y="11631168"/>
            <a:ext cx="487375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2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격차</a:t>
            </a:r>
            <a:endParaRPr lang="en-US" sz="1220" dirty="0"/>
          </a:p>
        </p:txBody>
      </p:sp>
      <p:sp>
        <p:nvSpPr>
          <p:cNvPr id="471" name="Text 440"/>
          <p:cNvSpPr/>
          <p:nvPr/>
        </p:nvSpPr>
        <p:spPr>
          <a:xfrm>
            <a:off x="4852721" y="11930177"/>
            <a:ext cx="560527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금리</a:t>
            </a:r>
            <a:endParaRPr lang="en-US" sz="1170" dirty="0"/>
          </a:p>
        </p:txBody>
      </p:sp>
      <p:sp>
        <p:nvSpPr>
          <p:cNvPr id="472" name="Shape 441"/>
          <p:cNvSpPr/>
          <p:nvPr/>
        </p:nvSpPr>
        <p:spPr>
          <a:xfrm>
            <a:off x="6559906" y="11880799"/>
            <a:ext cx="121615" cy="121615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3B3B"/>
            </a:solidFill>
            <a:prstDash val="solid"/>
          </a:ln>
        </p:spPr>
      </p:sp>
      <p:sp>
        <p:nvSpPr>
          <p:cNvPr id="473" name="Shape 442"/>
          <p:cNvSpPr/>
          <p:nvPr/>
        </p:nvSpPr>
        <p:spPr>
          <a:xfrm>
            <a:off x="6949440" y="11880799"/>
            <a:ext cx="121615" cy="121615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3B3B"/>
            </a:solidFill>
            <a:prstDash val="solid"/>
          </a:ln>
        </p:spPr>
      </p:sp>
      <p:sp>
        <p:nvSpPr>
          <p:cNvPr id="474" name="Shape 443"/>
          <p:cNvSpPr/>
          <p:nvPr/>
        </p:nvSpPr>
        <p:spPr>
          <a:xfrm>
            <a:off x="6559906" y="12100255"/>
            <a:ext cx="121615" cy="121615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3B3B"/>
            </a:solidFill>
            <a:prstDash val="solid"/>
          </a:ln>
        </p:spPr>
      </p:sp>
      <p:sp>
        <p:nvSpPr>
          <p:cNvPr id="475" name="Shape 444"/>
          <p:cNvSpPr/>
          <p:nvPr/>
        </p:nvSpPr>
        <p:spPr>
          <a:xfrm>
            <a:off x="6949440" y="12100255"/>
            <a:ext cx="121615" cy="121615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3B3B"/>
            </a:solidFill>
            <a:prstDash val="solid"/>
          </a:ln>
        </p:spPr>
      </p:sp>
      <p:sp>
        <p:nvSpPr>
          <p:cNvPr id="476" name="Shape 445"/>
          <p:cNvSpPr/>
          <p:nvPr/>
        </p:nvSpPr>
        <p:spPr>
          <a:xfrm>
            <a:off x="6620256" y="11880799"/>
            <a:ext cx="390449" cy="341071"/>
          </a:xfrm>
          <a:prstGeom prst="rect">
            <a:avLst/>
          </a:prstGeom>
          <a:solidFill>
            <a:srgbClr val="FFFFFF"/>
          </a:solidFill>
          <a:ln w="9525">
            <a:solidFill>
              <a:srgbClr val="E23B3B"/>
            </a:solidFill>
            <a:prstDash val="solid"/>
          </a:ln>
        </p:spPr>
      </p:sp>
      <p:sp>
        <p:nvSpPr>
          <p:cNvPr id="477" name="Shape 446"/>
          <p:cNvSpPr/>
          <p:nvPr/>
        </p:nvSpPr>
        <p:spPr>
          <a:xfrm>
            <a:off x="6559906" y="11942064"/>
            <a:ext cx="512064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E23B3B"/>
            </a:solidFill>
            <a:prstDash val="solid"/>
          </a:ln>
        </p:spPr>
      </p:sp>
      <p:sp>
        <p:nvSpPr>
          <p:cNvPr id="478" name="Shape 447"/>
          <p:cNvSpPr/>
          <p:nvPr/>
        </p:nvSpPr>
        <p:spPr>
          <a:xfrm>
            <a:off x="6620256" y="11889943"/>
            <a:ext cx="390449" cy="3227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9" name="Shape 448"/>
          <p:cNvSpPr/>
          <p:nvPr/>
        </p:nvSpPr>
        <p:spPr>
          <a:xfrm>
            <a:off x="6569050" y="11942064"/>
            <a:ext cx="493776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0" name="Text 449"/>
          <p:cNvSpPr/>
          <p:nvPr/>
        </p:nvSpPr>
        <p:spPr>
          <a:xfrm>
            <a:off x="6559906" y="11880799"/>
            <a:ext cx="512064" cy="341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30" b="1" dirty="0">
                <a:solidFill>
                  <a:srgbClr val="E23B3B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1.40</a:t>
            </a:r>
            <a:endParaRPr lang="en-US" sz="1630" dirty="0"/>
          </a:p>
        </p:txBody>
      </p:sp>
      <p:sp>
        <p:nvSpPr>
          <p:cNvPr id="481" name="Text 450"/>
          <p:cNvSpPr/>
          <p:nvPr/>
        </p:nvSpPr>
        <p:spPr>
          <a:xfrm>
            <a:off x="4852721" y="12344400"/>
            <a:ext cx="560527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보증료</a:t>
            </a:r>
            <a:endParaRPr lang="en-US" sz="1170" dirty="0"/>
          </a:p>
        </p:txBody>
      </p:sp>
      <p:sp>
        <p:nvSpPr>
          <p:cNvPr id="482" name="Shape 451"/>
          <p:cNvSpPr/>
          <p:nvPr/>
        </p:nvSpPr>
        <p:spPr>
          <a:xfrm>
            <a:off x="6559906" y="12295937"/>
            <a:ext cx="121615" cy="121615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3B3B"/>
            </a:solidFill>
            <a:prstDash val="solid"/>
          </a:ln>
        </p:spPr>
      </p:sp>
      <p:sp>
        <p:nvSpPr>
          <p:cNvPr id="483" name="Shape 452"/>
          <p:cNvSpPr/>
          <p:nvPr/>
        </p:nvSpPr>
        <p:spPr>
          <a:xfrm>
            <a:off x="6949440" y="12295937"/>
            <a:ext cx="121615" cy="121615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3B3B"/>
            </a:solidFill>
            <a:prstDash val="solid"/>
          </a:ln>
        </p:spPr>
      </p:sp>
      <p:sp>
        <p:nvSpPr>
          <p:cNvPr id="484" name="Shape 453"/>
          <p:cNvSpPr/>
          <p:nvPr/>
        </p:nvSpPr>
        <p:spPr>
          <a:xfrm>
            <a:off x="6559906" y="12515393"/>
            <a:ext cx="121615" cy="121615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3B3B"/>
            </a:solidFill>
            <a:prstDash val="solid"/>
          </a:ln>
        </p:spPr>
      </p:sp>
      <p:sp>
        <p:nvSpPr>
          <p:cNvPr id="485" name="Shape 454"/>
          <p:cNvSpPr/>
          <p:nvPr/>
        </p:nvSpPr>
        <p:spPr>
          <a:xfrm>
            <a:off x="6949440" y="12515393"/>
            <a:ext cx="121615" cy="121615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3B3B"/>
            </a:solidFill>
            <a:prstDash val="solid"/>
          </a:ln>
        </p:spPr>
      </p:sp>
      <p:sp>
        <p:nvSpPr>
          <p:cNvPr id="486" name="Shape 455"/>
          <p:cNvSpPr/>
          <p:nvPr/>
        </p:nvSpPr>
        <p:spPr>
          <a:xfrm>
            <a:off x="6620256" y="12295937"/>
            <a:ext cx="390449" cy="341071"/>
          </a:xfrm>
          <a:prstGeom prst="rect">
            <a:avLst/>
          </a:prstGeom>
          <a:solidFill>
            <a:srgbClr val="FFFFFF"/>
          </a:solidFill>
          <a:ln w="9525">
            <a:solidFill>
              <a:srgbClr val="E23B3B"/>
            </a:solidFill>
            <a:prstDash val="solid"/>
          </a:ln>
        </p:spPr>
      </p:sp>
      <p:sp>
        <p:nvSpPr>
          <p:cNvPr id="487" name="Shape 456"/>
          <p:cNvSpPr/>
          <p:nvPr/>
        </p:nvSpPr>
        <p:spPr>
          <a:xfrm>
            <a:off x="6559906" y="12356287"/>
            <a:ext cx="512064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E23B3B"/>
            </a:solidFill>
            <a:prstDash val="solid"/>
          </a:ln>
        </p:spPr>
      </p:sp>
      <p:sp>
        <p:nvSpPr>
          <p:cNvPr id="488" name="Shape 457"/>
          <p:cNvSpPr/>
          <p:nvPr/>
        </p:nvSpPr>
        <p:spPr>
          <a:xfrm>
            <a:off x="6620256" y="12305081"/>
            <a:ext cx="390449" cy="3227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9" name="Shape 458"/>
          <p:cNvSpPr/>
          <p:nvPr/>
        </p:nvSpPr>
        <p:spPr>
          <a:xfrm>
            <a:off x="6569050" y="12356287"/>
            <a:ext cx="493776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0" name="Text 459"/>
          <p:cNvSpPr/>
          <p:nvPr/>
        </p:nvSpPr>
        <p:spPr>
          <a:xfrm>
            <a:off x="6559906" y="12295937"/>
            <a:ext cx="512064" cy="341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30" b="1" dirty="0">
                <a:solidFill>
                  <a:srgbClr val="E23B3B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1.30</a:t>
            </a:r>
            <a:endParaRPr lang="en-US" sz="1630" dirty="0"/>
          </a:p>
        </p:txBody>
      </p:sp>
      <p:sp>
        <p:nvSpPr>
          <p:cNvPr id="491" name="Text 460"/>
          <p:cNvSpPr/>
          <p:nvPr/>
        </p:nvSpPr>
        <p:spPr>
          <a:xfrm>
            <a:off x="4852721" y="12758623"/>
            <a:ext cx="560527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대출한도</a:t>
            </a:r>
            <a:endParaRPr lang="en-US" sz="1050" dirty="0"/>
          </a:p>
        </p:txBody>
      </p:sp>
      <p:sp>
        <p:nvSpPr>
          <p:cNvPr id="492" name="Shape 461"/>
          <p:cNvSpPr/>
          <p:nvPr/>
        </p:nvSpPr>
        <p:spPr>
          <a:xfrm>
            <a:off x="6559906" y="12710160"/>
            <a:ext cx="121615" cy="121615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493" name="Shape 462"/>
          <p:cNvSpPr/>
          <p:nvPr/>
        </p:nvSpPr>
        <p:spPr>
          <a:xfrm>
            <a:off x="6949440" y="12710160"/>
            <a:ext cx="121615" cy="121615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494" name="Shape 463"/>
          <p:cNvSpPr/>
          <p:nvPr/>
        </p:nvSpPr>
        <p:spPr>
          <a:xfrm>
            <a:off x="6559906" y="12929616"/>
            <a:ext cx="121615" cy="121615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495" name="Shape 464"/>
          <p:cNvSpPr/>
          <p:nvPr/>
        </p:nvSpPr>
        <p:spPr>
          <a:xfrm>
            <a:off x="6949440" y="12929616"/>
            <a:ext cx="121615" cy="121615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496" name="Shape 465"/>
          <p:cNvSpPr/>
          <p:nvPr/>
        </p:nvSpPr>
        <p:spPr>
          <a:xfrm>
            <a:off x="6620256" y="12710160"/>
            <a:ext cx="390449" cy="341071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497" name="Shape 466"/>
          <p:cNvSpPr/>
          <p:nvPr/>
        </p:nvSpPr>
        <p:spPr>
          <a:xfrm>
            <a:off x="6559906" y="12771425"/>
            <a:ext cx="512064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498" name="Shape 467"/>
          <p:cNvSpPr/>
          <p:nvPr/>
        </p:nvSpPr>
        <p:spPr>
          <a:xfrm>
            <a:off x="6620256" y="12719304"/>
            <a:ext cx="390449" cy="3227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9" name="Shape 468"/>
          <p:cNvSpPr/>
          <p:nvPr/>
        </p:nvSpPr>
        <p:spPr>
          <a:xfrm>
            <a:off x="6569050" y="12771425"/>
            <a:ext cx="493776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0" name="Text 469"/>
          <p:cNvSpPr/>
          <p:nvPr/>
        </p:nvSpPr>
        <p:spPr>
          <a:xfrm>
            <a:off x="6559906" y="12710160"/>
            <a:ext cx="512064" cy="341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1.11</a:t>
            </a:r>
            <a:endParaRPr lang="en-US" sz="1630" dirty="0"/>
          </a:p>
        </p:txBody>
      </p:sp>
      <p:graphicFrame>
        <p:nvGraphicFramePr>
          <p:cNvPr id="501" name="Chart 6" descr=""/>
          <p:cNvGraphicFramePr/>
          <p:nvPr/>
        </p:nvGraphicFramePr>
        <p:xfrm>
          <a:off x="5449824" y="11868912"/>
          <a:ext cx="1048817" cy="124358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0"/>
          </a:graphicData>
        </a:graphic>
      </p:graphicFrame>
      <p:sp>
        <p:nvSpPr>
          <p:cNvPr id="502" name="Text 470"/>
          <p:cNvSpPr/>
          <p:nvPr/>
        </p:nvSpPr>
        <p:spPr>
          <a:xfrm>
            <a:off x="4864608" y="13167360"/>
            <a:ext cx="2194560" cy="194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70" dirty="0">
                <a:solidFill>
                  <a:srgbClr val="6B728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※ 격차 = 중요도 - 만족도</a:t>
            </a:r>
            <a:endParaRPr lang="en-US" sz="1170" dirty="0"/>
          </a:p>
        </p:txBody>
      </p:sp>
      <p:sp>
        <p:nvSpPr>
          <p:cNvPr id="503" name="Text 471"/>
          <p:cNvSpPr/>
          <p:nvPr/>
        </p:nvSpPr>
        <p:spPr>
          <a:xfrm>
            <a:off x="7193585" y="11130991"/>
            <a:ext cx="2340864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가장 필요한 보완·강화 정책</a:t>
            </a:r>
            <a:endParaRPr lang="en-US" sz="1520" dirty="0"/>
          </a:p>
        </p:txBody>
      </p:sp>
      <p:sp>
        <p:nvSpPr>
          <p:cNvPr id="504" name="Text 472"/>
          <p:cNvSpPr/>
          <p:nvPr/>
        </p:nvSpPr>
        <p:spPr>
          <a:xfrm>
            <a:off x="7193585" y="11411712"/>
            <a:ext cx="2340864" cy="194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20" dirty="0">
                <a:solidFill>
                  <a:srgbClr val="6B728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(1·2순위 합산)</a:t>
            </a:r>
            <a:endParaRPr lang="en-US" sz="1220" dirty="0"/>
          </a:p>
        </p:txBody>
      </p:sp>
      <p:sp>
        <p:nvSpPr>
          <p:cNvPr id="505" name="Shape 473"/>
          <p:cNvSpPr/>
          <p:nvPr/>
        </p:nvSpPr>
        <p:spPr>
          <a:xfrm>
            <a:off x="7230161" y="11710721"/>
            <a:ext cx="182880" cy="182880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506" name="Shape 474"/>
          <p:cNvSpPr/>
          <p:nvPr/>
        </p:nvSpPr>
        <p:spPr>
          <a:xfrm>
            <a:off x="7230161" y="11710721"/>
            <a:ext cx="182880" cy="182880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507" name="Shape 475"/>
          <p:cNvSpPr/>
          <p:nvPr/>
        </p:nvSpPr>
        <p:spPr>
          <a:xfrm>
            <a:off x="7230161" y="11710721"/>
            <a:ext cx="182880" cy="182880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508" name="Shape 476"/>
          <p:cNvSpPr/>
          <p:nvPr/>
        </p:nvSpPr>
        <p:spPr>
          <a:xfrm>
            <a:off x="7230161" y="11710721"/>
            <a:ext cx="182880" cy="182880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509" name="Shape 477"/>
          <p:cNvSpPr/>
          <p:nvPr/>
        </p:nvSpPr>
        <p:spPr>
          <a:xfrm>
            <a:off x="7321601" y="11710721"/>
            <a:ext cx="0" cy="182880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510" name="Shape 478"/>
          <p:cNvSpPr/>
          <p:nvPr/>
        </p:nvSpPr>
        <p:spPr>
          <a:xfrm>
            <a:off x="7230161" y="11802161"/>
            <a:ext cx="182880" cy="0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511" name="Text 479"/>
          <p:cNvSpPr/>
          <p:nvPr/>
        </p:nvSpPr>
        <p:spPr>
          <a:xfrm>
            <a:off x="7230161" y="1171072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2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</a:t>
            </a:r>
            <a:endParaRPr lang="en-US" sz="1020" dirty="0"/>
          </a:p>
        </p:txBody>
      </p:sp>
      <p:sp>
        <p:nvSpPr>
          <p:cNvPr id="512" name="Text 480"/>
          <p:cNvSpPr/>
          <p:nvPr/>
        </p:nvSpPr>
        <p:spPr>
          <a:xfrm>
            <a:off x="7486193" y="11704320"/>
            <a:ext cx="792785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지원 금액 확대</a:t>
            </a:r>
            <a:endParaRPr lang="en-US" sz="1000" dirty="0"/>
          </a:p>
        </p:txBody>
      </p:sp>
      <p:sp>
        <p:nvSpPr>
          <p:cNvPr id="513" name="Shape 481"/>
          <p:cNvSpPr/>
          <p:nvPr/>
        </p:nvSpPr>
        <p:spPr>
          <a:xfrm>
            <a:off x="7230161" y="12006986"/>
            <a:ext cx="182880" cy="182880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514" name="Shape 482"/>
          <p:cNvSpPr/>
          <p:nvPr/>
        </p:nvSpPr>
        <p:spPr>
          <a:xfrm>
            <a:off x="7230161" y="12006986"/>
            <a:ext cx="182880" cy="182880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515" name="Shape 483"/>
          <p:cNvSpPr/>
          <p:nvPr/>
        </p:nvSpPr>
        <p:spPr>
          <a:xfrm>
            <a:off x="7230161" y="12006986"/>
            <a:ext cx="182880" cy="182880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516" name="Shape 484"/>
          <p:cNvSpPr/>
          <p:nvPr/>
        </p:nvSpPr>
        <p:spPr>
          <a:xfrm>
            <a:off x="7230161" y="12006986"/>
            <a:ext cx="182880" cy="182880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517" name="Shape 485"/>
          <p:cNvSpPr/>
          <p:nvPr/>
        </p:nvSpPr>
        <p:spPr>
          <a:xfrm>
            <a:off x="7321601" y="12006986"/>
            <a:ext cx="0" cy="182880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518" name="Shape 486"/>
          <p:cNvSpPr/>
          <p:nvPr/>
        </p:nvSpPr>
        <p:spPr>
          <a:xfrm>
            <a:off x="7230161" y="12098426"/>
            <a:ext cx="182880" cy="0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519" name="Text 487"/>
          <p:cNvSpPr/>
          <p:nvPr/>
        </p:nvSpPr>
        <p:spPr>
          <a:xfrm>
            <a:off x="7230161" y="1200698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2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</a:t>
            </a:r>
            <a:endParaRPr lang="en-US" sz="1020" dirty="0"/>
          </a:p>
        </p:txBody>
      </p:sp>
      <p:sp>
        <p:nvSpPr>
          <p:cNvPr id="520" name="Text 488"/>
          <p:cNvSpPr/>
          <p:nvPr/>
        </p:nvSpPr>
        <p:spPr>
          <a:xfrm>
            <a:off x="7486193" y="12000586"/>
            <a:ext cx="792785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금리 인하</a:t>
            </a:r>
            <a:endParaRPr lang="en-US" sz="1320" dirty="0"/>
          </a:p>
        </p:txBody>
      </p:sp>
      <p:sp>
        <p:nvSpPr>
          <p:cNvPr id="521" name="Shape 489"/>
          <p:cNvSpPr/>
          <p:nvPr/>
        </p:nvSpPr>
        <p:spPr>
          <a:xfrm>
            <a:off x="7230161" y="12303252"/>
            <a:ext cx="182880" cy="182880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522" name="Shape 490"/>
          <p:cNvSpPr/>
          <p:nvPr/>
        </p:nvSpPr>
        <p:spPr>
          <a:xfrm>
            <a:off x="7230161" y="12303252"/>
            <a:ext cx="182880" cy="182880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523" name="Shape 491"/>
          <p:cNvSpPr/>
          <p:nvPr/>
        </p:nvSpPr>
        <p:spPr>
          <a:xfrm>
            <a:off x="7230161" y="12303252"/>
            <a:ext cx="182880" cy="182880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524" name="Shape 492"/>
          <p:cNvSpPr/>
          <p:nvPr/>
        </p:nvSpPr>
        <p:spPr>
          <a:xfrm>
            <a:off x="7230161" y="12303252"/>
            <a:ext cx="182880" cy="182880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525" name="Shape 493"/>
          <p:cNvSpPr/>
          <p:nvPr/>
        </p:nvSpPr>
        <p:spPr>
          <a:xfrm>
            <a:off x="7321601" y="12303252"/>
            <a:ext cx="0" cy="182880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526" name="Shape 494"/>
          <p:cNvSpPr/>
          <p:nvPr/>
        </p:nvSpPr>
        <p:spPr>
          <a:xfrm>
            <a:off x="7230161" y="12394692"/>
            <a:ext cx="182880" cy="0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527" name="Text 495"/>
          <p:cNvSpPr/>
          <p:nvPr/>
        </p:nvSpPr>
        <p:spPr>
          <a:xfrm>
            <a:off x="7230161" y="123032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2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</a:t>
            </a:r>
            <a:endParaRPr lang="en-US" sz="1020" dirty="0"/>
          </a:p>
        </p:txBody>
      </p:sp>
      <p:sp>
        <p:nvSpPr>
          <p:cNvPr id="528" name="Text 496"/>
          <p:cNvSpPr/>
          <p:nvPr/>
        </p:nvSpPr>
        <p:spPr>
          <a:xfrm>
            <a:off x="7486193" y="12296851"/>
            <a:ext cx="792785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8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보증료 인하</a:t>
            </a:r>
            <a:endParaRPr lang="en-US" sz="1180" dirty="0"/>
          </a:p>
        </p:txBody>
      </p:sp>
      <p:sp>
        <p:nvSpPr>
          <p:cNvPr id="529" name="Shape 497"/>
          <p:cNvSpPr/>
          <p:nvPr/>
        </p:nvSpPr>
        <p:spPr>
          <a:xfrm>
            <a:off x="7230161" y="12599518"/>
            <a:ext cx="182880" cy="182880"/>
          </a:xfrm>
          <a:prstGeom prst="ellipse">
            <a:avLst/>
          </a:prstGeom>
          <a:solidFill>
            <a:srgbClr val="9AA3AE"/>
          </a:solidFill>
          <a:ln/>
        </p:spPr>
      </p:sp>
      <p:sp>
        <p:nvSpPr>
          <p:cNvPr id="530" name="Shape 498"/>
          <p:cNvSpPr/>
          <p:nvPr/>
        </p:nvSpPr>
        <p:spPr>
          <a:xfrm>
            <a:off x="7230161" y="12599518"/>
            <a:ext cx="182880" cy="182880"/>
          </a:xfrm>
          <a:prstGeom prst="ellipse">
            <a:avLst/>
          </a:prstGeom>
          <a:solidFill>
            <a:srgbClr val="9AA3AE"/>
          </a:solidFill>
          <a:ln/>
        </p:spPr>
      </p:sp>
      <p:sp>
        <p:nvSpPr>
          <p:cNvPr id="531" name="Shape 499"/>
          <p:cNvSpPr/>
          <p:nvPr/>
        </p:nvSpPr>
        <p:spPr>
          <a:xfrm>
            <a:off x="7230161" y="12599518"/>
            <a:ext cx="182880" cy="182880"/>
          </a:xfrm>
          <a:prstGeom prst="ellipse">
            <a:avLst/>
          </a:prstGeom>
          <a:solidFill>
            <a:srgbClr val="9AA3AE"/>
          </a:solidFill>
          <a:ln/>
        </p:spPr>
      </p:sp>
      <p:sp>
        <p:nvSpPr>
          <p:cNvPr id="532" name="Shape 500"/>
          <p:cNvSpPr/>
          <p:nvPr/>
        </p:nvSpPr>
        <p:spPr>
          <a:xfrm>
            <a:off x="7230161" y="12599518"/>
            <a:ext cx="182880" cy="182880"/>
          </a:xfrm>
          <a:prstGeom prst="ellipse">
            <a:avLst/>
          </a:prstGeom>
          <a:solidFill>
            <a:srgbClr val="9AA3AE"/>
          </a:solidFill>
          <a:ln/>
        </p:spPr>
      </p:sp>
      <p:sp>
        <p:nvSpPr>
          <p:cNvPr id="533" name="Shape 501"/>
          <p:cNvSpPr/>
          <p:nvPr/>
        </p:nvSpPr>
        <p:spPr>
          <a:xfrm>
            <a:off x="7321601" y="12599518"/>
            <a:ext cx="0" cy="182880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534" name="Shape 502"/>
          <p:cNvSpPr/>
          <p:nvPr/>
        </p:nvSpPr>
        <p:spPr>
          <a:xfrm>
            <a:off x="7230161" y="12690958"/>
            <a:ext cx="182880" cy="0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535" name="Text 503"/>
          <p:cNvSpPr/>
          <p:nvPr/>
        </p:nvSpPr>
        <p:spPr>
          <a:xfrm>
            <a:off x="7230161" y="1259951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2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</a:t>
            </a:r>
            <a:endParaRPr lang="en-US" sz="1020" dirty="0"/>
          </a:p>
        </p:txBody>
      </p:sp>
      <p:sp>
        <p:nvSpPr>
          <p:cNvPr id="536" name="Text 504"/>
          <p:cNvSpPr/>
          <p:nvPr/>
        </p:nvSpPr>
        <p:spPr>
          <a:xfrm>
            <a:off x="7486193" y="12593117"/>
            <a:ext cx="792785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상환기간 연장</a:t>
            </a:r>
            <a:endParaRPr lang="en-US" sz="1000" dirty="0"/>
          </a:p>
        </p:txBody>
      </p:sp>
      <p:sp>
        <p:nvSpPr>
          <p:cNvPr id="537" name="Shape 505"/>
          <p:cNvSpPr/>
          <p:nvPr/>
        </p:nvSpPr>
        <p:spPr>
          <a:xfrm>
            <a:off x="7230161" y="12895783"/>
            <a:ext cx="182880" cy="182880"/>
          </a:xfrm>
          <a:prstGeom prst="ellipse">
            <a:avLst/>
          </a:prstGeom>
          <a:solidFill>
            <a:srgbClr val="9AA3AE"/>
          </a:solidFill>
          <a:ln/>
        </p:spPr>
      </p:sp>
      <p:sp>
        <p:nvSpPr>
          <p:cNvPr id="538" name="Shape 506"/>
          <p:cNvSpPr/>
          <p:nvPr/>
        </p:nvSpPr>
        <p:spPr>
          <a:xfrm>
            <a:off x="7230161" y="12895783"/>
            <a:ext cx="182880" cy="182880"/>
          </a:xfrm>
          <a:prstGeom prst="ellipse">
            <a:avLst/>
          </a:prstGeom>
          <a:solidFill>
            <a:srgbClr val="9AA3AE"/>
          </a:solidFill>
          <a:ln/>
        </p:spPr>
      </p:sp>
      <p:sp>
        <p:nvSpPr>
          <p:cNvPr id="539" name="Shape 507"/>
          <p:cNvSpPr/>
          <p:nvPr/>
        </p:nvSpPr>
        <p:spPr>
          <a:xfrm>
            <a:off x="7230161" y="12895783"/>
            <a:ext cx="182880" cy="182880"/>
          </a:xfrm>
          <a:prstGeom prst="ellipse">
            <a:avLst/>
          </a:prstGeom>
          <a:solidFill>
            <a:srgbClr val="9AA3AE"/>
          </a:solidFill>
          <a:ln/>
        </p:spPr>
      </p:sp>
      <p:sp>
        <p:nvSpPr>
          <p:cNvPr id="540" name="Shape 508"/>
          <p:cNvSpPr/>
          <p:nvPr/>
        </p:nvSpPr>
        <p:spPr>
          <a:xfrm>
            <a:off x="7230161" y="12895783"/>
            <a:ext cx="182880" cy="182880"/>
          </a:xfrm>
          <a:prstGeom prst="ellipse">
            <a:avLst/>
          </a:prstGeom>
          <a:solidFill>
            <a:srgbClr val="9AA3AE"/>
          </a:solidFill>
          <a:ln/>
        </p:spPr>
      </p:sp>
      <p:sp>
        <p:nvSpPr>
          <p:cNvPr id="541" name="Shape 509"/>
          <p:cNvSpPr/>
          <p:nvPr/>
        </p:nvSpPr>
        <p:spPr>
          <a:xfrm>
            <a:off x="7321601" y="12895783"/>
            <a:ext cx="0" cy="182880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542" name="Shape 510"/>
          <p:cNvSpPr/>
          <p:nvPr/>
        </p:nvSpPr>
        <p:spPr>
          <a:xfrm>
            <a:off x="7230161" y="12987223"/>
            <a:ext cx="182880" cy="0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543" name="Text 511"/>
          <p:cNvSpPr/>
          <p:nvPr/>
        </p:nvSpPr>
        <p:spPr>
          <a:xfrm>
            <a:off x="7230161" y="1289578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2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5</a:t>
            </a:r>
            <a:endParaRPr lang="en-US" sz="1020" dirty="0"/>
          </a:p>
        </p:txBody>
      </p:sp>
      <p:sp>
        <p:nvSpPr>
          <p:cNvPr id="544" name="Text 512"/>
          <p:cNvSpPr/>
          <p:nvPr/>
        </p:nvSpPr>
        <p:spPr>
          <a:xfrm>
            <a:off x="7486193" y="12889382"/>
            <a:ext cx="792785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기타</a:t>
            </a:r>
            <a:endParaRPr lang="en-US" sz="1320" dirty="0"/>
          </a:p>
        </p:txBody>
      </p:sp>
      <p:graphicFrame>
        <p:nvGraphicFramePr>
          <p:cNvPr id="545" name="Chart 7" descr=""/>
          <p:cNvGraphicFramePr/>
          <p:nvPr/>
        </p:nvGraphicFramePr>
        <p:xfrm>
          <a:off x="8254289" y="11644884"/>
          <a:ext cx="1292047" cy="14813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1"/>
          </a:graphicData>
        </a:graphic>
      </p:graphicFrame>
      <p:sp>
        <p:nvSpPr>
          <p:cNvPr id="546" name="Text 513"/>
          <p:cNvSpPr/>
          <p:nvPr/>
        </p:nvSpPr>
        <p:spPr>
          <a:xfrm>
            <a:off x="9066276" y="11471580"/>
            <a:ext cx="546731" cy="41744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3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64.6</a:t>
            </a:r>
            <a:endParaRPr lang="en-US" sz="1730" dirty="0"/>
          </a:p>
        </p:txBody>
      </p:sp>
      <p:sp>
        <p:nvSpPr>
          <p:cNvPr id="547" name="Text 514"/>
          <p:cNvSpPr/>
          <p:nvPr/>
        </p:nvSpPr>
        <p:spPr>
          <a:xfrm>
            <a:off x="9503279" y="11598148"/>
            <a:ext cx="238486" cy="27990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6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60" dirty="0"/>
          </a:p>
        </p:txBody>
      </p:sp>
      <p:sp>
        <p:nvSpPr>
          <p:cNvPr id="548" name="Text 515"/>
          <p:cNvSpPr/>
          <p:nvPr/>
        </p:nvSpPr>
        <p:spPr>
          <a:xfrm>
            <a:off x="8921801" y="11767845"/>
            <a:ext cx="546731" cy="41744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3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52.2</a:t>
            </a:r>
            <a:endParaRPr lang="en-US" sz="1730" dirty="0"/>
          </a:p>
        </p:txBody>
      </p:sp>
      <p:sp>
        <p:nvSpPr>
          <p:cNvPr id="549" name="Text 516"/>
          <p:cNvSpPr/>
          <p:nvPr/>
        </p:nvSpPr>
        <p:spPr>
          <a:xfrm>
            <a:off x="9358804" y="11894414"/>
            <a:ext cx="238486" cy="27990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6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60" dirty="0"/>
          </a:p>
        </p:txBody>
      </p:sp>
      <p:sp>
        <p:nvSpPr>
          <p:cNvPr id="550" name="Text 517"/>
          <p:cNvSpPr/>
          <p:nvPr/>
        </p:nvSpPr>
        <p:spPr>
          <a:xfrm>
            <a:off x="8647481" y="12064111"/>
            <a:ext cx="546731" cy="41744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3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28.6</a:t>
            </a:r>
            <a:endParaRPr lang="en-US" sz="1730" dirty="0"/>
          </a:p>
        </p:txBody>
      </p:sp>
      <p:sp>
        <p:nvSpPr>
          <p:cNvPr id="551" name="Text 518"/>
          <p:cNvSpPr/>
          <p:nvPr/>
        </p:nvSpPr>
        <p:spPr>
          <a:xfrm>
            <a:off x="9084484" y="12190679"/>
            <a:ext cx="238486" cy="27990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6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60" dirty="0"/>
          </a:p>
        </p:txBody>
      </p:sp>
      <p:sp>
        <p:nvSpPr>
          <p:cNvPr id="552" name="Text 519"/>
          <p:cNvSpPr/>
          <p:nvPr/>
        </p:nvSpPr>
        <p:spPr>
          <a:xfrm>
            <a:off x="8553298" y="12360377"/>
            <a:ext cx="546731" cy="41744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3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20.5</a:t>
            </a:r>
            <a:endParaRPr lang="en-US" sz="1730" dirty="0"/>
          </a:p>
        </p:txBody>
      </p:sp>
      <p:sp>
        <p:nvSpPr>
          <p:cNvPr id="553" name="Text 520"/>
          <p:cNvSpPr/>
          <p:nvPr/>
        </p:nvSpPr>
        <p:spPr>
          <a:xfrm>
            <a:off x="8990301" y="12486945"/>
            <a:ext cx="238486" cy="27990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6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60" dirty="0"/>
          </a:p>
        </p:txBody>
      </p:sp>
      <p:sp>
        <p:nvSpPr>
          <p:cNvPr id="554" name="Text 521"/>
          <p:cNvSpPr/>
          <p:nvPr/>
        </p:nvSpPr>
        <p:spPr>
          <a:xfrm>
            <a:off x="8356702" y="12656642"/>
            <a:ext cx="423034" cy="41744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3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3.6</a:t>
            </a:r>
            <a:endParaRPr lang="en-US" sz="1730" dirty="0"/>
          </a:p>
        </p:txBody>
      </p:sp>
      <p:sp>
        <p:nvSpPr>
          <p:cNvPr id="555" name="Text 522"/>
          <p:cNvSpPr/>
          <p:nvPr/>
        </p:nvSpPr>
        <p:spPr>
          <a:xfrm>
            <a:off x="8670008" y="12783210"/>
            <a:ext cx="238486" cy="27990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6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60" dirty="0"/>
          </a:p>
        </p:txBody>
      </p:sp>
      <p:sp>
        <p:nvSpPr>
          <p:cNvPr id="556" name="Text 523"/>
          <p:cNvSpPr/>
          <p:nvPr/>
        </p:nvSpPr>
        <p:spPr>
          <a:xfrm>
            <a:off x="7242048" y="13167360"/>
            <a:ext cx="2194560" cy="194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70" dirty="0">
                <a:solidFill>
                  <a:srgbClr val="6B728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※ 복수응답 기준</a:t>
            </a:r>
            <a:endParaRPr lang="en-US" sz="1170" dirty="0"/>
          </a:p>
        </p:txBody>
      </p:sp>
      <p:sp>
        <p:nvSpPr>
          <p:cNvPr id="557" name="Shape 524"/>
          <p:cNvSpPr/>
          <p:nvPr/>
        </p:nvSpPr>
        <p:spPr>
          <a:xfrm>
            <a:off x="194767" y="13716000"/>
            <a:ext cx="219456" cy="219456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558" name="Shape 525"/>
          <p:cNvSpPr/>
          <p:nvPr/>
        </p:nvSpPr>
        <p:spPr>
          <a:xfrm>
            <a:off x="9339682" y="13716000"/>
            <a:ext cx="219456" cy="219456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559" name="Shape 526"/>
          <p:cNvSpPr/>
          <p:nvPr/>
        </p:nvSpPr>
        <p:spPr>
          <a:xfrm>
            <a:off x="194767" y="14307617"/>
            <a:ext cx="219456" cy="219456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560" name="Shape 527"/>
          <p:cNvSpPr/>
          <p:nvPr/>
        </p:nvSpPr>
        <p:spPr>
          <a:xfrm>
            <a:off x="9339682" y="14307617"/>
            <a:ext cx="219456" cy="219456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561" name="Shape 528"/>
          <p:cNvSpPr/>
          <p:nvPr/>
        </p:nvSpPr>
        <p:spPr>
          <a:xfrm>
            <a:off x="304495" y="13716000"/>
            <a:ext cx="9144000" cy="811073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562" name="Shape 529"/>
          <p:cNvSpPr/>
          <p:nvPr/>
        </p:nvSpPr>
        <p:spPr>
          <a:xfrm>
            <a:off x="194767" y="13825728"/>
            <a:ext cx="9363456" cy="591617"/>
          </a:xfrm>
          <a:prstGeom prst="rect">
            <a:avLst/>
          </a:prstGeom>
          <a:solidFill>
            <a:srgbClr val="00337F"/>
          </a:solidFill>
          <a:ln/>
        </p:spPr>
      </p:sp>
      <p:pic>
        <p:nvPicPr>
          <p:cNvPr id="563" name="Image 23" descr="g03-clipboard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48640" y="13825728"/>
            <a:ext cx="512064" cy="646481"/>
          </a:xfrm>
          <a:prstGeom prst="rect">
            <a:avLst/>
          </a:prstGeom>
        </p:spPr>
      </p:pic>
      <p:pic>
        <p:nvPicPr>
          <p:cNvPr id="564" name="Image 24" descr="g03-people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388706" y="13691311"/>
            <a:ext cx="1195121" cy="853135"/>
          </a:xfrm>
          <a:prstGeom prst="rect">
            <a:avLst/>
          </a:prstGeom>
        </p:spPr>
      </p:pic>
      <p:sp>
        <p:nvSpPr>
          <p:cNvPr id="565" name="Text 530"/>
          <p:cNvSpPr/>
          <p:nvPr/>
        </p:nvSpPr>
        <p:spPr>
          <a:xfrm>
            <a:off x="1304849" y="13813841"/>
            <a:ext cx="688909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3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신용보증은 기업의 든든한 버팀목!</a:t>
            </a:r>
            <a:endParaRPr lang="en-US" sz="1730" dirty="0"/>
          </a:p>
        </p:txBody>
      </p:sp>
      <p:sp>
        <p:nvSpPr>
          <p:cNvPr id="566" name="Text 531"/>
          <p:cNvSpPr/>
          <p:nvPr/>
        </p:nvSpPr>
        <p:spPr>
          <a:xfrm>
            <a:off x="1304849" y="14130223"/>
            <a:ext cx="6889090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90" b="1" dirty="0">
                <a:solidFill>
                  <a:srgbClr val="FFD34D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금리·보증료 부담 완화와 지원 확대를 통해 더 큰 성장과 안정이 가능합니다.</a:t>
            </a:r>
            <a:endParaRPr lang="en-US" sz="169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소상공인 실태조사 인포그래픽</dc:title>
  <dc:subject>PptxGenJS Presentation</dc:subject>
  <dc:creator>케이스탯리서치</dc:creator>
  <cp:lastModifiedBy>케이스탯리서치</cp:lastModifiedBy>
  <cp:revision>1</cp:revision>
  <dcterms:created xsi:type="dcterms:W3CDTF">2026-08-26T09:37:44Z</dcterms:created>
  <dcterms:modified xsi:type="dcterms:W3CDTF">2026-08-26T09:37:44Z</dcterms:modified>
</cp:coreProperties>
</file>
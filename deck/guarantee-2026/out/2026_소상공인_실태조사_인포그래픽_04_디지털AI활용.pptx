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753905" cy="14630400"/>
  <p:notesSz cx="14630400" cy="975390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디지털·AI 활용 여부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0449C"/>
              </a:solidFill>
              <a:ln w="9525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1"/>
            <c:bubble3D val="0"/>
            <c:spPr>
              <a:solidFill>
                <a:srgbClr val="C7CDD6"/>
              </a:solidFill>
              <a:ln w="9525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KoPub돋움체 Bold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KoPub돋움체 Bold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활용 중</c:v>
                </c:pt>
                <c:pt idx="1">
                  <c:v>활용하지 않음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47.8</c:v>
                </c:pt>
                <c:pt idx="1">
                  <c:v>52.2</c:v>
                </c:pt>
              </c:numCache>
            </c:numRef>
          </c:val>
        </c:ser>
        <c:firstSliceAng val="0"/>
        <c:holeSize val="52"/>
      </c:doughnutChart>
      <c:spPr>
        <a:solidFill>
          <a:srgbClr val="FFFFFF"/>
        </a:solidFill>
        <a:ln w="12700" cap="flat">
          <a:solidFill>
            <a:srgbClr val="FFFFFF"/>
          </a:solidFill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활용 분야</c:v>
                </c:pt>
              </c:strCache>
            </c:strRef>
          </c:tx>
          <c:spPr>
            <a:solidFill>
              <a:srgbClr val="B9DBF6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1" i="0" strike="noStrike" sz="1850" u="none">
                    <a:solidFill>
                      <a:srgbClr val="00449C"/>
                    </a:solidFill>
                    <a:latin typeface="KoPub돋움체 Bold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B9DBF6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7DC0F0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4E9BDD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1D6FBF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00449C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기타</c:v>
                  </c:pt>
                  <c:pt idx="1">
                    <c:v>생산·공정 관리</c:v>
                  </c:pt>
                  <c:pt idx="2">
                    <c:v>마케팅·고객관리</c:v>
                  </c:pt>
                  <c:pt idx="3">
                    <c:v>판매·주문 관리</c:v>
                  </c:pt>
                  <c:pt idx="4">
                    <c:v>금융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8.1</c:v>
                </c:pt>
                <c:pt idx="1">
                  <c:v>12.3</c:v>
                </c:pt>
                <c:pt idx="2">
                  <c:v>17.3</c:v>
                </c:pt>
                <c:pt idx="3">
                  <c:v>24.8</c:v>
                </c:pt>
                <c:pt idx="4">
                  <c:v>33.5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1" i="0" strike="noStrike" sz="1850" u="none">
                  <a:solidFill>
                    <a:srgbClr val="00449C"/>
                  </a:solidFill>
                  <a:latin typeface="KoPub돋움체 Bold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87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1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42.5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 w="12700" cap="flat">
          <a:solidFill>
            <a:srgbClr val="FFFFFF"/>
          </a:solidFill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가장 필요한 지원</c:v>
                </c:pt>
              </c:strCache>
            </c:strRef>
          </c:tx>
          <c:spPr>
            <a:solidFill>
              <a:srgbClr val="B9DBF6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00449C"/>
                    </a:solidFill>
                    <a:latin typeface="KoPub돋움체 Bold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B9DBF6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7DC0F0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4E9BDD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1D6FBF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00449C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기타</c:v>
                  </c:pt>
                  <c:pt idx="1">
                    <c:v>시스템·장비 지원</c:v>
                  </c:pt>
                  <c:pt idx="2">
                    <c:v>전문가 컨설팅 지원</c:v>
                  </c:pt>
                  <c:pt idx="3">
                    <c:v>도입 비용 지원</c:v>
                  </c:pt>
                  <c:pt idx="4">
                    <c:v>디지털 기술교육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10.2</c:v>
                </c:pt>
                <c:pt idx="1">
                  <c:v>12.3</c:v>
                </c:pt>
                <c:pt idx="2">
                  <c:v>17.6</c:v>
                </c:pt>
                <c:pt idx="3">
                  <c:v>24.5</c:v>
                </c:pt>
                <c:pt idx="4">
                  <c:v>35.4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1" i="0" strike="noStrike" sz="1200" u="none">
                  <a:solidFill>
                    <a:srgbClr val="00449C"/>
                  </a:solidFill>
                  <a:latin typeface="KoPub돋움체 Bold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94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1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60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 w="12700" cap="flat">
          <a:solidFill>
            <a:srgbClr val="FFFFFF"/>
          </a:solidFill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가업승계 준비 단계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7DC0F0"/>
              </a:solidFill>
              <a:ln w="9525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1"/>
            <c:bubble3D val="0"/>
            <c:spPr>
              <a:solidFill>
                <a:srgbClr val="00449C"/>
              </a:solidFill>
              <a:ln w="9525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2"/>
            <c:bubble3D val="0"/>
            <c:spPr>
              <a:solidFill>
                <a:srgbClr val="C7CDD6"/>
              </a:solidFill>
              <a:ln w="9525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KoPub돋움체 Bold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KoPub돋움체 Bold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KoPub돋움체 Bold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승계 대상자 확정, 경영 참여 중</c:v>
                </c:pt>
                <c:pt idx="1">
                  <c:v>승계 의향 없음</c:v>
                </c:pt>
                <c:pt idx="2">
                  <c:v>아직 고려하지 않음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6.2</c:v>
                </c:pt>
                <c:pt idx="1">
                  <c:v>68.3</c:v>
                </c:pt>
                <c:pt idx="2">
                  <c:v>21.7</c:v>
                </c:pt>
              </c:numCache>
            </c:numRef>
          </c:val>
        </c:ser>
        <c:firstSliceAng val="0"/>
        <c:holeSize val="50"/>
      </c:doughnutChart>
      <c:spPr>
        <a:solidFill>
          <a:srgbClr val="FFFFFF"/>
        </a:solidFill>
        <a:ln w="12700" cap="flat">
          <a:solidFill>
            <a:srgbClr val="FFFFFF"/>
          </a:solidFill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가업승계 활성화를 위한 지원</c:v>
                </c:pt>
              </c:strCache>
            </c:strRef>
          </c:tx>
          <c:spPr>
            <a:solidFill>
              <a:srgbClr val="B9DBF6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00449C"/>
                    </a:solidFill>
                    <a:latin typeface="KoPub돋움체 Bold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B9DBF6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7DC0F0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4E9BDD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1D6FBF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00449C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법·제도 개선</c:v>
                  </c:pt>
                  <c:pt idx="1">
                    <c:v>승계 자금 지원</c:v>
                  </c:pt>
                  <c:pt idx="2">
                    <c:v>사업 재편·다각화 지원</c:v>
                  </c:pt>
                  <c:pt idx="3">
                    <c:v>후계자 양성 교육·컨설팅</c:v>
                  </c:pt>
                  <c:pt idx="4">
                    <c:v>세금 부담 완화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16.6</c:v>
                </c:pt>
                <c:pt idx="1">
                  <c:v>20.4</c:v>
                </c:pt>
                <c:pt idx="2">
                  <c:v>32.3</c:v>
                </c:pt>
                <c:pt idx="3">
                  <c:v>37.3</c:v>
                </c:pt>
                <c:pt idx="4">
                  <c:v>62.7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1" i="0" strike="noStrike" sz="1200" u="none">
                  <a:solidFill>
                    <a:srgbClr val="00449C"/>
                  </a:solidFill>
                  <a:latin typeface="KoPub돋움체 Bold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2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1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 w="12700" cap="flat">
          <a:solidFill>
            <a:srgbClr val="FFFFFF"/>
          </a:solidFill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노후 생활 준비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0449C"/>
              </a:solidFill>
              <a:ln w="9525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1"/>
            <c:bubble3D val="0"/>
            <c:spPr>
              <a:solidFill>
                <a:srgbClr val="C7CDD6"/>
              </a:solidFill>
              <a:ln w="9525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KoPub돋움체 Bold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KoPub돋움체 Bold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준비하고 있음</c:v>
                </c:pt>
                <c:pt idx="1">
                  <c:v>준비하고 있지 않음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71.4</c:v>
                </c:pt>
                <c:pt idx="1">
                  <c:v>28.6</c:v>
                </c:pt>
              </c:numCache>
            </c:numRef>
          </c:val>
        </c:ser>
        <c:firstSliceAng val="0"/>
        <c:holeSize val="52"/>
      </c:doughnutChart>
      <c:spPr>
        <a:solidFill>
          <a:srgbClr val="FFFFFF"/>
        </a:solidFill>
        <a:ln w="12700" cap="flat">
          <a:solidFill>
            <a:srgbClr val="FFFFFF"/>
          </a:solidFill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노후 생활 준비 방법</c:v>
                </c:pt>
              </c:strCache>
            </c:strRef>
          </c:tx>
          <c:spPr>
            <a:solidFill>
              <a:srgbClr val="B9DBF6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00449C"/>
                    </a:solidFill>
                    <a:latin typeface="KoPub돋움체 Bold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B9DBF6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7DC0F0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4E9BDD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1D6FBF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00449C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기타</c:v>
                  </c:pt>
                  <c:pt idx="1">
                    <c:v>부동산 임대소득</c:v>
                  </c:pt>
                  <c:pt idx="2">
                    <c:v>저축·이자소득</c:v>
                  </c:pt>
                  <c:pt idx="3">
                    <c:v>보험·개인연금</c:v>
                  </c:pt>
                  <c:pt idx="4">
                    <c:v>국민연금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4.1</c:v>
                </c:pt>
                <c:pt idx="1">
                  <c:v>25.2</c:v>
                </c:pt>
                <c:pt idx="2">
                  <c:v>48.7</c:v>
                </c:pt>
                <c:pt idx="3">
                  <c:v>60</c:v>
                </c:pt>
                <c:pt idx="4">
                  <c:v>80.9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1" i="0" strike="noStrike" sz="1200" u="none">
                  <a:solidFill>
                    <a:srgbClr val="00449C"/>
                  </a:solidFill>
                  <a:latin typeface="KoPub돋움체 Bold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61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1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32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EDF4FC"/>
        </a:solidFill>
        <a:ln w="12700" cap="flat">
          <a:solidFill>
            <a:srgbClr val="FFFFFF"/>
          </a:solidFill>
        </a:ln>
        <a:effectLst/>
      </c:spPr>
    </c:plotArea>
    <c:plotVisOnly val="1"/>
    <c:dispBlanksAs val="span"/>
  </c:chart>
  <c:spPr>
    <a:solidFill>
      <a:srgbClr val="EDF4FC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.xml"/><Relationship Id="rId9" Type="http://schemas.openxmlformats.org/officeDocument/2006/relationships/chart" Target="/ppt/charts/chart2.xml"/><Relationship Id="rId24" Type="http://schemas.openxmlformats.org/officeDocument/2006/relationships/chart" Target="/ppt/charts/chart3.xml"/><Relationship Id="rId26" Type="http://schemas.openxmlformats.org/officeDocument/2006/relationships/chart" Target="/ppt/charts/chart4.xml"/><Relationship Id="rId33" Type="http://schemas.openxmlformats.org/officeDocument/2006/relationships/chart" Target="/ppt/charts/chart5.xml"/><Relationship Id="rId34" Type="http://schemas.openxmlformats.org/officeDocument/2006/relationships/chart" Target="/ppt/charts/chart6.xml"/><Relationship Id="rId41" Type="http://schemas.openxmlformats.org/officeDocument/2006/relationships/chart" Target="/ppt/charts/chart7.xml"/><Relationship Id="rId1" Type="http://schemas.openxmlformats.org/officeDocument/2006/relationships/image" Target="../media/image-1-1.png"/><Relationship Id="rId3" Type="http://schemas.openxmlformats.org/officeDocument/2006/relationships/image" Target="../media/image-1-2.png"/><Relationship Id="rId4" Type="http://schemas.openxmlformats.org/officeDocument/2006/relationships/image" Target="../media/image-1-3.png"/><Relationship Id="rId5" Type="http://schemas.openxmlformats.org/officeDocument/2006/relationships/image" Target="../media/image-1-4.png"/><Relationship Id="rId6" Type="http://schemas.openxmlformats.org/officeDocument/2006/relationships/image" Target="../media/image-1-5.png"/><Relationship Id="rId7" Type="http://schemas.openxmlformats.org/officeDocument/2006/relationships/image" Target="../media/image-1-6.png"/><Relationship Id="rId8" Type="http://schemas.openxmlformats.org/officeDocument/2006/relationships/image" Target="../media/image-1-7.png"/><Relationship Id="rId10" Type="http://schemas.openxmlformats.org/officeDocument/2006/relationships/image" Target="../media/image-1-8.png"/><Relationship Id="rId11" Type="http://schemas.openxmlformats.org/officeDocument/2006/relationships/image" Target="../media/image-1-9.png"/><Relationship Id="rId12" Type="http://schemas.openxmlformats.org/officeDocument/2006/relationships/image" Target="../media/image-1-10.png"/><Relationship Id="rId13" Type="http://schemas.openxmlformats.org/officeDocument/2006/relationships/image" Target="../media/image-1-11.png"/><Relationship Id="rId14" Type="http://schemas.openxmlformats.org/officeDocument/2006/relationships/image" Target="../media/image-1-12.png"/><Relationship Id="rId15" Type="http://schemas.openxmlformats.org/officeDocument/2006/relationships/image" Target="../media/image-1-13.png"/><Relationship Id="rId16" Type="http://schemas.openxmlformats.org/officeDocument/2006/relationships/image" Target="../media/image-1-14.png"/><Relationship Id="rId17" Type="http://schemas.openxmlformats.org/officeDocument/2006/relationships/image" Target="../media/image-1-15.png"/><Relationship Id="rId18" Type="http://schemas.openxmlformats.org/officeDocument/2006/relationships/image" Target="../media/image-1-16.png"/><Relationship Id="rId19" Type="http://schemas.openxmlformats.org/officeDocument/2006/relationships/image" Target="../media/image-1-17.png"/><Relationship Id="rId20" Type="http://schemas.openxmlformats.org/officeDocument/2006/relationships/image" Target="../media/image-1-18.png"/><Relationship Id="rId21" Type="http://schemas.openxmlformats.org/officeDocument/2006/relationships/image" Target="../media/image-1-19.png"/><Relationship Id="rId22" Type="http://schemas.openxmlformats.org/officeDocument/2006/relationships/image" Target="../media/image-1-20.png"/><Relationship Id="rId23" Type="http://schemas.openxmlformats.org/officeDocument/2006/relationships/image" Target="../media/image-1-21.png"/><Relationship Id="rId25" Type="http://schemas.openxmlformats.org/officeDocument/2006/relationships/image" Target="../media/image-1-22.png"/><Relationship Id="rId27" Type="http://schemas.openxmlformats.org/officeDocument/2006/relationships/image" Target="../media/image-1-23.png"/><Relationship Id="rId28" Type="http://schemas.openxmlformats.org/officeDocument/2006/relationships/image" Target="../media/image-1-24.png"/><Relationship Id="rId29" Type="http://schemas.openxmlformats.org/officeDocument/2006/relationships/image" Target="../media/image-1-25.png"/><Relationship Id="rId30" Type="http://schemas.openxmlformats.org/officeDocument/2006/relationships/image" Target="../media/image-1-26.png"/><Relationship Id="rId31" Type="http://schemas.openxmlformats.org/officeDocument/2006/relationships/image" Target="../media/image-1-27.png"/><Relationship Id="rId32" Type="http://schemas.openxmlformats.org/officeDocument/2006/relationships/image" Target="../media/image-1-28.png"/><Relationship Id="rId35" Type="http://schemas.openxmlformats.org/officeDocument/2006/relationships/image" Target="../media/image-1-29.png"/><Relationship Id="rId36" Type="http://schemas.openxmlformats.org/officeDocument/2006/relationships/image" Target="../media/image-1-30.png"/><Relationship Id="rId37" Type="http://schemas.openxmlformats.org/officeDocument/2006/relationships/image" Target="../media/image-1-31.png"/><Relationship Id="rId38" Type="http://schemas.openxmlformats.org/officeDocument/2006/relationships/image" Target="../media/image-1-32.png"/><Relationship Id="rId39" Type="http://schemas.openxmlformats.org/officeDocument/2006/relationships/image" Target="../media/image-1-33.png"/><Relationship Id="rId40" Type="http://schemas.openxmlformats.org/officeDocument/2006/relationships/image" Target="../media/image-1-34.png"/><Relationship Id="rId42" Type="http://schemas.openxmlformats.org/officeDocument/2006/relationships/image" Target="../media/image-1-35.png"/><Relationship Id="rId43" Type="http://schemas.openxmlformats.org/officeDocument/2006/relationships/slideLayout" Target="../slideLayouts/slideLayout1.xml"/><Relationship Id="rId44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BFC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04-her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98464" y="97841"/>
            <a:ext cx="3523183" cy="1316736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37744" y="164592"/>
            <a:ext cx="267919" cy="267919"/>
          </a:xfrm>
          <a:prstGeom prst="ellipse">
            <a:avLst/>
          </a:prstGeom>
          <a:solidFill>
            <a:srgbClr val="00337F"/>
          </a:solidFill>
          <a:ln/>
        </p:spPr>
      </p:sp>
      <p:sp>
        <p:nvSpPr>
          <p:cNvPr id="4" name="Shape 1"/>
          <p:cNvSpPr/>
          <p:nvPr/>
        </p:nvSpPr>
        <p:spPr>
          <a:xfrm>
            <a:off x="1005840" y="164592"/>
            <a:ext cx="267919" cy="267919"/>
          </a:xfrm>
          <a:prstGeom prst="ellipse">
            <a:avLst/>
          </a:prstGeom>
          <a:solidFill>
            <a:srgbClr val="00337F"/>
          </a:solidFill>
          <a:ln/>
        </p:spPr>
      </p:sp>
      <p:sp>
        <p:nvSpPr>
          <p:cNvPr id="5" name="Shape 2"/>
          <p:cNvSpPr/>
          <p:nvPr/>
        </p:nvSpPr>
        <p:spPr>
          <a:xfrm>
            <a:off x="237744" y="811073"/>
            <a:ext cx="267919" cy="267919"/>
          </a:xfrm>
          <a:prstGeom prst="ellipse">
            <a:avLst/>
          </a:prstGeom>
          <a:solidFill>
            <a:srgbClr val="00337F"/>
          </a:solidFill>
          <a:ln/>
        </p:spPr>
      </p:sp>
      <p:sp>
        <p:nvSpPr>
          <p:cNvPr id="6" name="Shape 3"/>
          <p:cNvSpPr/>
          <p:nvPr/>
        </p:nvSpPr>
        <p:spPr>
          <a:xfrm>
            <a:off x="1005840" y="811073"/>
            <a:ext cx="267919" cy="267919"/>
          </a:xfrm>
          <a:prstGeom prst="ellipse">
            <a:avLst/>
          </a:prstGeom>
          <a:solidFill>
            <a:srgbClr val="00337F"/>
          </a:solidFill>
          <a:ln/>
        </p:spPr>
      </p:sp>
      <p:sp>
        <p:nvSpPr>
          <p:cNvPr id="7" name="Shape 4"/>
          <p:cNvSpPr/>
          <p:nvPr/>
        </p:nvSpPr>
        <p:spPr>
          <a:xfrm>
            <a:off x="372161" y="164592"/>
            <a:ext cx="768096" cy="914400"/>
          </a:xfrm>
          <a:prstGeom prst="rect">
            <a:avLst/>
          </a:prstGeom>
          <a:solidFill>
            <a:srgbClr val="00337F"/>
          </a:solidFill>
          <a:ln/>
        </p:spPr>
      </p:sp>
      <p:sp>
        <p:nvSpPr>
          <p:cNvPr id="8" name="Shape 5"/>
          <p:cNvSpPr/>
          <p:nvPr/>
        </p:nvSpPr>
        <p:spPr>
          <a:xfrm>
            <a:off x="237744" y="299009"/>
            <a:ext cx="1036015" cy="646481"/>
          </a:xfrm>
          <a:prstGeom prst="rect">
            <a:avLst/>
          </a:prstGeom>
          <a:solidFill>
            <a:srgbClr val="00337F"/>
          </a:solidFill>
          <a:ln/>
        </p:spPr>
      </p:sp>
      <p:sp>
        <p:nvSpPr>
          <p:cNvPr id="9" name="Text 6"/>
          <p:cNvSpPr/>
          <p:nvPr/>
        </p:nvSpPr>
        <p:spPr>
          <a:xfrm>
            <a:off x="237744" y="164592"/>
            <a:ext cx="10360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4510" b="1" dirty="0">
                <a:solidFill>
                  <a:srgbClr val="FFFFFF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04</a:t>
            </a:r>
            <a:endParaRPr lang="en-US" sz="4510" dirty="0"/>
          </a:p>
        </p:txBody>
      </p:sp>
      <p:sp>
        <p:nvSpPr>
          <p:cNvPr id="10" name="Text 7"/>
          <p:cNvSpPr/>
          <p:nvPr/>
        </p:nvSpPr>
        <p:spPr>
          <a:xfrm>
            <a:off x="1383487" y="158191"/>
            <a:ext cx="4510735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860" b="1" dirty="0">
                <a:solidFill>
                  <a:srgbClr val="00337F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디지털·AI 활용</a:t>
            </a:r>
            <a:endParaRPr lang="en-US" sz="3860" dirty="0"/>
          </a:p>
        </p:txBody>
      </p:sp>
      <p:sp>
        <p:nvSpPr>
          <p:cNvPr id="11" name="Text 8"/>
          <p:cNvSpPr/>
          <p:nvPr/>
        </p:nvSpPr>
        <p:spPr>
          <a:xfrm>
            <a:off x="1383487" y="779983"/>
            <a:ext cx="4633265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4000"/>
              </a:lnSpc>
              <a:buNone/>
            </a:pPr>
            <a:r>
              <a:rPr lang="en-US" sz="1510" b="1" dirty="0">
                <a:solidFill>
                  <a:srgbClr val="3A3A3A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도입은 아직 절반 수준, 활용 기업은,</a:t>
            </a:r>
            <a:endParaRPr lang="en-US" sz="1510" dirty="0"/>
          </a:p>
          <a:p>
            <a:pPr algn="l" indent="0" marL="0">
              <a:lnSpc>
                <a:spcPct val="134000"/>
              </a:lnSpc>
              <a:buNone/>
            </a:pPr>
            <a:r>
              <a:rPr lang="en-US" sz="1510" b="1" dirty="0">
                <a:solidFill>
                  <a:srgbClr val="3A3A3A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비용 절감과 인력 효율화 효과를 더 크게 체감하고 있습니다.</a:t>
            </a:r>
            <a:endParaRPr lang="en-US" sz="1510" dirty="0"/>
          </a:p>
        </p:txBody>
      </p:sp>
      <p:sp>
        <p:nvSpPr>
          <p:cNvPr id="12" name="Shape 9"/>
          <p:cNvSpPr/>
          <p:nvPr/>
        </p:nvSpPr>
        <p:spPr>
          <a:xfrm>
            <a:off x="225857" y="1676095"/>
            <a:ext cx="267919" cy="267919"/>
          </a:xfrm>
          <a:prstGeom prst="ellipse">
            <a:avLst/>
          </a:prstGeom>
          <a:solidFill>
            <a:srgbClr val="FFFFFF"/>
          </a:solidFill>
          <a:ln w="9525">
            <a:solidFill>
              <a:srgbClr val="D8E5F2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755441" y="1676095"/>
            <a:ext cx="267919" cy="267919"/>
          </a:xfrm>
          <a:prstGeom prst="ellipse">
            <a:avLst/>
          </a:prstGeom>
          <a:solidFill>
            <a:srgbClr val="FFFFFF"/>
          </a:solidFill>
          <a:ln w="9525">
            <a:solidFill>
              <a:srgbClr val="D8E5F2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225857" y="4651553"/>
            <a:ext cx="267919" cy="267919"/>
          </a:xfrm>
          <a:prstGeom prst="ellipse">
            <a:avLst/>
          </a:prstGeom>
          <a:solidFill>
            <a:srgbClr val="FFFFFF"/>
          </a:solidFill>
          <a:ln w="9525">
            <a:solidFill>
              <a:srgbClr val="D8E5F2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3755441" y="4651553"/>
            <a:ext cx="267919" cy="267919"/>
          </a:xfrm>
          <a:prstGeom prst="ellipse">
            <a:avLst/>
          </a:prstGeom>
          <a:solidFill>
            <a:srgbClr val="FFFFFF"/>
          </a:solidFill>
          <a:ln w="9525">
            <a:solidFill>
              <a:srgbClr val="D8E5F2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359359" y="1676095"/>
            <a:ext cx="3529584" cy="3243377"/>
          </a:xfrm>
          <a:prstGeom prst="rect">
            <a:avLst/>
          </a:prstGeom>
          <a:solidFill>
            <a:srgbClr val="FFFFFF"/>
          </a:solidFill>
          <a:ln w="9525">
            <a:solidFill>
              <a:srgbClr val="D8E5F2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225857" y="1810512"/>
            <a:ext cx="3797503" cy="2974543"/>
          </a:xfrm>
          <a:prstGeom prst="rect">
            <a:avLst/>
          </a:prstGeom>
          <a:solidFill>
            <a:srgbClr val="FFFFFF"/>
          </a:solidFill>
          <a:ln w="9525">
            <a:solidFill>
              <a:srgbClr val="D8E5F2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359359" y="1685239"/>
            <a:ext cx="3529584" cy="3225089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9" name="Shape 16"/>
          <p:cNvSpPr/>
          <p:nvPr/>
        </p:nvSpPr>
        <p:spPr>
          <a:xfrm>
            <a:off x="235001" y="1810512"/>
            <a:ext cx="3779215" cy="2974543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0" name="Shape 17"/>
          <p:cNvSpPr/>
          <p:nvPr/>
        </p:nvSpPr>
        <p:spPr>
          <a:xfrm>
            <a:off x="359359" y="1725473"/>
            <a:ext cx="134417" cy="134417"/>
          </a:xfrm>
          <a:prstGeom prst="ellipse">
            <a:avLst/>
          </a:prstGeom>
          <a:solidFill>
            <a:srgbClr val="0B3C88"/>
          </a:solidFill>
          <a:ln/>
        </p:spPr>
      </p:sp>
      <p:sp>
        <p:nvSpPr>
          <p:cNvPr id="21" name="Shape 18"/>
          <p:cNvSpPr/>
          <p:nvPr/>
        </p:nvSpPr>
        <p:spPr>
          <a:xfrm>
            <a:off x="2487168" y="1725473"/>
            <a:ext cx="134417" cy="134417"/>
          </a:xfrm>
          <a:prstGeom prst="ellipse">
            <a:avLst/>
          </a:prstGeom>
          <a:solidFill>
            <a:srgbClr val="0B3C88"/>
          </a:solidFill>
          <a:ln/>
        </p:spPr>
      </p:sp>
      <p:sp>
        <p:nvSpPr>
          <p:cNvPr id="22" name="Shape 19"/>
          <p:cNvSpPr/>
          <p:nvPr/>
        </p:nvSpPr>
        <p:spPr>
          <a:xfrm>
            <a:off x="359359" y="1975104"/>
            <a:ext cx="134417" cy="134417"/>
          </a:xfrm>
          <a:prstGeom prst="ellipse">
            <a:avLst/>
          </a:prstGeom>
          <a:solidFill>
            <a:srgbClr val="0B3C88"/>
          </a:solidFill>
          <a:ln/>
        </p:spPr>
      </p:sp>
      <p:sp>
        <p:nvSpPr>
          <p:cNvPr id="23" name="Shape 20"/>
          <p:cNvSpPr/>
          <p:nvPr/>
        </p:nvSpPr>
        <p:spPr>
          <a:xfrm>
            <a:off x="2487168" y="1975104"/>
            <a:ext cx="134417" cy="134417"/>
          </a:xfrm>
          <a:prstGeom prst="ellipse">
            <a:avLst/>
          </a:prstGeom>
          <a:solidFill>
            <a:srgbClr val="0B3C88"/>
          </a:solidFill>
          <a:ln/>
        </p:spPr>
      </p:sp>
      <p:sp>
        <p:nvSpPr>
          <p:cNvPr id="24" name="Shape 21"/>
          <p:cNvSpPr/>
          <p:nvPr/>
        </p:nvSpPr>
        <p:spPr>
          <a:xfrm>
            <a:off x="427025" y="1725473"/>
            <a:ext cx="2127809" cy="384048"/>
          </a:xfrm>
          <a:prstGeom prst="rect">
            <a:avLst/>
          </a:prstGeom>
          <a:solidFill>
            <a:srgbClr val="0B3C88"/>
          </a:solidFill>
          <a:ln/>
        </p:spPr>
      </p:sp>
      <p:sp>
        <p:nvSpPr>
          <p:cNvPr id="25" name="Shape 22"/>
          <p:cNvSpPr/>
          <p:nvPr/>
        </p:nvSpPr>
        <p:spPr>
          <a:xfrm>
            <a:off x="359359" y="1792224"/>
            <a:ext cx="2261311" cy="249631"/>
          </a:xfrm>
          <a:prstGeom prst="rect">
            <a:avLst/>
          </a:prstGeom>
          <a:solidFill>
            <a:srgbClr val="0B3C88"/>
          </a:solidFill>
          <a:ln/>
        </p:spPr>
      </p:sp>
      <p:sp>
        <p:nvSpPr>
          <p:cNvPr id="26" name="Shape 23"/>
          <p:cNvSpPr/>
          <p:nvPr/>
        </p:nvSpPr>
        <p:spPr>
          <a:xfrm>
            <a:off x="359359" y="1725473"/>
            <a:ext cx="134417" cy="134417"/>
          </a:xfrm>
          <a:prstGeom prst="ellipse">
            <a:avLst/>
          </a:prstGeom>
          <a:solidFill>
            <a:srgbClr val="00337F"/>
          </a:solidFill>
          <a:ln/>
        </p:spPr>
      </p:sp>
      <p:sp>
        <p:nvSpPr>
          <p:cNvPr id="27" name="Shape 24"/>
          <p:cNvSpPr/>
          <p:nvPr/>
        </p:nvSpPr>
        <p:spPr>
          <a:xfrm>
            <a:off x="591617" y="1725473"/>
            <a:ext cx="134417" cy="134417"/>
          </a:xfrm>
          <a:prstGeom prst="ellipse">
            <a:avLst/>
          </a:prstGeom>
          <a:solidFill>
            <a:srgbClr val="00337F"/>
          </a:solidFill>
          <a:ln/>
        </p:spPr>
      </p:sp>
      <p:sp>
        <p:nvSpPr>
          <p:cNvPr id="28" name="Shape 25"/>
          <p:cNvSpPr/>
          <p:nvPr/>
        </p:nvSpPr>
        <p:spPr>
          <a:xfrm>
            <a:off x="359359" y="1975104"/>
            <a:ext cx="134417" cy="134417"/>
          </a:xfrm>
          <a:prstGeom prst="ellipse">
            <a:avLst/>
          </a:prstGeom>
          <a:solidFill>
            <a:srgbClr val="00337F"/>
          </a:solidFill>
          <a:ln/>
        </p:spPr>
      </p:sp>
      <p:sp>
        <p:nvSpPr>
          <p:cNvPr id="29" name="Shape 26"/>
          <p:cNvSpPr/>
          <p:nvPr/>
        </p:nvSpPr>
        <p:spPr>
          <a:xfrm>
            <a:off x="591617" y="1975104"/>
            <a:ext cx="134417" cy="134417"/>
          </a:xfrm>
          <a:prstGeom prst="ellipse">
            <a:avLst/>
          </a:prstGeom>
          <a:solidFill>
            <a:srgbClr val="00337F"/>
          </a:solidFill>
          <a:ln/>
        </p:spPr>
      </p:sp>
      <p:sp>
        <p:nvSpPr>
          <p:cNvPr id="30" name="Shape 27"/>
          <p:cNvSpPr/>
          <p:nvPr/>
        </p:nvSpPr>
        <p:spPr>
          <a:xfrm>
            <a:off x="427025" y="1725473"/>
            <a:ext cx="231343" cy="384048"/>
          </a:xfrm>
          <a:prstGeom prst="rect">
            <a:avLst/>
          </a:prstGeom>
          <a:solidFill>
            <a:srgbClr val="00337F"/>
          </a:solidFill>
          <a:ln/>
        </p:spPr>
      </p:sp>
      <p:sp>
        <p:nvSpPr>
          <p:cNvPr id="31" name="Shape 28"/>
          <p:cNvSpPr/>
          <p:nvPr/>
        </p:nvSpPr>
        <p:spPr>
          <a:xfrm>
            <a:off x="359359" y="1792224"/>
            <a:ext cx="365760" cy="249631"/>
          </a:xfrm>
          <a:prstGeom prst="rect">
            <a:avLst/>
          </a:prstGeom>
          <a:solidFill>
            <a:srgbClr val="00337F"/>
          </a:solidFill>
          <a:ln/>
        </p:spPr>
      </p:sp>
      <p:sp>
        <p:nvSpPr>
          <p:cNvPr id="32" name="Text 29"/>
          <p:cNvSpPr/>
          <p:nvPr/>
        </p:nvSpPr>
        <p:spPr>
          <a:xfrm>
            <a:off x="359359" y="1725473"/>
            <a:ext cx="365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970" b="1" dirty="0">
                <a:solidFill>
                  <a:srgbClr val="FFFFFF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1</a:t>
            </a:r>
            <a:endParaRPr lang="en-US" sz="1970" dirty="0"/>
          </a:p>
        </p:txBody>
      </p:sp>
      <p:sp>
        <p:nvSpPr>
          <p:cNvPr id="33" name="Text 30"/>
          <p:cNvSpPr/>
          <p:nvPr/>
        </p:nvSpPr>
        <p:spPr>
          <a:xfrm>
            <a:off x="847649" y="1725473"/>
            <a:ext cx="171267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490" b="1" dirty="0">
                <a:solidFill>
                  <a:srgbClr val="FFFFFF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디지털·AI 활용 여부</a:t>
            </a:r>
            <a:endParaRPr lang="en-US" sz="1490" dirty="0"/>
          </a:p>
        </p:txBody>
      </p:sp>
      <p:sp>
        <p:nvSpPr>
          <p:cNvPr id="34" name="Text 31"/>
          <p:cNvSpPr/>
          <p:nvPr/>
        </p:nvSpPr>
        <p:spPr>
          <a:xfrm>
            <a:off x="414223" y="2169871"/>
            <a:ext cx="341345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1570" b="1" dirty="0">
                <a:solidFill>
                  <a:srgbClr val="0B3C88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응답 기업의 절반 이상이</a:t>
            </a:r>
            <a:endParaRPr lang="en-US" sz="1570" dirty="0"/>
          </a:p>
          <a:p>
            <a:pPr algn="l" indent="0" marL="0">
              <a:lnSpc>
                <a:spcPct val="124000"/>
              </a:lnSpc>
              <a:buNone/>
            </a:pPr>
            <a:r>
              <a:rPr lang="en-US" sz="1570" b="1" dirty="0">
                <a:solidFill>
                  <a:srgbClr val="0B3C88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아직 디지털·AI 기술을</a:t>
            </a:r>
            <a:endParaRPr lang="en-US" sz="1570" dirty="0"/>
          </a:p>
          <a:p>
            <a:pPr algn="l" indent="0" marL="0">
              <a:lnSpc>
                <a:spcPct val="124000"/>
              </a:lnSpc>
              <a:buNone/>
            </a:pPr>
            <a:r>
              <a:rPr lang="en-US" sz="1570" b="1" dirty="0">
                <a:solidFill>
                  <a:srgbClr val="0B3C88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업무에 활용하지 않고 있습니다.</a:t>
            </a:r>
            <a:endParaRPr lang="en-US" sz="1570" dirty="0"/>
          </a:p>
        </p:txBody>
      </p:sp>
      <p:graphicFrame>
        <p:nvGraphicFramePr>
          <p:cNvPr id="35" name="Chart 0" descr=""/>
          <p:cNvGraphicFramePr/>
          <p:nvPr/>
        </p:nvGraphicFramePr>
        <p:xfrm>
          <a:off x="1249985" y="3023921"/>
          <a:ext cx="1737360" cy="1737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pic>
        <p:nvPicPr>
          <p:cNvPr id="36" name="Image 1" descr="g04-bld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40687" y="3609137"/>
            <a:ext cx="585216" cy="609905"/>
          </a:xfrm>
          <a:prstGeom prst="rect">
            <a:avLst/>
          </a:prstGeom>
        </p:spPr>
      </p:pic>
      <p:sp>
        <p:nvSpPr>
          <p:cNvPr id="37" name="Text 32"/>
          <p:cNvSpPr/>
          <p:nvPr/>
        </p:nvSpPr>
        <p:spPr>
          <a:xfrm>
            <a:off x="353873" y="3364992"/>
            <a:ext cx="914400" cy="5239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6000"/>
              </a:lnSpc>
              <a:buNone/>
            </a:pPr>
            <a:r>
              <a:rPr lang="en-US" sz="1520" b="1" dirty="0">
                <a:solidFill>
                  <a:srgbClr val="6B7280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활용하지</a:t>
            </a:r>
            <a:endParaRPr lang="en-US" sz="1520" dirty="0"/>
          </a:p>
          <a:p>
            <a:pPr algn="ctr" indent="0" marL="0">
              <a:lnSpc>
                <a:spcPct val="116000"/>
              </a:lnSpc>
              <a:buNone/>
            </a:pPr>
            <a:r>
              <a:rPr lang="en-US" sz="1520" b="1" dirty="0">
                <a:solidFill>
                  <a:srgbClr val="6B7280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않음</a:t>
            </a:r>
            <a:endParaRPr lang="en-US" sz="1520" dirty="0"/>
          </a:p>
        </p:txBody>
      </p:sp>
      <p:sp>
        <p:nvSpPr>
          <p:cNvPr id="38" name="Text 33"/>
          <p:cNvSpPr/>
          <p:nvPr/>
        </p:nvSpPr>
        <p:spPr>
          <a:xfrm>
            <a:off x="363941" y="3561944"/>
            <a:ext cx="811964" cy="670814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2780" b="1" dirty="0">
                <a:solidFill>
                  <a:srgbClr val="6B7280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52.2</a:t>
            </a:r>
            <a:endParaRPr lang="en-US" sz="2780" dirty="0"/>
          </a:p>
        </p:txBody>
      </p:sp>
      <p:sp>
        <p:nvSpPr>
          <p:cNvPr id="39" name="Text 34"/>
          <p:cNvSpPr/>
          <p:nvPr/>
        </p:nvSpPr>
        <p:spPr>
          <a:xfrm>
            <a:off x="1066178" y="3796106"/>
            <a:ext cx="301755" cy="417449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730" b="1" dirty="0">
                <a:solidFill>
                  <a:srgbClr val="6B7280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%</a:t>
            </a:r>
            <a:endParaRPr lang="en-US" sz="1730" dirty="0"/>
          </a:p>
        </p:txBody>
      </p:sp>
      <p:sp>
        <p:nvSpPr>
          <p:cNvPr id="40" name="Text 35"/>
          <p:cNvSpPr/>
          <p:nvPr/>
        </p:nvSpPr>
        <p:spPr>
          <a:xfrm>
            <a:off x="2987345" y="3535985"/>
            <a:ext cx="975665" cy="2807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520" b="1" dirty="0">
                <a:solidFill>
                  <a:srgbClr val="0B3C88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활용 중</a:t>
            </a:r>
            <a:endParaRPr lang="en-US" sz="1520" dirty="0"/>
          </a:p>
        </p:txBody>
      </p:sp>
      <p:sp>
        <p:nvSpPr>
          <p:cNvPr id="41" name="Text 36"/>
          <p:cNvSpPr/>
          <p:nvPr/>
        </p:nvSpPr>
        <p:spPr>
          <a:xfrm>
            <a:off x="3028046" y="3538169"/>
            <a:ext cx="811964" cy="670814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2780" b="1" dirty="0">
                <a:solidFill>
                  <a:srgbClr val="00449C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47.8</a:t>
            </a:r>
            <a:endParaRPr lang="en-US" sz="2780" dirty="0"/>
          </a:p>
        </p:txBody>
      </p:sp>
      <p:sp>
        <p:nvSpPr>
          <p:cNvPr id="42" name="Text 37"/>
          <p:cNvSpPr/>
          <p:nvPr/>
        </p:nvSpPr>
        <p:spPr>
          <a:xfrm>
            <a:off x="3730282" y="3772332"/>
            <a:ext cx="301755" cy="417449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730" b="1" dirty="0">
                <a:solidFill>
                  <a:srgbClr val="00449C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%</a:t>
            </a:r>
            <a:endParaRPr lang="en-US" sz="1730" dirty="0"/>
          </a:p>
        </p:txBody>
      </p:sp>
      <p:sp>
        <p:nvSpPr>
          <p:cNvPr id="43" name="Shape 38"/>
          <p:cNvSpPr/>
          <p:nvPr/>
        </p:nvSpPr>
        <p:spPr>
          <a:xfrm>
            <a:off x="4151376" y="1676095"/>
            <a:ext cx="267919" cy="267919"/>
          </a:xfrm>
          <a:prstGeom prst="ellipse">
            <a:avLst/>
          </a:prstGeom>
          <a:solidFill>
            <a:srgbClr val="FFFFFF"/>
          </a:solidFill>
          <a:ln w="9525">
            <a:solidFill>
              <a:srgbClr val="D8E5F2"/>
            </a:solidFill>
            <a:prstDash val="solid"/>
          </a:ln>
        </p:spPr>
      </p:sp>
      <p:sp>
        <p:nvSpPr>
          <p:cNvPr id="44" name="Shape 39"/>
          <p:cNvSpPr/>
          <p:nvPr/>
        </p:nvSpPr>
        <p:spPr>
          <a:xfrm>
            <a:off x="9162288" y="1676095"/>
            <a:ext cx="267919" cy="267919"/>
          </a:xfrm>
          <a:prstGeom prst="ellipse">
            <a:avLst/>
          </a:prstGeom>
          <a:solidFill>
            <a:srgbClr val="FFFFFF"/>
          </a:solidFill>
          <a:ln w="9525">
            <a:solidFill>
              <a:srgbClr val="D8E5F2"/>
            </a:solidFill>
            <a:prstDash val="solid"/>
          </a:ln>
        </p:spPr>
      </p:sp>
      <p:sp>
        <p:nvSpPr>
          <p:cNvPr id="45" name="Shape 40"/>
          <p:cNvSpPr/>
          <p:nvPr/>
        </p:nvSpPr>
        <p:spPr>
          <a:xfrm>
            <a:off x="4151376" y="4651553"/>
            <a:ext cx="267919" cy="267919"/>
          </a:xfrm>
          <a:prstGeom prst="ellipse">
            <a:avLst/>
          </a:prstGeom>
          <a:solidFill>
            <a:srgbClr val="FFFFFF"/>
          </a:solidFill>
          <a:ln w="9525">
            <a:solidFill>
              <a:srgbClr val="D8E5F2"/>
            </a:solidFill>
            <a:prstDash val="solid"/>
          </a:ln>
        </p:spPr>
      </p:sp>
      <p:sp>
        <p:nvSpPr>
          <p:cNvPr id="46" name="Shape 41"/>
          <p:cNvSpPr/>
          <p:nvPr/>
        </p:nvSpPr>
        <p:spPr>
          <a:xfrm>
            <a:off x="9162288" y="4651553"/>
            <a:ext cx="267919" cy="267919"/>
          </a:xfrm>
          <a:prstGeom prst="ellipse">
            <a:avLst/>
          </a:prstGeom>
          <a:solidFill>
            <a:srgbClr val="FFFFFF"/>
          </a:solidFill>
          <a:ln w="9525">
            <a:solidFill>
              <a:srgbClr val="D8E5F2"/>
            </a:solidFill>
            <a:prstDash val="solid"/>
          </a:ln>
        </p:spPr>
      </p:sp>
      <p:sp>
        <p:nvSpPr>
          <p:cNvPr id="47" name="Shape 42"/>
          <p:cNvSpPr/>
          <p:nvPr/>
        </p:nvSpPr>
        <p:spPr>
          <a:xfrm>
            <a:off x="4285793" y="1676095"/>
            <a:ext cx="5010912" cy="3243377"/>
          </a:xfrm>
          <a:prstGeom prst="rect">
            <a:avLst/>
          </a:prstGeom>
          <a:solidFill>
            <a:srgbClr val="FFFFFF"/>
          </a:solidFill>
          <a:ln w="9525">
            <a:solidFill>
              <a:srgbClr val="D8E5F2"/>
            </a:solidFill>
            <a:prstDash val="solid"/>
          </a:ln>
        </p:spPr>
      </p:sp>
      <p:sp>
        <p:nvSpPr>
          <p:cNvPr id="48" name="Shape 43"/>
          <p:cNvSpPr/>
          <p:nvPr/>
        </p:nvSpPr>
        <p:spPr>
          <a:xfrm>
            <a:off x="4151376" y="1810512"/>
            <a:ext cx="5279746" cy="2974543"/>
          </a:xfrm>
          <a:prstGeom prst="rect">
            <a:avLst/>
          </a:prstGeom>
          <a:solidFill>
            <a:srgbClr val="FFFFFF"/>
          </a:solidFill>
          <a:ln w="9525">
            <a:solidFill>
              <a:srgbClr val="D8E5F2"/>
            </a:solidFill>
            <a:prstDash val="solid"/>
          </a:ln>
        </p:spPr>
      </p:sp>
      <p:sp>
        <p:nvSpPr>
          <p:cNvPr id="49" name="Shape 44"/>
          <p:cNvSpPr/>
          <p:nvPr/>
        </p:nvSpPr>
        <p:spPr>
          <a:xfrm>
            <a:off x="4285793" y="1685239"/>
            <a:ext cx="5010912" cy="3225089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0" name="Shape 45"/>
          <p:cNvSpPr/>
          <p:nvPr/>
        </p:nvSpPr>
        <p:spPr>
          <a:xfrm>
            <a:off x="4160520" y="1810512"/>
            <a:ext cx="5261458" cy="2974543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1" name="Shape 46"/>
          <p:cNvSpPr/>
          <p:nvPr/>
        </p:nvSpPr>
        <p:spPr>
          <a:xfrm>
            <a:off x="4315968" y="1725473"/>
            <a:ext cx="134417" cy="134417"/>
          </a:xfrm>
          <a:prstGeom prst="ellipse">
            <a:avLst/>
          </a:prstGeom>
          <a:solidFill>
            <a:srgbClr val="0B3C88"/>
          </a:solidFill>
          <a:ln/>
        </p:spPr>
      </p:sp>
      <p:sp>
        <p:nvSpPr>
          <p:cNvPr id="52" name="Shape 47"/>
          <p:cNvSpPr/>
          <p:nvPr/>
        </p:nvSpPr>
        <p:spPr>
          <a:xfrm>
            <a:off x="6279185" y="1725473"/>
            <a:ext cx="134417" cy="134417"/>
          </a:xfrm>
          <a:prstGeom prst="ellipse">
            <a:avLst/>
          </a:prstGeom>
          <a:solidFill>
            <a:srgbClr val="0B3C88"/>
          </a:solidFill>
          <a:ln/>
        </p:spPr>
      </p:sp>
      <p:sp>
        <p:nvSpPr>
          <p:cNvPr id="53" name="Shape 48"/>
          <p:cNvSpPr/>
          <p:nvPr/>
        </p:nvSpPr>
        <p:spPr>
          <a:xfrm>
            <a:off x="4315968" y="1975104"/>
            <a:ext cx="134417" cy="134417"/>
          </a:xfrm>
          <a:prstGeom prst="ellipse">
            <a:avLst/>
          </a:prstGeom>
          <a:solidFill>
            <a:srgbClr val="0B3C88"/>
          </a:solidFill>
          <a:ln/>
        </p:spPr>
      </p:sp>
      <p:sp>
        <p:nvSpPr>
          <p:cNvPr id="54" name="Shape 49"/>
          <p:cNvSpPr/>
          <p:nvPr/>
        </p:nvSpPr>
        <p:spPr>
          <a:xfrm>
            <a:off x="6279185" y="1975104"/>
            <a:ext cx="134417" cy="134417"/>
          </a:xfrm>
          <a:prstGeom prst="ellipse">
            <a:avLst/>
          </a:prstGeom>
          <a:solidFill>
            <a:srgbClr val="0B3C88"/>
          </a:solidFill>
          <a:ln/>
        </p:spPr>
      </p:sp>
      <p:sp>
        <p:nvSpPr>
          <p:cNvPr id="55" name="Shape 50"/>
          <p:cNvSpPr/>
          <p:nvPr/>
        </p:nvSpPr>
        <p:spPr>
          <a:xfrm>
            <a:off x="4382719" y="1725473"/>
            <a:ext cx="1963217" cy="384048"/>
          </a:xfrm>
          <a:prstGeom prst="rect">
            <a:avLst/>
          </a:prstGeom>
          <a:solidFill>
            <a:srgbClr val="0B3C88"/>
          </a:solidFill>
          <a:ln/>
        </p:spPr>
      </p:sp>
      <p:sp>
        <p:nvSpPr>
          <p:cNvPr id="56" name="Shape 51"/>
          <p:cNvSpPr/>
          <p:nvPr/>
        </p:nvSpPr>
        <p:spPr>
          <a:xfrm>
            <a:off x="4315968" y="1792224"/>
            <a:ext cx="2096719" cy="249631"/>
          </a:xfrm>
          <a:prstGeom prst="rect">
            <a:avLst/>
          </a:prstGeom>
          <a:solidFill>
            <a:srgbClr val="0B3C88"/>
          </a:solidFill>
          <a:ln/>
        </p:spPr>
      </p:sp>
      <p:sp>
        <p:nvSpPr>
          <p:cNvPr id="57" name="Shape 52"/>
          <p:cNvSpPr/>
          <p:nvPr/>
        </p:nvSpPr>
        <p:spPr>
          <a:xfrm>
            <a:off x="4315968" y="1725473"/>
            <a:ext cx="134417" cy="134417"/>
          </a:xfrm>
          <a:prstGeom prst="ellipse">
            <a:avLst/>
          </a:prstGeom>
          <a:solidFill>
            <a:srgbClr val="00337F"/>
          </a:solidFill>
          <a:ln/>
        </p:spPr>
      </p:sp>
      <p:sp>
        <p:nvSpPr>
          <p:cNvPr id="58" name="Shape 53"/>
          <p:cNvSpPr/>
          <p:nvPr/>
        </p:nvSpPr>
        <p:spPr>
          <a:xfrm>
            <a:off x="4547311" y="1725473"/>
            <a:ext cx="134417" cy="134417"/>
          </a:xfrm>
          <a:prstGeom prst="ellipse">
            <a:avLst/>
          </a:prstGeom>
          <a:solidFill>
            <a:srgbClr val="00337F"/>
          </a:solidFill>
          <a:ln/>
        </p:spPr>
      </p:sp>
      <p:sp>
        <p:nvSpPr>
          <p:cNvPr id="59" name="Shape 54"/>
          <p:cNvSpPr/>
          <p:nvPr/>
        </p:nvSpPr>
        <p:spPr>
          <a:xfrm>
            <a:off x="4315968" y="1975104"/>
            <a:ext cx="134417" cy="134417"/>
          </a:xfrm>
          <a:prstGeom prst="ellipse">
            <a:avLst/>
          </a:prstGeom>
          <a:solidFill>
            <a:srgbClr val="00337F"/>
          </a:solidFill>
          <a:ln/>
        </p:spPr>
      </p:sp>
      <p:sp>
        <p:nvSpPr>
          <p:cNvPr id="60" name="Shape 55"/>
          <p:cNvSpPr/>
          <p:nvPr/>
        </p:nvSpPr>
        <p:spPr>
          <a:xfrm>
            <a:off x="4547311" y="1975104"/>
            <a:ext cx="134417" cy="134417"/>
          </a:xfrm>
          <a:prstGeom prst="ellipse">
            <a:avLst/>
          </a:prstGeom>
          <a:solidFill>
            <a:srgbClr val="00337F"/>
          </a:solidFill>
          <a:ln/>
        </p:spPr>
      </p:sp>
      <p:sp>
        <p:nvSpPr>
          <p:cNvPr id="61" name="Shape 56"/>
          <p:cNvSpPr/>
          <p:nvPr/>
        </p:nvSpPr>
        <p:spPr>
          <a:xfrm>
            <a:off x="4382719" y="1725473"/>
            <a:ext cx="231343" cy="384048"/>
          </a:xfrm>
          <a:prstGeom prst="rect">
            <a:avLst/>
          </a:prstGeom>
          <a:solidFill>
            <a:srgbClr val="00337F"/>
          </a:solidFill>
          <a:ln/>
        </p:spPr>
      </p:sp>
      <p:sp>
        <p:nvSpPr>
          <p:cNvPr id="62" name="Shape 57"/>
          <p:cNvSpPr/>
          <p:nvPr/>
        </p:nvSpPr>
        <p:spPr>
          <a:xfrm>
            <a:off x="4315968" y="1792224"/>
            <a:ext cx="365760" cy="249631"/>
          </a:xfrm>
          <a:prstGeom prst="rect">
            <a:avLst/>
          </a:prstGeom>
          <a:solidFill>
            <a:srgbClr val="00337F"/>
          </a:solidFill>
          <a:ln/>
        </p:spPr>
      </p:sp>
      <p:sp>
        <p:nvSpPr>
          <p:cNvPr id="63" name="Text 58"/>
          <p:cNvSpPr/>
          <p:nvPr/>
        </p:nvSpPr>
        <p:spPr>
          <a:xfrm>
            <a:off x="4315968" y="1725473"/>
            <a:ext cx="365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970" b="1" dirty="0">
                <a:solidFill>
                  <a:srgbClr val="FFFFFF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2</a:t>
            </a:r>
            <a:endParaRPr lang="en-US" sz="1970" dirty="0"/>
          </a:p>
        </p:txBody>
      </p:sp>
      <p:sp>
        <p:nvSpPr>
          <p:cNvPr id="64" name="Text 59"/>
          <p:cNvSpPr/>
          <p:nvPr/>
        </p:nvSpPr>
        <p:spPr>
          <a:xfrm>
            <a:off x="4803343" y="1725473"/>
            <a:ext cx="1548079" cy="3840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590" b="1" dirty="0">
                <a:solidFill>
                  <a:srgbClr val="FFFFFF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활용 분야</a:t>
            </a:r>
            <a:pPr algn="l" indent="0" marL="0">
              <a:lnSpc>
                <a:spcPct val="95000"/>
              </a:lnSpc>
              <a:buNone/>
            </a:pPr>
            <a:r>
              <a:rPr lang="en-US" sz="1190" b="1" dirty="0">
                <a:solidFill>
                  <a:srgbClr val="FFFFFF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  (복수응답)</a:t>
            </a:r>
            <a:endParaRPr lang="en-US" sz="1590" dirty="0"/>
          </a:p>
        </p:txBody>
      </p:sp>
      <p:sp>
        <p:nvSpPr>
          <p:cNvPr id="65" name="Text 60"/>
          <p:cNvSpPr/>
          <p:nvPr/>
        </p:nvSpPr>
        <p:spPr>
          <a:xfrm>
            <a:off x="4364431" y="2169871"/>
            <a:ext cx="487741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570" b="1" dirty="0">
                <a:solidFill>
                  <a:srgbClr val="0B3C88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금융과 판매·주문 관리 분야의 활용이 가장 많습니다.</a:t>
            </a:r>
            <a:endParaRPr lang="en-US" sz="1570" dirty="0"/>
          </a:p>
        </p:txBody>
      </p:sp>
      <p:pic>
        <p:nvPicPr>
          <p:cNvPr id="66" name="Image 2" descr="g04-fld1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89120" y="2566721"/>
            <a:ext cx="463601" cy="450799"/>
          </a:xfrm>
          <a:prstGeom prst="rect">
            <a:avLst/>
          </a:prstGeom>
        </p:spPr>
      </p:pic>
      <p:sp>
        <p:nvSpPr>
          <p:cNvPr id="67" name="Text 61"/>
          <p:cNvSpPr/>
          <p:nvPr/>
        </p:nvSpPr>
        <p:spPr>
          <a:xfrm>
            <a:off x="4950562" y="2505456"/>
            <a:ext cx="1170432" cy="2075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520" b="1" dirty="0">
                <a:solidFill>
                  <a:srgbClr val="1A1A1A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금융</a:t>
            </a:r>
            <a:endParaRPr lang="en-US" sz="1520" dirty="0"/>
          </a:p>
        </p:txBody>
      </p:sp>
      <p:sp>
        <p:nvSpPr>
          <p:cNvPr id="68" name="Text 62"/>
          <p:cNvSpPr/>
          <p:nvPr/>
        </p:nvSpPr>
        <p:spPr>
          <a:xfrm>
            <a:off x="4950562" y="2713025"/>
            <a:ext cx="1182319" cy="2807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070" b="1" dirty="0">
                <a:solidFill>
                  <a:srgbClr val="3A3A3A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(간편결제·자금관리 등)</a:t>
            </a:r>
            <a:endParaRPr lang="en-US" sz="1070" dirty="0"/>
          </a:p>
        </p:txBody>
      </p:sp>
      <p:pic>
        <p:nvPicPr>
          <p:cNvPr id="69" name="Image 3" descr="g04-fld2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89120" y="3056839"/>
            <a:ext cx="463601" cy="450799"/>
          </a:xfrm>
          <a:prstGeom prst="rect">
            <a:avLst/>
          </a:prstGeom>
        </p:spPr>
      </p:pic>
      <p:sp>
        <p:nvSpPr>
          <p:cNvPr id="70" name="Text 63"/>
          <p:cNvSpPr/>
          <p:nvPr/>
        </p:nvSpPr>
        <p:spPr>
          <a:xfrm>
            <a:off x="4950562" y="2996489"/>
            <a:ext cx="1170432" cy="2075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280" b="1" dirty="0">
                <a:solidFill>
                  <a:srgbClr val="1A1A1A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판매·주문 관리</a:t>
            </a:r>
            <a:endParaRPr lang="en-US" sz="1280" dirty="0"/>
          </a:p>
        </p:txBody>
      </p:sp>
      <p:sp>
        <p:nvSpPr>
          <p:cNvPr id="71" name="Text 64"/>
          <p:cNvSpPr/>
          <p:nvPr/>
        </p:nvSpPr>
        <p:spPr>
          <a:xfrm>
            <a:off x="4950562" y="3203143"/>
            <a:ext cx="1182319" cy="2807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070" b="1" dirty="0">
                <a:solidFill>
                  <a:srgbClr val="3A3A3A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(POS·키오스크 등)</a:t>
            </a:r>
            <a:endParaRPr lang="en-US" sz="1070" dirty="0"/>
          </a:p>
        </p:txBody>
      </p:sp>
      <p:pic>
        <p:nvPicPr>
          <p:cNvPr id="72" name="Image 4" descr="g04-fld3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89120" y="3547872"/>
            <a:ext cx="463601" cy="450799"/>
          </a:xfrm>
          <a:prstGeom prst="rect">
            <a:avLst/>
          </a:prstGeom>
        </p:spPr>
      </p:pic>
      <p:sp>
        <p:nvSpPr>
          <p:cNvPr id="73" name="Text 65"/>
          <p:cNvSpPr/>
          <p:nvPr/>
        </p:nvSpPr>
        <p:spPr>
          <a:xfrm>
            <a:off x="4950562" y="3486607"/>
            <a:ext cx="1170432" cy="2075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180" b="1" dirty="0">
                <a:solidFill>
                  <a:srgbClr val="1A1A1A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마케팅·고객관리</a:t>
            </a:r>
            <a:endParaRPr lang="en-US" sz="1180" dirty="0"/>
          </a:p>
        </p:txBody>
      </p:sp>
      <p:sp>
        <p:nvSpPr>
          <p:cNvPr id="74" name="Text 66"/>
          <p:cNvSpPr/>
          <p:nvPr/>
        </p:nvSpPr>
        <p:spPr>
          <a:xfrm>
            <a:off x="4950562" y="3694176"/>
            <a:ext cx="1182319" cy="2807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070" b="1" dirty="0">
                <a:solidFill>
                  <a:srgbClr val="3A3A3A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(SNS·CRM 등)</a:t>
            </a:r>
            <a:endParaRPr lang="en-US" sz="1070" dirty="0"/>
          </a:p>
        </p:txBody>
      </p:sp>
      <p:pic>
        <p:nvPicPr>
          <p:cNvPr id="75" name="Image 5" descr="g04-fld4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89120" y="4038905"/>
            <a:ext cx="463601" cy="450799"/>
          </a:xfrm>
          <a:prstGeom prst="rect">
            <a:avLst/>
          </a:prstGeom>
        </p:spPr>
      </p:pic>
      <p:sp>
        <p:nvSpPr>
          <p:cNvPr id="76" name="Text 67"/>
          <p:cNvSpPr/>
          <p:nvPr/>
        </p:nvSpPr>
        <p:spPr>
          <a:xfrm>
            <a:off x="4950562" y="3977640"/>
            <a:ext cx="1170432" cy="2075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280" b="1" dirty="0">
                <a:solidFill>
                  <a:srgbClr val="1A1A1A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생산·공정 관리</a:t>
            </a:r>
            <a:endParaRPr lang="en-US" sz="1280" dirty="0"/>
          </a:p>
        </p:txBody>
      </p:sp>
      <p:sp>
        <p:nvSpPr>
          <p:cNvPr id="77" name="Text 68"/>
          <p:cNvSpPr/>
          <p:nvPr/>
        </p:nvSpPr>
        <p:spPr>
          <a:xfrm>
            <a:off x="4950562" y="4185209"/>
            <a:ext cx="1182319" cy="2807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070" b="1" dirty="0">
                <a:solidFill>
                  <a:srgbClr val="3A3A3A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(스마트 팩토리 등)</a:t>
            </a:r>
            <a:endParaRPr lang="en-US" sz="1070" dirty="0"/>
          </a:p>
        </p:txBody>
      </p:sp>
      <p:pic>
        <p:nvPicPr>
          <p:cNvPr id="78" name="Image 6" descr="g04-fld5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389120" y="4529023"/>
            <a:ext cx="463601" cy="450799"/>
          </a:xfrm>
          <a:prstGeom prst="rect">
            <a:avLst/>
          </a:prstGeom>
        </p:spPr>
      </p:pic>
      <p:sp>
        <p:nvSpPr>
          <p:cNvPr id="79" name="Text 69"/>
          <p:cNvSpPr/>
          <p:nvPr/>
        </p:nvSpPr>
        <p:spPr>
          <a:xfrm>
            <a:off x="4950562" y="4565599"/>
            <a:ext cx="1170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520" b="1" dirty="0">
                <a:solidFill>
                  <a:srgbClr val="1A1A1A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기타</a:t>
            </a:r>
            <a:endParaRPr lang="en-US" sz="1520" dirty="0"/>
          </a:p>
        </p:txBody>
      </p:sp>
      <p:graphicFrame>
        <p:nvGraphicFramePr>
          <p:cNvPr id="80" name="Chart 1" descr=""/>
          <p:cNvGraphicFramePr/>
          <p:nvPr/>
        </p:nvGraphicFramePr>
        <p:xfrm>
          <a:off x="6120994" y="2500884"/>
          <a:ext cx="3170225" cy="2453335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9"/>
          </a:graphicData>
        </a:graphic>
      </p:graphicFrame>
      <p:sp>
        <p:nvSpPr>
          <p:cNvPr id="81" name="Shape 70"/>
          <p:cNvSpPr/>
          <p:nvPr/>
        </p:nvSpPr>
        <p:spPr>
          <a:xfrm>
            <a:off x="219456" y="5187391"/>
            <a:ext cx="267919" cy="267919"/>
          </a:xfrm>
          <a:prstGeom prst="ellipse">
            <a:avLst/>
          </a:prstGeom>
          <a:solidFill>
            <a:srgbClr val="FFFFFF"/>
          </a:solidFill>
          <a:ln w="9525">
            <a:solidFill>
              <a:srgbClr val="D8E5F2"/>
            </a:solidFill>
            <a:prstDash val="solid"/>
          </a:ln>
        </p:spPr>
      </p:sp>
      <p:sp>
        <p:nvSpPr>
          <p:cNvPr id="82" name="Shape 71"/>
          <p:cNvSpPr/>
          <p:nvPr/>
        </p:nvSpPr>
        <p:spPr>
          <a:xfrm>
            <a:off x="3023921" y="5187391"/>
            <a:ext cx="267919" cy="267919"/>
          </a:xfrm>
          <a:prstGeom prst="ellipse">
            <a:avLst/>
          </a:prstGeom>
          <a:solidFill>
            <a:srgbClr val="FFFFFF"/>
          </a:solidFill>
          <a:ln w="9525">
            <a:solidFill>
              <a:srgbClr val="D8E5F2"/>
            </a:solidFill>
            <a:prstDash val="solid"/>
          </a:ln>
        </p:spPr>
      </p:sp>
      <p:sp>
        <p:nvSpPr>
          <p:cNvPr id="83" name="Shape 72"/>
          <p:cNvSpPr/>
          <p:nvPr/>
        </p:nvSpPr>
        <p:spPr>
          <a:xfrm>
            <a:off x="219456" y="8193024"/>
            <a:ext cx="267919" cy="267919"/>
          </a:xfrm>
          <a:prstGeom prst="ellipse">
            <a:avLst/>
          </a:prstGeom>
          <a:solidFill>
            <a:srgbClr val="FFFFFF"/>
          </a:solidFill>
          <a:ln w="9525">
            <a:solidFill>
              <a:srgbClr val="D8E5F2"/>
            </a:solidFill>
            <a:prstDash val="solid"/>
          </a:ln>
        </p:spPr>
      </p:sp>
      <p:sp>
        <p:nvSpPr>
          <p:cNvPr id="84" name="Shape 73"/>
          <p:cNvSpPr/>
          <p:nvPr/>
        </p:nvSpPr>
        <p:spPr>
          <a:xfrm>
            <a:off x="3023921" y="8193024"/>
            <a:ext cx="267919" cy="267919"/>
          </a:xfrm>
          <a:prstGeom prst="ellipse">
            <a:avLst/>
          </a:prstGeom>
          <a:solidFill>
            <a:srgbClr val="FFFFFF"/>
          </a:solidFill>
          <a:ln w="9525">
            <a:solidFill>
              <a:srgbClr val="D8E5F2"/>
            </a:solidFill>
            <a:prstDash val="solid"/>
          </a:ln>
        </p:spPr>
      </p:sp>
      <p:sp>
        <p:nvSpPr>
          <p:cNvPr id="85" name="Shape 74"/>
          <p:cNvSpPr/>
          <p:nvPr/>
        </p:nvSpPr>
        <p:spPr>
          <a:xfrm>
            <a:off x="353873" y="5187391"/>
            <a:ext cx="2804465" cy="3273552"/>
          </a:xfrm>
          <a:prstGeom prst="rect">
            <a:avLst/>
          </a:prstGeom>
          <a:solidFill>
            <a:srgbClr val="FFFFFF"/>
          </a:solidFill>
          <a:ln w="9525">
            <a:solidFill>
              <a:srgbClr val="D8E5F2"/>
            </a:solidFill>
            <a:prstDash val="solid"/>
          </a:ln>
        </p:spPr>
      </p:sp>
      <p:sp>
        <p:nvSpPr>
          <p:cNvPr id="86" name="Shape 75"/>
          <p:cNvSpPr/>
          <p:nvPr/>
        </p:nvSpPr>
        <p:spPr>
          <a:xfrm>
            <a:off x="219456" y="5321808"/>
            <a:ext cx="3072384" cy="3005633"/>
          </a:xfrm>
          <a:prstGeom prst="rect">
            <a:avLst/>
          </a:prstGeom>
          <a:solidFill>
            <a:srgbClr val="FFFFFF"/>
          </a:solidFill>
          <a:ln w="9525">
            <a:solidFill>
              <a:srgbClr val="D8E5F2"/>
            </a:solidFill>
            <a:prstDash val="solid"/>
          </a:ln>
        </p:spPr>
      </p:sp>
      <p:sp>
        <p:nvSpPr>
          <p:cNvPr id="87" name="Shape 76"/>
          <p:cNvSpPr/>
          <p:nvPr/>
        </p:nvSpPr>
        <p:spPr>
          <a:xfrm>
            <a:off x="353873" y="5196535"/>
            <a:ext cx="2804465" cy="325526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8" name="Shape 77"/>
          <p:cNvSpPr/>
          <p:nvPr/>
        </p:nvSpPr>
        <p:spPr>
          <a:xfrm>
            <a:off x="228600" y="5321808"/>
            <a:ext cx="3054096" cy="3005633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9" name="Shape 78"/>
          <p:cNvSpPr/>
          <p:nvPr/>
        </p:nvSpPr>
        <p:spPr>
          <a:xfrm>
            <a:off x="3401568" y="5187391"/>
            <a:ext cx="267919" cy="267919"/>
          </a:xfrm>
          <a:prstGeom prst="ellipse">
            <a:avLst/>
          </a:prstGeom>
          <a:solidFill>
            <a:srgbClr val="FFFFFF"/>
          </a:solidFill>
          <a:ln w="9525">
            <a:solidFill>
              <a:srgbClr val="D8E5F2"/>
            </a:solidFill>
            <a:prstDash val="solid"/>
          </a:ln>
        </p:spPr>
      </p:sp>
      <p:sp>
        <p:nvSpPr>
          <p:cNvPr id="90" name="Shape 79"/>
          <p:cNvSpPr/>
          <p:nvPr/>
        </p:nvSpPr>
        <p:spPr>
          <a:xfrm>
            <a:off x="6011266" y="5187391"/>
            <a:ext cx="267919" cy="267919"/>
          </a:xfrm>
          <a:prstGeom prst="ellipse">
            <a:avLst/>
          </a:prstGeom>
          <a:solidFill>
            <a:srgbClr val="FFFFFF"/>
          </a:solidFill>
          <a:ln w="9525">
            <a:solidFill>
              <a:srgbClr val="D8E5F2"/>
            </a:solidFill>
            <a:prstDash val="solid"/>
          </a:ln>
        </p:spPr>
      </p:sp>
      <p:sp>
        <p:nvSpPr>
          <p:cNvPr id="91" name="Shape 80"/>
          <p:cNvSpPr/>
          <p:nvPr/>
        </p:nvSpPr>
        <p:spPr>
          <a:xfrm>
            <a:off x="3401568" y="8193024"/>
            <a:ext cx="267919" cy="267919"/>
          </a:xfrm>
          <a:prstGeom prst="ellipse">
            <a:avLst/>
          </a:prstGeom>
          <a:solidFill>
            <a:srgbClr val="FFFFFF"/>
          </a:solidFill>
          <a:ln w="9525">
            <a:solidFill>
              <a:srgbClr val="D8E5F2"/>
            </a:solidFill>
            <a:prstDash val="solid"/>
          </a:ln>
        </p:spPr>
      </p:sp>
      <p:sp>
        <p:nvSpPr>
          <p:cNvPr id="92" name="Shape 81"/>
          <p:cNvSpPr/>
          <p:nvPr/>
        </p:nvSpPr>
        <p:spPr>
          <a:xfrm>
            <a:off x="6011266" y="8193024"/>
            <a:ext cx="267919" cy="267919"/>
          </a:xfrm>
          <a:prstGeom prst="ellipse">
            <a:avLst/>
          </a:prstGeom>
          <a:solidFill>
            <a:srgbClr val="FFFFFF"/>
          </a:solidFill>
          <a:ln w="9525">
            <a:solidFill>
              <a:srgbClr val="D8E5F2"/>
            </a:solidFill>
            <a:prstDash val="solid"/>
          </a:ln>
        </p:spPr>
      </p:sp>
      <p:sp>
        <p:nvSpPr>
          <p:cNvPr id="93" name="Shape 82"/>
          <p:cNvSpPr/>
          <p:nvPr/>
        </p:nvSpPr>
        <p:spPr>
          <a:xfrm>
            <a:off x="3535985" y="5187391"/>
            <a:ext cx="2608783" cy="3273552"/>
          </a:xfrm>
          <a:prstGeom prst="rect">
            <a:avLst/>
          </a:prstGeom>
          <a:solidFill>
            <a:srgbClr val="FFFFFF"/>
          </a:solidFill>
          <a:ln w="9525">
            <a:solidFill>
              <a:srgbClr val="D8E5F2"/>
            </a:solidFill>
            <a:prstDash val="solid"/>
          </a:ln>
        </p:spPr>
      </p:sp>
      <p:sp>
        <p:nvSpPr>
          <p:cNvPr id="94" name="Shape 83"/>
          <p:cNvSpPr/>
          <p:nvPr/>
        </p:nvSpPr>
        <p:spPr>
          <a:xfrm>
            <a:off x="3401568" y="5321808"/>
            <a:ext cx="2877617" cy="3005633"/>
          </a:xfrm>
          <a:prstGeom prst="rect">
            <a:avLst/>
          </a:prstGeom>
          <a:solidFill>
            <a:srgbClr val="FFFFFF"/>
          </a:solidFill>
          <a:ln w="9525">
            <a:solidFill>
              <a:srgbClr val="D8E5F2"/>
            </a:solidFill>
            <a:prstDash val="solid"/>
          </a:ln>
        </p:spPr>
      </p:sp>
      <p:sp>
        <p:nvSpPr>
          <p:cNvPr id="95" name="Shape 84"/>
          <p:cNvSpPr/>
          <p:nvPr/>
        </p:nvSpPr>
        <p:spPr>
          <a:xfrm>
            <a:off x="3535985" y="5196535"/>
            <a:ext cx="2608783" cy="325526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6" name="Shape 85"/>
          <p:cNvSpPr/>
          <p:nvPr/>
        </p:nvSpPr>
        <p:spPr>
          <a:xfrm>
            <a:off x="3410712" y="5321808"/>
            <a:ext cx="2859329" cy="3005633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7" name="Shape 86"/>
          <p:cNvSpPr/>
          <p:nvPr/>
        </p:nvSpPr>
        <p:spPr>
          <a:xfrm>
            <a:off x="6382512" y="5187391"/>
            <a:ext cx="267919" cy="267919"/>
          </a:xfrm>
          <a:prstGeom prst="ellipse">
            <a:avLst/>
          </a:prstGeom>
          <a:solidFill>
            <a:srgbClr val="FFFFFF"/>
          </a:solidFill>
          <a:ln w="9525">
            <a:solidFill>
              <a:srgbClr val="D8E5F2"/>
            </a:solidFill>
            <a:prstDash val="solid"/>
          </a:ln>
        </p:spPr>
      </p:sp>
      <p:sp>
        <p:nvSpPr>
          <p:cNvPr id="98" name="Shape 87"/>
          <p:cNvSpPr/>
          <p:nvPr/>
        </p:nvSpPr>
        <p:spPr>
          <a:xfrm>
            <a:off x="9162288" y="5187391"/>
            <a:ext cx="267919" cy="267919"/>
          </a:xfrm>
          <a:prstGeom prst="ellipse">
            <a:avLst/>
          </a:prstGeom>
          <a:solidFill>
            <a:srgbClr val="FFFFFF"/>
          </a:solidFill>
          <a:ln w="9525">
            <a:solidFill>
              <a:srgbClr val="D8E5F2"/>
            </a:solidFill>
            <a:prstDash val="solid"/>
          </a:ln>
        </p:spPr>
      </p:sp>
      <p:sp>
        <p:nvSpPr>
          <p:cNvPr id="99" name="Shape 88"/>
          <p:cNvSpPr/>
          <p:nvPr/>
        </p:nvSpPr>
        <p:spPr>
          <a:xfrm>
            <a:off x="6382512" y="8193024"/>
            <a:ext cx="267919" cy="267919"/>
          </a:xfrm>
          <a:prstGeom prst="ellipse">
            <a:avLst/>
          </a:prstGeom>
          <a:solidFill>
            <a:srgbClr val="FFFFFF"/>
          </a:solidFill>
          <a:ln w="9525">
            <a:solidFill>
              <a:srgbClr val="D8E5F2"/>
            </a:solidFill>
            <a:prstDash val="solid"/>
          </a:ln>
        </p:spPr>
      </p:sp>
      <p:sp>
        <p:nvSpPr>
          <p:cNvPr id="100" name="Shape 89"/>
          <p:cNvSpPr/>
          <p:nvPr/>
        </p:nvSpPr>
        <p:spPr>
          <a:xfrm>
            <a:off x="9162288" y="8193024"/>
            <a:ext cx="267919" cy="267919"/>
          </a:xfrm>
          <a:prstGeom prst="ellipse">
            <a:avLst/>
          </a:prstGeom>
          <a:solidFill>
            <a:srgbClr val="FFFFFF"/>
          </a:solidFill>
          <a:ln w="9525">
            <a:solidFill>
              <a:srgbClr val="D8E5F2"/>
            </a:solidFill>
            <a:prstDash val="solid"/>
          </a:ln>
        </p:spPr>
      </p:sp>
      <p:sp>
        <p:nvSpPr>
          <p:cNvPr id="101" name="Shape 90"/>
          <p:cNvSpPr/>
          <p:nvPr/>
        </p:nvSpPr>
        <p:spPr>
          <a:xfrm>
            <a:off x="6516929" y="5187391"/>
            <a:ext cx="2779776" cy="3273552"/>
          </a:xfrm>
          <a:prstGeom prst="rect">
            <a:avLst/>
          </a:prstGeom>
          <a:solidFill>
            <a:srgbClr val="FFFFFF"/>
          </a:solidFill>
          <a:ln w="9525">
            <a:solidFill>
              <a:srgbClr val="D8E5F2"/>
            </a:solidFill>
            <a:prstDash val="solid"/>
          </a:ln>
        </p:spPr>
      </p:sp>
      <p:sp>
        <p:nvSpPr>
          <p:cNvPr id="102" name="Shape 91"/>
          <p:cNvSpPr/>
          <p:nvPr/>
        </p:nvSpPr>
        <p:spPr>
          <a:xfrm>
            <a:off x="6382512" y="5321808"/>
            <a:ext cx="3047695" cy="3005633"/>
          </a:xfrm>
          <a:prstGeom prst="rect">
            <a:avLst/>
          </a:prstGeom>
          <a:solidFill>
            <a:srgbClr val="FFFFFF"/>
          </a:solidFill>
          <a:ln w="9525">
            <a:solidFill>
              <a:srgbClr val="D8E5F2"/>
            </a:solidFill>
            <a:prstDash val="solid"/>
          </a:ln>
        </p:spPr>
      </p:sp>
      <p:sp>
        <p:nvSpPr>
          <p:cNvPr id="103" name="Shape 92"/>
          <p:cNvSpPr/>
          <p:nvPr/>
        </p:nvSpPr>
        <p:spPr>
          <a:xfrm>
            <a:off x="6516929" y="5196535"/>
            <a:ext cx="2779776" cy="325526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4" name="Shape 93"/>
          <p:cNvSpPr/>
          <p:nvPr/>
        </p:nvSpPr>
        <p:spPr>
          <a:xfrm>
            <a:off x="6391656" y="5321808"/>
            <a:ext cx="3029407" cy="3005633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5" name="Shape 94"/>
          <p:cNvSpPr/>
          <p:nvPr/>
        </p:nvSpPr>
        <p:spPr>
          <a:xfrm>
            <a:off x="347472" y="5218481"/>
            <a:ext cx="134417" cy="134417"/>
          </a:xfrm>
          <a:prstGeom prst="ellipse">
            <a:avLst/>
          </a:prstGeom>
          <a:solidFill>
            <a:srgbClr val="0B3C88"/>
          </a:solidFill>
          <a:ln/>
        </p:spPr>
      </p:sp>
      <p:sp>
        <p:nvSpPr>
          <p:cNvPr id="106" name="Shape 95"/>
          <p:cNvSpPr/>
          <p:nvPr/>
        </p:nvSpPr>
        <p:spPr>
          <a:xfrm>
            <a:off x="2566721" y="5218481"/>
            <a:ext cx="134417" cy="134417"/>
          </a:xfrm>
          <a:prstGeom prst="ellipse">
            <a:avLst/>
          </a:prstGeom>
          <a:solidFill>
            <a:srgbClr val="0B3C88"/>
          </a:solidFill>
          <a:ln/>
        </p:spPr>
      </p:sp>
      <p:sp>
        <p:nvSpPr>
          <p:cNvPr id="107" name="Shape 96"/>
          <p:cNvSpPr/>
          <p:nvPr/>
        </p:nvSpPr>
        <p:spPr>
          <a:xfrm>
            <a:off x="347472" y="5468112"/>
            <a:ext cx="134417" cy="134417"/>
          </a:xfrm>
          <a:prstGeom prst="ellipse">
            <a:avLst/>
          </a:prstGeom>
          <a:solidFill>
            <a:srgbClr val="0B3C88"/>
          </a:solidFill>
          <a:ln/>
        </p:spPr>
      </p:sp>
      <p:sp>
        <p:nvSpPr>
          <p:cNvPr id="108" name="Shape 97"/>
          <p:cNvSpPr/>
          <p:nvPr/>
        </p:nvSpPr>
        <p:spPr>
          <a:xfrm>
            <a:off x="2566721" y="5468112"/>
            <a:ext cx="134417" cy="134417"/>
          </a:xfrm>
          <a:prstGeom prst="ellipse">
            <a:avLst/>
          </a:prstGeom>
          <a:solidFill>
            <a:srgbClr val="0B3C88"/>
          </a:solidFill>
          <a:ln/>
        </p:spPr>
      </p:sp>
      <p:sp>
        <p:nvSpPr>
          <p:cNvPr id="109" name="Shape 98"/>
          <p:cNvSpPr/>
          <p:nvPr/>
        </p:nvSpPr>
        <p:spPr>
          <a:xfrm>
            <a:off x="414223" y="5218481"/>
            <a:ext cx="2219249" cy="384048"/>
          </a:xfrm>
          <a:prstGeom prst="rect">
            <a:avLst/>
          </a:prstGeom>
          <a:solidFill>
            <a:srgbClr val="0B3C88"/>
          </a:solidFill>
          <a:ln/>
        </p:spPr>
      </p:sp>
      <p:sp>
        <p:nvSpPr>
          <p:cNvPr id="110" name="Shape 99"/>
          <p:cNvSpPr/>
          <p:nvPr/>
        </p:nvSpPr>
        <p:spPr>
          <a:xfrm>
            <a:off x="347472" y="5285232"/>
            <a:ext cx="2352751" cy="249631"/>
          </a:xfrm>
          <a:prstGeom prst="rect">
            <a:avLst/>
          </a:prstGeom>
          <a:solidFill>
            <a:srgbClr val="0B3C88"/>
          </a:solidFill>
          <a:ln/>
        </p:spPr>
      </p:sp>
      <p:sp>
        <p:nvSpPr>
          <p:cNvPr id="111" name="Shape 100"/>
          <p:cNvSpPr/>
          <p:nvPr/>
        </p:nvSpPr>
        <p:spPr>
          <a:xfrm>
            <a:off x="347472" y="5218481"/>
            <a:ext cx="134417" cy="134417"/>
          </a:xfrm>
          <a:prstGeom prst="ellipse">
            <a:avLst/>
          </a:prstGeom>
          <a:solidFill>
            <a:srgbClr val="00337F"/>
          </a:solidFill>
          <a:ln/>
        </p:spPr>
      </p:sp>
      <p:sp>
        <p:nvSpPr>
          <p:cNvPr id="112" name="Shape 101"/>
          <p:cNvSpPr/>
          <p:nvPr/>
        </p:nvSpPr>
        <p:spPr>
          <a:xfrm>
            <a:off x="578815" y="5218481"/>
            <a:ext cx="134417" cy="134417"/>
          </a:xfrm>
          <a:prstGeom prst="ellipse">
            <a:avLst/>
          </a:prstGeom>
          <a:solidFill>
            <a:srgbClr val="00337F"/>
          </a:solidFill>
          <a:ln/>
        </p:spPr>
      </p:sp>
      <p:sp>
        <p:nvSpPr>
          <p:cNvPr id="113" name="Shape 102"/>
          <p:cNvSpPr/>
          <p:nvPr/>
        </p:nvSpPr>
        <p:spPr>
          <a:xfrm>
            <a:off x="347472" y="5468112"/>
            <a:ext cx="134417" cy="134417"/>
          </a:xfrm>
          <a:prstGeom prst="ellipse">
            <a:avLst/>
          </a:prstGeom>
          <a:solidFill>
            <a:srgbClr val="00337F"/>
          </a:solidFill>
          <a:ln/>
        </p:spPr>
      </p:sp>
      <p:sp>
        <p:nvSpPr>
          <p:cNvPr id="114" name="Shape 103"/>
          <p:cNvSpPr/>
          <p:nvPr/>
        </p:nvSpPr>
        <p:spPr>
          <a:xfrm>
            <a:off x="578815" y="5468112"/>
            <a:ext cx="134417" cy="134417"/>
          </a:xfrm>
          <a:prstGeom prst="ellipse">
            <a:avLst/>
          </a:prstGeom>
          <a:solidFill>
            <a:srgbClr val="00337F"/>
          </a:solidFill>
          <a:ln/>
        </p:spPr>
      </p:sp>
      <p:sp>
        <p:nvSpPr>
          <p:cNvPr id="115" name="Shape 104"/>
          <p:cNvSpPr/>
          <p:nvPr/>
        </p:nvSpPr>
        <p:spPr>
          <a:xfrm>
            <a:off x="414223" y="5218481"/>
            <a:ext cx="231343" cy="384048"/>
          </a:xfrm>
          <a:prstGeom prst="rect">
            <a:avLst/>
          </a:prstGeom>
          <a:solidFill>
            <a:srgbClr val="00337F"/>
          </a:solidFill>
          <a:ln/>
        </p:spPr>
      </p:sp>
      <p:sp>
        <p:nvSpPr>
          <p:cNvPr id="116" name="Shape 105"/>
          <p:cNvSpPr/>
          <p:nvPr/>
        </p:nvSpPr>
        <p:spPr>
          <a:xfrm>
            <a:off x="347472" y="5285232"/>
            <a:ext cx="365760" cy="249631"/>
          </a:xfrm>
          <a:prstGeom prst="rect">
            <a:avLst/>
          </a:prstGeom>
          <a:solidFill>
            <a:srgbClr val="00337F"/>
          </a:solidFill>
          <a:ln/>
        </p:spPr>
      </p:sp>
      <p:sp>
        <p:nvSpPr>
          <p:cNvPr id="117" name="Text 106"/>
          <p:cNvSpPr/>
          <p:nvPr/>
        </p:nvSpPr>
        <p:spPr>
          <a:xfrm>
            <a:off x="347472" y="5218481"/>
            <a:ext cx="365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970" b="1" dirty="0">
                <a:solidFill>
                  <a:srgbClr val="FFFFFF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3</a:t>
            </a:r>
            <a:endParaRPr lang="en-US" sz="1970" dirty="0"/>
          </a:p>
        </p:txBody>
      </p:sp>
      <p:sp>
        <p:nvSpPr>
          <p:cNvPr id="118" name="Text 107"/>
          <p:cNvSpPr/>
          <p:nvPr/>
        </p:nvSpPr>
        <p:spPr>
          <a:xfrm>
            <a:off x="834847" y="5218481"/>
            <a:ext cx="1804111" cy="3840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510" b="1" dirty="0">
                <a:solidFill>
                  <a:srgbClr val="FFFFFF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도입 효과</a:t>
            </a:r>
            <a:pPr algn="l" indent="0" marL="0">
              <a:lnSpc>
                <a:spcPct val="95000"/>
              </a:lnSpc>
              <a:buNone/>
            </a:pPr>
            <a:r>
              <a:rPr lang="en-US" sz="1130" b="1" dirty="0">
                <a:solidFill>
                  <a:srgbClr val="FFFFFF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  (7점 척도 평균)</a:t>
            </a:r>
            <a:endParaRPr lang="en-US" sz="1510" dirty="0"/>
          </a:p>
        </p:txBody>
      </p:sp>
      <p:sp>
        <p:nvSpPr>
          <p:cNvPr id="119" name="Shape 108"/>
          <p:cNvSpPr/>
          <p:nvPr/>
        </p:nvSpPr>
        <p:spPr>
          <a:xfrm>
            <a:off x="3523183" y="5236769"/>
            <a:ext cx="134417" cy="134417"/>
          </a:xfrm>
          <a:prstGeom prst="ellipse">
            <a:avLst/>
          </a:prstGeom>
          <a:solidFill>
            <a:srgbClr val="0B3C88"/>
          </a:solidFill>
          <a:ln/>
        </p:spPr>
      </p:sp>
      <p:sp>
        <p:nvSpPr>
          <p:cNvPr id="120" name="Shape 109"/>
          <p:cNvSpPr/>
          <p:nvPr/>
        </p:nvSpPr>
        <p:spPr>
          <a:xfrm>
            <a:off x="6035040" y="5236769"/>
            <a:ext cx="134417" cy="134417"/>
          </a:xfrm>
          <a:prstGeom prst="ellipse">
            <a:avLst/>
          </a:prstGeom>
          <a:solidFill>
            <a:srgbClr val="0B3C88"/>
          </a:solidFill>
          <a:ln/>
        </p:spPr>
      </p:sp>
      <p:sp>
        <p:nvSpPr>
          <p:cNvPr id="121" name="Shape 110"/>
          <p:cNvSpPr/>
          <p:nvPr/>
        </p:nvSpPr>
        <p:spPr>
          <a:xfrm>
            <a:off x="3523183" y="5486400"/>
            <a:ext cx="134417" cy="134417"/>
          </a:xfrm>
          <a:prstGeom prst="ellipse">
            <a:avLst/>
          </a:prstGeom>
          <a:solidFill>
            <a:srgbClr val="0B3C88"/>
          </a:solidFill>
          <a:ln/>
        </p:spPr>
      </p:sp>
      <p:sp>
        <p:nvSpPr>
          <p:cNvPr id="122" name="Shape 111"/>
          <p:cNvSpPr/>
          <p:nvPr/>
        </p:nvSpPr>
        <p:spPr>
          <a:xfrm>
            <a:off x="6035040" y="5486400"/>
            <a:ext cx="134417" cy="134417"/>
          </a:xfrm>
          <a:prstGeom prst="ellipse">
            <a:avLst/>
          </a:prstGeom>
          <a:solidFill>
            <a:srgbClr val="0B3C88"/>
          </a:solidFill>
          <a:ln/>
        </p:spPr>
      </p:sp>
      <p:sp>
        <p:nvSpPr>
          <p:cNvPr id="123" name="Shape 112"/>
          <p:cNvSpPr/>
          <p:nvPr/>
        </p:nvSpPr>
        <p:spPr>
          <a:xfrm>
            <a:off x="3590849" y="5236769"/>
            <a:ext cx="2511857" cy="384048"/>
          </a:xfrm>
          <a:prstGeom prst="rect">
            <a:avLst/>
          </a:prstGeom>
          <a:solidFill>
            <a:srgbClr val="0B3C88"/>
          </a:solidFill>
          <a:ln/>
        </p:spPr>
      </p:sp>
      <p:sp>
        <p:nvSpPr>
          <p:cNvPr id="124" name="Shape 113"/>
          <p:cNvSpPr/>
          <p:nvPr/>
        </p:nvSpPr>
        <p:spPr>
          <a:xfrm>
            <a:off x="3523183" y="5303520"/>
            <a:ext cx="2645359" cy="249631"/>
          </a:xfrm>
          <a:prstGeom prst="rect">
            <a:avLst/>
          </a:prstGeom>
          <a:solidFill>
            <a:srgbClr val="0B3C88"/>
          </a:solidFill>
          <a:ln/>
        </p:spPr>
      </p:sp>
      <p:sp>
        <p:nvSpPr>
          <p:cNvPr id="125" name="Shape 114"/>
          <p:cNvSpPr/>
          <p:nvPr/>
        </p:nvSpPr>
        <p:spPr>
          <a:xfrm>
            <a:off x="3523183" y="5236769"/>
            <a:ext cx="134417" cy="134417"/>
          </a:xfrm>
          <a:prstGeom prst="ellipse">
            <a:avLst/>
          </a:prstGeom>
          <a:solidFill>
            <a:srgbClr val="00337F"/>
          </a:solidFill>
          <a:ln/>
        </p:spPr>
      </p:sp>
      <p:sp>
        <p:nvSpPr>
          <p:cNvPr id="126" name="Shape 115"/>
          <p:cNvSpPr/>
          <p:nvPr/>
        </p:nvSpPr>
        <p:spPr>
          <a:xfrm>
            <a:off x="3755441" y="5236769"/>
            <a:ext cx="134417" cy="134417"/>
          </a:xfrm>
          <a:prstGeom prst="ellipse">
            <a:avLst/>
          </a:prstGeom>
          <a:solidFill>
            <a:srgbClr val="00337F"/>
          </a:solidFill>
          <a:ln/>
        </p:spPr>
      </p:sp>
      <p:sp>
        <p:nvSpPr>
          <p:cNvPr id="127" name="Shape 116"/>
          <p:cNvSpPr/>
          <p:nvPr/>
        </p:nvSpPr>
        <p:spPr>
          <a:xfrm>
            <a:off x="3523183" y="5486400"/>
            <a:ext cx="134417" cy="134417"/>
          </a:xfrm>
          <a:prstGeom prst="ellipse">
            <a:avLst/>
          </a:prstGeom>
          <a:solidFill>
            <a:srgbClr val="00337F"/>
          </a:solidFill>
          <a:ln/>
        </p:spPr>
      </p:sp>
      <p:sp>
        <p:nvSpPr>
          <p:cNvPr id="128" name="Shape 117"/>
          <p:cNvSpPr/>
          <p:nvPr/>
        </p:nvSpPr>
        <p:spPr>
          <a:xfrm>
            <a:off x="3755441" y="5486400"/>
            <a:ext cx="134417" cy="134417"/>
          </a:xfrm>
          <a:prstGeom prst="ellipse">
            <a:avLst/>
          </a:prstGeom>
          <a:solidFill>
            <a:srgbClr val="00337F"/>
          </a:solidFill>
          <a:ln/>
        </p:spPr>
      </p:sp>
      <p:sp>
        <p:nvSpPr>
          <p:cNvPr id="129" name="Shape 118"/>
          <p:cNvSpPr/>
          <p:nvPr/>
        </p:nvSpPr>
        <p:spPr>
          <a:xfrm>
            <a:off x="3590849" y="5236769"/>
            <a:ext cx="231343" cy="384048"/>
          </a:xfrm>
          <a:prstGeom prst="rect">
            <a:avLst/>
          </a:prstGeom>
          <a:solidFill>
            <a:srgbClr val="00337F"/>
          </a:solidFill>
          <a:ln/>
        </p:spPr>
      </p:sp>
      <p:sp>
        <p:nvSpPr>
          <p:cNvPr id="130" name="Shape 119"/>
          <p:cNvSpPr/>
          <p:nvPr/>
        </p:nvSpPr>
        <p:spPr>
          <a:xfrm>
            <a:off x="3523183" y="5303520"/>
            <a:ext cx="365760" cy="249631"/>
          </a:xfrm>
          <a:prstGeom prst="rect">
            <a:avLst/>
          </a:prstGeom>
          <a:solidFill>
            <a:srgbClr val="00337F"/>
          </a:solidFill>
          <a:ln/>
        </p:spPr>
      </p:sp>
      <p:sp>
        <p:nvSpPr>
          <p:cNvPr id="131" name="Text 120"/>
          <p:cNvSpPr/>
          <p:nvPr/>
        </p:nvSpPr>
        <p:spPr>
          <a:xfrm>
            <a:off x="3523183" y="5236769"/>
            <a:ext cx="365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970" b="1" dirty="0">
                <a:solidFill>
                  <a:srgbClr val="FFFFFF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4</a:t>
            </a:r>
            <a:endParaRPr lang="en-US" sz="1970" dirty="0"/>
          </a:p>
        </p:txBody>
      </p:sp>
      <p:sp>
        <p:nvSpPr>
          <p:cNvPr id="132" name="Text 121"/>
          <p:cNvSpPr/>
          <p:nvPr/>
        </p:nvSpPr>
        <p:spPr>
          <a:xfrm>
            <a:off x="4011473" y="5236769"/>
            <a:ext cx="2096719" cy="3840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390" b="1" dirty="0">
                <a:solidFill>
                  <a:srgbClr val="FFFFFF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도입의 가장 큰 어려움</a:t>
            </a:r>
            <a:pPr algn="l" indent="0" marL="0">
              <a:lnSpc>
                <a:spcPct val="95000"/>
              </a:lnSpc>
              <a:buNone/>
            </a:pPr>
            <a:r>
              <a:rPr lang="en-US" sz="1040" b="1" dirty="0">
                <a:solidFill>
                  <a:srgbClr val="FFFFFF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  (1순위)</a:t>
            </a:r>
            <a:endParaRPr lang="en-US" sz="1390" dirty="0"/>
          </a:p>
        </p:txBody>
      </p:sp>
      <p:sp>
        <p:nvSpPr>
          <p:cNvPr id="133" name="Shape 122"/>
          <p:cNvSpPr/>
          <p:nvPr/>
        </p:nvSpPr>
        <p:spPr>
          <a:xfrm>
            <a:off x="6468466" y="5236769"/>
            <a:ext cx="134417" cy="134417"/>
          </a:xfrm>
          <a:prstGeom prst="ellipse">
            <a:avLst/>
          </a:prstGeom>
          <a:solidFill>
            <a:srgbClr val="0B3C88"/>
          </a:solidFill>
          <a:ln/>
        </p:spPr>
      </p:sp>
      <p:sp>
        <p:nvSpPr>
          <p:cNvPr id="134" name="Shape 123"/>
          <p:cNvSpPr/>
          <p:nvPr/>
        </p:nvSpPr>
        <p:spPr>
          <a:xfrm>
            <a:off x="9156802" y="5236769"/>
            <a:ext cx="134417" cy="134417"/>
          </a:xfrm>
          <a:prstGeom prst="ellipse">
            <a:avLst/>
          </a:prstGeom>
          <a:solidFill>
            <a:srgbClr val="0B3C88"/>
          </a:solidFill>
          <a:ln/>
        </p:spPr>
      </p:sp>
      <p:sp>
        <p:nvSpPr>
          <p:cNvPr id="135" name="Shape 124"/>
          <p:cNvSpPr/>
          <p:nvPr/>
        </p:nvSpPr>
        <p:spPr>
          <a:xfrm>
            <a:off x="6468466" y="5486400"/>
            <a:ext cx="134417" cy="134417"/>
          </a:xfrm>
          <a:prstGeom prst="ellipse">
            <a:avLst/>
          </a:prstGeom>
          <a:solidFill>
            <a:srgbClr val="0B3C88"/>
          </a:solidFill>
          <a:ln/>
        </p:spPr>
      </p:sp>
      <p:sp>
        <p:nvSpPr>
          <p:cNvPr id="136" name="Shape 125"/>
          <p:cNvSpPr/>
          <p:nvPr/>
        </p:nvSpPr>
        <p:spPr>
          <a:xfrm>
            <a:off x="9156802" y="5486400"/>
            <a:ext cx="134417" cy="134417"/>
          </a:xfrm>
          <a:prstGeom prst="ellipse">
            <a:avLst/>
          </a:prstGeom>
          <a:solidFill>
            <a:srgbClr val="0B3C88"/>
          </a:solidFill>
          <a:ln/>
        </p:spPr>
      </p:sp>
      <p:sp>
        <p:nvSpPr>
          <p:cNvPr id="137" name="Shape 126"/>
          <p:cNvSpPr/>
          <p:nvPr/>
        </p:nvSpPr>
        <p:spPr>
          <a:xfrm>
            <a:off x="6535217" y="5236769"/>
            <a:ext cx="2688336" cy="384048"/>
          </a:xfrm>
          <a:prstGeom prst="rect">
            <a:avLst/>
          </a:prstGeom>
          <a:solidFill>
            <a:srgbClr val="0B3C88"/>
          </a:solidFill>
          <a:ln/>
        </p:spPr>
      </p:sp>
      <p:sp>
        <p:nvSpPr>
          <p:cNvPr id="138" name="Shape 127"/>
          <p:cNvSpPr/>
          <p:nvPr/>
        </p:nvSpPr>
        <p:spPr>
          <a:xfrm>
            <a:off x="6468466" y="5303520"/>
            <a:ext cx="2822753" cy="249631"/>
          </a:xfrm>
          <a:prstGeom prst="rect">
            <a:avLst/>
          </a:prstGeom>
          <a:solidFill>
            <a:srgbClr val="0B3C88"/>
          </a:solidFill>
          <a:ln/>
        </p:spPr>
      </p:sp>
      <p:sp>
        <p:nvSpPr>
          <p:cNvPr id="139" name="Shape 128"/>
          <p:cNvSpPr/>
          <p:nvPr/>
        </p:nvSpPr>
        <p:spPr>
          <a:xfrm>
            <a:off x="6468466" y="5236769"/>
            <a:ext cx="134417" cy="134417"/>
          </a:xfrm>
          <a:prstGeom prst="ellipse">
            <a:avLst/>
          </a:prstGeom>
          <a:solidFill>
            <a:srgbClr val="00337F"/>
          </a:solidFill>
          <a:ln/>
        </p:spPr>
      </p:sp>
      <p:sp>
        <p:nvSpPr>
          <p:cNvPr id="140" name="Shape 129"/>
          <p:cNvSpPr/>
          <p:nvPr/>
        </p:nvSpPr>
        <p:spPr>
          <a:xfrm>
            <a:off x="6699809" y="5236769"/>
            <a:ext cx="134417" cy="134417"/>
          </a:xfrm>
          <a:prstGeom prst="ellipse">
            <a:avLst/>
          </a:prstGeom>
          <a:solidFill>
            <a:srgbClr val="00337F"/>
          </a:solidFill>
          <a:ln/>
        </p:spPr>
      </p:sp>
      <p:sp>
        <p:nvSpPr>
          <p:cNvPr id="141" name="Shape 130"/>
          <p:cNvSpPr/>
          <p:nvPr/>
        </p:nvSpPr>
        <p:spPr>
          <a:xfrm>
            <a:off x="6468466" y="5486400"/>
            <a:ext cx="134417" cy="134417"/>
          </a:xfrm>
          <a:prstGeom prst="ellipse">
            <a:avLst/>
          </a:prstGeom>
          <a:solidFill>
            <a:srgbClr val="00337F"/>
          </a:solidFill>
          <a:ln/>
        </p:spPr>
      </p:sp>
      <p:sp>
        <p:nvSpPr>
          <p:cNvPr id="142" name="Shape 131"/>
          <p:cNvSpPr/>
          <p:nvPr/>
        </p:nvSpPr>
        <p:spPr>
          <a:xfrm>
            <a:off x="6699809" y="5486400"/>
            <a:ext cx="134417" cy="134417"/>
          </a:xfrm>
          <a:prstGeom prst="ellipse">
            <a:avLst/>
          </a:prstGeom>
          <a:solidFill>
            <a:srgbClr val="00337F"/>
          </a:solidFill>
          <a:ln/>
        </p:spPr>
      </p:sp>
      <p:sp>
        <p:nvSpPr>
          <p:cNvPr id="143" name="Shape 132"/>
          <p:cNvSpPr/>
          <p:nvPr/>
        </p:nvSpPr>
        <p:spPr>
          <a:xfrm>
            <a:off x="6535217" y="5236769"/>
            <a:ext cx="231343" cy="384048"/>
          </a:xfrm>
          <a:prstGeom prst="rect">
            <a:avLst/>
          </a:prstGeom>
          <a:solidFill>
            <a:srgbClr val="00337F"/>
          </a:solidFill>
          <a:ln/>
        </p:spPr>
      </p:sp>
      <p:sp>
        <p:nvSpPr>
          <p:cNvPr id="144" name="Shape 133"/>
          <p:cNvSpPr/>
          <p:nvPr/>
        </p:nvSpPr>
        <p:spPr>
          <a:xfrm>
            <a:off x="6468466" y="5303520"/>
            <a:ext cx="365760" cy="249631"/>
          </a:xfrm>
          <a:prstGeom prst="rect">
            <a:avLst/>
          </a:prstGeom>
          <a:solidFill>
            <a:srgbClr val="00337F"/>
          </a:solidFill>
          <a:ln/>
        </p:spPr>
      </p:sp>
      <p:sp>
        <p:nvSpPr>
          <p:cNvPr id="145" name="Text 134"/>
          <p:cNvSpPr/>
          <p:nvPr/>
        </p:nvSpPr>
        <p:spPr>
          <a:xfrm>
            <a:off x="6468466" y="5236769"/>
            <a:ext cx="365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970" b="1" dirty="0">
                <a:solidFill>
                  <a:srgbClr val="FFFFFF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5</a:t>
            </a:r>
            <a:endParaRPr lang="en-US" sz="1970" dirty="0"/>
          </a:p>
        </p:txBody>
      </p:sp>
      <p:sp>
        <p:nvSpPr>
          <p:cNvPr id="146" name="Text 135"/>
          <p:cNvSpPr/>
          <p:nvPr/>
        </p:nvSpPr>
        <p:spPr>
          <a:xfrm>
            <a:off x="6955841" y="5236769"/>
            <a:ext cx="2274113" cy="3840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470" b="1" dirty="0">
                <a:solidFill>
                  <a:srgbClr val="FFFFFF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가장 필요한 지원</a:t>
            </a:r>
            <a:pPr algn="l" indent="0" marL="0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  (1·2순위 합산)</a:t>
            </a:r>
            <a:endParaRPr lang="en-US" sz="1470" dirty="0"/>
          </a:p>
        </p:txBody>
      </p:sp>
      <p:sp>
        <p:nvSpPr>
          <p:cNvPr id="147" name="Text 136"/>
          <p:cNvSpPr/>
          <p:nvPr/>
        </p:nvSpPr>
        <p:spPr>
          <a:xfrm>
            <a:off x="402336" y="5669280"/>
            <a:ext cx="2804465" cy="4636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1360" b="1" dirty="0">
                <a:solidFill>
                  <a:srgbClr val="0B3C88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매출 확대보다는 비용 절감과</a:t>
            </a:r>
            <a:endParaRPr lang="en-US" sz="1360" dirty="0"/>
          </a:p>
          <a:p>
            <a:pPr algn="l" indent="0" marL="0">
              <a:lnSpc>
                <a:spcPct val="124000"/>
              </a:lnSpc>
              <a:buNone/>
            </a:pPr>
            <a:r>
              <a:rPr lang="en-US" sz="1360" b="1" dirty="0">
                <a:solidFill>
                  <a:srgbClr val="0B3C88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인력 효율화 효과를 더 크게 체감합니다.</a:t>
            </a:r>
            <a:endParaRPr lang="en-US" sz="1360" dirty="0"/>
          </a:p>
        </p:txBody>
      </p:sp>
      <p:sp>
        <p:nvSpPr>
          <p:cNvPr id="148" name="Text 137"/>
          <p:cNvSpPr/>
          <p:nvPr/>
        </p:nvSpPr>
        <p:spPr>
          <a:xfrm>
            <a:off x="3584448" y="5687568"/>
            <a:ext cx="2560320" cy="4636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1420" b="1" dirty="0">
                <a:solidFill>
                  <a:srgbClr val="0B3C88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기술에 대한 정보 부족이</a:t>
            </a:r>
            <a:endParaRPr lang="en-US" sz="1420" dirty="0"/>
          </a:p>
          <a:p>
            <a:pPr algn="l" indent="0" marL="0">
              <a:lnSpc>
                <a:spcPct val="124000"/>
              </a:lnSpc>
              <a:buNone/>
            </a:pPr>
            <a:r>
              <a:rPr lang="en-US" sz="1420" b="1" dirty="0">
                <a:solidFill>
                  <a:srgbClr val="0B3C88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가장 큰 어려움으로 나타났습니다.</a:t>
            </a:r>
            <a:endParaRPr lang="en-US" sz="1420" dirty="0"/>
          </a:p>
        </p:txBody>
      </p:sp>
      <p:sp>
        <p:nvSpPr>
          <p:cNvPr id="149" name="Text 138"/>
          <p:cNvSpPr/>
          <p:nvPr/>
        </p:nvSpPr>
        <p:spPr>
          <a:xfrm>
            <a:off x="6528816" y="5687568"/>
            <a:ext cx="2743200" cy="4636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1420" b="1" dirty="0">
                <a:solidFill>
                  <a:srgbClr val="0B3C88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정보·교육 격차 해소를 위한</a:t>
            </a:r>
            <a:endParaRPr lang="en-US" sz="1420" dirty="0"/>
          </a:p>
          <a:p>
            <a:pPr algn="l" indent="0" marL="0">
              <a:lnSpc>
                <a:spcPct val="124000"/>
              </a:lnSpc>
              <a:buNone/>
            </a:pPr>
            <a:r>
              <a:rPr lang="en-US" sz="1420" b="1" dirty="0">
                <a:solidFill>
                  <a:srgbClr val="0B3C88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지원 수요가 가장 높습니다.</a:t>
            </a:r>
            <a:endParaRPr lang="en-US" sz="1420" dirty="0"/>
          </a:p>
        </p:txBody>
      </p:sp>
      <p:pic>
        <p:nvPicPr>
          <p:cNvPr id="150" name="Image 7" descr="g04-eff1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29184" y="6279185"/>
            <a:ext cx="523951" cy="365760"/>
          </a:xfrm>
          <a:prstGeom prst="rect">
            <a:avLst/>
          </a:prstGeom>
        </p:spPr>
      </p:pic>
      <p:sp>
        <p:nvSpPr>
          <p:cNvPr id="151" name="Text 139"/>
          <p:cNvSpPr/>
          <p:nvPr/>
        </p:nvSpPr>
        <p:spPr>
          <a:xfrm>
            <a:off x="950976" y="6315761"/>
            <a:ext cx="152430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370" b="1" dirty="0">
                <a:solidFill>
                  <a:srgbClr val="1A1A1A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인력 대체·절감</a:t>
            </a:r>
            <a:endParaRPr lang="en-US" sz="1370" dirty="0"/>
          </a:p>
        </p:txBody>
      </p:sp>
      <p:sp>
        <p:nvSpPr>
          <p:cNvPr id="152" name="Text 140"/>
          <p:cNvSpPr/>
          <p:nvPr/>
        </p:nvSpPr>
        <p:spPr>
          <a:xfrm>
            <a:off x="2512800" y="6108319"/>
            <a:ext cx="607356" cy="475361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970" b="1" dirty="0">
                <a:solidFill>
                  <a:srgbClr val="00449C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5.06</a:t>
            </a:r>
            <a:endParaRPr lang="en-US" sz="1970" dirty="0"/>
          </a:p>
        </p:txBody>
      </p:sp>
      <p:sp>
        <p:nvSpPr>
          <p:cNvPr id="153" name="Text 141"/>
          <p:cNvSpPr/>
          <p:nvPr/>
        </p:nvSpPr>
        <p:spPr>
          <a:xfrm>
            <a:off x="3010428" y="6275578"/>
            <a:ext cx="244836" cy="294386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220" b="1" dirty="0">
                <a:solidFill>
                  <a:srgbClr val="00449C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점</a:t>
            </a:r>
            <a:endParaRPr lang="en-US" sz="1220" dirty="0"/>
          </a:p>
        </p:txBody>
      </p:sp>
      <p:sp>
        <p:nvSpPr>
          <p:cNvPr id="154" name="Shape 142"/>
          <p:cNvSpPr/>
          <p:nvPr/>
        </p:nvSpPr>
        <p:spPr>
          <a:xfrm>
            <a:off x="341071" y="6693408"/>
            <a:ext cx="2804465" cy="0"/>
          </a:xfrm>
          <a:prstGeom prst="line">
            <a:avLst/>
          </a:prstGeom>
          <a:noFill/>
          <a:ln w="9525">
            <a:solidFill>
              <a:srgbClr val="EEF3F9"/>
            </a:solidFill>
            <a:prstDash val="solid"/>
          </a:ln>
        </p:spPr>
      </p:sp>
      <p:pic>
        <p:nvPicPr>
          <p:cNvPr id="155" name="Image 8" descr="g04-eff2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9184" y="6743700"/>
            <a:ext cx="523951" cy="365760"/>
          </a:xfrm>
          <a:prstGeom prst="rect">
            <a:avLst/>
          </a:prstGeom>
        </p:spPr>
      </p:pic>
      <p:sp>
        <p:nvSpPr>
          <p:cNvPr id="156" name="Text 143"/>
          <p:cNvSpPr/>
          <p:nvPr/>
        </p:nvSpPr>
        <p:spPr>
          <a:xfrm>
            <a:off x="950976" y="6780276"/>
            <a:ext cx="152430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370" b="1" dirty="0">
                <a:solidFill>
                  <a:srgbClr val="1A1A1A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비용 절감</a:t>
            </a:r>
            <a:endParaRPr lang="en-US" sz="1370" dirty="0"/>
          </a:p>
        </p:txBody>
      </p:sp>
      <p:sp>
        <p:nvSpPr>
          <p:cNvPr id="157" name="Text 144"/>
          <p:cNvSpPr/>
          <p:nvPr/>
        </p:nvSpPr>
        <p:spPr>
          <a:xfrm>
            <a:off x="2512800" y="6572834"/>
            <a:ext cx="607356" cy="475361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970" b="1" dirty="0">
                <a:solidFill>
                  <a:srgbClr val="00449C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5.01</a:t>
            </a:r>
            <a:endParaRPr lang="en-US" sz="1970" dirty="0"/>
          </a:p>
        </p:txBody>
      </p:sp>
      <p:sp>
        <p:nvSpPr>
          <p:cNvPr id="158" name="Text 145"/>
          <p:cNvSpPr/>
          <p:nvPr/>
        </p:nvSpPr>
        <p:spPr>
          <a:xfrm>
            <a:off x="3010428" y="6740093"/>
            <a:ext cx="244836" cy="294386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220" b="1" dirty="0">
                <a:solidFill>
                  <a:srgbClr val="00449C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점</a:t>
            </a:r>
            <a:endParaRPr lang="en-US" sz="1220" dirty="0"/>
          </a:p>
        </p:txBody>
      </p:sp>
      <p:sp>
        <p:nvSpPr>
          <p:cNvPr id="159" name="Shape 146"/>
          <p:cNvSpPr/>
          <p:nvPr/>
        </p:nvSpPr>
        <p:spPr>
          <a:xfrm>
            <a:off x="341071" y="7158838"/>
            <a:ext cx="2804465" cy="0"/>
          </a:xfrm>
          <a:prstGeom prst="line">
            <a:avLst/>
          </a:prstGeom>
          <a:noFill/>
          <a:ln w="9525">
            <a:solidFill>
              <a:srgbClr val="EEF3F9"/>
            </a:solidFill>
            <a:prstDash val="solid"/>
          </a:ln>
        </p:spPr>
      </p:sp>
      <p:pic>
        <p:nvPicPr>
          <p:cNvPr id="160" name="Image 9" descr="g04-eff3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29184" y="7209130"/>
            <a:ext cx="523951" cy="365760"/>
          </a:xfrm>
          <a:prstGeom prst="rect">
            <a:avLst/>
          </a:prstGeom>
        </p:spPr>
      </p:pic>
      <p:sp>
        <p:nvSpPr>
          <p:cNvPr id="161" name="Text 147"/>
          <p:cNvSpPr/>
          <p:nvPr/>
        </p:nvSpPr>
        <p:spPr>
          <a:xfrm>
            <a:off x="950976" y="7245706"/>
            <a:ext cx="152430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210" b="1" dirty="0">
                <a:solidFill>
                  <a:srgbClr val="1A1A1A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생산성·업무효율 향상</a:t>
            </a:r>
            <a:endParaRPr lang="en-US" sz="1210" dirty="0"/>
          </a:p>
        </p:txBody>
      </p:sp>
      <p:sp>
        <p:nvSpPr>
          <p:cNvPr id="162" name="Text 148"/>
          <p:cNvSpPr/>
          <p:nvPr/>
        </p:nvSpPr>
        <p:spPr>
          <a:xfrm>
            <a:off x="2512800" y="7038264"/>
            <a:ext cx="607356" cy="475361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970" b="1" dirty="0">
                <a:solidFill>
                  <a:srgbClr val="00449C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4.91</a:t>
            </a:r>
            <a:endParaRPr lang="en-US" sz="1970" dirty="0"/>
          </a:p>
        </p:txBody>
      </p:sp>
      <p:sp>
        <p:nvSpPr>
          <p:cNvPr id="163" name="Text 149"/>
          <p:cNvSpPr/>
          <p:nvPr/>
        </p:nvSpPr>
        <p:spPr>
          <a:xfrm>
            <a:off x="3010428" y="7205523"/>
            <a:ext cx="244836" cy="294386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220" b="1" dirty="0">
                <a:solidFill>
                  <a:srgbClr val="00449C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점</a:t>
            </a:r>
            <a:endParaRPr lang="en-US" sz="1220" dirty="0"/>
          </a:p>
        </p:txBody>
      </p:sp>
      <p:sp>
        <p:nvSpPr>
          <p:cNvPr id="164" name="Shape 150"/>
          <p:cNvSpPr/>
          <p:nvPr/>
        </p:nvSpPr>
        <p:spPr>
          <a:xfrm>
            <a:off x="341071" y="7623353"/>
            <a:ext cx="2804465" cy="0"/>
          </a:xfrm>
          <a:prstGeom prst="line">
            <a:avLst/>
          </a:prstGeom>
          <a:noFill/>
          <a:ln w="9525">
            <a:solidFill>
              <a:srgbClr val="EEF3F9"/>
            </a:solidFill>
            <a:prstDash val="solid"/>
          </a:ln>
        </p:spPr>
      </p:sp>
      <p:pic>
        <p:nvPicPr>
          <p:cNvPr id="165" name="Image 10" descr="g04-eff4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29184" y="7674559"/>
            <a:ext cx="523951" cy="365760"/>
          </a:xfrm>
          <a:prstGeom prst="rect">
            <a:avLst/>
          </a:prstGeom>
        </p:spPr>
      </p:pic>
      <p:sp>
        <p:nvSpPr>
          <p:cNvPr id="166" name="Text 151"/>
          <p:cNvSpPr/>
          <p:nvPr/>
        </p:nvSpPr>
        <p:spPr>
          <a:xfrm>
            <a:off x="950976" y="7711135"/>
            <a:ext cx="152430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370" b="1" dirty="0">
                <a:solidFill>
                  <a:srgbClr val="1A1A1A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매출·판매량 증가</a:t>
            </a:r>
            <a:endParaRPr lang="en-US" sz="1370" dirty="0"/>
          </a:p>
        </p:txBody>
      </p:sp>
      <p:sp>
        <p:nvSpPr>
          <p:cNvPr id="167" name="Text 152"/>
          <p:cNvSpPr/>
          <p:nvPr/>
        </p:nvSpPr>
        <p:spPr>
          <a:xfrm>
            <a:off x="2512800" y="7503693"/>
            <a:ext cx="607356" cy="475361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970" b="1" dirty="0">
                <a:solidFill>
                  <a:srgbClr val="00449C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4.73</a:t>
            </a:r>
            <a:endParaRPr lang="en-US" sz="1970" dirty="0"/>
          </a:p>
        </p:txBody>
      </p:sp>
      <p:sp>
        <p:nvSpPr>
          <p:cNvPr id="168" name="Text 153"/>
          <p:cNvSpPr/>
          <p:nvPr/>
        </p:nvSpPr>
        <p:spPr>
          <a:xfrm>
            <a:off x="3010428" y="7670952"/>
            <a:ext cx="244836" cy="294386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220" b="1" dirty="0">
                <a:solidFill>
                  <a:srgbClr val="00449C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점</a:t>
            </a:r>
            <a:endParaRPr lang="en-US" sz="1220" dirty="0"/>
          </a:p>
        </p:txBody>
      </p:sp>
      <p:sp>
        <p:nvSpPr>
          <p:cNvPr id="169" name="Shape 154"/>
          <p:cNvSpPr/>
          <p:nvPr/>
        </p:nvSpPr>
        <p:spPr>
          <a:xfrm>
            <a:off x="377647" y="8193024"/>
            <a:ext cx="2755087" cy="0"/>
          </a:xfrm>
          <a:prstGeom prst="line">
            <a:avLst/>
          </a:prstGeom>
          <a:noFill/>
          <a:ln w="12700">
            <a:solidFill>
              <a:srgbClr val="D6DDE6"/>
            </a:solidFill>
            <a:prstDash val="solid"/>
          </a:ln>
        </p:spPr>
      </p:sp>
      <p:sp>
        <p:nvSpPr>
          <p:cNvPr id="170" name="Shape 155"/>
          <p:cNvSpPr/>
          <p:nvPr/>
        </p:nvSpPr>
        <p:spPr>
          <a:xfrm>
            <a:off x="377647" y="8156448"/>
            <a:ext cx="0" cy="73152"/>
          </a:xfrm>
          <a:prstGeom prst="line">
            <a:avLst/>
          </a:prstGeom>
          <a:noFill/>
          <a:ln w="12700">
            <a:solidFill>
              <a:srgbClr val="D6DDE6"/>
            </a:solidFill>
            <a:prstDash val="solid"/>
          </a:ln>
        </p:spPr>
      </p:sp>
      <p:sp>
        <p:nvSpPr>
          <p:cNvPr id="171" name="Text 156"/>
          <p:cNvSpPr/>
          <p:nvPr/>
        </p:nvSpPr>
        <p:spPr>
          <a:xfrm>
            <a:off x="-48463" y="8217713"/>
            <a:ext cx="85313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220" b="1" dirty="0">
                <a:solidFill>
                  <a:srgbClr val="3A3A3A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1</a:t>
            </a:r>
            <a:endParaRPr lang="en-US" sz="1220" dirty="0"/>
          </a:p>
        </p:txBody>
      </p:sp>
      <p:sp>
        <p:nvSpPr>
          <p:cNvPr id="172" name="Text 157"/>
          <p:cNvSpPr/>
          <p:nvPr/>
        </p:nvSpPr>
        <p:spPr>
          <a:xfrm>
            <a:off x="304495" y="8375904"/>
            <a:ext cx="1097280" cy="1709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020" dirty="0">
                <a:solidFill>
                  <a:srgbClr val="6B7280"/>
                </a:solidFill>
                <a:latin typeface="KoPub돋움체 Medium" pitchFamily="34" charset="0"/>
                <a:ea typeface="KoPub돋움체 Medium" pitchFamily="34" charset="-122"/>
                <a:cs typeface="KoPub돋움체 Medium" pitchFamily="34" charset="-120"/>
              </a:rPr>
              <a:t>(전혀 효과 없음)</a:t>
            </a:r>
            <a:endParaRPr lang="en-US" sz="1020" dirty="0"/>
          </a:p>
        </p:txBody>
      </p:sp>
      <p:sp>
        <p:nvSpPr>
          <p:cNvPr id="173" name="Shape 158"/>
          <p:cNvSpPr/>
          <p:nvPr/>
        </p:nvSpPr>
        <p:spPr>
          <a:xfrm>
            <a:off x="1755648" y="8156448"/>
            <a:ext cx="0" cy="73152"/>
          </a:xfrm>
          <a:prstGeom prst="line">
            <a:avLst/>
          </a:prstGeom>
          <a:noFill/>
          <a:ln w="12700">
            <a:solidFill>
              <a:srgbClr val="D6DDE6"/>
            </a:solidFill>
            <a:prstDash val="solid"/>
          </a:ln>
        </p:spPr>
      </p:sp>
      <p:sp>
        <p:nvSpPr>
          <p:cNvPr id="174" name="Text 159"/>
          <p:cNvSpPr/>
          <p:nvPr/>
        </p:nvSpPr>
        <p:spPr>
          <a:xfrm>
            <a:off x="1328623" y="8217713"/>
            <a:ext cx="85313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220" b="1" dirty="0">
                <a:solidFill>
                  <a:srgbClr val="3A3A3A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4</a:t>
            </a:r>
            <a:endParaRPr lang="en-US" sz="1220" dirty="0"/>
          </a:p>
        </p:txBody>
      </p:sp>
      <p:sp>
        <p:nvSpPr>
          <p:cNvPr id="175" name="Text 160"/>
          <p:cNvSpPr/>
          <p:nvPr/>
        </p:nvSpPr>
        <p:spPr>
          <a:xfrm>
            <a:off x="1207008" y="8375904"/>
            <a:ext cx="1097280" cy="1709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20" dirty="0">
                <a:solidFill>
                  <a:srgbClr val="6B7280"/>
                </a:solidFill>
                <a:latin typeface="KoPub돋움체 Medium" pitchFamily="34" charset="0"/>
                <a:ea typeface="KoPub돋움체 Medium" pitchFamily="34" charset="-122"/>
                <a:cs typeface="KoPub돋움체 Medium" pitchFamily="34" charset="-120"/>
              </a:rPr>
              <a:t>(보통)</a:t>
            </a:r>
            <a:endParaRPr lang="en-US" sz="1020" dirty="0"/>
          </a:p>
        </p:txBody>
      </p:sp>
      <p:sp>
        <p:nvSpPr>
          <p:cNvPr id="176" name="Shape 161"/>
          <p:cNvSpPr/>
          <p:nvPr/>
        </p:nvSpPr>
        <p:spPr>
          <a:xfrm>
            <a:off x="3133649" y="8156448"/>
            <a:ext cx="0" cy="73152"/>
          </a:xfrm>
          <a:prstGeom prst="line">
            <a:avLst/>
          </a:prstGeom>
          <a:noFill/>
          <a:ln w="12700">
            <a:solidFill>
              <a:srgbClr val="D6DDE6"/>
            </a:solidFill>
            <a:prstDash val="solid"/>
          </a:ln>
        </p:spPr>
      </p:sp>
      <p:sp>
        <p:nvSpPr>
          <p:cNvPr id="177" name="Text 162"/>
          <p:cNvSpPr/>
          <p:nvPr/>
        </p:nvSpPr>
        <p:spPr>
          <a:xfrm>
            <a:off x="2706624" y="8217713"/>
            <a:ext cx="85313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220" b="1" dirty="0">
                <a:solidFill>
                  <a:srgbClr val="3A3A3A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7</a:t>
            </a:r>
            <a:endParaRPr lang="en-US" sz="1220" dirty="0"/>
          </a:p>
        </p:txBody>
      </p:sp>
      <p:sp>
        <p:nvSpPr>
          <p:cNvPr id="178" name="Text 163"/>
          <p:cNvSpPr/>
          <p:nvPr/>
        </p:nvSpPr>
        <p:spPr>
          <a:xfrm>
            <a:off x="2585009" y="8375904"/>
            <a:ext cx="1097280" cy="1709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20" dirty="0">
                <a:solidFill>
                  <a:srgbClr val="6B7280"/>
                </a:solidFill>
                <a:latin typeface="KoPub돋움체 Medium" pitchFamily="34" charset="0"/>
                <a:ea typeface="KoPub돋움체 Medium" pitchFamily="34" charset="-122"/>
                <a:cs typeface="KoPub돋움체 Medium" pitchFamily="34" charset="-120"/>
              </a:rPr>
              <a:t>(매우 큰 효과)</a:t>
            </a:r>
            <a:endParaRPr lang="en-US" sz="1020" dirty="0"/>
          </a:p>
        </p:txBody>
      </p:sp>
      <p:pic>
        <p:nvPicPr>
          <p:cNvPr id="179" name="Image 11" descr="g04-dif1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486607" y="6327648"/>
            <a:ext cx="438912" cy="377647"/>
          </a:xfrm>
          <a:prstGeom prst="rect">
            <a:avLst/>
          </a:prstGeom>
        </p:spPr>
      </p:pic>
      <p:sp>
        <p:nvSpPr>
          <p:cNvPr id="180" name="Text 164"/>
          <p:cNvSpPr/>
          <p:nvPr/>
        </p:nvSpPr>
        <p:spPr>
          <a:xfrm>
            <a:off x="3986784" y="6352337"/>
            <a:ext cx="148772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230" b="1" dirty="0">
                <a:solidFill>
                  <a:srgbClr val="1A1A1A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기술에 대한 정보 부족</a:t>
            </a:r>
            <a:endParaRPr lang="en-US" sz="1230" dirty="0"/>
          </a:p>
        </p:txBody>
      </p:sp>
      <p:sp>
        <p:nvSpPr>
          <p:cNvPr id="181" name="Text 165"/>
          <p:cNvSpPr/>
          <p:nvPr/>
        </p:nvSpPr>
        <p:spPr>
          <a:xfrm>
            <a:off x="5603696" y="6198235"/>
            <a:ext cx="546731" cy="417449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730" b="1" dirty="0">
                <a:solidFill>
                  <a:srgbClr val="00449C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37.3</a:t>
            </a:r>
            <a:endParaRPr lang="en-US" sz="1730" dirty="0"/>
          </a:p>
        </p:txBody>
      </p:sp>
      <p:sp>
        <p:nvSpPr>
          <p:cNvPr id="182" name="Text 166"/>
          <p:cNvSpPr/>
          <p:nvPr/>
        </p:nvSpPr>
        <p:spPr>
          <a:xfrm>
            <a:off x="6040699" y="6324803"/>
            <a:ext cx="238486" cy="279908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160" b="1" dirty="0">
                <a:solidFill>
                  <a:srgbClr val="00449C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%</a:t>
            </a:r>
            <a:endParaRPr lang="en-US" sz="1160" dirty="0"/>
          </a:p>
        </p:txBody>
      </p:sp>
      <p:pic>
        <p:nvPicPr>
          <p:cNvPr id="183" name="Image 12" descr="g04-dif2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486607" y="6745529"/>
            <a:ext cx="438912" cy="377647"/>
          </a:xfrm>
          <a:prstGeom prst="rect">
            <a:avLst/>
          </a:prstGeom>
        </p:spPr>
      </p:pic>
      <p:sp>
        <p:nvSpPr>
          <p:cNvPr id="184" name="Text 167"/>
          <p:cNvSpPr/>
          <p:nvPr/>
        </p:nvSpPr>
        <p:spPr>
          <a:xfrm>
            <a:off x="3986784" y="6769303"/>
            <a:ext cx="148772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370" b="1" dirty="0">
                <a:solidFill>
                  <a:srgbClr val="1A1A1A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도입 비용 부담</a:t>
            </a:r>
            <a:endParaRPr lang="en-US" sz="1370" dirty="0"/>
          </a:p>
        </p:txBody>
      </p:sp>
      <p:sp>
        <p:nvSpPr>
          <p:cNvPr id="185" name="Text 168"/>
          <p:cNvSpPr/>
          <p:nvPr/>
        </p:nvSpPr>
        <p:spPr>
          <a:xfrm>
            <a:off x="5603696" y="6616116"/>
            <a:ext cx="546731" cy="417449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730" b="1" dirty="0">
                <a:solidFill>
                  <a:srgbClr val="00449C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22.6</a:t>
            </a:r>
            <a:endParaRPr lang="en-US" sz="1730" dirty="0"/>
          </a:p>
        </p:txBody>
      </p:sp>
      <p:sp>
        <p:nvSpPr>
          <p:cNvPr id="186" name="Text 169"/>
          <p:cNvSpPr/>
          <p:nvPr/>
        </p:nvSpPr>
        <p:spPr>
          <a:xfrm>
            <a:off x="6040699" y="6742684"/>
            <a:ext cx="238486" cy="279908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160" b="1" dirty="0">
                <a:solidFill>
                  <a:srgbClr val="00449C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%</a:t>
            </a:r>
            <a:endParaRPr lang="en-US" sz="1160" dirty="0"/>
          </a:p>
        </p:txBody>
      </p:sp>
      <p:pic>
        <p:nvPicPr>
          <p:cNvPr id="187" name="Image 13" descr="g04-dif3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3486607" y="7162495"/>
            <a:ext cx="438912" cy="377647"/>
          </a:xfrm>
          <a:prstGeom prst="rect">
            <a:avLst/>
          </a:prstGeom>
        </p:spPr>
      </p:pic>
      <p:sp>
        <p:nvSpPr>
          <p:cNvPr id="188" name="Text 170"/>
          <p:cNvSpPr/>
          <p:nvPr/>
        </p:nvSpPr>
        <p:spPr>
          <a:xfrm>
            <a:off x="3986784" y="7187184"/>
            <a:ext cx="148772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270" b="1" dirty="0">
                <a:solidFill>
                  <a:srgbClr val="1A1A1A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전문 인력·기술 부족</a:t>
            </a:r>
            <a:endParaRPr lang="en-US" sz="1270" dirty="0"/>
          </a:p>
        </p:txBody>
      </p:sp>
      <p:sp>
        <p:nvSpPr>
          <p:cNvPr id="189" name="Text 171"/>
          <p:cNvSpPr/>
          <p:nvPr/>
        </p:nvSpPr>
        <p:spPr>
          <a:xfrm>
            <a:off x="5603696" y="7033082"/>
            <a:ext cx="546731" cy="417449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730" b="1" dirty="0">
                <a:solidFill>
                  <a:srgbClr val="00449C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14.8</a:t>
            </a:r>
            <a:endParaRPr lang="en-US" sz="1730" dirty="0"/>
          </a:p>
        </p:txBody>
      </p:sp>
      <p:sp>
        <p:nvSpPr>
          <p:cNvPr id="190" name="Text 172"/>
          <p:cNvSpPr/>
          <p:nvPr/>
        </p:nvSpPr>
        <p:spPr>
          <a:xfrm>
            <a:off x="6040699" y="7160565"/>
            <a:ext cx="238486" cy="279908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160" b="1" dirty="0">
                <a:solidFill>
                  <a:srgbClr val="00449C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%</a:t>
            </a:r>
            <a:endParaRPr lang="en-US" sz="1160" dirty="0"/>
          </a:p>
        </p:txBody>
      </p:sp>
      <p:pic>
        <p:nvPicPr>
          <p:cNvPr id="191" name="Image 14" descr="g04-dif4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3486607" y="7580376"/>
            <a:ext cx="438912" cy="377647"/>
          </a:xfrm>
          <a:prstGeom prst="rect">
            <a:avLst/>
          </a:prstGeom>
        </p:spPr>
      </p:pic>
      <p:sp>
        <p:nvSpPr>
          <p:cNvPr id="192" name="Text 173"/>
          <p:cNvSpPr/>
          <p:nvPr/>
        </p:nvSpPr>
        <p:spPr>
          <a:xfrm>
            <a:off x="3986784" y="7605065"/>
            <a:ext cx="148772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030" b="1" dirty="0">
                <a:solidFill>
                  <a:srgbClr val="1A1A1A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기존 업무와의 연계 어려움</a:t>
            </a:r>
            <a:endParaRPr lang="en-US" sz="1030" dirty="0"/>
          </a:p>
        </p:txBody>
      </p:sp>
      <p:sp>
        <p:nvSpPr>
          <p:cNvPr id="193" name="Text 174"/>
          <p:cNvSpPr/>
          <p:nvPr/>
        </p:nvSpPr>
        <p:spPr>
          <a:xfrm>
            <a:off x="5603696" y="7450963"/>
            <a:ext cx="546731" cy="417449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730" b="1" dirty="0">
                <a:solidFill>
                  <a:srgbClr val="00449C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11.2</a:t>
            </a:r>
            <a:endParaRPr lang="en-US" sz="1730" dirty="0"/>
          </a:p>
        </p:txBody>
      </p:sp>
      <p:sp>
        <p:nvSpPr>
          <p:cNvPr id="194" name="Text 175"/>
          <p:cNvSpPr/>
          <p:nvPr/>
        </p:nvSpPr>
        <p:spPr>
          <a:xfrm>
            <a:off x="6040699" y="7577531"/>
            <a:ext cx="238486" cy="279908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160" b="1" dirty="0">
                <a:solidFill>
                  <a:srgbClr val="00449C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%</a:t>
            </a:r>
            <a:endParaRPr lang="en-US" sz="1160" dirty="0"/>
          </a:p>
        </p:txBody>
      </p:sp>
      <p:pic>
        <p:nvPicPr>
          <p:cNvPr id="195" name="Image 15" descr="g04-dif5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3486607" y="7998257"/>
            <a:ext cx="438912" cy="377647"/>
          </a:xfrm>
          <a:prstGeom prst="rect">
            <a:avLst/>
          </a:prstGeom>
        </p:spPr>
      </p:pic>
      <p:sp>
        <p:nvSpPr>
          <p:cNvPr id="196" name="Text 176"/>
          <p:cNvSpPr/>
          <p:nvPr/>
        </p:nvSpPr>
        <p:spPr>
          <a:xfrm>
            <a:off x="3986784" y="8022031"/>
            <a:ext cx="148772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370" b="1" dirty="0">
                <a:solidFill>
                  <a:srgbClr val="1A1A1A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기타</a:t>
            </a:r>
            <a:endParaRPr lang="en-US" sz="1370" dirty="0"/>
          </a:p>
        </p:txBody>
      </p:sp>
      <p:sp>
        <p:nvSpPr>
          <p:cNvPr id="197" name="Text 177"/>
          <p:cNvSpPr/>
          <p:nvPr/>
        </p:nvSpPr>
        <p:spPr>
          <a:xfrm>
            <a:off x="5603696" y="7868844"/>
            <a:ext cx="546731" cy="417449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730" b="1" dirty="0">
                <a:solidFill>
                  <a:srgbClr val="00449C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14.1</a:t>
            </a:r>
            <a:endParaRPr lang="en-US" sz="1730" dirty="0"/>
          </a:p>
        </p:txBody>
      </p:sp>
      <p:sp>
        <p:nvSpPr>
          <p:cNvPr id="198" name="Text 178"/>
          <p:cNvSpPr/>
          <p:nvPr/>
        </p:nvSpPr>
        <p:spPr>
          <a:xfrm>
            <a:off x="6040699" y="7995412"/>
            <a:ext cx="238486" cy="279908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160" b="1" dirty="0">
                <a:solidFill>
                  <a:srgbClr val="00449C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%</a:t>
            </a:r>
            <a:endParaRPr lang="en-US" sz="1160" dirty="0"/>
          </a:p>
        </p:txBody>
      </p:sp>
      <p:pic>
        <p:nvPicPr>
          <p:cNvPr id="199" name="Image 16" descr="g04-sup1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473952" y="6376111"/>
            <a:ext cx="450799" cy="377647"/>
          </a:xfrm>
          <a:prstGeom prst="rect">
            <a:avLst/>
          </a:prstGeom>
        </p:spPr>
      </p:pic>
      <p:sp>
        <p:nvSpPr>
          <p:cNvPr id="200" name="Text 179"/>
          <p:cNvSpPr/>
          <p:nvPr/>
        </p:nvSpPr>
        <p:spPr>
          <a:xfrm>
            <a:off x="6998818" y="6407201"/>
            <a:ext cx="1072591" cy="2679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180" b="1" dirty="0">
                <a:solidFill>
                  <a:srgbClr val="1A1A1A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디지털 기술교육</a:t>
            </a:r>
            <a:endParaRPr lang="en-US" sz="1180" dirty="0"/>
          </a:p>
        </p:txBody>
      </p:sp>
      <p:pic>
        <p:nvPicPr>
          <p:cNvPr id="201" name="Image 17" descr="g04-sup2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473952" y="6789420"/>
            <a:ext cx="450799" cy="377647"/>
          </a:xfrm>
          <a:prstGeom prst="rect">
            <a:avLst/>
          </a:prstGeom>
        </p:spPr>
      </p:pic>
      <p:sp>
        <p:nvSpPr>
          <p:cNvPr id="202" name="Text 180"/>
          <p:cNvSpPr/>
          <p:nvPr/>
        </p:nvSpPr>
        <p:spPr>
          <a:xfrm>
            <a:off x="6998818" y="6820510"/>
            <a:ext cx="1072591" cy="2679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1A1A1A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도입 비용 지원</a:t>
            </a:r>
            <a:endParaRPr lang="en-US" sz="1300" dirty="0"/>
          </a:p>
        </p:txBody>
      </p:sp>
      <p:pic>
        <p:nvPicPr>
          <p:cNvPr id="203" name="Image 18" descr="g04-sup3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473952" y="7202729"/>
            <a:ext cx="450799" cy="377647"/>
          </a:xfrm>
          <a:prstGeom prst="rect">
            <a:avLst/>
          </a:prstGeom>
        </p:spPr>
      </p:pic>
      <p:sp>
        <p:nvSpPr>
          <p:cNvPr id="204" name="Text 181"/>
          <p:cNvSpPr/>
          <p:nvPr/>
        </p:nvSpPr>
        <p:spPr>
          <a:xfrm>
            <a:off x="6998818" y="7233818"/>
            <a:ext cx="1072591" cy="2679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000" b="1" dirty="0">
                <a:solidFill>
                  <a:srgbClr val="1A1A1A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전문가 컨설팅 지원</a:t>
            </a:r>
            <a:endParaRPr lang="en-US" sz="1000" dirty="0"/>
          </a:p>
        </p:txBody>
      </p:sp>
      <p:pic>
        <p:nvPicPr>
          <p:cNvPr id="205" name="Image 19" descr="g04-sup4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6473952" y="7616038"/>
            <a:ext cx="450799" cy="377647"/>
          </a:xfrm>
          <a:prstGeom prst="rect">
            <a:avLst/>
          </a:prstGeom>
        </p:spPr>
      </p:pic>
      <p:sp>
        <p:nvSpPr>
          <p:cNvPr id="206" name="Text 182"/>
          <p:cNvSpPr/>
          <p:nvPr/>
        </p:nvSpPr>
        <p:spPr>
          <a:xfrm>
            <a:off x="6998818" y="7647127"/>
            <a:ext cx="1072591" cy="2679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040" b="1" dirty="0">
                <a:solidFill>
                  <a:srgbClr val="1A1A1A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시스템·장비 지원</a:t>
            </a:r>
            <a:endParaRPr lang="en-US" sz="1040" dirty="0"/>
          </a:p>
        </p:txBody>
      </p:sp>
      <p:pic>
        <p:nvPicPr>
          <p:cNvPr id="207" name="Image 20" descr="g04-sup5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6473952" y="8029346"/>
            <a:ext cx="450799" cy="377647"/>
          </a:xfrm>
          <a:prstGeom prst="rect">
            <a:avLst/>
          </a:prstGeom>
        </p:spPr>
      </p:pic>
      <p:sp>
        <p:nvSpPr>
          <p:cNvPr id="208" name="Text 183"/>
          <p:cNvSpPr/>
          <p:nvPr/>
        </p:nvSpPr>
        <p:spPr>
          <a:xfrm>
            <a:off x="6998818" y="8060436"/>
            <a:ext cx="1072591" cy="2679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320" b="1" dirty="0">
                <a:solidFill>
                  <a:srgbClr val="1A1A1A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기타</a:t>
            </a:r>
            <a:endParaRPr lang="en-US" sz="1320" dirty="0"/>
          </a:p>
        </p:txBody>
      </p:sp>
      <p:graphicFrame>
        <p:nvGraphicFramePr>
          <p:cNvPr id="209" name="Chart 2" descr=""/>
          <p:cNvGraphicFramePr/>
          <p:nvPr/>
        </p:nvGraphicFramePr>
        <p:xfrm>
          <a:off x="8059522" y="6319418"/>
          <a:ext cx="1316736" cy="2066544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4"/>
          </a:graphicData>
        </a:graphic>
      </p:graphicFrame>
      <p:sp>
        <p:nvSpPr>
          <p:cNvPr id="210" name="Text 184"/>
          <p:cNvSpPr/>
          <p:nvPr/>
        </p:nvSpPr>
        <p:spPr>
          <a:xfrm>
            <a:off x="8863279" y="6241237"/>
            <a:ext cx="518945" cy="390906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620" b="1" dirty="0">
                <a:solidFill>
                  <a:srgbClr val="00449C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35.4</a:t>
            </a:r>
            <a:endParaRPr lang="en-US" sz="1620" dirty="0"/>
          </a:p>
        </p:txBody>
      </p:sp>
      <p:sp>
        <p:nvSpPr>
          <p:cNvPr id="211" name="Text 185"/>
          <p:cNvSpPr/>
          <p:nvPr/>
        </p:nvSpPr>
        <p:spPr>
          <a:xfrm>
            <a:off x="9272496" y="6356655"/>
            <a:ext cx="231826" cy="265430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00449C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%</a:t>
            </a:r>
            <a:endParaRPr lang="en-US" sz="1100" dirty="0"/>
          </a:p>
        </p:txBody>
      </p:sp>
      <p:sp>
        <p:nvSpPr>
          <p:cNvPr id="212" name="Text 186"/>
          <p:cNvSpPr/>
          <p:nvPr/>
        </p:nvSpPr>
        <p:spPr>
          <a:xfrm>
            <a:off x="8631022" y="6654546"/>
            <a:ext cx="518945" cy="390906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620" b="1" dirty="0">
                <a:solidFill>
                  <a:srgbClr val="00449C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24.5</a:t>
            </a:r>
            <a:endParaRPr lang="en-US" sz="1620" dirty="0"/>
          </a:p>
        </p:txBody>
      </p:sp>
      <p:sp>
        <p:nvSpPr>
          <p:cNvPr id="213" name="Text 187"/>
          <p:cNvSpPr/>
          <p:nvPr/>
        </p:nvSpPr>
        <p:spPr>
          <a:xfrm>
            <a:off x="9040238" y="6769964"/>
            <a:ext cx="231826" cy="265430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00449C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%</a:t>
            </a:r>
            <a:endParaRPr lang="en-US" sz="1100" dirty="0"/>
          </a:p>
        </p:txBody>
      </p:sp>
      <p:sp>
        <p:nvSpPr>
          <p:cNvPr id="214" name="Text 188"/>
          <p:cNvSpPr/>
          <p:nvPr/>
        </p:nvSpPr>
        <p:spPr>
          <a:xfrm>
            <a:off x="8483803" y="7067855"/>
            <a:ext cx="518945" cy="390906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620" b="1" dirty="0">
                <a:solidFill>
                  <a:srgbClr val="00449C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17.6</a:t>
            </a:r>
            <a:endParaRPr lang="en-US" sz="1620" dirty="0"/>
          </a:p>
        </p:txBody>
      </p:sp>
      <p:sp>
        <p:nvSpPr>
          <p:cNvPr id="215" name="Text 189"/>
          <p:cNvSpPr/>
          <p:nvPr/>
        </p:nvSpPr>
        <p:spPr>
          <a:xfrm>
            <a:off x="8893020" y="7183272"/>
            <a:ext cx="231826" cy="265430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00449C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%</a:t>
            </a:r>
            <a:endParaRPr lang="en-US" sz="1100" dirty="0"/>
          </a:p>
        </p:txBody>
      </p:sp>
      <p:sp>
        <p:nvSpPr>
          <p:cNvPr id="216" name="Text 190"/>
          <p:cNvSpPr/>
          <p:nvPr/>
        </p:nvSpPr>
        <p:spPr>
          <a:xfrm>
            <a:off x="8370418" y="7481164"/>
            <a:ext cx="518945" cy="390906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620" b="1" dirty="0">
                <a:solidFill>
                  <a:srgbClr val="00449C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12.3</a:t>
            </a:r>
            <a:endParaRPr lang="en-US" sz="1620" dirty="0"/>
          </a:p>
        </p:txBody>
      </p:sp>
      <p:sp>
        <p:nvSpPr>
          <p:cNvPr id="217" name="Text 191"/>
          <p:cNvSpPr/>
          <p:nvPr/>
        </p:nvSpPr>
        <p:spPr>
          <a:xfrm>
            <a:off x="8779634" y="7596581"/>
            <a:ext cx="231826" cy="265430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00449C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%</a:t>
            </a:r>
            <a:endParaRPr lang="en-US" sz="1100" dirty="0"/>
          </a:p>
        </p:txBody>
      </p:sp>
      <p:sp>
        <p:nvSpPr>
          <p:cNvPr id="218" name="Text 192"/>
          <p:cNvSpPr/>
          <p:nvPr/>
        </p:nvSpPr>
        <p:spPr>
          <a:xfrm>
            <a:off x="8325612" y="7894472"/>
            <a:ext cx="518945" cy="390906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620" b="1" dirty="0">
                <a:solidFill>
                  <a:srgbClr val="00449C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10.2</a:t>
            </a:r>
            <a:endParaRPr lang="en-US" sz="1620" dirty="0"/>
          </a:p>
        </p:txBody>
      </p:sp>
      <p:sp>
        <p:nvSpPr>
          <p:cNvPr id="219" name="Text 193"/>
          <p:cNvSpPr/>
          <p:nvPr/>
        </p:nvSpPr>
        <p:spPr>
          <a:xfrm>
            <a:off x="8734829" y="8009890"/>
            <a:ext cx="231826" cy="265430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00449C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%</a:t>
            </a:r>
            <a:endParaRPr lang="en-US" sz="1100" dirty="0"/>
          </a:p>
        </p:txBody>
      </p:sp>
      <p:pic>
        <p:nvPicPr>
          <p:cNvPr id="220" name="Image 21" descr="g04-people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6620256" y="8753551"/>
            <a:ext cx="2914193" cy="1170432"/>
          </a:xfrm>
          <a:prstGeom prst="rect">
            <a:avLst/>
          </a:prstGeom>
        </p:spPr>
      </p:pic>
      <p:sp>
        <p:nvSpPr>
          <p:cNvPr id="221" name="Shape 194"/>
          <p:cNvSpPr/>
          <p:nvPr/>
        </p:nvSpPr>
        <p:spPr>
          <a:xfrm>
            <a:off x="304495" y="8863279"/>
            <a:ext cx="267919" cy="267919"/>
          </a:xfrm>
          <a:prstGeom prst="ellipse">
            <a:avLst/>
          </a:prstGeom>
          <a:solidFill>
            <a:srgbClr val="00337F"/>
          </a:solidFill>
          <a:ln/>
        </p:spPr>
      </p:sp>
      <p:sp>
        <p:nvSpPr>
          <p:cNvPr id="222" name="Shape 195"/>
          <p:cNvSpPr/>
          <p:nvPr/>
        </p:nvSpPr>
        <p:spPr>
          <a:xfrm>
            <a:off x="1024128" y="8863279"/>
            <a:ext cx="267919" cy="267919"/>
          </a:xfrm>
          <a:prstGeom prst="ellipse">
            <a:avLst/>
          </a:prstGeom>
          <a:solidFill>
            <a:srgbClr val="00337F"/>
          </a:solidFill>
          <a:ln/>
        </p:spPr>
      </p:sp>
      <p:sp>
        <p:nvSpPr>
          <p:cNvPr id="223" name="Shape 196"/>
          <p:cNvSpPr/>
          <p:nvPr/>
        </p:nvSpPr>
        <p:spPr>
          <a:xfrm>
            <a:off x="304495" y="9466783"/>
            <a:ext cx="267919" cy="267919"/>
          </a:xfrm>
          <a:prstGeom prst="ellipse">
            <a:avLst/>
          </a:prstGeom>
          <a:solidFill>
            <a:srgbClr val="00337F"/>
          </a:solidFill>
          <a:ln/>
        </p:spPr>
      </p:sp>
      <p:sp>
        <p:nvSpPr>
          <p:cNvPr id="224" name="Shape 197"/>
          <p:cNvSpPr/>
          <p:nvPr/>
        </p:nvSpPr>
        <p:spPr>
          <a:xfrm>
            <a:off x="1024128" y="9466783"/>
            <a:ext cx="267919" cy="267919"/>
          </a:xfrm>
          <a:prstGeom prst="ellipse">
            <a:avLst/>
          </a:prstGeom>
          <a:solidFill>
            <a:srgbClr val="00337F"/>
          </a:solidFill>
          <a:ln/>
        </p:spPr>
      </p:sp>
      <p:sp>
        <p:nvSpPr>
          <p:cNvPr id="225" name="Shape 198"/>
          <p:cNvSpPr/>
          <p:nvPr/>
        </p:nvSpPr>
        <p:spPr>
          <a:xfrm>
            <a:off x="438912" y="8863279"/>
            <a:ext cx="719633" cy="871423"/>
          </a:xfrm>
          <a:prstGeom prst="rect">
            <a:avLst/>
          </a:prstGeom>
          <a:solidFill>
            <a:srgbClr val="00337F"/>
          </a:solidFill>
          <a:ln/>
        </p:spPr>
      </p:sp>
      <p:sp>
        <p:nvSpPr>
          <p:cNvPr id="226" name="Shape 199"/>
          <p:cNvSpPr/>
          <p:nvPr/>
        </p:nvSpPr>
        <p:spPr>
          <a:xfrm>
            <a:off x="304495" y="8997696"/>
            <a:ext cx="987552" cy="603504"/>
          </a:xfrm>
          <a:prstGeom prst="rect">
            <a:avLst/>
          </a:prstGeom>
          <a:solidFill>
            <a:srgbClr val="00337F"/>
          </a:solidFill>
          <a:ln/>
        </p:spPr>
      </p:sp>
      <p:sp>
        <p:nvSpPr>
          <p:cNvPr id="227" name="Text 200"/>
          <p:cNvSpPr/>
          <p:nvPr/>
        </p:nvSpPr>
        <p:spPr>
          <a:xfrm>
            <a:off x="304495" y="8863279"/>
            <a:ext cx="987552" cy="8714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4280" b="1" dirty="0">
                <a:solidFill>
                  <a:srgbClr val="FFFFFF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05</a:t>
            </a:r>
            <a:endParaRPr lang="en-US" sz="4280" dirty="0"/>
          </a:p>
        </p:txBody>
      </p:sp>
      <p:sp>
        <p:nvSpPr>
          <p:cNvPr id="228" name="Text 201"/>
          <p:cNvSpPr/>
          <p:nvPr/>
        </p:nvSpPr>
        <p:spPr>
          <a:xfrm>
            <a:off x="1414577" y="8826703"/>
            <a:ext cx="4267505" cy="5605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660" b="1" dirty="0">
                <a:solidFill>
                  <a:srgbClr val="00337F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사업의 미래</a:t>
            </a:r>
            <a:endParaRPr lang="en-US" sz="3660" dirty="0"/>
          </a:p>
        </p:txBody>
      </p:sp>
      <p:sp>
        <p:nvSpPr>
          <p:cNvPr id="229" name="Text 202"/>
          <p:cNvSpPr/>
          <p:nvPr/>
        </p:nvSpPr>
        <p:spPr>
          <a:xfrm>
            <a:off x="1414577" y="9411919"/>
            <a:ext cx="5060290" cy="5605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4000"/>
              </a:lnSpc>
              <a:buNone/>
            </a:pPr>
            <a:r>
              <a:rPr lang="en-US" sz="1370" b="1" dirty="0">
                <a:solidFill>
                  <a:srgbClr val="3A3A3A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약 90% 기업이 가업승계를 준비하지 않고 있으며,</a:t>
            </a:r>
            <a:endParaRPr lang="en-US" sz="1370" dirty="0"/>
          </a:p>
          <a:p>
            <a:pPr algn="l" indent="0" marL="0">
              <a:lnSpc>
                <a:spcPct val="134000"/>
              </a:lnSpc>
              <a:buNone/>
            </a:pPr>
            <a:r>
              <a:rPr lang="en-US" sz="1370" b="1" dirty="0">
                <a:solidFill>
                  <a:srgbClr val="3A3A3A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노후 준비는 국민연금·개인연금·저축 중심으로 이루어지고 있습니다.</a:t>
            </a:r>
            <a:endParaRPr lang="en-US" sz="1370" dirty="0"/>
          </a:p>
        </p:txBody>
      </p:sp>
      <p:sp>
        <p:nvSpPr>
          <p:cNvPr id="230" name="Shape 203"/>
          <p:cNvSpPr/>
          <p:nvPr/>
        </p:nvSpPr>
        <p:spPr>
          <a:xfrm>
            <a:off x="213055" y="10211105"/>
            <a:ext cx="267919" cy="267919"/>
          </a:xfrm>
          <a:prstGeom prst="ellipse">
            <a:avLst/>
          </a:prstGeom>
          <a:solidFill>
            <a:srgbClr val="FFFFFF"/>
          </a:solidFill>
          <a:ln w="9525">
            <a:solidFill>
              <a:srgbClr val="D8E5F2"/>
            </a:solidFill>
            <a:prstDash val="solid"/>
          </a:ln>
        </p:spPr>
      </p:sp>
      <p:sp>
        <p:nvSpPr>
          <p:cNvPr id="231" name="Shape 204"/>
          <p:cNvSpPr/>
          <p:nvPr/>
        </p:nvSpPr>
        <p:spPr>
          <a:xfrm>
            <a:off x="2694737" y="10211105"/>
            <a:ext cx="267919" cy="267919"/>
          </a:xfrm>
          <a:prstGeom prst="ellipse">
            <a:avLst/>
          </a:prstGeom>
          <a:solidFill>
            <a:srgbClr val="FFFFFF"/>
          </a:solidFill>
          <a:ln w="9525">
            <a:solidFill>
              <a:srgbClr val="D8E5F2"/>
            </a:solidFill>
            <a:prstDash val="solid"/>
          </a:ln>
        </p:spPr>
      </p:sp>
      <p:sp>
        <p:nvSpPr>
          <p:cNvPr id="232" name="Shape 205"/>
          <p:cNvSpPr/>
          <p:nvPr/>
        </p:nvSpPr>
        <p:spPr>
          <a:xfrm>
            <a:off x="213055" y="13288975"/>
            <a:ext cx="267919" cy="267919"/>
          </a:xfrm>
          <a:prstGeom prst="ellipse">
            <a:avLst/>
          </a:prstGeom>
          <a:solidFill>
            <a:srgbClr val="FFFFFF"/>
          </a:solidFill>
          <a:ln w="9525">
            <a:solidFill>
              <a:srgbClr val="D8E5F2"/>
            </a:solidFill>
            <a:prstDash val="solid"/>
          </a:ln>
        </p:spPr>
      </p:sp>
      <p:sp>
        <p:nvSpPr>
          <p:cNvPr id="233" name="Shape 206"/>
          <p:cNvSpPr/>
          <p:nvPr/>
        </p:nvSpPr>
        <p:spPr>
          <a:xfrm>
            <a:off x="2694737" y="13288975"/>
            <a:ext cx="267919" cy="267919"/>
          </a:xfrm>
          <a:prstGeom prst="ellipse">
            <a:avLst/>
          </a:prstGeom>
          <a:solidFill>
            <a:srgbClr val="FFFFFF"/>
          </a:solidFill>
          <a:ln w="9525">
            <a:solidFill>
              <a:srgbClr val="D8E5F2"/>
            </a:solidFill>
            <a:prstDash val="solid"/>
          </a:ln>
        </p:spPr>
      </p:sp>
      <p:sp>
        <p:nvSpPr>
          <p:cNvPr id="234" name="Shape 207"/>
          <p:cNvSpPr/>
          <p:nvPr/>
        </p:nvSpPr>
        <p:spPr>
          <a:xfrm>
            <a:off x="347472" y="10211105"/>
            <a:ext cx="2480767" cy="3346704"/>
          </a:xfrm>
          <a:prstGeom prst="rect">
            <a:avLst/>
          </a:prstGeom>
          <a:solidFill>
            <a:srgbClr val="FFFFFF"/>
          </a:solidFill>
          <a:ln w="9525">
            <a:solidFill>
              <a:srgbClr val="D8E5F2"/>
            </a:solidFill>
            <a:prstDash val="solid"/>
          </a:ln>
        </p:spPr>
      </p:sp>
      <p:sp>
        <p:nvSpPr>
          <p:cNvPr id="235" name="Shape 208"/>
          <p:cNvSpPr/>
          <p:nvPr/>
        </p:nvSpPr>
        <p:spPr>
          <a:xfrm>
            <a:off x="213055" y="10344607"/>
            <a:ext cx="2749601" cy="3078785"/>
          </a:xfrm>
          <a:prstGeom prst="rect">
            <a:avLst/>
          </a:prstGeom>
          <a:solidFill>
            <a:srgbClr val="FFFFFF"/>
          </a:solidFill>
          <a:ln w="9525">
            <a:solidFill>
              <a:srgbClr val="D8E5F2"/>
            </a:solidFill>
            <a:prstDash val="solid"/>
          </a:ln>
        </p:spPr>
      </p:sp>
      <p:sp>
        <p:nvSpPr>
          <p:cNvPr id="236" name="Shape 209"/>
          <p:cNvSpPr/>
          <p:nvPr/>
        </p:nvSpPr>
        <p:spPr>
          <a:xfrm>
            <a:off x="347472" y="10220249"/>
            <a:ext cx="2480767" cy="332841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37" name="Shape 210"/>
          <p:cNvSpPr/>
          <p:nvPr/>
        </p:nvSpPr>
        <p:spPr>
          <a:xfrm>
            <a:off x="222199" y="10344607"/>
            <a:ext cx="2731313" cy="307878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38" name="Shape 211"/>
          <p:cNvSpPr/>
          <p:nvPr/>
        </p:nvSpPr>
        <p:spPr>
          <a:xfrm>
            <a:off x="341071" y="10180015"/>
            <a:ext cx="134417" cy="134417"/>
          </a:xfrm>
          <a:prstGeom prst="ellipse">
            <a:avLst/>
          </a:prstGeom>
          <a:solidFill>
            <a:srgbClr val="0B3C88"/>
          </a:solidFill>
          <a:ln/>
        </p:spPr>
      </p:sp>
      <p:sp>
        <p:nvSpPr>
          <p:cNvPr id="239" name="Shape 212"/>
          <p:cNvSpPr/>
          <p:nvPr/>
        </p:nvSpPr>
        <p:spPr>
          <a:xfrm>
            <a:off x="2274113" y="10180015"/>
            <a:ext cx="134417" cy="134417"/>
          </a:xfrm>
          <a:prstGeom prst="ellipse">
            <a:avLst/>
          </a:prstGeom>
          <a:solidFill>
            <a:srgbClr val="0B3C88"/>
          </a:solidFill>
          <a:ln/>
        </p:spPr>
      </p:sp>
      <p:sp>
        <p:nvSpPr>
          <p:cNvPr id="240" name="Shape 213"/>
          <p:cNvSpPr/>
          <p:nvPr/>
        </p:nvSpPr>
        <p:spPr>
          <a:xfrm>
            <a:off x="341071" y="10412273"/>
            <a:ext cx="134417" cy="134417"/>
          </a:xfrm>
          <a:prstGeom prst="ellipse">
            <a:avLst/>
          </a:prstGeom>
          <a:solidFill>
            <a:srgbClr val="0B3C88"/>
          </a:solidFill>
          <a:ln/>
        </p:spPr>
      </p:sp>
      <p:sp>
        <p:nvSpPr>
          <p:cNvPr id="241" name="Shape 214"/>
          <p:cNvSpPr/>
          <p:nvPr/>
        </p:nvSpPr>
        <p:spPr>
          <a:xfrm>
            <a:off x="2274113" y="10412273"/>
            <a:ext cx="134417" cy="134417"/>
          </a:xfrm>
          <a:prstGeom prst="ellipse">
            <a:avLst/>
          </a:prstGeom>
          <a:solidFill>
            <a:srgbClr val="0B3C88"/>
          </a:solidFill>
          <a:ln/>
        </p:spPr>
      </p:sp>
      <p:sp>
        <p:nvSpPr>
          <p:cNvPr id="242" name="Shape 215"/>
          <p:cNvSpPr/>
          <p:nvPr/>
        </p:nvSpPr>
        <p:spPr>
          <a:xfrm>
            <a:off x="408737" y="10180015"/>
            <a:ext cx="1932127" cy="365760"/>
          </a:xfrm>
          <a:prstGeom prst="rect">
            <a:avLst/>
          </a:prstGeom>
          <a:solidFill>
            <a:srgbClr val="0B3C88"/>
          </a:solidFill>
          <a:ln/>
        </p:spPr>
      </p:sp>
      <p:sp>
        <p:nvSpPr>
          <p:cNvPr id="243" name="Shape 216"/>
          <p:cNvSpPr/>
          <p:nvPr/>
        </p:nvSpPr>
        <p:spPr>
          <a:xfrm>
            <a:off x="341071" y="10247681"/>
            <a:ext cx="2066544" cy="231343"/>
          </a:xfrm>
          <a:prstGeom prst="rect">
            <a:avLst/>
          </a:prstGeom>
          <a:solidFill>
            <a:srgbClr val="0B3C88"/>
          </a:solidFill>
          <a:ln/>
        </p:spPr>
      </p:sp>
      <p:sp>
        <p:nvSpPr>
          <p:cNvPr id="244" name="Shape 217"/>
          <p:cNvSpPr/>
          <p:nvPr/>
        </p:nvSpPr>
        <p:spPr>
          <a:xfrm>
            <a:off x="341071" y="10180015"/>
            <a:ext cx="134417" cy="134417"/>
          </a:xfrm>
          <a:prstGeom prst="ellipse">
            <a:avLst/>
          </a:prstGeom>
          <a:solidFill>
            <a:srgbClr val="00337F"/>
          </a:solidFill>
          <a:ln/>
        </p:spPr>
      </p:sp>
      <p:sp>
        <p:nvSpPr>
          <p:cNvPr id="245" name="Shape 218"/>
          <p:cNvSpPr/>
          <p:nvPr/>
        </p:nvSpPr>
        <p:spPr>
          <a:xfrm>
            <a:off x="573329" y="10180015"/>
            <a:ext cx="134417" cy="134417"/>
          </a:xfrm>
          <a:prstGeom prst="ellipse">
            <a:avLst/>
          </a:prstGeom>
          <a:solidFill>
            <a:srgbClr val="00337F"/>
          </a:solidFill>
          <a:ln/>
        </p:spPr>
      </p:sp>
      <p:sp>
        <p:nvSpPr>
          <p:cNvPr id="246" name="Shape 219"/>
          <p:cNvSpPr/>
          <p:nvPr/>
        </p:nvSpPr>
        <p:spPr>
          <a:xfrm>
            <a:off x="341071" y="10412273"/>
            <a:ext cx="134417" cy="134417"/>
          </a:xfrm>
          <a:prstGeom prst="ellipse">
            <a:avLst/>
          </a:prstGeom>
          <a:solidFill>
            <a:srgbClr val="00337F"/>
          </a:solidFill>
          <a:ln/>
        </p:spPr>
      </p:sp>
      <p:sp>
        <p:nvSpPr>
          <p:cNvPr id="247" name="Shape 220"/>
          <p:cNvSpPr/>
          <p:nvPr/>
        </p:nvSpPr>
        <p:spPr>
          <a:xfrm>
            <a:off x="573329" y="10412273"/>
            <a:ext cx="134417" cy="134417"/>
          </a:xfrm>
          <a:prstGeom prst="ellipse">
            <a:avLst/>
          </a:prstGeom>
          <a:solidFill>
            <a:srgbClr val="00337F"/>
          </a:solidFill>
          <a:ln/>
        </p:spPr>
      </p:sp>
      <p:sp>
        <p:nvSpPr>
          <p:cNvPr id="248" name="Shape 221"/>
          <p:cNvSpPr/>
          <p:nvPr/>
        </p:nvSpPr>
        <p:spPr>
          <a:xfrm>
            <a:off x="408737" y="10180015"/>
            <a:ext cx="231343" cy="365760"/>
          </a:xfrm>
          <a:prstGeom prst="rect">
            <a:avLst/>
          </a:prstGeom>
          <a:solidFill>
            <a:srgbClr val="00337F"/>
          </a:solidFill>
          <a:ln/>
        </p:spPr>
      </p:sp>
      <p:sp>
        <p:nvSpPr>
          <p:cNvPr id="249" name="Shape 222"/>
          <p:cNvSpPr/>
          <p:nvPr/>
        </p:nvSpPr>
        <p:spPr>
          <a:xfrm>
            <a:off x="341071" y="10247681"/>
            <a:ext cx="365760" cy="231343"/>
          </a:xfrm>
          <a:prstGeom prst="rect">
            <a:avLst/>
          </a:prstGeom>
          <a:solidFill>
            <a:srgbClr val="00337F"/>
          </a:solidFill>
          <a:ln/>
        </p:spPr>
      </p:sp>
      <p:sp>
        <p:nvSpPr>
          <p:cNvPr id="250" name="Text 223"/>
          <p:cNvSpPr/>
          <p:nvPr/>
        </p:nvSpPr>
        <p:spPr>
          <a:xfrm>
            <a:off x="341071" y="10180015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970" b="1" dirty="0">
                <a:solidFill>
                  <a:srgbClr val="FFFFFF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1</a:t>
            </a:r>
            <a:endParaRPr lang="en-US" sz="1970" dirty="0"/>
          </a:p>
        </p:txBody>
      </p:sp>
      <p:sp>
        <p:nvSpPr>
          <p:cNvPr id="251" name="Text 224"/>
          <p:cNvSpPr/>
          <p:nvPr/>
        </p:nvSpPr>
        <p:spPr>
          <a:xfrm>
            <a:off x="829361" y="10180015"/>
            <a:ext cx="15179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가업승계 준비 단계</a:t>
            </a:r>
            <a:endParaRPr lang="en-US" sz="1450" dirty="0"/>
          </a:p>
        </p:txBody>
      </p:sp>
      <p:sp>
        <p:nvSpPr>
          <p:cNvPr id="252" name="Text 225"/>
          <p:cNvSpPr/>
          <p:nvPr/>
        </p:nvSpPr>
        <p:spPr>
          <a:xfrm>
            <a:off x="365760" y="10618927"/>
            <a:ext cx="243870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1360" b="1" dirty="0">
                <a:solidFill>
                  <a:srgbClr val="0B3C88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약 90%가 승계를 사실상 준비하지</a:t>
            </a:r>
            <a:endParaRPr lang="en-US" sz="1360" dirty="0"/>
          </a:p>
          <a:p>
            <a:pPr algn="l" indent="0" marL="0">
              <a:lnSpc>
                <a:spcPct val="124000"/>
              </a:lnSpc>
              <a:buNone/>
            </a:pPr>
            <a:r>
              <a:rPr lang="en-US" sz="1360" b="1" dirty="0">
                <a:solidFill>
                  <a:srgbClr val="0B3C88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않고 있습니다.</a:t>
            </a:r>
            <a:endParaRPr lang="en-US" sz="1360" dirty="0"/>
          </a:p>
        </p:txBody>
      </p:sp>
      <p:graphicFrame>
        <p:nvGraphicFramePr>
          <p:cNvPr id="253" name="Chart 3" descr=""/>
          <p:cNvGraphicFramePr/>
          <p:nvPr/>
        </p:nvGraphicFramePr>
        <p:xfrm>
          <a:off x="1024128" y="11521440"/>
          <a:ext cx="1451153" cy="1451153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6"/>
          </a:graphicData>
        </a:graphic>
      </p:graphicFrame>
      <p:pic>
        <p:nvPicPr>
          <p:cNvPr id="254" name="Image 22" descr="g04-succ">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1481328" y="11978640"/>
            <a:ext cx="536753" cy="536753"/>
          </a:xfrm>
          <a:prstGeom prst="rect">
            <a:avLst/>
          </a:prstGeom>
        </p:spPr>
      </p:pic>
      <p:sp>
        <p:nvSpPr>
          <p:cNvPr id="255" name="Text 226"/>
          <p:cNvSpPr/>
          <p:nvPr/>
        </p:nvSpPr>
        <p:spPr>
          <a:xfrm>
            <a:off x="731520" y="10972800"/>
            <a:ext cx="1828800" cy="3410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170" b="1" dirty="0">
                <a:solidFill>
                  <a:srgbClr val="0B3C88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승계 대상자 확정,</a:t>
            </a:r>
            <a:endParaRPr lang="en-US" sz="1170" dirty="0"/>
          </a:p>
          <a:p>
            <a:pPr algn="ctr" indent="0" marL="0">
              <a:lnSpc>
                <a:spcPct val="112000"/>
              </a:lnSpc>
              <a:buNone/>
            </a:pPr>
            <a:r>
              <a:rPr lang="en-US" sz="1170" b="1" dirty="0">
                <a:solidFill>
                  <a:srgbClr val="0B3C88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경영 참여 중</a:t>
            </a:r>
            <a:endParaRPr lang="en-US" sz="1170" dirty="0"/>
          </a:p>
        </p:txBody>
      </p:sp>
      <p:sp>
        <p:nvSpPr>
          <p:cNvPr id="256" name="Text 227"/>
          <p:cNvSpPr/>
          <p:nvPr/>
        </p:nvSpPr>
        <p:spPr>
          <a:xfrm>
            <a:off x="1474754" y="11257636"/>
            <a:ext cx="403113" cy="390906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620" b="1" dirty="0">
                <a:solidFill>
                  <a:srgbClr val="00449C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6.2</a:t>
            </a:r>
            <a:endParaRPr lang="en-US" sz="1620" dirty="0"/>
          </a:p>
        </p:txBody>
      </p:sp>
      <p:sp>
        <p:nvSpPr>
          <p:cNvPr id="257" name="Text 228"/>
          <p:cNvSpPr/>
          <p:nvPr/>
        </p:nvSpPr>
        <p:spPr>
          <a:xfrm>
            <a:off x="1768140" y="11373968"/>
            <a:ext cx="231826" cy="265430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00449C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%</a:t>
            </a:r>
            <a:endParaRPr lang="en-US" sz="1100" dirty="0"/>
          </a:p>
        </p:txBody>
      </p:sp>
      <p:sp>
        <p:nvSpPr>
          <p:cNvPr id="258" name="Text 229"/>
          <p:cNvSpPr/>
          <p:nvPr/>
        </p:nvSpPr>
        <p:spPr>
          <a:xfrm>
            <a:off x="244145" y="11448390"/>
            <a:ext cx="635142" cy="501904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2080" b="1" dirty="0">
                <a:solidFill>
                  <a:srgbClr val="6B7280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21.7</a:t>
            </a:r>
            <a:endParaRPr lang="en-US" sz="2080" dirty="0"/>
          </a:p>
        </p:txBody>
      </p:sp>
      <p:sp>
        <p:nvSpPr>
          <p:cNvPr id="259" name="Text 230"/>
          <p:cNvSpPr/>
          <p:nvPr/>
        </p:nvSpPr>
        <p:spPr>
          <a:xfrm>
            <a:off x="769559" y="11602085"/>
            <a:ext cx="264015" cy="335407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390" b="1" dirty="0">
                <a:solidFill>
                  <a:srgbClr val="6B7280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%</a:t>
            </a:r>
            <a:endParaRPr lang="en-US" sz="1390" dirty="0"/>
          </a:p>
        </p:txBody>
      </p:sp>
      <p:sp>
        <p:nvSpPr>
          <p:cNvPr id="260" name="Text 231"/>
          <p:cNvSpPr/>
          <p:nvPr/>
        </p:nvSpPr>
        <p:spPr>
          <a:xfrm>
            <a:off x="244145" y="11972239"/>
            <a:ext cx="853135" cy="4636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320" b="1" dirty="0">
                <a:solidFill>
                  <a:srgbClr val="6B7280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아직 고려</a:t>
            </a:r>
            <a:endParaRPr lang="en-US" sz="1320" dirty="0"/>
          </a:p>
          <a:p>
            <a:pPr algn="l" indent="0" marL="0">
              <a:lnSpc>
                <a:spcPct val="116000"/>
              </a:lnSpc>
              <a:buNone/>
            </a:pPr>
            <a:r>
              <a:rPr lang="en-US" sz="1320" b="1" dirty="0">
                <a:solidFill>
                  <a:srgbClr val="6B7280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하지 않음</a:t>
            </a:r>
            <a:endParaRPr lang="en-US" sz="1320" dirty="0"/>
          </a:p>
        </p:txBody>
      </p:sp>
      <p:sp>
        <p:nvSpPr>
          <p:cNvPr id="261" name="Text 232"/>
          <p:cNvSpPr/>
          <p:nvPr/>
        </p:nvSpPr>
        <p:spPr>
          <a:xfrm>
            <a:off x="1528382" y="12484024"/>
            <a:ext cx="870063" cy="726313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010" b="1" dirty="0">
                <a:solidFill>
                  <a:srgbClr val="00449C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68.3</a:t>
            </a:r>
            <a:endParaRPr lang="en-US" sz="3010" dirty="0"/>
          </a:p>
        </p:txBody>
      </p:sp>
      <p:sp>
        <p:nvSpPr>
          <p:cNvPr id="262" name="Text 233"/>
          <p:cNvSpPr/>
          <p:nvPr/>
        </p:nvSpPr>
        <p:spPr>
          <a:xfrm>
            <a:off x="2288717" y="12742901"/>
            <a:ext cx="315074" cy="446405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850" b="1" dirty="0">
                <a:solidFill>
                  <a:srgbClr val="00449C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%</a:t>
            </a:r>
            <a:endParaRPr lang="en-US" sz="1850" dirty="0"/>
          </a:p>
        </p:txBody>
      </p:sp>
      <p:sp>
        <p:nvSpPr>
          <p:cNvPr id="263" name="Text 234"/>
          <p:cNvSpPr/>
          <p:nvPr/>
        </p:nvSpPr>
        <p:spPr>
          <a:xfrm>
            <a:off x="1218895" y="13203936"/>
            <a:ext cx="1584655" cy="3776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6000"/>
              </a:lnSpc>
              <a:buNone/>
            </a:pPr>
            <a:r>
              <a:rPr lang="en-US" sz="1220" b="1" dirty="0">
                <a:solidFill>
                  <a:srgbClr val="0B3C88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승계 의향 없음</a:t>
            </a:r>
            <a:endParaRPr lang="en-US" sz="1220" dirty="0"/>
          </a:p>
          <a:p>
            <a:pPr algn="ctr" indent="0" marL="0">
              <a:lnSpc>
                <a:spcPct val="116000"/>
              </a:lnSpc>
              <a:buNone/>
            </a:pPr>
            <a:r>
              <a:rPr lang="en-US" sz="1220" b="1" dirty="0">
                <a:solidFill>
                  <a:srgbClr val="0B3C88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(폐업·매각 등 검토)</a:t>
            </a:r>
            <a:endParaRPr lang="en-US" sz="1220" dirty="0"/>
          </a:p>
        </p:txBody>
      </p:sp>
      <p:sp>
        <p:nvSpPr>
          <p:cNvPr id="264" name="Shape 235"/>
          <p:cNvSpPr/>
          <p:nvPr/>
        </p:nvSpPr>
        <p:spPr>
          <a:xfrm>
            <a:off x="3078785" y="10211105"/>
            <a:ext cx="267919" cy="267919"/>
          </a:xfrm>
          <a:prstGeom prst="ellipse">
            <a:avLst/>
          </a:prstGeom>
          <a:solidFill>
            <a:srgbClr val="FFFFFF"/>
          </a:solidFill>
          <a:ln w="9525">
            <a:solidFill>
              <a:srgbClr val="D8E5F2"/>
            </a:solidFill>
            <a:prstDash val="solid"/>
          </a:ln>
        </p:spPr>
      </p:sp>
      <p:sp>
        <p:nvSpPr>
          <p:cNvPr id="265" name="Shape 236"/>
          <p:cNvSpPr/>
          <p:nvPr/>
        </p:nvSpPr>
        <p:spPr>
          <a:xfrm>
            <a:off x="6011266" y="10211105"/>
            <a:ext cx="267919" cy="267919"/>
          </a:xfrm>
          <a:prstGeom prst="ellipse">
            <a:avLst/>
          </a:prstGeom>
          <a:solidFill>
            <a:srgbClr val="FFFFFF"/>
          </a:solidFill>
          <a:ln w="9525">
            <a:solidFill>
              <a:srgbClr val="D8E5F2"/>
            </a:solidFill>
            <a:prstDash val="solid"/>
          </a:ln>
        </p:spPr>
      </p:sp>
      <p:sp>
        <p:nvSpPr>
          <p:cNvPr id="266" name="Shape 237"/>
          <p:cNvSpPr/>
          <p:nvPr/>
        </p:nvSpPr>
        <p:spPr>
          <a:xfrm>
            <a:off x="3078785" y="13288975"/>
            <a:ext cx="267919" cy="267919"/>
          </a:xfrm>
          <a:prstGeom prst="ellipse">
            <a:avLst/>
          </a:prstGeom>
          <a:solidFill>
            <a:srgbClr val="FFFFFF"/>
          </a:solidFill>
          <a:ln w="9525">
            <a:solidFill>
              <a:srgbClr val="D8E5F2"/>
            </a:solidFill>
            <a:prstDash val="solid"/>
          </a:ln>
        </p:spPr>
      </p:sp>
      <p:sp>
        <p:nvSpPr>
          <p:cNvPr id="267" name="Shape 238"/>
          <p:cNvSpPr/>
          <p:nvPr/>
        </p:nvSpPr>
        <p:spPr>
          <a:xfrm>
            <a:off x="6011266" y="13288975"/>
            <a:ext cx="267919" cy="267919"/>
          </a:xfrm>
          <a:prstGeom prst="ellipse">
            <a:avLst/>
          </a:prstGeom>
          <a:solidFill>
            <a:srgbClr val="FFFFFF"/>
          </a:solidFill>
          <a:ln w="9525">
            <a:solidFill>
              <a:srgbClr val="D8E5F2"/>
            </a:solidFill>
            <a:prstDash val="solid"/>
          </a:ln>
        </p:spPr>
      </p:sp>
      <p:sp>
        <p:nvSpPr>
          <p:cNvPr id="268" name="Shape 239"/>
          <p:cNvSpPr/>
          <p:nvPr/>
        </p:nvSpPr>
        <p:spPr>
          <a:xfrm>
            <a:off x="3212287" y="10211105"/>
            <a:ext cx="2932481" cy="3346704"/>
          </a:xfrm>
          <a:prstGeom prst="rect">
            <a:avLst/>
          </a:prstGeom>
          <a:solidFill>
            <a:srgbClr val="FFFFFF"/>
          </a:solidFill>
          <a:ln w="9525">
            <a:solidFill>
              <a:srgbClr val="D8E5F2"/>
            </a:solidFill>
            <a:prstDash val="solid"/>
          </a:ln>
        </p:spPr>
      </p:sp>
      <p:sp>
        <p:nvSpPr>
          <p:cNvPr id="269" name="Shape 240"/>
          <p:cNvSpPr/>
          <p:nvPr/>
        </p:nvSpPr>
        <p:spPr>
          <a:xfrm>
            <a:off x="3078785" y="10344607"/>
            <a:ext cx="3200400" cy="3078785"/>
          </a:xfrm>
          <a:prstGeom prst="rect">
            <a:avLst/>
          </a:prstGeom>
          <a:solidFill>
            <a:srgbClr val="FFFFFF"/>
          </a:solidFill>
          <a:ln w="9525">
            <a:solidFill>
              <a:srgbClr val="D8E5F2"/>
            </a:solidFill>
            <a:prstDash val="solid"/>
          </a:ln>
        </p:spPr>
      </p:sp>
      <p:sp>
        <p:nvSpPr>
          <p:cNvPr id="270" name="Shape 241"/>
          <p:cNvSpPr/>
          <p:nvPr/>
        </p:nvSpPr>
        <p:spPr>
          <a:xfrm>
            <a:off x="3212287" y="10220249"/>
            <a:ext cx="2932481" cy="332841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71" name="Shape 242"/>
          <p:cNvSpPr/>
          <p:nvPr/>
        </p:nvSpPr>
        <p:spPr>
          <a:xfrm>
            <a:off x="3087929" y="10344607"/>
            <a:ext cx="3182112" cy="307878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72" name="Shape 243"/>
          <p:cNvSpPr/>
          <p:nvPr/>
        </p:nvSpPr>
        <p:spPr>
          <a:xfrm>
            <a:off x="3212287" y="10180015"/>
            <a:ext cx="134417" cy="134417"/>
          </a:xfrm>
          <a:prstGeom prst="ellipse">
            <a:avLst/>
          </a:prstGeom>
          <a:solidFill>
            <a:srgbClr val="0B3C88"/>
          </a:solidFill>
          <a:ln/>
        </p:spPr>
      </p:sp>
      <p:sp>
        <p:nvSpPr>
          <p:cNvPr id="273" name="Shape 244"/>
          <p:cNvSpPr/>
          <p:nvPr/>
        </p:nvSpPr>
        <p:spPr>
          <a:xfrm>
            <a:off x="6126480" y="10180015"/>
            <a:ext cx="134417" cy="134417"/>
          </a:xfrm>
          <a:prstGeom prst="ellipse">
            <a:avLst/>
          </a:prstGeom>
          <a:solidFill>
            <a:srgbClr val="0B3C88"/>
          </a:solidFill>
          <a:ln/>
        </p:spPr>
      </p:sp>
      <p:sp>
        <p:nvSpPr>
          <p:cNvPr id="274" name="Shape 245"/>
          <p:cNvSpPr/>
          <p:nvPr/>
        </p:nvSpPr>
        <p:spPr>
          <a:xfrm>
            <a:off x="3212287" y="10412273"/>
            <a:ext cx="134417" cy="134417"/>
          </a:xfrm>
          <a:prstGeom prst="ellipse">
            <a:avLst/>
          </a:prstGeom>
          <a:solidFill>
            <a:srgbClr val="0B3C88"/>
          </a:solidFill>
          <a:ln/>
        </p:spPr>
      </p:sp>
      <p:sp>
        <p:nvSpPr>
          <p:cNvPr id="275" name="Shape 246"/>
          <p:cNvSpPr/>
          <p:nvPr/>
        </p:nvSpPr>
        <p:spPr>
          <a:xfrm>
            <a:off x="6126480" y="10412273"/>
            <a:ext cx="134417" cy="134417"/>
          </a:xfrm>
          <a:prstGeom prst="ellipse">
            <a:avLst/>
          </a:prstGeom>
          <a:solidFill>
            <a:srgbClr val="0B3C88"/>
          </a:solidFill>
          <a:ln/>
        </p:spPr>
      </p:sp>
      <p:sp>
        <p:nvSpPr>
          <p:cNvPr id="276" name="Shape 247"/>
          <p:cNvSpPr/>
          <p:nvPr/>
        </p:nvSpPr>
        <p:spPr>
          <a:xfrm>
            <a:off x="3279953" y="10180015"/>
            <a:ext cx="2914193" cy="365760"/>
          </a:xfrm>
          <a:prstGeom prst="rect">
            <a:avLst/>
          </a:prstGeom>
          <a:solidFill>
            <a:srgbClr val="0B3C88"/>
          </a:solidFill>
          <a:ln/>
        </p:spPr>
      </p:sp>
      <p:sp>
        <p:nvSpPr>
          <p:cNvPr id="277" name="Shape 248"/>
          <p:cNvSpPr/>
          <p:nvPr/>
        </p:nvSpPr>
        <p:spPr>
          <a:xfrm>
            <a:off x="3212287" y="10247681"/>
            <a:ext cx="3047695" cy="231343"/>
          </a:xfrm>
          <a:prstGeom prst="rect">
            <a:avLst/>
          </a:prstGeom>
          <a:solidFill>
            <a:srgbClr val="0B3C88"/>
          </a:solidFill>
          <a:ln/>
        </p:spPr>
      </p:sp>
      <p:sp>
        <p:nvSpPr>
          <p:cNvPr id="278" name="Shape 249"/>
          <p:cNvSpPr/>
          <p:nvPr/>
        </p:nvSpPr>
        <p:spPr>
          <a:xfrm>
            <a:off x="3212287" y="10180015"/>
            <a:ext cx="134417" cy="134417"/>
          </a:xfrm>
          <a:prstGeom prst="ellipse">
            <a:avLst/>
          </a:prstGeom>
          <a:solidFill>
            <a:srgbClr val="00337F"/>
          </a:solidFill>
          <a:ln/>
        </p:spPr>
      </p:sp>
      <p:sp>
        <p:nvSpPr>
          <p:cNvPr id="279" name="Shape 250"/>
          <p:cNvSpPr/>
          <p:nvPr/>
        </p:nvSpPr>
        <p:spPr>
          <a:xfrm>
            <a:off x="3444545" y="10180015"/>
            <a:ext cx="134417" cy="134417"/>
          </a:xfrm>
          <a:prstGeom prst="ellipse">
            <a:avLst/>
          </a:prstGeom>
          <a:solidFill>
            <a:srgbClr val="00337F"/>
          </a:solidFill>
          <a:ln/>
        </p:spPr>
      </p:sp>
      <p:sp>
        <p:nvSpPr>
          <p:cNvPr id="280" name="Shape 251"/>
          <p:cNvSpPr/>
          <p:nvPr/>
        </p:nvSpPr>
        <p:spPr>
          <a:xfrm>
            <a:off x="3212287" y="10412273"/>
            <a:ext cx="134417" cy="134417"/>
          </a:xfrm>
          <a:prstGeom prst="ellipse">
            <a:avLst/>
          </a:prstGeom>
          <a:solidFill>
            <a:srgbClr val="00337F"/>
          </a:solidFill>
          <a:ln/>
        </p:spPr>
      </p:sp>
      <p:sp>
        <p:nvSpPr>
          <p:cNvPr id="281" name="Shape 252"/>
          <p:cNvSpPr/>
          <p:nvPr/>
        </p:nvSpPr>
        <p:spPr>
          <a:xfrm>
            <a:off x="3444545" y="10412273"/>
            <a:ext cx="134417" cy="134417"/>
          </a:xfrm>
          <a:prstGeom prst="ellipse">
            <a:avLst/>
          </a:prstGeom>
          <a:solidFill>
            <a:srgbClr val="00337F"/>
          </a:solidFill>
          <a:ln/>
        </p:spPr>
      </p:sp>
      <p:sp>
        <p:nvSpPr>
          <p:cNvPr id="282" name="Shape 253"/>
          <p:cNvSpPr/>
          <p:nvPr/>
        </p:nvSpPr>
        <p:spPr>
          <a:xfrm>
            <a:off x="3279953" y="10180015"/>
            <a:ext cx="231343" cy="365760"/>
          </a:xfrm>
          <a:prstGeom prst="rect">
            <a:avLst/>
          </a:prstGeom>
          <a:solidFill>
            <a:srgbClr val="00337F"/>
          </a:solidFill>
          <a:ln/>
        </p:spPr>
      </p:sp>
      <p:sp>
        <p:nvSpPr>
          <p:cNvPr id="283" name="Shape 254"/>
          <p:cNvSpPr/>
          <p:nvPr/>
        </p:nvSpPr>
        <p:spPr>
          <a:xfrm>
            <a:off x="3212287" y="10247681"/>
            <a:ext cx="365760" cy="231343"/>
          </a:xfrm>
          <a:prstGeom prst="rect">
            <a:avLst/>
          </a:prstGeom>
          <a:solidFill>
            <a:srgbClr val="00337F"/>
          </a:solidFill>
          <a:ln/>
        </p:spPr>
      </p:sp>
      <p:sp>
        <p:nvSpPr>
          <p:cNvPr id="284" name="Text 255"/>
          <p:cNvSpPr/>
          <p:nvPr/>
        </p:nvSpPr>
        <p:spPr>
          <a:xfrm>
            <a:off x="3212287" y="10180015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970" b="1" dirty="0">
                <a:solidFill>
                  <a:srgbClr val="FFFFFF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2</a:t>
            </a:r>
            <a:endParaRPr lang="en-US" sz="1970" dirty="0"/>
          </a:p>
        </p:txBody>
      </p:sp>
      <p:sp>
        <p:nvSpPr>
          <p:cNvPr id="285" name="Text 256"/>
          <p:cNvSpPr/>
          <p:nvPr/>
        </p:nvSpPr>
        <p:spPr>
          <a:xfrm>
            <a:off x="3700577" y="10180015"/>
            <a:ext cx="2499055" cy="3657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110" b="1" dirty="0">
                <a:solidFill>
                  <a:srgbClr val="FFFFFF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가업승계 활성화를 위한 지원</a:t>
            </a:r>
            <a:pPr algn="l" indent="0" marL="0">
              <a:lnSpc>
                <a:spcPct val="95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  (1·2순위 합산)</a:t>
            </a:r>
            <a:endParaRPr lang="en-US" sz="1110" dirty="0"/>
          </a:p>
        </p:txBody>
      </p:sp>
      <p:sp>
        <p:nvSpPr>
          <p:cNvPr id="286" name="Text 257"/>
          <p:cNvSpPr/>
          <p:nvPr/>
        </p:nvSpPr>
        <p:spPr>
          <a:xfrm>
            <a:off x="3255264" y="10618927"/>
            <a:ext cx="2926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1420" b="1" dirty="0">
                <a:solidFill>
                  <a:srgbClr val="0B3C88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세금 부담 완화에 대한 지원 요구가</a:t>
            </a:r>
            <a:endParaRPr lang="en-US" sz="1420" dirty="0"/>
          </a:p>
          <a:p>
            <a:pPr algn="l" indent="0" marL="0">
              <a:lnSpc>
                <a:spcPct val="124000"/>
              </a:lnSpc>
              <a:buNone/>
            </a:pPr>
            <a:r>
              <a:rPr lang="en-US" sz="1420" b="1" dirty="0">
                <a:solidFill>
                  <a:srgbClr val="0B3C88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가장 높습니다.</a:t>
            </a:r>
            <a:endParaRPr lang="en-US" sz="1420" dirty="0"/>
          </a:p>
        </p:txBody>
      </p:sp>
      <p:pic>
        <p:nvPicPr>
          <p:cNvPr id="287" name="Image 23" descr="g04-med1">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3206801" y="11107217"/>
            <a:ext cx="341071" cy="463601"/>
          </a:xfrm>
          <a:prstGeom prst="rect">
            <a:avLst/>
          </a:prstGeom>
        </p:spPr>
      </p:pic>
      <p:sp>
        <p:nvSpPr>
          <p:cNvPr id="288" name="Text 258"/>
          <p:cNvSpPr/>
          <p:nvPr/>
        </p:nvSpPr>
        <p:spPr>
          <a:xfrm>
            <a:off x="3632911" y="11185855"/>
            <a:ext cx="118231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70" b="1" dirty="0">
                <a:solidFill>
                  <a:srgbClr val="1A1A1A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세금 부담 완화</a:t>
            </a:r>
            <a:endParaRPr lang="en-US" sz="1270" dirty="0"/>
          </a:p>
        </p:txBody>
      </p:sp>
      <p:pic>
        <p:nvPicPr>
          <p:cNvPr id="289" name="Image 24" descr="g04-med2">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3206801" y="11587277"/>
            <a:ext cx="341071" cy="463601"/>
          </a:xfrm>
          <a:prstGeom prst="rect">
            <a:avLst/>
          </a:prstGeom>
        </p:spPr>
      </p:pic>
      <p:sp>
        <p:nvSpPr>
          <p:cNvPr id="290" name="Text 259"/>
          <p:cNvSpPr/>
          <p:nvPr/>
        </p:nvSpPr>
        <p:spPr>
          <a:xfrm>
            <a:off x="3632911" y="11666830"/>
            <a:ext cx="118231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70" b="1" dirty="0">
                <a:solidFill>
                  <a:srgbClr val="1A1A1A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후계자 양성</a:t>
            </a:r>
            <a:endParaRPr lang="en-US" sz="127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270" b="1" dirty="0">
                <a:solidFill>
                  <a:srgbClr val="1A1A1A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교육·컨설팅</a:t>
            </a:r>
            <a:endParaRPr lang="en-US" sz="1270" dirty="0"/>
          </a:p>
        </p:txBody>
      </p:sp>
      <p:pic>
        <p:nvPicPr>
          <p:cNvPr id="291" name="Image 25" descr="g04-med3">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3206801" y="12067337"/>
            <a:ext cx="341071" cy="463601"/>
          </a:xfrm>
          <a:prstGeom prst="rect">
            <a:avLst/>
          </a:prstGeom>
        </p:spPr>
      </p:pic>
      <p:sp>
        <p:nvSpPr>
          <p:cNvPr id="292" name="Text 260"/>
          <p:cNvSpPr/>
          <p:nvPr/>
        </p:nvSpPr>
        <p:spPr>
          <a:xfrm>
            <a:off x="3632911" y="12146890"/>
            <a:ext cx="118231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10" b="1" dirty="0">
                <a:solidFill>
                  <a:srgbClr val="1A1A1A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사업 재편·다각화</a:t>
            </a:r>
            <a:endParaRPr lang="en-US" sz="121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210" b="1" dirty="0">
                <a:solidFill>
                  <a:srgbClr val="1A1A1A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지원</a:t>
            </a:r>
            <a:endParaRPr lang="en-US" sz="1210" dirty="0"/>
          </a:p>
        </p:txBody>
      </p:sp>
      <p:pic>
        <p:nvPicPr>
          <p:cNvPr id="293" name="Image 26" descr="g04-med4">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3206801" y="12548311"/>
            <a:ext cx="341071" cy="463601"/>
          </a:xfrm>
          <a:prstGeom prst="rect">
            <a:avLst/>
          </a:prstGeom>
        </p:spPr>
      </p:pic>
      <p:sp>
        <p:nvSpPr>
          <p:cNvPr id="294" name="Text 261"/>
          <p:cNvSpPr/>
          <p:nvPr/>
        </p:nvSpPr>
        <p:spPr>
          <a:xfrm>
            <a:off x="3632911" y="12626950"/>
            <a:ext cx="118231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70" b="1" dirty="0">
                <a:solidFill>
                  <a:srgbClr val="1A1A1A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승계 자금 지원</a:t>
            </a:r>
            <a:endParaRPr lang="en-US" sz="1270" dirty="0"/>
          </a:p>
        </p:txBody>
      </p:sp>
      <p:pic>
        <p:nvPicPr>
          <p:cNvPr id="295" name="Image 27" descr="g04-med5">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3206801" y="13028371"/>
            <a:ext cx="341071" cy="463601"/>
          </a:xfrm>
          <a:prstGeom prst="rect">
            <a:avLst/>
          </a:prstGeom>
        </p:spPr>
      </p:pic>
      <p:sp>
        <p:nvSpPr>
          <p:cNvPr id="296" name="Text 262"/>
          <p:cNvSpPr/>
          <p:nvPr/>
        </p:nvSpPr>
        <p:spPr>
          <a:xfrm>
            <a:off x="3632911" y="13107924"/>
            <a:ext cx="118231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70" b="1" dirty="0">
                <a:solidFill>
                  <a:srgbClr val="1A1A1A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법·제도 개선</a:t>
            </a:r>
            <a:endParaRPr lang="en-US" sz="1270" dirty="0"/>
          </a:p>
        </p:txBody>
      </p:sp>
      <p:graphicFrame>
        <p:nvGraphicFramePr>
          <p:cNvPr id="297" name="Chart 4" descr=""/>
          <p:cNvGraphicFramePr/>
          <p:nvPr/>
        </p:nvGraphicFramePr>
        <p:xfrm>
          <a:off x="4809744" y="11101730"/>
          <a:ext cx="1378001" cy="2402129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3"/>
          </a:graphicData>
        </a:graphic>
      </p:graphicFrame>
      <p:sp>
        <p:nvSpPr>
          <p:cNvPr id="298" name="Text 263"/>
          <p:cNvSpPr/>
          <p:nvPr/>
        </p:nvSpPr>
        <p:spPr>
          <a:xfrm>
            <a:off x="5699455" y="11056468"/>
            <a:ext cx="518945" cy="390906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620" b="1" dirty="0">
                <a:solidFill>
                  <a:srgbClr val="00449C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62.7</a:t>
            </a:r>
            <a:endParaRPr lang="en-US" sz="1620" dirty="0"/>
          </a:p>
        </p:txBody>
      </p:sp>
      <p:sp>
        <p:nvSpPr>
          <p:cNvPr id="299" name="Text 264"/>
          <p:cNvSpPr/>
          <p:nvPr/>
        </p:nvSpPr>
        <p:spPr>
          <a:xfrm>
            <a:off x="6108672" y="11172800"/>
            <a:ext cx="231826" cy="265430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00449C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%</a:t>
            </a:r>
            <a:endParaRPr lang="en-US" sz="1100" dirty="0"/>
          </a:p>
        </p:txBody>
      </p:sp>
      <p:sp>
        <p:nvSpPr>
          <p:cNvPr id="300" name="Text 265"/>
          <p:cNvSpPr/>
          <p:nvPr/>
        </p:nvSpPr>
        <p:spPr>
          <a:xfrm>
            <a:off x="5359298" y="11537442"/>
            <a:ext cx="518945" cy="390906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620" b="1" dirty="0">
                <a:solidFill>
                  <a:srgbClr val="00449C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37.3</a:t>
            </a:r>
            <a:endParaRPr lang="en-US" sz="1620" dirty="0"/>
          </a:p>
        </p:txBody>
      </p:sp>
      <p:sp>
        <p:nvSpPr>
          <p:cNvPr id="301" name="Text 266"/>
          <p:cNvSpPr/>
          <p:nvPr/>
        </p:nvSpPr>
        <p:spPr>
          <a:xfrm>
            <a:off x="5768515" y="11652860"/>
            <a:ext cx="231826" cy="265430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00449C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%</a:t>
            </a:r>
            <a:endParaRPr lang="en-US" sz="1100" dirty="0"/>
          </a:p>
        </p:txBody>
      </p:sp>
      <p:sp>
        <p:nvSpPr>
          <p:cNvPr id="302" name="Text 267"/>
          <p:cNvSpPr/>
          <p:nvPr/>
        </p:nvSpPr>
        <p:spPr>
          <a:xfrm>
            <a:off x="5291633" y="12017502"/>
            <a:ext cx="518945" cy="390906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620" b="1" dirty="0">
                <a:solidFill>
                  <a:srgbClr val="00449C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32.3</a:t>
            </a:r>
            <a:endParaRPr lang="en-US" sz="1620" dirty="0"/>
          </a:p>
        </p:txBody>
      </p:sp>
      <p:sp>
        <p:nvSpPr>
          <p:cNvPr id="303" name="Text 268"/>
          <p:cNvSpPr/>
          <p:nvPr/>
        </p:nvSpPr>
        <p:spPr>
          <a:xfrm>
            <a:off x="5700850" y="12132920"/>
            <a:ext cx="231826" cy="265430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00449C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%</a:t>
            </a:r>
            <a:endParaRPr lang="en-US" sz="1100" dirty="0"/>
          </a:p>
        </p:txBody>
      </p:sp>
      <p:sp>
        <p:nvSpPr>
          <p:cNvPr id="304" name="Text 269"/>
          <p:cNvSpPr/>
          <p:nvPr/>
        </p:nvSpPr>
        <p:spPr>
          <a:xfrm>
            <a:off x="5132527" y="12497562"/>
            <a:ext cx="518945" cy="390906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620" b="1" dirty="0">
                <a:solidFill>
                  <a:srgbClr val="00449C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20.4</a:t>
            </a:r>
            <a:endParaRPr lang="en-US" sz="1620" dirty="0"/>
          </a:p>
        </p:txBody>
      </p:sp>
      <p:sp>
        <p:nvSpPr>
          <p:cNvPr id="305" name="Text 270"/>
          <p:cNvSpPr/>
          <p:nvPr/>
        </p:nvSpPr>
        <p:spPr>
          <a:xfrm>
            <a:off x="5541744" y="12613894"/>
            <a:ext cx="231826" cy="265430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00449C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%</a:t>
            </a:r>
            <a:endParaRPr lang="en-US" sz="1100" dirty="0"/>
          </a:p>
        </p:txBody>
      </p:sp>
      <p:sp>
        <p:nvSpPr>
          <p:cNvPr id="306" name="Text 271"/>
          <p:cNvSpPr/>
          <p:nvPr/>
        </p:nvSpPr>
        <p:spPr>
          <a:xfrm>
            <a:off x="5081321" y="12978536"/>
            <a:ext cx="518945" cy="390906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620" b="1" dirty="0">
                <a:solidFill>
                  <a:srgbClr val="00449C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16.6</a:t>
            </a:r>
            <a:endParaRPr lang="en-US" sz="1620" dirty="0"/>
          </a:p>
        </p:txBody>
      </p:sp>
      <p:sp>
        <p:nvSpPr>
          <p:cNvPr id="307" name="Text 272"/>
          <p:cNvSpPr/>
          <p:nvPr/>
        </p:nvSpPr>
        <p:spPr>
          <a:xfrm>
            <a:off x="5490538" y="13093954"/>
            <a:ext cx="231826" cy="265430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00449C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%</a:t>
            </a:r>
            <a:endParaRPr lang="en-US" sz="1100" dirty="0"/>
          </a:p>
        </p:txBody>
      </p:sp>
      <p:sp>
        <p:nvSpPr>
          <p:cNvPr id="308" name="Shape 273"/>
          <p:cNvSpPr/>
          <p:nvPr/>
        </p:nvSpPr>
        <p:spPr>
          <a:xfrm>
            <a:off x="6382512" y="10211105"/>
            <a:ext cx="267919" cy="267919"/>
          </a:xfrm>
          <a:prstGeom prst="ellipse">
            <a:avLst/>
          </a:prstGeom>
          <a:solidFill>
            <a:srgbClr val="FFFFFF"/>
          </a:solidFill>
          <a:ln w="9525">
            <a:solidFill>
              <a:srgbClr val="D8E5F2"/>
            </a:solidFill>
            <a:prstDash val="solid"/>
          </a:ln>
        </p:spPr>
      </p:sp>
      <p:sp>
        <p:nvSpPr>
          <p:cNvPr id="309" name="Shape 274"/>
          <p:cNvSpPr/>
          <p:nvPr/>
        </p:nvSpPr>
        <p:spPr>
          <a:xfrm>
            <a:off x="9162288" y="10211105"/>
            <a:ext cx="267919" cy="267919"/>
          </a:xfrm>
          <a:prstGeom prst="ellipse">
            <a:avLst/>
          </a:prstGeom>
          <a:solidFill>
            <a:srgbClr val="FFFFFF"/>
          </a:solidFill>
          <a:ln w="9525">
            <a:solidFill>
              <a:srgbClr val="D8E5F2"/>
            </a:solidFill>
            <a:prstDash val="solid"/>
          </a:ln>
        </p:spPr>
      </p:sp>
      <p:sp>
        <p:nvSpPr>
          <p:cNvPr id="310" name="Shape 275"/>
          <p:cNvSpPr/>
          <p:nvPr/>
        </p:nvSpPr>
        <p:spPr>
          <a:xfrm>
            <a:off x="6382512" y="13288975"/>
            <a:ext cx="267919" cy="267919"/>
          </a:xfrm>
          <a:prstGeom prst="ellipse">
            <a:avLst/>
          </a:prstGeom>
          <a:solidFill>
            <a:srgbClr val="FFFFFF"/>
          </a:solidFill>
          <a:ln w="9525">
            <a:solidFill>
              <a:srgbClr val="D8E5F2"/>
            </a:solidFill>
            <a:prstDash val="solid"/>
          </a:ln>
        </p:spPr>
      </p:sp>
      <p:sp>
        <p:nvSpPr>
          <p:cNvPr id="311" name="Shape 276"/>
          <p:cNvSpPr/>
          <p:nvPr/>
        </p:nvSpPr>
        <p:spPr>
          <a:xfrm>
            <a:off x="9162288" y="13288975"/>
            <a:ext cx="267919" cy="267919"/>
          </a:xfrm>
          <a:prstGeom prst="ellipse">
            <a:avLst/>
          </a:prstGeom>
          <a:solidFill>
            <a:srgbClr val="FFFFFF"/>
          </a:solidFill>
          <a:ln w="9525">
            <a:solidFill>
              <a:srgbClr val="D8E5F2"/>
            </a:solidFill>
            <a:prstDash val="solid"/>
          </a:ln>
        </p:spPr>
      </p:sp>
      <p:sp>
        <p:nvSpPr>
          <p:cNvPr id="312" name="Shape 277"/>
          <p:cNvSpPr/>
          <p:nvPr/>
        </p:nvSpPr>
        <p:spPr>
          <a:xfrm>
            <a:off x="6516929" y="10211105"/>
            <a:ext cx="2779776" cy="3346704"/>
          </a:xfrm>
          <a:prstGeom prst="rect">
            <a:avLst/>
          </a:prstGeom>
          <a:solidFill>
            <a:srgbClr val="FFFFFF"/>
          </a:solidFill>
          <a:ln w="9525">
            <a:solidFill>
              <a:srgbClr val="D8E5F2"/>
            </a:solidFill>
            <a:prstDash val="solid"/>
          </a:ln>
        </p:spPr>
      </p:sp>
      <p:sp>
        <p:nvSpPr>
          <p:cNvPr id="313" name="Shape 278"/>
          <p:cNvSpPr/>
          <p:nvPr/>
        </p:nvSpPr>
        <p:spPr>
          <a:xfrm>
            <a:off x="6382512" y="10344607"/>
            <a:ext cx="3047695" cy="3078785"/>
          </a:xfrm>
          <a:prstGeom prst="rect">
            <a:avLst/>
          </a:prstGeom>
          <a:solidFill>
            <a:srgbClr val="FFFFFF"/>
          </a:solidFill>
          <a:ln w="9525">
            <a:solidFill>
              <a:srgbClr val="D8E5F2"/>
            </a:solidFill>
            <a:prstDash val="solid"/>
          </a:ln>
        </p:spPr>
      </p:sp>
      <p:sp>
        <p:nvSpPr>
          <p:cNvPr id="314" name="Shape 279"/>
          <p:cNvSpPr/>
          <p:nvPr/>
        </p:nvSpPr>
        <p:spPr>
          <a:xfrm>
            <a:off x="6516929" y="10220249"/>
            <a:ext cx="2779776" cy="332841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15" name="Shape 280"/>
          <p:cNvSpPr/>
          <p:nvPr/>
        </p:nvSpPr>
        <p:spPr>
          <a:xfrm>
            <a:off x="6391656" y="10344607"/>
            <a:ext cx="3029407" cy="307878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16" name="Shape 281"/>
          <p:cNvSpPr/>
          <p:nvPr/>
        </p:nvSpPr>
        <p:spPr>
          <a:xfrm>
            <a:off x="6473952" y="10180015"/>
            <a:ext cx="134417" cy="134417"/>
          </a:xfrm>
          <a:prstGeom prst="ellipse">
            <a:avLst/>
          </a:prstGeom>
          <a:solidFill>
            <a:srgbClr val="0B3C88"/>
          </a:solidFill>
          <a:ln/>
        </p:spPr>
      </p:sp>
      <p:sp>
        <p:nvSpPr>
          <p:cNvPr id="317" name="Shape 282"/>
          <p:cNvSpPr/>
          <p:nvPr/>
        </p:nvSpPr>
        <p:spPr>
          <a:xfrm>
            <a:off x="8083296" y="10180015"/>
            <a:ext cx="134417" cy="134417"/>
          </a:xfrm>
          <a:prstGeom prst="ellipse">
            <a:avLst/>
          </a:prstGeom>
          <a:solidFill>
            <a:srgbClr val="0B3C88"/>
          </a:solidFill>
          <a:ln/>
        </p:spPr>
      </p:sp>
      <p:sp>
        <p:nvSpPr>
          <p:cNvPr id="318" name="Shape 283"/>
          <p:cNvSpPr/>
          <p:nvPr/>
        </p:nvSpPr>
        <p:spPr>
          <a:xfrm>
            <a:off x="6473952" y="10412273"/>
            <a:ext cx="134417" cy="134417"/>
          </a:xfrm>
          <a:prstGeom prst="ellipse">
            <a:avLst/>
          </a:prstGeom>
          <a:solidFill>
            <a:srgbClr val="0B3C88"/>
          </a:solidFill>
          <a:ln/>
        </p:spPr>
      </p:sp>
      <p:sp>
        <p:nvSpPr>
          <p:cNvPr id="319" name="Shape 284"/>
          <p:cNvSpPr/>
          <p:nvPr/>
        </p:nvSpPr>
        <p:spPr>
          <a:xfrm>
            <a:off x="8083296" y="10412273"/>
            <a:ext cx="134417" cy="134417"/>
          </a:xfrm>
          <a:prstGeom prst="ellipse">
            <a:avLst/>
          </a:prstGeom>
          <a:solidFill>
            <a:srgbClr val="0B3C88"/>
          </a:solidFill>
          <a:ln/>
        </p:spPr>
      </p:sp>
      <p:sp>
        <p:nvSpPr>
          <p:cNvPr id="320" name="Shape 285"/>
          <p:cNvSpPr/>
          <p:nvPr/>
        </p:nvSpPr>
        <p:spPr>
          <a:xfrm>
            <a:off x="6541618" y="10180015"/>
            <a:ext cx="1609344" cy="365760"/>
          </a:xfrm>
          <a:prstGeom prst="rect">
            <a:avLst/>
          </a:prstGeom>
          <a:solidFill>
            <a:srgbClr val="0B3C88"/>
          </a:solidFill>
          <a:ln/>
        </p:spPr>
      </p:sp>
      <p:sp>
        <p:nvSpPr>
          <p:cNvPr id="321" name="Shape 286"/>
          <p:cNvSpPr/>
          <p:nvPr/>
        </p:nvSpPr>
        <p:spPr>
          <a:xfrm>
            <a:off x="6473952" y="10247681"/>
            <a:ext cx="1743761" cy="231343"/>
          </a:xfrm>
          <a:prstGeom prst="rect">
            <a:avLst/>
          </a:prstGeom>
          <a:solidFill>
            <a:srgbClr val="0B3C88"/>
          </a:solidFill>
          <a:ln/>
        </p:spPr>
      </p:sp>
      <p:sp>
        <p:nvSpPr>
          <p:cNvPr id="322" name="Shape 287"/>
          <p:cNvSpPr/>
          <p:nvPr/>
        </p:nvSpPr>
        <p:spPr>
          <a:xfrm>
            <a:off x="6473952" y="10180015"/>
            <a:ext cx="134417" cy="134417"/>
          </a:xfrm>
          <a:prstGeom prst="ellipse">
            <a:avLst/>
          </a:prstGeom>
          <a:solidFill>
            <a:srgbClr val="00337F"/>
          </a:solidFill>
          <a:ln/>
        </p:spPr>
      </p:sp>
      <p:sp>
        <p:nvSpPr>
          <p:cNvPr id="323" name="Shape 288"/>
          <p:cNvSpPr/>
          <p:nvPr/>
        </p:nvSpPr>
        <p:spPr>
          <a:xfrm>
            <a:off x="6706210" y="10180015"/>
            <a:ext cx="134417" cy="134417"/>
          </a:xfrm>
          <a:prstGeom prst="ellipse">
            <a:avLst/>
          </a:prstGeom>
          <a:solidFill>
            <a:srgbClr val="00337F"/>
          </a:solidFill>
          <a:ln/>
        </p:spPr>
      </p:sp>
      <p:sp>
        <p:nvSpPr>
          <p:cNvPr id="324" name="Shape 289"/>
          <p:cNvSpPr/>
          <p:nvPr/>
        </p:nvSpPr>
        <p:spPr>
          <a:xfrm>
            <a:off x="6473952" y="10412273"/>
            <a:ext cx="134417" cy="134417"/>
          </a:xfrm>
          <a:prstGeom prst="ellipse">
            <a:avLst/>
          </a:prstGeom>
          <a:solidFill>
            <a:srgbClr val="00337F"/>
          </a:solidFill>
          <a:ln/>
        </p:spPr>
      </p:sp>
      <p:sp>
        <p:nvSpPr>
          <p:cNvPr id="325" name="Shape 290"/>
          <p:cNvSpPr/>
          <p:nvPr/>
        </p:nvSpPr>
        <p:spPr>
          <a:xfrm>
            <a:off x="6706210" y="10412273"/>
            <a:ext cx="134417" cy="134417"/>
          </a:xfrm>
          <a:prstGeom prst="ellipse">
            <a:avLst/>
          </a:prstGeom>
          <a:solidFill>
            <a:srgbClr val="00337F"/>
          </a:solidFill>
          <a:ln/>
        </p:spPr>
      </p:sp>
      <p:sp>
        <p:nvSpPr>
          <p:cNvPr id="326" name="Shape 291"/>
          <p:cNvSpPr/>
          <p:nvPr/>
        </p:nvSpPr>
        <p:spPr>
          <a:xfrm>
            <a:off x="6541618" y="10180015"/>
            <a:ext cx="231343" cy="365760"/>
          </a:xfrm>
          <a:prstGeom prst="rect">
            <a:avLst/>
          </a:prstGeom>
          <a:solidFill>
            <a:srgbClr val="00337F"/>
          </a:solidFill>
          <a:ln/>
        </p:spPr>
      </p:sp>
      <p:sp>
        <p:nvSpPr>
          <p:cNvPr id="327" name="Shape 292"/>
          <p:cNvSpPr/>
          <p:nvPr/>
        </p:nvSpPr>
        <p:spPr>
          <a:xfrm>
            <a:off x="6473952" y="10247681"/>
            <a:ext cx="365760" cy="231343"/>
          </a:xfrm>
          <a:prstGeom prst="rect">
            <a:avLst/>
          </a:prstGeom>
          <a:solidFill>
            <a:srgbClr val="00337F"/>
          </a:solidFill>
          <a:ln/>
        </p:spPr>
      </p:sp>
      <p:sp>
        <p:nvSpPr>
          <p:cNvPr id="328" name="Text 293"/>
          <p:cNvSpPr/>
          <p:nvPr/>
        </p:nvSpPr>
        <p:spPr>
          <a:xfrm>
            <a:off x="6473952" y="10180015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970" b="1" dirty="0">
                <a:solidFill>
                  <a:srgbClr val="FFFFFF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3</a:t>
            </a:r>
            <a:endParaRPr lang="en-US" sz="1970" dirty="0"/>
          </a:p>
        </p:txBody>
      </p:sp>
      <p:sp>
        <p:nvSpPr>
          <p:cNvPr id="329" name="Text 294"/>
          <p:cNvSpPr/>
          <p:nvPr/>
        </p:nvSpPr>
        <p:spPr>
          <a:xfrm>
            <a:off x="6962242" y="10180015"/>
            <a:ext cx="119512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470" b="1" dirty="0">
                <a:solidFill>
                  <a:srgbClr val="FFFFFF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노후 생활 준비</a:t>
            </a:r>
            <a:endParaRPr lang="en-US" sz="1470" dirty="0"/>
          </a:p>
        </p:txBody>
      </p:sp>
      <p:sp>
        <p:nvSpPr>
          <p:cNvPr id="330" name="Text 295"/>
          <p:cNvSpPr/>
          <p:nvPr/>
        </p:nvSpPr>
        <p:spPr>
          <a:xfrm>
            <a:off x="6473952" y="10570464"/>
            <a:ext cx="2914193" cy="3538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220" b="1" dirty="0">
                <a:solidFill>
                  <a:srgbClr val="0B3C88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71.4%가 노후 생활을 준비하고 있으며,</a:t>
            </a:r>
            <a:endParaRPr lang="en-US" sz="1220" dirty="0"/>
          </a:p>
          <a:p>
            <a:pPr algn="l" indent="0" marL="0">
              <a:lnSpc>
                <a:spcPct val="116000"/>
              </a:lnSpc>
              <a:buNone/>
            </a:pPr>
            <a:r>
              <a:rPr lang="en-US" sz="1220" b="1" dirty="0">
                <a:solidFill>
                  <a:srgbClr val="0B3C88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국민연금·개인연금·저축 활용이 높습니다.</a:t>
            </a:r>
            <a:endParaRPr lang="en-US" sz="1220" dirty="0"/>
          </a:p>
        </p:txBody>
      </p:sp>
      <p:graphicFrame>
        <p:nvGraphicFramePr>
          <p:cNvPr id="331" name="Chart 5" descr=""/>
          <p:cNvGraphicFramePr/>
          <p:nvPr/>
        </p:nvGraphicFramePr>
        <p:xfrm>
          <a:off x="6644945" y="10972800"/>
          <a:ext cx="1072591" cy="1072591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4"/>
          </a:graphicData>
        </a:graphic>
      </p:graphicFrame>
      <p:pic>
        <p:nvPicPr>
          <p:cNvPr id="332" name="Image 28" descr="g04-couple">    </p:cNvPr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6998818" y="11313871"/>
            <a:ext cx="377647" cy="377647"/>
          </a:xfrm>
          <a:prstGeom prst="rect">
            <a:avLst/>
          </a:prstGeom>
        </p:spPr>
      </p:pic>
      <p:sp>
        <p:nvSpPr>
          <p:cNvPr id="333" name="Text 296"/>
          <p:cNvSpPr/>
          <p:nvPr/>
        </p:nvSpPr>
        <p:spPr>
          <a:xfrm>
            <a:off x="7840066" y="11021263"/>
            <a:ext cx="1548079" cy="2441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320" b="1" dirty="0">
                <a:solidFill>
                  <a:srgbClr val="0B3C88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준비하고 있음</a:t>
            </a:r>
            <a:endParaRPr lang="en-US" sz="1320" dirty="0"/>
          </a:p>
        </p:txBody>
      </p:sp>
      <p:sp>
        <p:nvSpPr>
          <p:cNvPr id="334" name="Text 297"/>
          <p:cNvSpPr/>
          <p:nvPr/>
        </p:nvSpPr>
        <p:spPr>
          <a:xfrm>
            <a:off x="8203391" y="10991748"/>
            <a:ext cx="751340" cy="612902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2540" b="1" dirty="0">
                <a:solidFill>
                  <a:srgbClr val="00449C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71.4</a:t>
            </a:r>
            <a:endParaRPr lang="en-US" sz="2540" dirty="0"/>
          </a:p>
        </p:txBody>
      </p:sp>
      <p:sp>
        <p:nvSpPr>
          <p:cNvPr id="335" name="Text 298"/>
          <p:cNvSpPr/>
          <p:nvPr/>
        </p:nvSpPr>
        <p:spPr>
          <a:xfrm>
            <a:off x="8845003" y="11197285"/>
            <a:ext cx="289545" cy="390906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620" b="1" dirty="0">
                <a:solidFill>
                  <a:srgbClr val="00449C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%</a:t>
            </a:r>
            <a:endParaRPr lang="en-US" sz="1620" dirty="0"/>
          </a:p>
        </p:txBody>
      </p:sp>
      <p:sp>
        <p:nvSpPr>
          <p:cNvPr id="336" name="Shape 299"/>
          <p:cNvSpPr/>
          <p:nvPr/>
        </p:nvSpPr>
        <p:spPr>
          <a:xfrm>
            <a:off x="7900416" y="11667744"/>
            <a:ext cx="1451153" cy="0"/>
          </a:xfrm>
          <a:prstGeom prst="line">
            <a:avLst/>
          </a:prstGeom>
          <a:noFill/>
          <a:ln w="9525">
            <a:solidFill>
              <a:srgbClr val="DDE5EE"/>
            </a:solidFill>
            <a:prstDash val="solid"/>
          </a:ln>
        </p:spPr>
      </p:sp>
      <p:sp>
        <p:nvSpPr>
          <p:cNvPr id="337" name="Text 300"/>
          <p:cNvSpPr/>
          <p:nvPr/>
        </p:nvSpPr>
        <p:spPr>
          <a:xfrm>
            <a:off x="7840066" y="11692433"/>
            <a:ext cx="154807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170" dirty="0">
                <a:solidFill>
                  <a:srgbClr val="6B7280"/>
                </a:solidFill>
                <a:latin typeface="KoPub돋움체 Medium" pitchFamily="34" charset="0"/>
                <a:ea typeface="KoPub돋움체 Medium" pitchFamily="34" charset="-122"/>
                <a:cs typeface="KoPub돋움체 Medium" pitchFamily="34" charset="-120"/>
              </a:rPr>
              <a:t>준비하고 있지 않음</a:t>
            </a:r>
            <a:endParaRPr lang="en-US" sz="1170" dirty="0"/>
          </a:p>
        </p:txBody>
      </p:sp>
      <p:sp>
        <p:nvSpPr>
          <p:cNvPr id="338" name="Text 301"/>
          <p:cNvSpPr/>
          <p:nvPr/>
        </p:nvSpPr>
        <p:spPr>
          <a:xfrm>
            <a:off x="8313294" y="11670309"/>
            <a:ext cx="577044" cy="446405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850" b="1" dirty="0">
                <a:solidFill>
                  <a:srgbClr val="6B7280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28.6</a:t>
            </a:r>
            <a:endParaRPr lang="en-US" sz="1850" dirty="0"/>
          </a:p>
        </p:txBody>
      </p:sp>
      <p:sp>
        <p:nvSpPr>
          <p:cNvPr id="339" name="Text 302"/>
          <p:cNvSpPr/>
          <p:nvPr/>
        </p:nvSpPr>
        <p:spPr>
          <a:xfrm>
            <a:off x="8780609" y="11812854"/>
            <a:ext cx="244036" cy="291973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210" b="1" dirty="0">
                <a:solidFill>
                  <a:srgbClr val="6B7280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%</a:t>
            </a:r>
            <a:endParaRPr lang="en-US" sz="1210" dirty="0"/>
          </a:p>
        </p:txBody>
      </p:sp>
      <p:sp>
        <p:nvSpPr>
          <p:cNvPr id="340" name="Shape 303"/>
          <p:cNvSpPr/>
          <p:nvPr/>
        </p:nvSpPr>
        <p:spPr>
          <a:xfrm>
            <a:off x="6473952" y="12155119"/>
            <a:ext cx="194767" cy="194767"/>
          </a:xfrm>
          <a:prstGeom prst="ellipse">
            <a:avLst/>
          </a:prstGeom>
          <a:solidFill>
            <a:srgbClr val="EDF4FC"/>
          </a:solidFill>
          <a:ln/>
        </p:spPr>
      </p:sp>
      <p:sp>
        <p:nvSpPr>
          <p:cNvPr id="341" name="Shape 304"/>
          <p:cNvSpPr/>
          <p:nvPr/>
        </p:nvSpPr>
        <p:spPr>
          <a:xfrm>
            <a:off x="9144000" y="12155119"/>
            <a:ext cx="194767" cy="194767"/>
          </a:xfrm>
          <a:prstGeom prst="ellipse">
            <a:avLst/>
          </a:prstGeom>
          <a:solidFill>
            <a:srgbClr val="EDF4FC"/>
          </a:solidFill>
          <a:ln/>
        </p:spPr>
      </p:sp>
      <p:sp>
        <p:nvSpPr>
          <p:cNvPr id="342" name="Shape 305"/>
          <p:cNvSpPr/>
          <p:nvPr/>
        </p:nvSpPr>
        <p:spPr>
          <a:xfrm>
            <a:off x="6473952" y="13338353"/>
            <a:ext cx="194767" cy="194767"/>
          </a:xfrm>
          <a:prstGeom prst="ellipse">
            <a:avLst/>
          </a:prstGeom>
          <a:solidFill>
            <a:srgbClr val="EDF4FC"/>
          </a:solidFill>
          <a:ln/>
        </p:spPr>
      </p:sp>
      <p:sp>
        <p:nvSpPr>
          <p:cNvPr id="343" name="Shape 306"/>
          <p:cNvSpPr/>
          <p:nvPr/>
        </p:nvSpPr>
        <p:spPr>
          <a:xfrm>
            <a:off x="9144000" y="13338353"/>
            <a:ext cx="194767" cy="194767"/>
          </a:xfrm>
          <a:prstGeom prst="ellipse">
            <a:avLst/>
          </a:prstGeom>
          <a:solidFill>
            <a:srgbClr val="EDF4FC"/>
          </a:solidFill>
          <a:ln/>
        </p:spPr>
      </p:sp>
      <p:sp>
        <p:nvSpPr>
          <p:cNvPr id="344" name="Shape 307"/>
          <p:cNvSpPr/>
          <p:nvPr/>
        </p:nvSpPr>
        <p:spPr>
          <a:xfrm>
            <a:off x="6571793" y="12155119"/>
            <a:ext cx="2670048" cy="1378001"/>
          </a:xfrm>
          <a:prstGeom prst="rect">
            <a:avLst/>
          </a:prstGeom>
          <a:solidFill>
            <a:srgbClr val="EDF4FC"/>
          </a:solidFill>
          <a:ln/>
        </p:spPr>
      </p:sp>
      <p:sp>
        <p:nvSpPr>
          <p:cNvPr id="345" name="Shape 308"/>
          <p:cNvSpPr/>
          <p:nvPr/>
        </p:nvSpPr>
        <p:spPr>
          <a:xfrm>
            <a:off x="6473952" y="12252960"/>
            <a:ext cx="2864815" cy="1182319"/>
          </a:xfrm>
          <a:prstGeom prst="rect">
            <a:avLst/>
          </a:prstGeom>
          <a:solidFill>
            <a:srgbClr val="EDF4FC"/>
          </a:solidFill>
          <a:ln/>
        </p:spPr>
      </p:sp>
      <p:sp>
        <p:nvSpPr>
          <p:cNvPr id="346" name="Text 309"/>
          <p:cNvSpPr/>
          <p:nvPr/>
        </p:nvSpPr>
        <p:spPr>
          <a:xfrm>
            <a:off x="6473952" y="12191695"/>
            <a:ext cx="28648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320" b="1" dirty="0">
                <a:solidFill>
                  <a:srgbClr val="0B3C88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노후 생활 준비 방법</a:t>
            </a:r>
            <a:pPr algn="ctr" indent="0" marL="0">
              <a:lnSpc>
                <a:spcPct val="95000"/>
              </a:lnSpc>
              <a:buNone/>
            </a:pPr>
            <a:r>
              <a:rPr lang="en-US" sz="1020" b="1" dirty="0">
                <a:solidFill>
                  <a:srgbClr val="0B3C88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 (복수응답)</a:t>
            </a:r>
            <a:endParaRPr lang="en-US" sz="1200" dirty="0"/>
          </a:p>
        </p:txBody>
      </p:sp>
      <p:pic>
        <p:nvPicPr>
          <p:cNvPr id="347" name="Image 29" descr="g04-old1">    </p:cNvPr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6535217" y="12423953"/>
            <a:ext cx="267919" cy="244145"/>
          </a:xfrm>
          <a:prstGeom prst="rect">
            <a:avLst/>
          </a:prstGeom>
        </p:spPr>
      </p:pic>
      <p:sp>
        <p:nvSpPr>
          <p:cNvPr id="348" name="Text 310"/>
          <p:cNvSpPr/>
          <p:nvPr/>
        </p:nvSpPr>
        <p:spPr>
          <a:xfrm>
            <a:off x="6827825" y="12423953"/>
            <a:ext cx="816559" cy="24414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170" b="1" dirty="0">
                <a:solidFill>
                  <a:srgbClr val="1A1A1A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국민연금</a:t>
            </a:r>
            <a:endParaRPr lang="en-US" sz="1170" dirty="0"/>
          </a:p>
        </p:txBody>
      </p:sp>
      <p:pic>
        <p:nvPicPr>
          <p:cNvPr id="349" name="Image 30" descr="g04-old2">    </p:cNvPr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6535217" y="12658954"/>
            <a:ext cx="267919" cy="244145"/>
          </a:xfrm>
          <a:prstGeom prst="rect">
            <a:avLst/>
          </a:prstGeom>
        </p:spPr>
      </p:pic>
      <p:sp>
        <p:nvSpPr>
          <p:cNvPr id="350" name="Text 311"/>
          <p:cNvSpPr/>
          <p:nvPr/>
        </p:nvSpPr>
        <p:spPr>
          <a:xfrm>
            <a:off x="6827825" y="12658954"/>
            <a:ext cx="816559" cy="24414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000" b="1" dirty="0">
                <a:solidFill>
                  <a:srgbClr val="1A1A1A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보험·개인연금</a:t>
            </a:r>
            <a:endParaRPr lang="en-US" sz="1000" dirty="0"/>
          </a:p>
        </p:txBody>
      </p:sp>
      <p:pic>
        <p:nvPicPr>
          <p:cNvPr id="351" name="Image 31" descr="g04-old3">    </p:cNvPr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6535217" y="12893954"/>
            <a:ext cx="267919" cy="244145"/>
          </a:xfrm>
          <a:prstGeom prst="rect">
            <a:avLst/>
          </a:prstGeom>
        </p:spPr>
      </p:pic>
      <p:sp>
        <p:nvSpPr>
          <p:cNvPr id="352" name="Text 312"/>
          <p:cNvSpPr/>
          <p:nvPr/>
        </p:nvSpPr>
        <p:spPr>
          <a:xfrm>
            <a:off x="6827825" y="12893954"/>
            <a:ext cx="816559" cy="24414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000" b="1" dirty="0">
                <a:solidFill>
                  <a:srgbClr val="1A1A1A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저축·이자소득</a:t>
            </a:r>
            <a:endParaRPr lang="en-US" sz="1000" dirty="0"/>
          </a:p>
        </p:txBody>
      </p:sp>
      <p:pic>
        <p:nvPicPr>
          <p:cNvPr id="353" name="Image 32" descr="g04-old4">    </p:cNvPr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>
            <a:off x="6535217" y="13129870"/>
            <a:ext cx="267919" cy="244145"/>
          </a:xfrm>
          <a:prstGeom prst="rect">
            <a:avLst/>
          </a:prstGeom>
        </p:spPr>
      </p:pic>
      <p:sp>
        <p:nvSpPr>
          <p:cNvPr id="354" name="Text 313"/>
          <p:cNvSpPr/>
          <p:nvPr/>
        </p:nvSpPr>
        <p:spPr>
          <a:xfrm>
            <a:off x="6827825" y="13129870"/>
            <a:ext cx="816559" cy="24414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000" b="1" dirty="0">
                <a:solidFill>
                  <a:srgbClr val="1A1A1A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부동산 임대소득</a:t>
            </a:r>
            <a:endParaRPr lang="en-US" sz="1000" dirty="0"/>
          </a:p>
        </p:txBody>
      </p:sp>
      <p:pic>
        <p:nvPicPr>
          <p:cNvPr id="355" name="Image 33" descr="g04-old5">    </p:cNvPr>
          <p:cNvPicPr>
            <a:picLocks noChangeAspect="1"/>
          </p:cNvPicPr>
          <p:nvPr/>
        </p:nvPicPr>
        <p:blipFill>
          <a:blip r:embed="rId40"/>
          <a:stretch>
            <a:fillRect/>
          </a:stretch>
        </p:blipFill>
        <p:spPr>
          <a:xfrm>
            <a:off x="6535217" y="13364870"/>
            <a:ext cx="267919" cy="244145"/>
          </a:xfrm>
          <a:prstGeom prst="rect">
            <a:avLst/>
          </a:prstGeom>
        </p:spPr>
      </p:pic>
      <p:sp>
        <p:nvSpPr>
          <p:cNvPr id="356" name="Text 314"/>
          <p:cNvSpPr/>
          <p:nvPr/>
        </p:nvSpPr>
        <p:spPr>
          <a:xfrm>
            <a:off x="6827825" y="13364870"/>
            <a:ext cx="816559" cy="24414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170" b="1" dirty="0">
                <a:solidFill>
                  <a:srgbClr val="1A1A1A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기타</a:t>
            </a:r>
            <a:endParaRPr lang="en-US" sz="1170" dirty="0"/>
          </a:p>
        </p:txBody>
      </p:sp>
      <p:graphicFrame>
        <p:nvGraphicFramePr>
          <p:cNvPr id="357" name="Chart 6" descr=""/>
          <p:cNvGraphicFramePr/>
          <p:nvPr/>
        </p:nvGraphicFramePr>
        <p:xfrm>
          <a:off x="7644384" y="12415723"/>
          <a:ext cx="1634033" cy="1176833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1"/>
          </a:graphicData>
        </a:graphic>
      </p:graphicFrame>
      <p:sp>
        <p:nvSpPr>
          <p:cNvPr id="358" name="Text 315"/>
          <p:cNvSpPr/>
          <p:nvPr/>
        </p:nvSpPr>
        <p:spPr>
          <a:xfrm>
            <a:off x="8664854" y="12284227"/>
            <a:ext cx="460846" cy="335407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390" b="1" dirty="0">
                <a:solidFill>
                  <a:srgbClr val="00449C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80.9</a:t>
            </a:r>
            <a:endParaRPr lang="en-US" sz="1390" dirty="0"/>
          </a:p>
        </p:txBody>
      </p:sp>
      <p:sp>
        <p:nvSpPr>
          <p:cNvPr id="359" name="Text 316"/>
          <p:cNvSpPr/>
          <p:nvPr/>
        </p:nvSpPr>
        <p:spPr>
          <a:xfrm>
            <a:off x="9015973" y="12371019"/>
            <a:ext cx="220726" cy="241300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000" b="1" dirty="0">
                <a:solidFill>
                  <a:srgbClr val="00449C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%</a:t>
            </a:r>
            <a:endParaRPr lang="en-US" sz="1000" dirty="0"/>
          </a:p>
        </p:txBody>
      </p:sp>
      <p:sp>
        <p:nvSpPr>
          <p:cNvPr id="360" name="Text 317"/>
          <p:cNvSpPr/>
          <p:nvPr/>
        </p:nvSpPr>
        <p:spPr>
          <a:xfrm>
            <a:off x="8413394" y="12520143"/>
            <a:ext cx="460846" cy="335407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390" b="1" dirty="0">
                <a:solidFill>
                  <a:srgbClr val="00449C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60.0</a:t>
            </a:r>
            <a:endParaRPr lang="en-US" sz="1390" dirty="0"/>
          </a:p>
        </p:txBody>
      </p:sp>
      <p:sp>
        <p:nvSpPr>
          <p:cNvPr id="361" name="Text 318"/>
          <p:cNvSpPr/>
          <p:nvPr/>
        </p:nvSpPr>
        <p:spPr>
          <a:xfrm>
            <a:off x="8764513" y="12606934"/>
            <a:ext cx="220726" cy="241300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000" b="1" dirty="0">
                <a:solidFill>
                  <a:srgbClr val="00449C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%</a:t>
            </a:r>
            <a:endParaRPr lang="en-US" sz="1000" dirty="0"/>
          </a:p>
        </p:txBody>
      </p:sp>
      <p:sp>
        <p:nvSpPr>
          <p:cNvPr id="362" name="Text 319"/>
          <p:cNvSpPr/>
          <p:nvPr/>
        </p:nvSpPr>
        <p:spPr>
          <a:xfrm>
            <a:off x="8278063" y="12755143"/>
            <a:ext cx="460846" cy="335407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390" b="1" dirty="0">
                <a:solidFill>
                  <a:srgbClr val="00449C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48.7</a:t>
            </a:r>
            <a:endParaRPr lang="en-US" sz="1390" dirty="0"/>
          </a:p>
        </p:txBody>
      </p:sp>
      <p:sp>
        <p:nvSpPr>
          <p:cNvPr id="363" name="Text 320"/>
          <p:cNvSpPr/>
          <p:nvPr/>
        </p:nvSpPr>
        <p:spPr>
          <a:xfrm>
            <a:off x="8629181" y="12841935"/>
            <a:ext cx="220726" cy="241300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000" b="1" dirty="0">
                <a:solidFill>
                  <a:srgbClr val="00449C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%</a:t>
            </a:r>
            <a:endParaRPr lang="en-US" sz="1000" dirty="0"/>
          </a:p>
        </p:txBody>
      </p:sp>
      <p:sp>
        <p:nvSpPr>
          <p:cNvPr id="364" name="Text 321"/>
          <p:cNvSpPr/>
          <p:nvPr/>
        </p:nvSpPr>
        <p:spPr>
          <a:xfrm>
            <a:off x="7996428" y="12990144"/>
            <a:ext cx="460846" cy="335407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390" b="1" dirty="0">
                <a:solidFill>
                  <a:srgbClr val="00449C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25.2</a:t>
            </a:r>
            <a:endParaRPr lang="en-US" sz="1390" dirty="0"/>
          </a:p>
        </p:txBody>
      </p:sp>
      <p:sp>
        <p:nvSpPr>
          <p:cNvPr id="365" name="Text 322"/>
          <p:cNvSpPr/>
          <p:nvPr/>
        </p:nvSpPr>
        <p:spPr>
          <a:xfrm>
            <a:off x="8347546" y="13076936"/>
            <a:ext cx="220726" cy="241300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000" b="1" dirty="0">
                <a:solidFill>
                  <a:srgbClr val="00449C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%</a:t>
            </a:r>
            <a:endParaRPr lang="en-US" sz="1000" dirty="0"/>
          </a:p>
        </p:txBody>
      </p:sp>
      <p:sp>
        <p:nvSpPr>
          <p:cNvPr id="366" name="Text 323"/>
          <p:cNvSpPr/>
          <p:nvPr/>
        </p:nvSpPr>
        <p:spPr>
          <a:xfrm>
            <a:off x="7742225" y="13226059"/>
            <a:ext cx="361460" cy="335407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390" b="1" dirty="0">
                <a:solidFill>
                  <a:srgbClr val="00449C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4.1</a:t>
            </a:r>
            <a:endParaRPr lang="en-US" sz="1390" dirty="0"/>
          </a:p>
        </p:txBody>
      </p:sp>
      <p:sp>
        <p:nvSpPr>
          <p:cNvPr id="367" name="Text 324"/>
          <p:cNvSpPr/>
          <p:nvPr/>
        </p:nvSpPr>
        <p:spPr>
          <a:xfrm>
            <a:off x="7993957" y="13312851"/>
            <a:ext cx="220726" cy="241300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000" b="1" dirty="0">
                <a:solidFill>
                  <a:srgbClr val="00449C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%</a:t>
            </a:r>
            <a:endParaRPr lang="en-US" sz="1000" dirty="0"/>
          </a:p>
        </p:txBody>
      </p:sp>
      <p:sp>
        <p:nvSpPr>
          <p:cNvPr id="368" name="Shape 325"/>
          <p:cNvSpPr/>
          <p:nvPr/>
        </p:nvSpPr>
        <p:spPr>
          <a:xfrm>
            <a:off x="219456" y="13777265"/>
            <a:ext cx="219456" cy="219456"/>
          </a:xfrm>
          <a:prstGeom prst="ellipse">
            <a:avLst/>
          </a:prstGeom>
          <a:solidFill>
            <a:srgbClr val="00337F"/>
          </a:solidFill>
          <a:ln/>
        </p:spPr>
      </p:sp>
      <p:sp>
        <p:nvSpPr>
          <p:cNvPr id="369" name="Shape 326"/>
          <p:cNvSpPr/>
          <p:nvPr/>
        </p:nvSpPr>
        <p:spPr>
          <a:xfrm>
            <a:off x="9303106" y="13777265"/>
            <a:ext cx="219456" cy="219456"/>
          </a:xfrm>
          <a:prstGeom prst="ellipse">
            <a:avLst/>
          </a:prstGeom>
          <a:solidFill>
            <a:srgbClr val="00337F"/>
          </a:solidFill>
          <a:ln/>
        </p:spPr>
      </p:sp>
      <p:sp>
        <p:nvSpPr>
          <p:cNvPr id="370" name="Shape 327"/>
          <p:cNvSpPr/>
          <p:nvPr/>
        </p:nvSpPr>
        <p:spPr>
          <a:xfrm>
            <a:off x="219456" y="14307617"/>
            <a:ext cx="219456" cy="219456"/>
          </a:xfrm>
          <a:prstGeom prst="ellipse">
            <a:avLst/>
          </a:prstGeom>
          <a:solidFill>
            <a:srgbClr val="00337F"/>
          </a:solidFill>
          <a:ln/>
        </p:spPr>
      </p:sp>
      <p:sp>
        <p:nvSpPr>
          <p:cNvPr id="371" name="Shape 328"/>
          <p:cNvSpPr/>
          <p:nvPr/>
        </p:nvSpPr>
        <p:spPr>
          <a:xfrm>
            <a:off x="9303106" y="14307617"/>
            <a:ext cx="219456" cy="219456"/>
          </a:xfrm>
          <a:prstGeom prst="ellipse">
            <a:avLst/>
          </a:prstGeom>
          <a:solidFill>
            <a:srgbClr val="00337F"/>
          </a:solidFill>
          <a:ln/>
        </p:spPr>
      </p:sp>
      <p:sp>
        <p:nvSpPr>
          <p:cNvPr id="372" name="Shape 329"/>
          <p:cNvSpPr/>
          <p:nvPr/>
        </p:nvSpPr>
        <p:spPr>
          <a:xfrm>
            <a:off x="329184" y="13777265"/>
            <a:ext cx="9083650" cy="749808"/>
          </a:xfrm>
          <a:prstGeom prst="rect">
            <a:avLst/>
          </a:prstGeom>
          <a:solidFill>
            <a:srgbClr val="00337F"/>
          </a:solidFill>
          <a:ln/>
        </p:spPr>
      </p:sp>
      <p:sp>
        <p:nvSpPr>
          <p:cNvPr id="373" name="Shape 330"/>
          <p:cNvSpPr/>
          <p:nvPr/>
        </p:nvSpPr>
        <p:spPr>
          <a:xfrm>
            <a:off x="219456" y="13886993"/>
            <a:ext cx="9303106" cy="530352"/>
          </a:xfrm>
          <a:prstGeom prst="rect">
            <a:avLst/>
          </a:prstGeom>
          <a:solidFill>
            <a:srgbClr val="00337F"/>
          </a:solidFill>
          <a:ln/>
        </p:spPr>
      </p:sp>
      <p:pic>
        <p:nvPicPr>
          <p:cNvPr id="374" name="Image 34" descr="g04-clipboard">    </p:cNvPr>
          <p:cNvPicPr>
            <a:picLocks noChangeAspect="1"/>
          </p:cNvPicPr>
          <p:nvPr/>
        </p:nvPicPr>
        <p:blipFill>
          <a:blip r:embed="rId42"/>
          <a:stretch>
            <a:fillRect/>
          </a:stretch>
        </p:blipFill>
        <p:spPr>
          <a:xfrm>
            <a:off x="621792" y="13837615"/>
            <a:ext cx="487375" cy="658368"/>
          </a:xfrm>
          <a:prstGeom prst="rect">
            <a:avLst/>
          </a:prstGeom>
        </p:spPr>
      </p:pic>
      <p:sp>
        <p:nvSpPr>
          <p:cNvPr id="375" name="Text 331"/>
          <p:cNvSpPr/>
          <p:nvPr/>
        </p:nvSpPr>
        <p:spPr>
          <a:xfrm>
            <a:off x="1401775" y="13850417"/>
            <a:ext cx="755934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630" b="1" dirty="0">
                <a:solidFill>
                  <a:srgbClr val="FFFFFF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디지털 전환 촉진과 가업승계·노후 준비 지원을 통해</a:t>
            </a:r>
            <a:endParaRPr lang="en-US" sz="1630" dirty="0"/>
          </a:p>
        </p:txBody>
      </p:sp>
      <p:sp>
        <p:nvSpPr>
          <p:cNvPr id="376" name="Text 332"/>
          <p:cNvSpPr/>
          <p:nvPr/>
        </p:nvSpPr>
        <p:spPr>
          <a:xfrm>
            <a:off x="1401775" y="14143025"/>
            <a:ext cx="7559345" cy="3044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630" b="1" dirty="0">
                <a:solidFill>
                  <a:srgbClr val="FFD34D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기업의 지속가능한 성장과 안정적인 미래 설계를 함께 만들어가야 합니다.</a:t>
            </a:r>
            <a:endParaRPr lang="en-US" sz="163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소상공인 실태조사 인포그래픽</dc:title>
  <dc:subject>PptxGenJS Presentation</dc:subject>
  <dc:creator>케이스탯리서치</dc:creator>
  <cp:lastModifiedBy>케이스탯리서치</cp:lastModifiedBy>
  <cp:revision>1</cp:revision>
  <dcterms:created xsi:type="dcterms:W3CDTF">2026-08-26T09:53:10Z</dcterms:created>
  <dcterms:modified xsi:type="dcterms:W3CDTF">2026-08-26T09:53:10Z</dcterms:modified>
</cp:coreProperties>
</file>
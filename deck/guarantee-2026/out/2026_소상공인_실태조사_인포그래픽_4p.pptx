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753905" cy="14630400"/>
  <p:notesSz cx="14630400" cy="975390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2회 이상 사업체 운영 경험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449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5D9E8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2회 이상 운영</c:v>
                </c:pt>
                <c:pt idx="1">
                  <c:v>1회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41</c:v>
                </c:pt>
                <c:pt idx="1">
                  <c:v>59</c:v>
                </c:pt>
              </c:numCache>
            </c:numRef>
          </c:val>
        </c:ser>
        <c:firstSliceAng val="0"/>
        <c:holeSize val="52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 (2025→2026)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91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기타</c:v>
                  </c:pt>
                  <c:pt idx="1">
                    <c:v>원자재·재료비 상승</c:v>
                  </c:pt>
                  <c:pt idx="2">
                    <c:v>자금조달 여건</c:v>
                  </c:pt>
                  <c:pt idx="3">
                    <c:v>경기 불확실성</c:v>
                  </c:pt>
                  <c:pt idx="4">
                    <c:v>매출 변화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6.2</c:v>
                </c:pt>
                <c:pt idx="1">
                  <c:v>15.8</c:v>
                </c:pt>
                <c:pt idx="2">
                  <c:v>23.3</c:v>
                </c:pt>
                <c:pt idx="3">
                  <c:v>57.1</c:v>
                </c:pt>
                <c:pt idx="4">
                  <c:v>68.9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91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미래 전망 (2026→2027)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91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기타</c:v>
                  </c:pt>
                  <c:pt idx="1">
                    <c:v>원자재·재료비 상승</c:v>
                  </c:pt>
                  <c:pt idx="2">
                    <c:v>자금조달 여건</c:v>
                  </c:pt>
                  <c:pt idx="3">
                    <c:v>경기 불확실성</c:v>
                  </c:pt>
                  <c:pt idx="4">
                    <c:v>매출 변화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6.6</c:v>
                </c:pt>
                <c:pt idx="1">
                  <c:v>17</c:v>
                </c:pt>
                <c:pt idx="2">
                  <c:v>24.4</c:v>
                </c:pt>
                <c:pt idx="3">
                  <c:v>64</c:v>
                </c:pt>
                <c:pt idx="4">
                  <c:v>73.9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91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3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인지 경로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5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재단 홈페이지</c:v>
                  </c:pt>
                  <c:pt idx="1">
                    <c:v>온라인 매체 (SNS, 인터넷 등)</c:v>
                  </c:pt>
                  <c:pt idx="2">
                    <c:v>금융기관</c:v>
                  </c:pt>
                  <c:pt idx="3">
                    <c:v>소상공인 협회·조합</c:v>
                  </c:pt>
                  <c:pt idx="4">
                    <c:v>지인 또는 이용경험자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8.7</c:v>
                </c:pt>
                <c:pt idx="1">
                  <c:v>8.7</c:v>
                </c:pt>
                <c:pt idx="2">
                  <c:v>18.6</c:v>
                </c:pt>
                <c:pt idx="3">
                  <c:v>22.4</c:v>
                </c:pt>
                <c:pt idx="4">
                  <c:v>32.9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5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보증부대출의 장단점 평가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D4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6C4F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대출한도</c:v>
                  </c:pt>
                  <c:pt idx="1">
                    <c:v>대출 조건·문턱</c:v>
                  </c:pt>
                  <c:pt idx="2">
                    <c:v>상환조건(기간·상환방식)</c:v>
                  </c:pt>
                  <c:pt idx="3">
                    <c:v>금융기관 협력도</c:v>
                  </c:pt>
                  <c:pt idx="4">
                    <c:v>금리 수준</c:v>
                  </c:pt>
                  <c:pt idx="5">
                    <c:v>지원절차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4.53</c:v>
                </c:pt>
                <c:pt idx="1">
                  <c:v>4.58</c:v>
                </c:pt>
                <c:pt idx="2">
                  <c:v>4.65</c:v>
                </c:pt>
                <c:pt idx="3">
                  <c:v>4.71</c:v>
                </c:pt>
                <c:pt idx="4">
                  <c:v>4.92</c:v>
                </c:pt>
                <c:pt idx="5">
                  <c:v>4.98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50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자금 운용 상황 변화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0&quot;점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보증 당시 (신청 시)</c:v>
                  </c:pt>
                  <c:pt idx="1">
                    <c:v>보증 이용 후 (현재)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3.99</c:v>
                </c:pt>
                <c:pt idx="1">
                  <c:v>4.59</c:v>
                </c:pt>
              </c:numCache>
            </c:numRef>
          </c:val>
        </c:ser>
        <c:dLbls>
          <c:numFmt formatCode="0.00&quot;점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95"/>
          <c:min val="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 변화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449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6CBD2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DC0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증가</c:v>
                </c:pt>
                <c:pt idx="1">
                  <c:v>변화없음</c:v>
                </c:pt>
                <c:pt idx="2">
                  <c:v>감소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6.2</c:v>
                </c:pt>
                <c:pt idx="1">
                  <c:v>78.9</c:v>
                </c:pt>
                <c:pt idx="2">
                  <c:v>14.9</c:v>
                </c:pt>
              </c:numCache>
            </c:numRef>
          </c:val>
        </c:ser>
        <c:firstSliceAng val="0"/>
        <c:holeSize val="64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수익성(영업이익) 변화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449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6CBD2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DC0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증가</c:v>
                </c:pt>
                <c:pt idx="1">
                  <c:v>변화없음</c:v>
                </c:pt>
                <c:pt idx="2">
                  <c:v>감소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27.3</c:v>
                </c:pt>
                <c:pt idx="1">
                  <c:v>44.1</c:v>
                </c:pt>
                <c:pt idx="2">
                  <c:v>28.6</c:v>
                </c:pt>
              </c:numCache>
            </c:numRef>
          </c:val>
        </c:ser>
        <c:firstSliceAng val="0"/>
        <c:holeSize val="64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월평균 금융비용 변화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449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6CBD2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DC0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증가</c:v>
                </c:pt>
                <c:pt idx="1">
                  <c:v>변화없음</c:v>
                </c:pt>
                <c:pt idx="2">
                  <c:v>감소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21.1</c:v>
                </c:pt>
                <c:pt idx="1">
                  <c:v>66.5</c:v>
                </c:pt>
                <c:pt idx="2">
                  <c:v>12.4</c:v>
                </c:pt>
              </c:numCache>
            </c:numRef>
          </c:val>
        </c:ser>
        <c:firstSliceAng val="0"/>
        <c:holeSize val="64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만족도</c:v>
                </c:pt>
              </c:strCache>
            </c:strRef>
          </c:tx>
          <c:spPr>
            <a:solidFill>
              <a:srgbClr val="9FC8E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3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대출한도</c:v>
                  </c:pt>
                  <c:pt idx="1">
                    <c:v>보증료</c:v>
                  </c:pt>
                  <c:pt idx="2">
                    <c:v>금리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3.49</c:v>
                </c:pt>
                <c:pt idx="1">
                  <c:v>4.44</c:v>
                </c:pt>
                <c:pt idx="2">
                  <c:v>4.54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중요도</c:v>
                </c:pt>
              </c:strCache>
            </c:strRef>
          </c:tx>
          <c:spPr>
            <a:solidFill>
              <a:srgbClr val="1D6F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3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대출한도</c:v>
                  </c:pt>
                  <c:pt idx="1">
                    <c:v>보증료</c:v>
                  </c:pt>
                  <c:pt idx="2">
                    <c:v>금리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4.6</c:v>
                </c:pt>
                <c:pt idx="1">
                  <c:v>5.74</c:v>
                </c:pt>
                <c:pt idx="2">
                  <c:v>5.94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3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2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가장 필요한 보완·강화 정책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기타</c:v>
                  </c:pt>
                  <c:pt idx="1">
                    <c:v>상환기간 연장</c:v>
                  </c:pt>
                  <c:pt idx="2">
                    <c:v>보증료 인하</c:v>
                  </c:pt>
                  <c:pt idx="3">
                    <c:v>금리 인하</c:v>
                  </c:pt>
                  <c:pt idx="4">
                    <c:v>지원 금액 확대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3.6</c:v>
                </c:pt>
                <c:pt idx="1">
                  <c:v>20.5</c:v>
                </c:pt>
                <c:pt idx="2">
                  <c:v>28.6</c:v>
                </c:pt>
                <c:pt idx="3">
                  <c:v>52.2</c:v>
                </c:pt>
                <c:pt idx="4">
                  <c:v>64.6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디지털·AI 활용 여부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449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7CDD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활용 중</c:v>
                </c:pt>
                <c:pt idx="1">
                  <c:v>활용하지 않음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47.8</c:v>
                </c:pt>
                <c:pt idx="1">
                  <c:v>52.2</c:v>
                </c:pt>
              </c:numCache>
            </c:numRef>
          </c:val>
        </c:ser>
        <c:firstSliceAng val="0"/>
        <c:holeSize val="52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활용 분야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85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기타</c:v>
                  </c:pt>
                  <c:pt idx="1">
                    <c:v>생산·공정 관리</c:v>
                  </c:pt>
                  <c:pt idx="2">
                    <c:v>마케팅·고객관리</c:v>
                  </c:pt>
                  <c:pt idx="3">
                    <c:v>판매·주문 관리</c:v>
                  </c:pt>
                  <c:pt idx="4">
                    <c:v>금융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</c:v>
                </c:pt>
                <c:pt idx="1">
                  <c:v>12.3</c:v>
                </c:pt>
                <c:pt idx="2">
                  <c:v>17.3</c:v>
                </c:pt>
                <c:pt idx="3">
                  <c:v>24.8</c:v>
                </c:pt>
                <c:pt idx="4">
                  <c:v>33.5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85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가장 필요한 지원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기타</c:v>
                  </c:pt>
                  <c:pt idx="1">
                    <c:v>시스템·장비 지원</c:v>
                  </c:pt>
                  <c:pt idx="2">
                    <c:v>전문가 컨설팅 지원</c:v>
                  </c:pt>
                  <c:pt idx="3">
                    <c:v>도입 비용 지원</c:v>
                  </c:pt>
                  <c:pt idx="4">
                    <c:v>디지털 기술교육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10.2</c:v>
                </c:pt>
                <c:pt idx="1">
                  <c:v>12.3</c:v>
                </c:pt>
                <c:pt idx="2">
                  <c:v>17.6</c:v>
                </c:pt>
                <c:pt idx="3">
                  <c:v>24.5</c:v>
                </c:pt>
                <c:pt idx="4">
                  <c:v>35.4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4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가업승계 준비 단계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DC0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0449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7CDD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승계 대상자 확정, 경영 참여 중</c:v>
                </c:pt>
                <c:pt idx="1">
                  <c:v>승계 의향 없음</c:v>
                </c:pt>
                <c:pt idx="2">
                  <c:v>아직 고려하지 않음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6.2</c:v>
                </c:pt>
                <c:pt idx="1">
                  <c:v>68.3</c:v>
                </c:pt>
                <c:pt idx="2">
                  <c:v>21.7</c:v>
                </c:pt>
              </c:numCache>
            </c:numRef>
          </c:val>
        </c:ser>
        <c:firstSliceAng val="0"/>
        <c:holeSize val="50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가업승계 활성화를 위한 지원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법·제도 개선</c:v>
                  </c:pt>
                  <c:pt idx="1">
                    <c:v>승계 자금 지원</c:v>
                  </c:pt>
                  <c:pt idx="2">
                    <c:v>사업 재편·다각화 지원</c:v>
                  </c:pt>
                  <c:pt idx="3">
                    <c:v>후계자 양성 교육·컨설팅</c:v>
                  </c:pt>
                  <c:pt idx="4">
                    <c:v>세금 부담 완화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16.6</c:v>
                </c:pt>
                <c:pt idx="1">
                  <c:v>20.4</c:v>
                </c:pt>
                <c:pt idx="2">
                  <c:v>32.3</c:v>
                </c:pt>
                <c:pt idx="3">
                  <c:v>37.3</c:v>
                </c:pt>
                <c:pt idx="4">
                  <c:v>62.7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노후 생활 준비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449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7CDD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준비하고 있음</c:v>
                </c:pt>
                <c:pt idx="1">
                  <c:v>준비하고 있지 않음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71.4</c:v>
                </c:pt>
                <c:pt idx="1">
                  <c:v>28.6</c:v>
                </c:pt>
              </c:numCache>
            </c:numRef>
          </c:val>
        </c:ser>
        <c:firstSliceAng val="0"/>
        <c:holeSize val="52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노후 생활 준비 방법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기타</c:v>
                  </c:pt>
                  <c:pt idx="1">
                    <c:v>부동산 임대소득</c:v>
                  </c:pt>
                  <c:pt idx="2">
                    <c:v>저축·이자소득</c:v>
                  </c:pt>
                  <c:pt idx="3">
                    <c:v>보험·개인연금</c:v>
                  </c:pt>
                  <c:pt idx="4">
                    <c:v>국민연금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</c:v>
                </c:pt>
                <c:pt idx="1">
                  <c:v>25.2</c:v>
                </c:pt>
                <c:pt idx="2">
                  <c:v>48.7</c:v>
                </c:pt>
                <c:pt idx="3">
                  <c:v>60</c:v>
                </c:pt>
                <c:pt idx="4">
                  <c:v>80.9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1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DF4FC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EDF4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image" Target="../media/image-1-9.png"/><Relationship Id="rId11" Type="http://schemas.openxmlformats.org/officeDocument/2006/relationships/image" Target="../media/image-1-10.png"/><Relationship Id="rId12" Type="http://schemas.openxmlformats.org/officeDocument/2006/relationships/image" Target="../media/image-1-11.png"/><Relationship Id="rId13" Type="http://schemas.openxmlformats.org/officeDocument/2006/relationships/image" Target="../media/image-1-12.png"/><Relationship Id="rId14" Type="http://schemas.openxmlformats.org/officeDocument/2006/relationships/image" Target="../media/image-1-13.png"/><Relationship Id="rId15" Type="http://schemas.openxmlformats.org/officeDocument/2006/relationships/image" Target="../media/image-1-14.png"/><Relationship Id="rId16" Type="http://schemas.openxmlformats.org/officeDocument/2006/relationships/image" Target="../media/image-1-15.png"/><Relationship Id="rId17" Type="http://schemas.openxmlformats.org/officeDocument/2006/relationships/image" Target="../media/image-1-16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1" Type="http://schemas.openxmlformats.org/officeDocument/2006/relationships/chart" Target="/ppt/charts/chart2.xml"/><Relationship Id="rId12" Type="http://schemas.openxmlformats.org/officeDocument/2006/relationships/chart" Target="/ppt/charts/chart3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3" Type="http://schemas.openxmlformats.org/officeDocument/2006/relationships/image" Target="../media/image-2-11.png"/><Relationship Id="rId14" Type="http://schemas.openxmlformats.org/officeDocument/2006/relationships/image" Target="../media/image-2-12.png"/><Relationship Id="rId15" Type="http://schemas.openxmlformats.org/officeDocument/2006/relationships/image" Target="../media/image-2-13.png"/><Relationship Id="rId16" Type="http://schemas.openxmlformats.org/officeDocument/2006/relationships/image" Target="../media/image-2-14.png"/><Relationship Id="rId17" Type="http://schemas.openxmlformats.org/officeDocument/2006/relationships/image" Target="../media/image-2-15.png"/><Relationship Id="rId18" Type="http://schemas.openxmlformats.org/officeDocument/2006/relationships/image" Target="../media/image-2-16.png"/><Relationship Id="rId19" Type="http://schemas.openxmlformats.org/officeDocument/2006/relationships/image" Target="../media/image-2-17.png"/><Relationship Id="rId20" Type="http://schemas.openxmlformats.org/officeDocument/2006/relationships/image" Target="../media/image-2-18.png"/><Relationship Id="rId21" Type="http://schemas.openxmlformats.org/officeDocument/2006/relationships/image" Target="../media/image-2-19.png"/><Relationship Id="rId22" Type="http://schemas.openxmlformats.org/officeDocument/2006/relationships/image" Target="../media/image-2-20.png"/><Relationship Id="rId23" Type="http://schemas.openxmlformats.org/officeDocument/2006/relationships/image" Target="../media/image-2-21.png"/><Relationship Id="rId24" Type="http://schemas.openxmlformats.org/officeDocument/2006/relationships/image" Target="../media/image-2-22.png"/><Relationship Id="rId25" Type="http://schemas.openxmlformats.org/officeDocument/2006/relationships/image" Target="../media/image-2-23.png"/><Relationship Id="rId26" Type="http://schemas.openxmlformats.org/officeDocument/2006/relationships/image" Target="../media/image-2-24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4.xml"/><Relationship Id="rId14" Type="http://schemas.openxmlformats.org/officeDocument/2006/relationships/chart" Target="/ppt/charts/chart5.xml"/><Relationship Id="rId15" Type="http://schemas.openxmlformats.org/officeDocument/2006/relationships/chart" Target="/ppt/charts/chart6.xml"/><Relationship Id="rId17" Type="http://schemas.openxmlformats.org/officeDocument/2006/relationships/chart" Target="/ppt/charts/chart7.xml"/><Relationship Id="rId19" Type="http://schemas.openxmlformats.org/officeDocument/2006/relationships/chart" Target="/ppt/charts/chart8.xml"/><Relationship Id="rId21" Type="http://schemas.openxmlformats.org/officeDocument/2006/relationships/chart" Target="/ppt/charts/chart9.xml"/><Relationship Id="rId30" Type="http://schemas.openxmlformats.org/officeDocument/2006/relationships/chart" Target="/ppt/charts/chart10.xml"/><Relationship Id="rId31" Type="http://schemas.openxmlformats.org/officeDocument/2006/relationships/chart" Target="/ppt/charts/chart1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8" Type="http://schemas.openxmlformats.org/officeDocument/2006/relationships/image" Target="../media/image-3-7.png"/><Relationship Id="rId9" Type="http://schemas.openxmlformats.org/officeDocument/2006/relationships/image" Target="../media/image-3-8.png"/><Relationship Id="rId10" Type="http://schemas.openxmlformats.org/officeDocument/2006/relationships/image" Target="../media/image-3-9.png"/><Relationship Id="rId11" Type="http://schemas.openxmlformats.org/officeDocument/2006/relationships/image" Target="../media/image-3-10.png"/><Relationship Id="rId12" Type="http://schemas.openxmlformats.org/officeDocument/2006/relationships/image" Target="../media/image-3-11.png"/><Relationship Id="rId13" Type="http://schemas.openxmlformats.org/officeDocument/2006/relationships/image" Target="../media/image-3-12.png"/><Relationship Id="rId16" Type="http://schemas.openxmlformats.org/officeDocument/2006/relationships/image" Target="../media/image-3-13.png"/><Relationship Id="rId18" Type="http://schemas.openxmlformats.org/officeDocument/2006/relationships/image" Target="../media/image-3-14.png"/><Relationship Id="rId20" Type="http://schemas.openxmlformats.org/officeDocument/2006/relationships/image" Target="../media/image-3-15.png"/><Relationship Id="rId22" Type="http://schemas.openxmlformats.org/officeDocument/2006/relationships/image" Target="../media/image-3-16.png"/><Relationship Id="rId23" Type="http://schemas.openxmlformats.org/officeDocument/2006/relationships/image" Target="../media/image-3-17.png"/><Relationship Id="rId24" Type="http://schemas.openxmlformats.org/officeDocument/2006/relationships/image" Target="../media/image-3-18.png"/><Relationship Id="rId25" Type="http://schemas.openxmlformats.org/officeDocument/2006/relationships/image" Target="../media/image-3-19.png"/><Relationship Id="rId26" Type="http://schemas.openxmlformats.org/officeDocument/2006/relationships/image" Target="../media/image-3-20.png"/><Relationship Id="rId27" Type="http://schemas.openxmlformats.org/officeDocument/2006/relationships/image" Target="../media/image-3-21.png"/><Relationship Id="rId28" Type="http://schemas.openxmlformats.org/officeDocument/2006/relationships/image" Target="../media/image-3-22.png"/><Relationship Id="rId29" Type="http://schemas.openxmlformats.org/officeDocument/2006/relationships/image" Target="../media/image-3-23.png"/><Relationship Id="rId32" Type="http://schemas.openxmlformats.org/officeDocument/2006/relationships/image" Target="../media/image-3-24.png"/><Relationship Id="rId33" Type="http://schemas.openxmlformats.org/officeDocument/2006/relationships/image" Target="../media/image-3-25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2.xml"/><Relationship Id="rId9" Type="http://schemas.openxmlformats.org/officeDocument/2006/relationships/chart" Target="/ppt/charts/chart13.xml"/><Relationship Id="rId24" Type="http://schemas.openxmlformats.org/officeDocument/2006/relationships/chart" Target="/ppt/charts/chart14.xml"/><Relationship Id="rId26" Type="http://schemas.openxmlformats.org/officeDocument/2006/relationships/chart" Target="/ppt/charts/chart15.xml"/><Relationship Id="rId33" Type="http://schemas.openxmlformats.org/officeDocument/2006/relationships/chart" Target="/ppt/charts/chart16.xml"/><Relationship Id="rId34" Type="http://schemas.openxmlformats.org/officeDocument/2006/relationships/chart" Target="/ppt/charts/chart17.xml"/><Relationship Id="rId41" Type="http://schemas.openxmlformats.org/officeDocument/2006/relationships/chart" Target="/ppt/charts/chart18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image" Target="../media/image-4-7.png"/><Relationship Id="rId10" Type="http://schemas.openxmlformats.org/officeDocument/2006/relationships/image" Target="../media/image-4-8.png"/><Relationship Id="rId11" Type="http://schemas.openxmlformats.org/officeDocument/2006/relationships/image" Target="../media/image-4-9.png"/><Relationship Id="rId12" Type="http://schemas.openxmlformats.org/officeDocument/2006/relationships/image" Target="../media/image-4-10.png"/><Relationship Id="rId13" Type="http://schemas.openxmlformats.org/officeDocument/2006/relationships/image" Target="../media/image-4-11.png"/><Relationship Id="rId14" Type="http://schemas.openxmlformats.org/officeDocument/2006/relationships/image" Target="../media/image-4-12.png"/><Relationship Id="rId15" Type="http://schemas.openxmlformats.org/officeDocument/2006/relationships/image" Target="../media/image-4-13.png"/><Relationship Id="rId16" Type="http://schemas.openxmlformats.org/officeDocument/2006/relationships/image" Target="../media/image-4-14.png"/><Relationship Id="rId17" Type="http://schemas.openxmlformats.org/officeDocument/2006/relationships/image" Target="../media/image-4-15.png"/><Relationship Id="rId18" Type="http://schemas.openxmlformats.org/officeDocument/2006/relationships/image" Target="../media/image-4-16.png"/><Relationship Id="rId19" Type="http://schemas.openxmlformats.org/officeDocument/2006/relationships/image" Target="../media/image-4-17.png"/><Relationship Id="rId20" Type="http://schemas.openxmlformats.org/officeDocument/2006/relationships/image" Target="../media/image-4-18.png"/><Relationship Id="rId21" Type="http://schemas.openxmlformats.org/officeDocument/2006/relationships/image" Target="../media/image-4-19.png"/><Relationship Id="rId22" Type="http://schemas.openxmlformats.org/officeDocument/2006/relationships/image" Target="../media/image-4-20.png"/><Relationship Id="rId23" Type="http://schemas.openxmlformats.org/officeDocument/2006/relationships/image" Target="../media/image-4-21.png"/><Relationship Id="rId25" Type="http://schemas.openxmlformats.org/officeDocument/2006/relationships/image" Target="../media/image-4-22.png"/><Relationship Id="rId27" Type="http://schemas.openxmlformats.org/officeDocument/2006/relationships/image" Target="../media/image-4-23.png"/><Relationship Id="rId28" Type="http://schemas.openxmlformats.org/officeDocument/2006/relationships/image" Target="../media/image-4-24.png"/><Relationship Id="rId29" Type="http://schemas.openxmlformats.org/officeDocument/2006/relationships/image" Target="../media/image-4-25.png"/><Relationship Id="rId30" Type="http://schemas.openxmlformats.org/officeDocument/2006/relationships/image" Target="../media/image-4-26.png"/><Relationship Id="rId31" Type="http://schemas.openxmlformats.org/officeDocument/2006/relationships/image" Target="../media/image-4-27.png"/><Relationship Id="rId32" Type="http://schemas.openxmlformats.org/officeDocument/2006/relationships/image" Target="../media/image-4-28.png"/><Relationship Id="rId35" Type="http://schemas.openxmlformats.org/officeDocument/2006/relationships/image" Target="../media/image-4-29.png"/><Relationship Id="rId36" Type="http://schemas.openxmlformats.org/officeDocument/2006/relationships/image" Target="../media/image-4-30.png"/><Relationship Id="rId37" Type="http://schemas.openxmlformats.org/officeDocument/2006/relationships/image" Target="../media/image-4-31.png"/><Relationship Id="rId38" Type="http://schemas.openxmlformats.org/officeDocument/2006/relationships/image" Target="../media/image-4-32.png"/><Relationship Id="rId39" Type="http://schemas.openxmlformats.org/officeDocument/2006/relationships/image" Target="../media/image-4-33.png"/><Relationship Id="rId40" Type="http://schemas.openxmlformats.org/officeDocument/2006/relationships/image" Target="../media/image-4-34.png"/><Relationship Id="rId42" Type="http://schemas.openxmlformats.org/officeDocument/2006/relationships/image" Target="../media/image-4-35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01-h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44145"/>
            <a:ext cx="3279953" cy="1694383"/>
          </a:xfrm>
          <a:prstGeom prst="rect">
            <a:avLst/>
          </a:prstGeom>
        </p:spPr>
      </p:pic>
      <p:pic>
        <p:nvPicPr>
          <p:cNvPr id="3" name="Image 1" descr="g01-hero-clou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56" y="1499616"/>
            <a:ext cx="523951" cy="43891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99009" y="213055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" name="Shape 1"/>
          <p:cNvSpPr/>
          <p:nvPr/>
        </p:nvSpPr>
        <p:spPr>
          <a:xfrm>
            <a:off x="1121969" y="213055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" name="Shape 2"/>
          <p:cNvSpPr/>
          <p:nvPr/>
        </p:nvSpPr>
        <p:spPr>
          <a:xfrm>
            <a:off x="299009" y="957377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" name="Shape 3"/>
          <p:cNvSpPr/>
          <p:nvPr/>
        </p:nvSpPr>
        <p:spPr>
          <a:xfrm>
            <a:off x="1121969" y="957377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8" name="Shape 4"/>
          <p:cNvSpPr/>
          <p:nvPr/>
        </p:nvSpPr>
        <p:spPr>
          <a:xfrm>
            <a:off x="432511" y="213055"/>
            <a:ext cx="822960" cy="101224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9" name="Shape 5"/>
          <p:cNvSpPr/>
          <p:nvPr/>
        </p:nvSpPr>
        <p:spPr>
          <a:xfrm>
            <a:off x="299009" y="347472"/>
            <a:ext cx="1090879" cy="743407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0" name="Text 6"/>
          <p:cNvSpPr/>
          <p:nvPr/>
        </p:nvSpPr>
        <p:spPr>
          <a:xfrm>
            <a:off x="299009" y="213055"/>
            <a:ext cx="1090879" cy="1012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01</a:t>
            </a:r>
            <a:endParaRPr lang="en-US" sz="5030" dirty="0"/>
          </a:p>
        </p:txBody>
      </p:sp>
      <p:sp>
        <p:nvSpPr>
          <p:cNvPr id="11" name="Text 7"/>
          <p:cNvSpPr/>
          <p:nvPr/>
        </p:nvSpPr>
        <p:spPr>
          <a:xfrm>
            <a:off x="1670609" y="317297"/>
            <a:ext cx="426750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170" b="1" dirty="0">
                <a:solidFill>
                  <a:srgbClr val="00337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창업 및 사업 이력</a:t>
            </a:r>
            <a:endParaRPr lang="en-US" sz="4170" dirty="0"/>
          </a:p>
        </p:txBody>
      </p:sp>
      <p:sp>
        <p:nvSpPr>
          <p:cNvPr id="12" name="Text 8"/>
          <p:cNvSpPr/>
          <p:nvPr/>
        </p:nvSpPr>
        <p:spPr>
          <a:xfrm>
            <a:off x="1670609" y="993953"/>
            <a:ext cx="463326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4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경험을 바탕으로 다시 도전하는 기업이 많습니다</a:t>
            </a:r>
            <a:endParaRPr lang="en-US" sz="1840" dirty="0"/>
          </a:p>
        </p:txBody>
      </p:sp>
      <p:sp>
        <p:nvSpPr>
          <p:cNvPr id="13" name="Shape 9"/>
          <p:cNvSpPr/>
          <p:nvPr/>
        </p:nvSpPr>
        <p:spPr>
          <a:xfrm>
            <a:off x="286207" y="1956816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125712" y="1956816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86207" y="4462272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25712" y="4462272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5313" y="1956816"/>
            <a:ext cx="8839505" cy="282275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86207" y="2115007"/>
            <a:ext cx="9156802" cy="2505456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5313" y="1965960"/>
            <a:ext cx="8839505" cy="28044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295351" y="2115007"/>
            <a:ext cx="9138514" cy="2505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481889" y="2157984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2" name="Shape 18"/>
          <p:cNvSpPr/>
          <p:nvPr/>
        </p:nvSpPr>
        <p:spPr>
          <a:xfrm>
            <a:off x="3431743" y="2157984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3" name="Shape 19"/>
          <p:cNvSpPr/>
          <p:nvPr/>
        </p:nvSpPr>
        <p:spPr>
          <a:xfrm>
            <a:off x="481889" y="2499055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4" name="Shape 20"/>
          <p:cNvSpPr/>
          <p:nvPr/>
        </p:nvSpPr>
        <p:spPr>
          <a:xfrm>
            <a:off x="3431743" y="2499055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5" name="Shape 21"/>
          <p:cNvSpPr/>
          <p:nvPr/>
        </p:nvSpPr>
        <p:spPr>
          <a:xfrm>
            <a:off x="555041" y="2157984"/>
            <a:ext cx="2950769" cy="487375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6" name="Shape 22"/>
          <p:cNvSpPr/>
          <p:nvPr/>
        </p:nvSpPr>
        <p:spPr>
          <a:xfrm>
            <a:off x="481889" y="2231136"/>
            <a:ext cx="3097073" cy="341071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7" name="Shape 23"/>
          <p:cNvSpPr/>
          <p:nvPr/>
        </p:nvSpPr>
        <p:spPr>
          <a:xfrm>
            <a:off x="481889" y="2157984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8" name="Shape 24"/>
          <p:cNvSpPr/>
          <p:nvPr/>
        </p:nvSpPr>
        <p:spPr>
          <a:xfrm>
            <a:off x="786384" y="2157984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9" name="Shape 25"/>
          <p:cNvSpPr/>
          <p:nvPr/>
        </p:nvSpPr>
        <p:spPr>
          <a:xfrm>
            <a:off x="481889" y="2499055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0" name="Shape 26"/>
          <p:cNvSpPr/>
          <p:nvPr/>
        </p:nvSpPr>
        <p:spPr>
          <a:xfrm>
            <a:off x="786384" y="2499055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1" name="Shape 27"/>
          <p:cNvSpPr/>
          <p:nvPr/>
        </p:nvSpPr>
        <p:spPr>
          <a:xfrm>
            <a:off x="555041" y="2157984"/>
            <a:ext cx="304495" cy="487375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2" name="Shape 28"/>
          <p:cNvSpPr/>
          <p:nvPr/>
        </p:nvSpPr>
        <p:spPr>
          <a:xfrm>
            <a:off x="481889" y="2231136"/>
            <a:ext cx="450799" cy="34107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3" name="Text 29"/>
          <p:cNvSpPr/>
          <p:nvPr/>
        </p:nvSpPr>
        <p:spPr>
          <a:xfrm>
            <a:off x="481889" y="2157984"/>
            <a:ext cx="450799" cy="487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2310" dirty="0"/>
          </a:p>
        </p:txBody>
      </p:sp>
      <p:sp>
        <p:nvSpPr>
          <p:cNvPr id="34" name="Text 30"/>
          <p:cNvSpPr/>
          <p:nvPr/>
        </p:nvSpPr>
        <p:spPr>
          <a:xfrm>
            <a:off x="1103681" y="2157984"/>
            <a:ext cx="2414016" cy="487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어떤 사람들이 창업했을까?</a:t>
            </a:r>
            <a:endParaRPr lang="en-US" sz="1630" dirty="0"/>
          </a:p>
        </p:txBody>
      </p:sp>
      <p:sp>
        <p:nvSpPr>
          <p:cNvPr id="35" name="Text 31"/>
          <p:cNvSpPr/>
          <p:nvPr/>
        </p:nvSpPr>
        <p:spPr>
          <a:xfrm>
            <a:off x="3797503" y="2243023"/>
            <a:ext cx="548640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응답 기업의 절반 이상은 창업 직전에도 이미 사업체 대표였습니다.</a:t>
            </a:r>
            <a:endParaRPr lang="en-US" sz="1570" dirty="0"/>
          </a:p>
        </p:txBody>
      </p:sp>
      <p:sp>
        <p:nvSpPr>
          <p:cNvPr id="36" name="Shape 32"/>
          <p:cNvSpPr/>
          <p:nvPr/>
        </p:nvSpPr>
        <p:spPr>
          <a:xfrm>
            <a:off x="3541471" y="2841041"/>
            <a:ext cx="0" cy="1524305"/>
          </a:xfrm>
          <a:prstGeom prst="line">
            <a:avLst/>
          </a:prstGeom>
          <a:noFill/>
          <a:ln w="12700">
            <a:solidFill>
              <a:srgbClr val="E6EDF4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516929" y="2841041"/>
            <a:ext cx="0" cy="1524305"/>
          </a:xfrm>
          <a:prstGeom prst="line">
            <a:avLst/>
          </a:prstGeom>
          <a:noFill/>
          <a:ln w="12700">
            <a:solidFill>
              <a:srgbClr val="E6EDF4"/>
            </a:solidFill>
            <a:prstDash val="solid"/>
          </a:ln>
        </p:spPr>
      </p:sp>
      <p:pic>
        <p:nvPicPr>
          <p:cNvPr id="38" name="Image 2" descr="g01-bo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5" y="2804465"/>
            <a:ext cx="1371600" cy="157276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901952" y="2629560"/>
            <a:ext cx="1206025" cy="104724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34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56.5</a:t>
            </a:r>
            <a:endParaRPr lang="en-US" sz="4340" dirty="0"/>
          </a:p>
        </p:txBody>
      </p:sp>
      <p:sp>
        <p:nvSpPr>
          <p:cNvPr id="40" name="Text 35"/>
          <p:cNvSpPr/>
          <p:nvPr/>
        </p:nvSpPr>
        <p:spPr>
          <a:xfrm>
            <a:off x="2998249" y="3003855"/>
            <a:ext cx="404983" cy="64185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2660" dirty="0"/>
          </a:p>
        </p:txBody>
      </p:sp>
      <p:sp>
        <p:nvSpPr>
          <p:cNvPr id="41" name="Text 36"/>
          <p:cNvSpPr/>
          <p:nvPr/>
        </p:nvSpPr>
        <p:spPr>
          <a:xfrm>
            <a:off x="1913839" y="3694176"/>
            <a:ext cx="1634033" cy="683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창업 직전에도</a:t>
            </a:r>
            <a:endParaRPr lang="en-US" sz="173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사업체 대표</a:t>
            </a:r>
            <a:endParaRPr lang="en-US" sz="1730" dirty="0"/>
          </a:p>
        </p:txBody>
      </p:sp>
      <p:pic>
        <p:nvPicPr>
          <p:cNvPr id="42" name="Image 3" descr="g01-work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137" y="2950769"/>
            <a:ext cx="1353312" cy="1438351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042002" y="2653335"/>
            <a:ext cx="1206025" cy="104724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34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37.3</a:t>
            </a:r>
            <a:endParaRPr lang="en-US" sz="4340" dirty="0"/>
          </a:p>
        </p:txBody>
      </p:sp>
      <p:sp>
        <p:nvSpPr>
          <p:cNvPr id="44" name="Text 38"/>
          <p:cNvSpPr/>
          <p:nvPr/>
        </p:nvSpPr>
        <p:spPr>
          <a:xfrm>
            <a:off x="6138299" y="3028544"/>
            <a:ext cx="404983" cy="64185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2660" dirty="0"/>
          </a:p>
        </p:txBody>
      </p:sp>
      <p:sp>
        <p:nvSpPr>
          <p:cNvPr id="45" name="Text 39"/>
          <p:cNvSpPr/>
          <p:nvPr/>
        </p:nvSpPr>
        <p:spPr>
          <a:xfrm>
            <a:off x="5047488" y="3730752"/>
            <a:ext cx="1634033" cy="683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임금근로자</a:t>
            </a:r>
            <a:endParaRPr lang="en-US" sz="173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출신</a:t>
            </a:r>
            <a:endParaRPr lang="en-US" sz="1730" dirty="0"/>
          </a:p>
        </p:txBody>
      </p:sp>
      <p:pic>
        <p:nvPicPr>
          <p:cNvPr id="46" name="Image 4" descr="g01-stud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937967"/>
            <a:ext cx="1145743" cy="1451153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961681" y="2653335"/>
            <a:ext cx="895711" cy="104724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34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5.6</a:t>
            </a:r>
            <a:endParaRPr lang="en-US" sz="4340" dirty="0"/>
          </a:p>
        </p:txBody>
      </p:sp>
      <p:sp>
        <p:nvSpPr>
          <p:cNvPr id="48" name="Text 41"/>
          <p:cNvSpPr/>
          <p:nvPr/>
        </p:nvSpPr>
        <p:spPr>
          <a:xfrm>
            <a:off x="8747663" y="3028544"/>
            <a:ext cx="404983" cy="64185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2660" dirty="0"/>
          </a:p>
        </p:txBody>
      </p:sp>
      <p:sp>
        <p:nvSpPr>
          <p:cNvPr id="49" name="Text 42"/>
          <p:cNvSpPr/>
          <p:nvPr/>
        </p:nvSpPr>
        <p:spPr>
          <a:xfrm>
            <a:off x="7669073" y="3712464"/>
            <a:ext cx="1634033" cy="683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학생·전업주부 등</a:t>
            </a:r>
            <a:endParaRPr lang="en-US" sz="173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무직 상태</a:t>
            </a:r>
            <a:endParaRPr lang="en-US" sz="1730" dirty="0"/>
          </a:p>
        </p:txBody>
      </p:sp>
      <p:sp>
        <p:nvSpPr>
          <p:cNvPr id="50" name="Shape 43"/>
          <p:cNvSpPr/>
          <p:nvPr/>
        </p:nvSpPr>
        <p:spPr>
          <a:xfrm>
            <a:off x="286207" y="5004511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9125712" y="5004511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286207" y="8442655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9125712" y="8442655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445313" y="5004511"/>
            <a:ext cx="8839505" cy="3755441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286207" y="5163617"/>
            <a:ext cx="9156802" cy="34381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445313" y="5013655"/>
            <a:ext cx="8839505" cy="37371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0"/>
          <p:cNvSpPr/>
          <p:nvPr/>
        </p:nvSpPr>
        <p:spPr>
          <a:xfrm>
            <a:off x="295351" y="5163617"/>
            <a:ext cx="9138514" cy="3438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1"/>
          <p:cNvSpPr/>
          <p:nvPr/>
        </p:nvSpPr>
        <p:spPr>
          <a:xfrm>
            <a:off x="475488" y="5175504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9" name="Shape 52"/>
          <p:cNvSpPr/>
          <p:nvPr/>
        </p:nvSpPr>
        <p:spPr>
          <a:xfrm>
            <a:off x="3773729" y="5175504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60" name="Shape 53"/>
          <p:cNvSpPr/>
          <p:nvPr/>
        </p:nvSpPr>
        <p:spPr>
          <a:xfrm>
            <a:off x="475488" y="5522976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61" name="Shape 54"/>
          <p:cNvSpPr/>
          <p:nvPr/>
        </p:nvSpPr>
        <p:spPr>
          <a:xfrm>
            <a:off x="3773729" y="5522976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62" name="Shape 55"/>
          <p:cNvSpPr/>
          <p:nvPr/>
        </p:nvSpPr>
        <p:spPr>
          <a:xfrm>
            <a:off x="548640" y="5175504"/>
            <a:ext cx="3298241" cy="493776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63" name="Shape 56"/>
          <p:cNvSpPr/>
          <p:nvPr/>
        </p:nvSpPr>
        <p:spPr>
          <a:xfrm>
            <a:off x="475488" y="5248656"/>
            <a:ext cx="3444545" cy="347472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64" name="Shape 57"/>
          <p:cNvSpPr/>
          <p:nvPr/>
        </p:nvSpPr>
        <p:spPr>
          <a:xfrm>
            <a:off x="475488" y="5175504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5" name="Shape 58"/>
          <p:cNvSpPr/>
          <p:nvPr/>
        </p:nvSpPr>
        <p:spPr>
          <a:xfrm>
            <a:off x="779983" y="5175504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6" name="Shape 59"/>
          <p:cNvSpPr/>
          <p:nvPr/>
        </p:nvSpPr>
        <p:spPr>
          <a:xfrm>
            <a:off x="475488" y="5522976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7" name="Shape 60"/>
          <p:cNvSpPr/>
          <p:nvPr/>
        </p:nvSpPr>
        <p:spPr>
          <a:xfrm>
            <a:off x="779983" y="5522976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8" name="Shape 61"/>
          <p:cNvSpPr/>
          <p:nvPr/>
        </p:nvSpPr>
        <p:spPr>
          <a:xfrm>
            <a:off x="548640" y="5175504"/>
            <a:ext cx="304495" cy="493776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69" name="Shape 62"/>
          <p:cNvSpPr/>
          <p:nvPr/>
        </p:nvSpPr>
        <p:spPr>
          <a:xfrm>
            <a:off x="475488" y="5248656"/>
            <a:ext cx="450799" cy="347472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70" name="Text 63"/>
          <p:cNvSpPr/>
          <p:nvPr/>
        </p:nvSpPr>
        <p:spPr>
          <a:xfrm>
            <a:off x="475488" y="5175504"/>
            <a:ext cx="4507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2370" dirty="0"/>
          </a:p>
        </p:txBody>
      </p:sp>
      <p:sp>
        <p:nvSpPr>
          <p:cNvPr id="71" name="Text 64"/>
          <p:cNvSpPr/>
          <p:nvPr/>
        </p:nvSpPr>
        <p:spPr>
          <a:xfrm>
            <a:off x="1097280" y="5175504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한 번의 창업으로 끝나지 않았다</a:t>
            </a:r>
            <a:endParaRPr lang="en-US" sz="1630" dirty="0"/>
          </a:p>
        </p:txBody>
      </p:sp>
      <p:sp>
        <p:nvSpPr>
          <p:cNvPr id="72" name="Text 65"/>
          <p:cNvSpPr/>
          <p:nvPr/>
        </p:nvSpPr>
        <p:spPr>
          <a:xfrm>
            <a:off x="4144975" y="5260543"/>
            <a:ext cx="518190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여러 번의 도전 경험을 가진 재창업 기업 비중이 높습니다.</a:t>
            </a:r>
            <a:endParaRPr lang="en-US" sz="1570" dirty="0"/>
          </a:p>
        </p:txBody>
      </p:sp>
      <p:sp>
        <p:nvSpPr>
          <p:cNvPr id="73" name="Shape 66"/>
          <p:cNvSpPr/>
          <p:nvPr/>
        </p:nvSpPr>
        <p:spPr>
          <a:xfrm>
            <a:off x="4102913" y="5864047"/>
            <a:ext cx="0" cy="2560320"/>
          </a:xfrm>
          <a:prstGeom prst="line">
            <a:avLst/>
          </a:prstGeom>
          <a:noFill/>
          <a:ln w="12700">
            <a:solidFill>
              <a:srgbClr val="CEDCEA"/>
            </a:solidFill>
            <a:prstDash val="solid"/>
          </a:ln>
        </p:spPr>
      </p:sp>
      <p:sp>
        <p:nvSpPr>
          <p:cNvPr id="74" name="Text 67"/>
          <p:cNvSpPr/>
          <p:nvPr/>
        </p:nvSpPr>
        <p:spPr>
          <a:xfrm>
            <a:off x="603504" y="5864047"/>
            <a:ext cx="341345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전체 사업체 운영 횟수</a:t>
            </a:r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(현 사업체 포함)</a:t>
            </a:r>
            <a:endParaRPr lang="en-US" sz="1200" dirty="0"/>
          </a:p>
        </p:txBody>
      </p:sp>
      <p:pic>
        <p:nvPicPr>
          <p:cNvPr id="75" name="Image 5" descr="g01-build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53" y="6558991"/>
            <a:ext cx="1341425" cy="1694383"/>
          </a:xfrm>
          <a:prstGeom prst="rect">
            <a:avLst/>
          </a:prstGeom>
        </p:spPr>
      </p:pic>
      <p:sp>
        <p:nvSpPr>
          <p:cNvPr id="76" name="Text 68"/>
          <p:cNvSpPr/>
          <p:nvPr/>
        </p:nvSpPr>
        <p:spPr>
          <a:xfrm>
            <a:off x="2499055" y="6864401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평균</a:t>
            </a:r>
            <a:endParaRPr lang="en-US" sz="1880" dirty="0"/>
          </a:p>
        </p:txBody>
      </p:sp>
      <p:sp>
        <p:nvSpPr>
          <p:cNvPr id="77" name="Text 69"/>
          <p:cNvSpPr/>
          <p:nvPr/>
        </p:nvSpPr>
        <p:spPr>
          <a:xfrm>
            <a:off x="2450592" y="6773545"/>
            <a:ext cx="1020671" cy="121373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0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1.7</a:t>
            </a:r>
            <a:endParaRPr lang="en-US" sz="5030" dirty="0"/>
          </a:p>
        </p:txBody>
      </p:sp>
      <p:sp>
        <p:nvSpPr>
          <p:cNvPr id="78" name="Text 70"/>
          <p:cNvSpPr/>
          <p:nvPr/>
        </p:nvSpPr>
        <p:spPr>
          <a:xfrm>
            <a:off x="3361535" y="7136689"/>
            <a:ext cx="486258" cy="82042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회</a:t>
            </a:r>
            <a:endParaRPr lang="en-US" sz="3400" dirty="0"/>
          </a:p>
        </p:txBody>
      </p:sp>
      <p:sp>
        <p:nvSpPr>
          <p:cNvPr id="79" name="Text 71"/>
          <p:cNvSpPr/>
          <p:nvPr/>
        </p:nvSpPr>
        <p:spPr>
          <a:xfrm>
            <a:off x="5047488" y="5827471"/>
            <a:ext cx="377921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2회 이상 사업체 운영 경험</a:t>
            </a:r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(재창업)</a:t>
            </a:r>
            <a:endParaRPr lang="en-US" sz="1200" dirty="0"/>
          </a:p>
        </p:txBody>
      </p:sp>
      <p:graphicFrame>
        <p:nvGraphicFramePr>
          <p:cNvPr id="80" name="Chart 0" descr=""/>
          <p:cNvGraphicFramePr/>
          <p:nvPr/>
        </p:nvGraphicFramePr>
        <p:xfrm>
          <a:off x="4474159" y="6284671"/>
          <a:ext cx="2352751" cy="23527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pic>
        <p:nvPicPr>
          <p:cNvPr id="81" name="Image 6" descr="g01-shop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5232" y="7095744"/>
            <a:ext cx="731520" cy="731520"/>
          </a:xfrm>
          <a:prstGeom prst="rect">
            <a:avLst/>
          </a:prstGeom>
        </p:spPr>
      </p:pic>
      <p:sp>
        <p:nvSpPr>
          <p:cNvPr id="82" name="Text 72"/>
          <p:cNvSpPr/>
          <p:nvPr/>
        </p:nvSpPr>
        <p:spPr>
          <a:xfrm>
            <a:off x="7205472" y="6182690"/>
            <a:ext cx="1365165" cy="11992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9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41.0</a:t>
            </a:r>
            <a:endParaRPr lang="en-US" sz="4970" dirty="0"/>
          </a:p>
        </p:txBody>
      </p:sp>
      <p:sp>
        <p:nvSpPr>
          <p:cNvPr id="83" name="Text 73"/>
          <p:cNvSpPr/>
          <p:nvPr/>
        </p:nvSpPr>
        <p:spPr>
          <a:xfrm>
            <a:off x="8460909" y="6670904"/>
            <a:ext cx="418302" cy="6708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8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2780" dirty="0"/>
          </a:p>
        </p:txBody>
      </p:sp>
      <p:sp>
        <p:nvSpPr>
          <p:cNvPr id="84" name="Text 74"/>
          <p:cNvSpPr/>
          <p:nvPr/>
        </p:nvSpPr>
        <p:spPr>
          <a:xfrm>
            <a:off x="7211873" y="7400239"/>
            <a:ext cx="2072945" cy="683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응답 기업이</a:t>
            </a:r>
            <a:endParaRPr lang="en-US" sz="178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7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2회 이상 운영 경험</a:t>
            </a:r>
            <a:endParaRPr lang="en-US" sz="1780" dirty="0"/>
          </a:p>
        </p:txBody>
      </p:sp>
      <p:sp>
        <p:nvSpPr>
          <p:cNvPr id="85" name="Shape 75"/>
          <p:cNvSpPr/>
          <p:nvPr/>
        </p:nvSpPr>
        <p:spPr>
          <a:xfrm>
            <a:off x="286207" y="8954719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6" name="Shape 76"/>
          <p:cNvSpPr/>
          <p:nvPr/>
        </p:nvSpPr>
        <p:spPr>
          <a:xfrm>
            <a:off x="9125712" y="8954719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7" name="Shape 77"/>
          <p:cNvSpPr/>
          <p:nvPr/>
        </p:nvSpPr>
        <p:spPr>
          <a:xfrm>
            <a:off x="286207" y="14051585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8" name="Shape 78"/>
          <p:cNvSpPr/>
          <p:nvPr/>
        </p:nvSpPr>
        <p:spPr>
          <a:xfrm>
            <a:off x="9125712" y="14051585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9" name="Shape 79"/>
          <p:cNvSpPr/>
          <p:nvPr/>
        </p:nvSpPr>
        <p:spPr>
          <a:xfrm>
            <a:off x="445313" y="8954719"/>
            <a:ext cx="8839505" cy="54132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0" name="Shape 80"/>
          <p:cNvSpPr/>
          <p:nvPr/>
        </p:nvSpPr>
        <p:spPr>
          <a:xfrm>
            <a:off x="286207" y="9113825"/>
            <a:ext cx="9156802" cy="5095951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1" name="Shape 81"/>
          <p:cNvSpPr/>
          <p:nvPr/>
        </p:nvSpPr>
        <p:spPr>
          <a:xfrm>
            <a:off x="445313" y="8963863"/>
            <a:ext cx="8839505" cy="5394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Shape 82"/>
          <p:cNvSpPr/>
          <p:nvPr/>
        </p:nvSpPr>
        <p:spPr>
          <a:xfrm>
            <a:off x="295351" y="9113825"/>
            <a:ext cx="9138514" cy="5095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hape 83"/>
          <p:cNvSpPr/>
          <p:nvPr/>
        </p:nvSpPr>
        <p:spPr>
          <a:xfrm>
            <a:off x="463601" y="9132113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94" name="Shape 84"/>
          <p:cNvSpPr/>
          <p:nvPr/>
        </p:nvSpPr>
        <p:spPr>
          <a:xfrm>
            <a:off x="4626864" y="9132113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95" name="Shape 85"/>
          <p:cNvSpPr/>
          <p:nvPr/>
        </p:nvSpPr>
        <p:spPr>
          <a:xfrm>
            <a:off x="463601" y="9448495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96" name="Shape 86"/>
          <p:cNvSpPr/>
          <p:nvPr/>
        </p:nvSpPr>
        <p:spPr>
          <a:xfrm>
            <a:off x="4626864" y="9448495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97" name="Shape 87"/>
          <p:cNvSpPr/>
          <p:nvPr/>
        </p:nvSpPr>
        <p:spPr>
          <a:xfrm>
            <a:off x="536753" y="9132113"/>
            <a:ext cx="4163263" cy="463601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98" name="Shape 88"/>
          <p:cNvSpPr/>
          <p:nvPr/>
        </p:nvSpPr>
        <p:spPr>
          <a:xfrm>
            <a:off x="463601" y="9205265"/>
            <a:ext cx="4309567" cy="317297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99" name="Shape 89"/>
          <p:cNvSpPr/>
          <p:nvPr/>
        </p:nvSpPr>
        <p:spPr>
          <a:xfrm>
            <a:off x="463601" y="9132113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00" name="Shape 90"/>
          <p:cNvSpPr/>
          <p:nvPr/>
        </p:nvSpPr>
        <p:spPr>
          <a:xfrm>
            <a:off x="768096" y="9132113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01" name="Shape 91"/>
          <p:cNvSpPr/>
          <p:nvPr/>
        </p:nvSpPr>
        <p:spPr>
          <a:xfrm>
            <a:off x="463601" y="9448495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02" name="Shape 92"/>
          <p:cNvSpPr/>
          <p:nvPr/>
        </p:nvSpPr>
        <p:spPr>
          <a:xfrm>
            <a:off x="768096" y="9448495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03" name="Shape 93"/>
          <p:cNvSpPr/>
          <p:nvPr/>
        </p:nvSpPr>
        <p:spPr>
          <a:xfrm>
            <a:off x="536753" y="9132113"/>
            <a:ext cx="304495" cy="46360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04" name="Shape 94"/>
          <p:cNvSpPr/>
          <p:nvPr/>
        </p:nvSpPr>
        <p:spPr>
          <a:xfrm>
            <a:off x="463601" y="9205265"/>
            <a:ext cx="450799" cy="317297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05" name="Text 95"/>
          <p:cNvSpPr/>
          <p:nvPr/>
        </p:nvSpPr>
        <p:spPr>
          <a:xfrm>
            <a:off x="463601" y="9132113"/>
            <a:ext cx="450799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2310" dirty="0"/>
          </a:p>
        </p:txBody>
      </p:sp>
      <p:sp>
        <p:nvSpPr>
          <p:cNvPr id="106" name="Text 96"/>
          <p:cNvSpPr/>
          <p:nvPr/>
        </p:nvSpPr>
        <p:spPr>
          <a:xfrm>
            <a:off x="1085393" y="9132113"/>
            <a:ext cx="3627425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창업(인수 포함)을 위해 얼마나 준비했을까?</a:t>
            </a:r>
            <a:endParaRPr lang="en-US" sz="1470" dirty="0"/>
          </a:p>
        </p:txBody>
      </p:sp>
      <p:sp>
        <p:nvSpPr>
          <p:cNvPr id="107" name="Text 97"/>
          <p:cNvSpPr/>
          <p:nvPr/>
        </p:nvSpPr>
        <p:spPr>
          <a:xfrm>
            <a:off x="4987138" y="9217152"/>
            <a:ext cx="42675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준비기간과 창업자금 모두 기업 간 편차가 큰 편입니다.</a:t>
            </a:r>
            <a:endParaRPr lang="en-US" sz="1570" dirty="0"/>
          </a:p>
        </p:txBody>
      </p:sp>
      <p:sp>
        <p:nvSpPr>
          <p:cNvPr id="108" name="Shape 98"/>
          <p:cNvSpPr/>
          <p:nvPr/>
        </p:nvSpPr>
        <p:spPr>
          <a:xfrm>
            <a:off x="463601" y="9808769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9" name="Shape 99"/>
          <p:cNvSpPr/>
          <p:nvPr/>
        </p:nvSpPr>
        <p:spPr>
          <a:xfrm>
            <a:off x="4413809" y="9808769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10" name="Shape 100"/>
          <p:cNvSpPr/>
          <p:nvPr/>
        </p:nvSpPr>
        <p:spPr>
          <a:xfrm>
            <a:off x="463601" y="12746736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11" name="Shape 101"/>
          <p:cNvSpPr/>
          <p:nvPr/>
        </p:nvSpPr>
        <p:spPr>
          <a:xfrm>
            <a:off x="4413809" y="12746736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12" name="Shape 102"/>
          <p:cNvSpPr/>
          <p:nvPr/>
        </p:nvSpPr>
        <p:spPr>
          <a:xfrm>
            <a:off x="585216" y="9808769"/>
            <a:ext cx="3950208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13" name="Shape 103"/>
          <p:cNvSpPr/>
          <p:nvPr/>
        </p:nvSpPr>
        <p:spPr>
          <a:xfrm>
            <a:off x="463601" y="9930384"/>
            <a:ext cx="4194353" cy="2937967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14" name="Shape 104"/>
          <p:cNvSpPr/>
          <p:nvPr/>
        </p:nvSpPr>
        <p:spPr>
          <a:xfrm>
            <a:off x="585216" y="9817913"/>
            <a:ext cx="3950208" cy="31638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Shape 105"/>
          <p:cNvSpPr/>
          <p:nvPr/>
        </p:nvSpPr>
        <p:spPr>
          <a:xfrm>
            <a:off x="472745" y="9930384"/>
            <a:ext cx="4176065" cy="293796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6" name="Image 7" descr="g01-cal-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9850831"/>
            <a:ext cx="487375" cy="414223"/>
          </a:xfrm>
          <a:prstGeom prst="rect">
            <a:avLst/>
          </a:prstGeom>
        </p:spPr>
      </p:pic>
      <p:sp>
        <p:nvSpPr>
          <p:cNvPr id="117" name="Text 106"/>
          <p:cNvSpPr/>
          <p:nvPr/>
        </p:nvSpPr>
        <p:spPr>
          <a:xfrm>
            <a:off x="1328623" y="9875520"/>
            <a:ext cx="32068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창업(인수 포함) 준비기간</a:t>
            </a:r>
            <a:endParaRPr lang="en-US" sz="1200" dirty="0"/>
          </a:p>
        </p:txBody>
      </p:sp>
      <p:sp>
        <p:nvSpPr>
          <p:cNvPr id="118" name="Shape 107"/>
          <p:cNvSpPr/>
          <p:nvPr/>
        </p:nvSpPr>
        <p:spPr>
          <a:xfrm>
            <a:off x="2585009" y="10399471"/>
            <a:ext cx="0" cy="1463040"/>
          </a:xfrm>
          <a:prstGeom prst="line">
            <a:avLst/>
          </a:prstGeom>
          <a:noFill/>
          <a:ln w="12700">
            <a:solidFill>
              <a:srgbClr val="D6E4F1"/>
            </a:solidFill>
            <a:prstDash val="solid"/>
          </a:ln>
        </p:spPr>
      </p:sp>
      <p:sp>
        <p:nvSpPr>
          <p:cNvPr id="119" name="Text 108"/>
          <p:cNvSpPr/>
          <p:nvPr/>
        </p:nvSpPr>
        <p:spPr>
          <a:xfrm>
            <a:off x="609905" y="10448849"/>
            <a:ext cx="182880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평균</a:t>
            </a:r>
            <a:endParaRPr lang="en-US" sz="1680" dirty="0"/>
          </a:p>
        </p:txBody>
      </p:sp>
      <p:sp>
        <p:nvSpPr>
          <p:cNvPr id="120" name="Text 109"/>
          <p:cNvSpPr/>
          <p:nvPr/>
        </p:nvSpPr>
        <p:spPr>
          <a:xfrm>
            <a:off x="924339" y="10371074"/>
            <a:ext cx="801538" cy="92176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6.3</a:t>
            </a:r>
            <a:endParaRPr lang="en-US" sz="3820" dirty="0"/>
          </a:p>
        </p:txBody>
      </p:sp>
      <p:sp>
        <p:nvSpPr>
          <p:cNvPr id="121" name="Text 110"/>
          <p:cNvSpPr/>
          <p:nvPr/>
        </p:nvSpPr>
        <p:spPr>
          <a:xfrm>
            <a:off x="1616149" y="10711917"/>
            <a:ext cx="616936" cy="55257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개월</a:t>
            </a:r>
            <a:endParaRPr lang="en-US" sz="2290" dirty="0"/>
          </a:p>
        </p:txBody>
      </p:sp>
      <p:pic>
        <p:nvPicPr>
          <p:cNvPr id="122" name="Image 8" descr="g01-cal5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11375136"/>
            <a:ext cx="1913839" cy="548640"/>
          </a:xfrm>
          <a:prstGeom prst="rect">
            <a:avLst/>
          </a:prstGeom>
        </p:spPr>
      </p:pic>
      <p:sp>
        <p:nvSpPr>
          <p:cNvPr id="123" name="Text 111"/>
          <p:cNvSpPr/>
          <p:nvPr/>
        </p:nvSpPr>
        <p:spPr>
          <a:xfrm>
            <a:off x="2706624" y="10448849"/>
            <a:ext cx="182880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중앙값</a:t>
            </a:r>
            <a:endParaRPr lang="en-US" sz="1680" dirty="0"/>
          </a:p>
        </p:txBody>
      </p:sp>
      <p:sp>
        <p:nvSpPr>
          <p:cNvPr id="124" name="Text 112"/>
          <p:cNvSpPr/>
          <p:nvPr/>
        </p:nvSpPr>
        <p:spPr>
          <a:xfrm>
            <a:off x="3231311" y="10371074"/>
            <a:ext cx="382862" cy="92176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3820" dirty="0"/>
          </a:p>
        </p:txBody>
      </p:sp>
      <p:sp>
        <p:nvSpPr>
          <p:cNvPr id="125" name="Text 113"/>
          <p:cNvSpPr/>
          <p:nvPr/>
        </p:nvSpPr>
        <p:spPr>
          <a:xfrm>
            <a:off x="3504444" y="10711917"/>
            <a:ext cx="616936" cy="55257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개월</a:t>
            </a:r>
            <a:endParaRPr lang="en-US" sz="2290" dirty="0"/>
          </a:p>
        </p:txBody>
      </p:sp>
      <p:pic>
        <p:nvPicPr>
          <p:cNvPr id="126" name="Image 9" descr="g01-cal3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89504" y="11375136"/>
            <a:ext cx="1463040" cy="560527"/>
          </a:xfrm>
          <a:prstGeom prst="rect">
            <a:avLst/>
          </a:prstGeom>
        </p:spPr>
      </p:pic>
      <p:sp>
        <p:nvSpPr>
          <p:cNvPr id="127" name="Shape 114"/>
          <p:cNvSpPr/>
          <p:nvPr/>
        </p:nvSpPr>
        <p:spPr>
          <a:xfrm>
            <a:off x="761695" y="12209983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28" name="Shape 115"/>
          <p:cNvSpPr/>
          <p:nvPr/>
        </p:nvSpPr>
        <p:spPr>
          <a:xfrm>
            <a:off x="4139489" y="12209983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29" name="Shape 116"/>
          <p:cNvSpPr/>
          <p:nvPr/>
        </p:nvSpPr>
        <p:spPr>
          <a:xfrm>
            <a:off x="761695" y="12625121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30" name="Shape 117"/>
          <p:cNvSpPr/>
          <p:nvPr/>
        </p:nvSpPr>
        <p:spPr>
          <a:xfrm>
            <a:off x="4139489" y="12625121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31" name="Shape 118"/>
          <p:cNvSpPr/>
          <p:nvPr/>
        </p:nvSpPr>
        <p:spPr>
          <a:xfrm>
            <a:off x="871423" y="12209983"/>
            <a:ext cx="3376879" cy="633679"/>
          </a:xfrm>
          <a:prstGeom prst="rect">
            <a:avLst/>
          </a:prstGeom>
          <a:solidFill>
            <a:srgbClr val="D9E9F9"/>
          </a:solidFill>
          <a:ln/>
        </p:spPr>
      </p:sp>
      <p:sp>
        <p:nvSpPr>
          <p:cNvPr id="132" name="Shape 119"/>
          <p:cNvSpPr/>
          <p:nvPr/>
        </p:nvSpPr>
        <p:spPr>
          <a:xfrm>
            <a:off x="761695" y="12319711"/>
            <a:ext cx="3596335" cy="414223"/>
          </a:xfrm>
          <a:prstGeom prst="rect">
            <a:avLst/>
          </a:prstGeom>
          <a:solidFill>
            <a:srgbClr val="D9E9F9"/>
          </a:solidFill>
          <a:ln/>
        </p:spPr>
      </p:sp>
      <p:pic>
        <p:nvPicPr>
          <p:cNvPr id="133" name="Image 10" descr="g01-bulb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831" y="12167921"/>
            <a:ext cx="548640" cy="731520"/>
          </a:xfrm>
          <a:prstGeom prst="rect">
            <a:avLst/>
          </a:prstGeom>
        </p:spPr>
      </p:pic>
      <p:sp>
        <p:nvSpPr>
          <p:cNvPr id="134" name="Text 120"/>
          <p:cNvSpPr/>
          <p:nvPr/>
        </p:nvSpPr>
        <p:spPr>
          <a:xfrm>
            <a:off x="1481328" y="12209983"/>
            <a:ext cx="2779776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일부 장기 준비 사례가 평균을</a:t>
            </a:r>
            <a:endParaRPr lang="en-US" sz="173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끌어올린 형태입니다.</a:t>
            </a:r>
            <a:endParaRPr lang="en-US" sz="1730" dirty="0"/>
          </a:p>
        </p:txBody>
      </p:sp>
      <p:sp>
        <p:nvSpPr>
          <p:cNvPr id="135" name="Shape 121"/>
          <p:cNvSpPr/>
          <p:nvPr/>
        </p:nvSpPr>
        <p:spPr>
          <a:xfrm>
            <a:off x="4779569" y="9808769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36" name="Shape 122"/>
          <p:cNvSpPr/>
          <p:nvPr/>
        </p:nvSpPr>
        <p:spPr>
          <a:xfrm>
            <a:off x="9010498" y="9808769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37" name="Shape 123"/>
          <p:cNvSpPr/>
          <p:nvPr/>
        </p:nvSpPr>
        <p:spPr>
          <a:xfrm>
            <a:off x="4779569" y="12746736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38" name="Shape 124"/>
          <p:cNvSpPr/>
          <p:nvPr/>
        </p:nvSpPr>
        <p:spPr>
          <a:xfrm>
            <a:off x="9010498" y="12746736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39" name="Shape 125"/>
          <p:cNvSpPr/>
          <p:nvPr/>
        </p:nvSpPr>
        <p:spPr>
          <a:xfrm>
            <a:off x="4901184" y="9808769"/>
            <a:ext cx="4230929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40" name="Shape 126"/>
          <p:cNvSpPr/>
          <p:nvPr/>
        </p:nvSpPr>
        <p:spPr>
          <a:xfrm>
            <a:off x="4779569" y="9930384"/>
            <a:ext cx="4474159" cy="2937967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41" name="Shape 127"/>
          <p:cNvSpPr/>
          <p:nvPr/>
        </p:nvSpPr>
        <p:spPr>
          <a:xfrm>
            <a:off x="4901184" y="9817913"/>
            <a:ext cx="4230929" cy="31638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Shape 128"/>
          <p:cNvSpPr/>
          <p:nvPr/>
        </p:nvSpPr>
        <p:spPr>
          <a:xfrm>
            <a:off x="4788713" y="9930384"/>
            <a:ext cx="4455871" cy="293796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3" name="Image 11" descr="g01-money-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87138" y="9827057"/>
            <a:ext cx="475488" cy="475488"/>
          </a:xfrm>
          <a:prstGeom prst="rect">
            <a:avLst/>
          </a:prstGeom>
        </p:spPr>
      </p:pic>
      <p:sp>
        <p:nvSpPr>
          <p:cNvPr id="144" name="Text 129"/>
          <p:cNvSpPr/>
          <p:nvPr/>
        </p:nvSpPr>
        <p:spPr>
          <a:xfrm>
            <a:off x="5584241" y="9875520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창업자금 총액</a:t>
            </a:r>
            <a:pPr algn="l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(인수비용 포함)</a:t>
            </a:r>
            <a:endParaRPr lang="en-US" sz="1200" dirty="0"/>
          </a:p>
        </p:txBody>
      </p:sp>
      <p:sp>
        <p:nvSpPr>
          <p:cNvPr id="145" name="Shape 130"/>
          <p:cNvSpPr/>
          <p:nvPr/>
        </p:nvSpPr>
        <p:spPr>
          <a:xfrm>
            <a:off x="7040880" y="10399471"/>
            <a:ext cx="0" cy="1463040"/>
          </a:xfrm>
          <a:prstGeom prst="line">
            <a:avLst/>
          </a:prstGeom>
          <a:noFill/>
          <a:ln w="12700">
            <a:solidFill>
              <a:srgbClr val="D6E4F1"/>
            </a:solidFill>
            <a:prstDash val="solid"/>
          </a:ln>
        </p:spPr>
      </p:sp>
      <p:sp>
        <p:nvSpPr>
          <p:cNvPr id="146" name="Text 131"/>
          <p:cNvSpPr/>
          <p:nvPr/>
        </p:nvSpPr>
        <p:spPr>
          <a:xfrm>
            <a:off x="5042002" y="10448849"/>
            <a:ext cx="182880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평균</a:t>
            </a:r>
            <a:endParaRPr lang="en-US" sz="1680" dirty="0"/>
          </a:p>
        </p:txBody>
      </p:sp>
      <p:sp>
        <p:nvSpPr>
          <p:cNvPr id="147" name="Text 132"/>
          <p:cNvSpPr/>
          <p:nvPr/>
        </p:nvSpPr>
        <p:spPr>
          <a:xfrm>
            <a:off x="4919966" y="10621112"/>
            <a:ext cx="1796296" cy="6708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8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1억 3,703</a:t>
            </a:r>
            <a:endParaRPr lang="en-US" sz="2780" dirty="0"/>
          </a:p>
        </p:txBody>
      </p:sp>
      <p:sp>
        <p:nvSpPr>
          <p:cNvPr id="148" name="Text 133"/>
          <p:cNvSpPr/>
          <p:nvPr/>
        </p:nvSpPr>
        <p:spPr>
          <a:xfrm>
            <a:off x="6606534" y="10852861"/>
            <a:ext cx="495117" cy="41986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4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만원</a:t>
            </a:r>
            <a:endParaRPr lang="en-US" sz="1740" dirty="0"/>
          </a:p>
        </p:txBody>
      </p:sp>
      <p:pic>
        <p:nvPicPr>
          <p:cNvPr id="149" name="Image 12" descr="g01-cash-bi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93792" y="11253521"/>
            <a:ext cx="1524305" cy="950976"/>
          </a:xfrm>
          <a:prstGeom prst="rect">
            <a:avLst/>
          </a:prstGeom>
        </p:spPr>
      </p:pic>
      <p:sp>
        <p:nvSpPr>
          <p:cNvPr id="150" name="Text 134"/>
          <p:cNvSpPr/>
          <p:nvPr/>
        </p:nvSpPr>
        <p:spPr>
          <a:xfrm>
            <a:off x="7242048" y="10448849"/>
            <a:ext cx="182880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중앙값</a:t>
            </a:r>
            <a:endParaRPr lang="en-US" sz="1680" dirty="0"/>
          </a:p>
        </p:txBody>
      </p:sp>
      <p:sp>
        <p:nvSpPr>
          <p:cNvPr id="151" name="Text 135"/>
          <p:cNvSpPr/>
          <p:nvPr/>
        </p:nvSpPr>
        <p:spPr>
          <a:xfrm>
            <a:off x="7284263" y="10389362"/>
            <a:ext cx="1347805" cy="92176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7,000</a:t>
            </a:r>
            <a:endParaRPr lang="en-US" sz="3820" dirty="0"/>
          </a:p>
        </p:txBody>
      </p:sp>
      <p:sp>
        <p:nvSpPr>
          <p:cNvPr id="152" name="Text 136"/>
          <p:cNvSpPr/>
          <p:nvPr/>
        </p:nvSpPr>
        <p:spPr>
          <a:xfrm>
            <a:off x="8522340" y="10730205"/>
            <a:ext cx="616936" cy="55257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만원</a:t>
            </a:r>
            <a:endParaRPr lang="en-US" sz="2290" dirty="0"/>
          </a:p>
        </p:txBody>
      </p:sp>
      <p:pic>
        <p:nvPicPr>
          <p:cNvPr id="153" name="Image 13" descr="g01-cash-small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0" y="11363249"/>
            <a:ext cx="1316736" cy="743407"/>
          </a:xfrm>
          <a:prstGeom prst="rect">
            <a:avLst/>
          </a:prstGeom>
        </p:spPr>
      </p:pic>
      <p:sp>
        <p:nvSpPr>
          <p:cNvPr id="154" name="Shape 137"/>
          <p:cNvSpPr/>
          <p:nvPr/>
        </p:nvSpPr>
        <p:spPr>
          <a:xfrm>
            <a:off x="4980737" y="12191695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55" name="Shape 138"/>
          <p:cNvSpPr/>
          <p:nvPr/>
        </p:nvSpPr>
        <p:spPr>
          <a:xfrm>
            <a:off x="8784641" y="12191695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56" name="Shape 139"/>
          <p:cNvSpPr/>
          <p:nvPr/>
        </p:nvSpPr>
        <p:spPr>
          <a:xfrm>
            <a:off x="4980737" y="12618720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57" name="Shape 140"/>
          <p:cNvSpPr/>
          <p:nvPr/>
        </p:nvSpPr>
        <p:spPr>
          <a:xfrm>
            <a:off x="8784641" y="12618720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58" name="Shape 141"/>
          <p:cNvSpPr/>
          <p:nvPr/>
        </p:nvSpPr>
        <p:spPr>
          <a:xfrm>
            <a:off x="5090465" y="12191695"/>
            <a:ext cx="3803904" cy="646481"/>
          </a:xfrm>
          <a:prstGeom prst="rect">
            <a:avLst/>
          </a:prstGeom>
          <a:solidFill>
            <a:srgbClr val="D9E9F9"/>
          </a:solidFill>
          <a:ln/>
        </p:spPr>
      </p:sp>
      <p:sp>
        <p:nvSpPr>
          <p:cNvPr id="159" name="Shape 142"/>
          <p:cNvSpPr/>
          <p:nvPr/>
        </p:nvSpPr>
        <p:spPr>
          <a:xfrm>
            <a:off x="4980737" y="12301423"/>
            <a:ext cx="4023360" cy="427025"/>
          </a:xfrm>
          <a:prstGeom prst="rect">
            <a:avLst/>
          </a:prstGeom>
          <a:solidFill>
            <a:srgbClr val="D9E9F9"/>
          </a:solidFill>
          <a:ln/>
        </p:spPr>
      </p:sp>
      <p:pic>
        <p:nvPicPr>
          <p:cNvPr id="160" name="Image 14" descr="g01-barchart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62449" y="12167921"/>
            <a:ext cx="560527" cy="731520"/>
          </a:xfrm>
          <a:prstGeom prst="rect">
            <a:avLst/>
          </a:prstGeom>
        </p:spPr>
      </p:pic>
      <p:sp>
        <p:nvSpPr>
          <p:cNvPr id="161" name="Text 143"/>
          <p:cNvSpPr/>
          <p:nvPr/>
        </p:nvSpPr>
        <p:spPr>
          <a:xfrm>
            <a:off x="5700370" y="12191695"/>
            <a:ext cx="3206801" cy="6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기업 간 자금 규모 편차가</a:t>
            </a:r>
            <a:endParaRPr lang="en-US" sz="173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큰 것으로 나타났습니다.</a:t>
            </a:r>
            <a:endParaRPr lang="en-US" sz="1730" dirty="0"/>
          </a:p>
        </p:txBody>
      </p:sp>
      <p:sp>
        <p:nvSpPr>
          <p:cNvPr id="162" name="Shape 144"/>
          <p:cNvSpPr/>
          <p:nvPr/>
        </p:nvSpPr>
        <p:spPr>
          <a:xfrm>
            <a:off x="463601" y="13155473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3" name="Shape 145"/>
          <p:cNvSpPr/>
          <p:nvPr/>
        </p:nvSpPr>
        <p:spPr>
          <a:xfrm>
            <a:off x="9028786" y="13155473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4" name="Shape 146"/>
          <p:cNvSpPr/>
          <p:nvPr/>
        </p:nvSpPr>
        <p:spPr>
          <a:xfrm>
            <a:off x="463601" y="13941857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5" name="Shape 147"/>
          <p:cNvSpPr/>
          <p:nvPr/>
        </p:nvSpPr>
        <p:spPr>
          <a:xfrm>
            <a:off x="9028786" y="13941857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6" name="Shape 148"/>
          <p:cNvSpPr/>
          <p:nvPr/>
        </p:nvSpPr>
        <p:spPr>
          <a:xfrm>
            <a:off x="585216" y="13155473"/>
            <a:ext cx="8565185" cy="1030529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67" name="Shape 149"/>
          <p:cNvSpPr/>
          <p:nvPr/>
        </p:nvSpPr>
        <p:spPr>
          <a:xfrm>
            <a:off x="463601" y="13277088"/>
            <a:ext cx="8809330" cy="786384"/>
          </a:xfrm>
          <a:prstGeom prst="rect">
            <a:avLst/>
          </a:prstGeom>
          <a:solidFill>
            <a:srgbClr val="00337F"/>
          </a:solidFill>
          <a:ln/>
        </p:spPr>
      </p:sp>
      <p:pic>
        <p:nvPicPr>
          <p:cNvPr id="168" name="Image 15" descr="g01-clipboard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3135" y="13277088"/>
            <a:ext cx="706831" cy="804672"/>
          </a:xfrm>
          <a:prstGeom prst="rect">
            <a:avLst/>
          </a:prstGeom>
        </p:spPr>
      </p:pic>
      <p:sp>
        <p:nvSpPr>
          <p:cNvPr id="169" name="Text 150"/>
          <p:cNvSpPr/>
          <p:nvPr/>
        </p:nvSpPr>
        <p:spPr>
          <a:xfrm>
            <a:off x="1828800" y="13301777"/>
            <a:ext cx="65717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경험 있는 창업자들이 여러 번의 도전을 통해 사업을 이어가고 있으며,</a:t>
            </a:r>
            <a:endParaRPr lang="en-US" sz="1780" dirty="0"/>
          </a:p>
        </p:txBody>
      </p:sp>
      <p:sp>
        <p:nvSpPr>
          <p:cNvPr id="170" name="Text 151"/>
          <p:cNvSpPr/>
          <p:nvPr/>
        </p:nvSpPr>
        <p:spPr>
          <a:xfrm>
            <a:off x="1828800" y="13654735"/>
            <a:ext cx="6571793" cy="353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60" b="1" dirty="0">
                <a:solidFill>
                  <a:srgbClr val="FFD34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다양한 규모의 자금과 준비과정</a:t>
            </a:r>
            <a:pPr algn="ctr" indent="0" marL="0">
              <a:lnSpc>
                <a:spcPct val="95000"/>
              </a:lnSpc>
              <a:buNone/>
            </a:pPr>
            <a:r>
              <a:rPr lang="en-US" sz="16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을 거쳐 </a:t>
            </a:r>
            <a:pPr algn="ctr" indent="0" marL="0">
              <a:lnSpc>
                <a:spcPct val="95000"/>
              </a:lnSpc>
              <a:buNone/>
            </a:pPr>
            <a:r>
              <a:rPr lang="en-US" sz="1660" b="1" dirty="0">
                <a:solidFill>
                  <a:srgbClr val="FFD34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새로운 성장</a:t>
            </a:r>
            <a:pPr algn="ctr" indent="0" marL="0">
              <a:lnSpc>
                <a:spcPct val="95000"/>
              </a:lnSpc>
              <a:buNone/>
            </a:pPr>
            <a:r>
              <a:rPr lang="en-US" sz="16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을 만들어가고 있습니다.</a:t>
            </a:r>
            <a:endParaRPr lang="en-US" sz="16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02-h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496" y="182880"/>
            <a:ext cx="3267151" cy="1780337"/>
          </a:xfrm>
          <a:prstGeom prst="rect">
            <a:avLst/>
          </a:prstGeom>
        </p:spPr>
      </p:pic>
      <p:pic>
        <p:nvPicPr>
          <p:cNvPr id="3" name="Image 1" descr="g02-hero-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926287"/>
            <a:ext cx="390449" cy="10241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04495" y="213055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" name="Shape 1"/>
          <p:cNvSpPr/>
          <p:nvPr/>
        </p:nvSpPr>
        <p:spPr>
          <a:xfrm>
            <a:off x="1140257" y="213055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" name="Shape 2"/>
          <p:cNvSpPr/>
          <p:nvPr/>
        </p:nvSpPr>
        <p:spPr>
          <a:xfrm>
            <a:off x="304495" y="944575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" name="Shape 3"/>
          <p:cNvSpPr/>
          <p:nvPr/>
        </p:nvSpPr>
        <p:spPr>
          <a:xfrm>
            <a:off x="1140257" y="944575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8" name="Shape 4"/>
          <p:cNvSpPr/>
          <p:nvPr/>
        </p:nvSpPr>
        <p:spPr>
          <a:xfrm>
            <a:off x="438912" y="213055"/>
            <a:ext cx="834847" cy="999439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9" name="Shape 5"/>
          <p:cNvSpPr/>
          <p:nvPr/>
        </p:nvSpPr>
        <p:spPr>
          <a:xfrm>
            <a:off x="304495" y="347472"/>
            <a:ext cx="1103681" cy="731520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0" name="Text 6"/>
          <p:cNvSpPr/>
          <p:nvPr/>
        </p:nvSpPr>
        <p:spPr>
          <a:xfrm>
            <a:off x="304495" y="213055"/>
            <a:ext cx="1103681" cy="999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02</a:t>
            </a:r>
            <a:endParaRPr lang="en-US" sz="5030" dirty="0"/>
          </a:p>
        </p:txBody>
      </p:sp>
      <p:sp>
        <p:nvSpPr>
          <p:cNvPr id="11" name="Text 7"/>
          <p:cNvSpPr/>
          <p:nvPr/>
        </p:nvSpPr>
        <p:spPr>
          <a:xfrm>
            <a:off x="1719072" y="280721"/>
            <a:ext cx="454182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780" b="1" dirty="0">
                <a:solidFill>
                  <a:srgbClr val="00337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 사정 및 자금 조달</a:t>
            </a:r>
            <a:endParaRPr lang="en-US" sz="3780" dirty="0"/>
          </a:p>
        </p:txBody>
      </p:sp>
      <p:sp>
        <p:nvSpPr>
          <p:cNvPr id="12" name="Text 8"/>
          <p:cNvSpPr/>
          <p:nvPr/>
        </p:nvSpPr>
        <p:spPr>
          <a:xfrm>
            <a:off x="1719072" y="920801"/>
            <a:ext cx="4267505" cy="792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1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현재 자금사정은 다소 어렵지만,</a:t>
            </a:r>
            <a:endParaRPr lang="en-US" sz="171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1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 회복과 불확실성 해소가 핵심 과제입니다.</a:t>
            </a:r>
            <a:endParaRPr lang="en-US" sz="1710" dirty="0"/>
          </a:p>
        </p:txBody>
      </p:sp>
      <p:sp>
        <p:nvSpPr>
          <p:cNvPr id="13" name="Shape 9"/>
          <p:cNvSpPr/>
          <p:nvPr/>
        </p:nvSpPr>
        <p:spPr>
          <a:xfrm>
            <a:off x="317297" y="2018081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107424" y="2018081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17297" y="5175504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07424" y="5175504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5488" y="2018081"/>
            <a:ext cx="8791042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17297" y="2176272"/>
            <a:ext cx="9107424" cy="315742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5488" y="2027225"/>
            <a:ext cx="8791042" cy="3456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326441" y="2176272"/>
            <a:ext cx="9089136" cy="31574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487375" y="2157984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2" name="Shape 18"/>
          <p:cNvSpPr/>
          <p:nvPr/>
        </p:nvSpPr>
        <p:spPr>
          <a:xfrm>
            <a:off x="2566721" y="2157984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3" name="Shape 19"/>
          <p:cNvSpPr/>
          <p:nvPr/>
        </p:nvSpPr>
        <p:spPr>
          <a:xfrm>
            <a:off x="487375" y="2487168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4" name="Shape 20"/>
          <p:cNvSpPr/>
          <p:nvPr/>
        </p:nvSpPr>
        <p:spPr>
          <a:xfrm>
            <a:off x="2566721" y="2487168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5" name="Shape 21"/>
          <p:cNvSpPr/>
          <p:nvPr/>
        </p:nvSpPr>
        <p:spPr>
          <a:xfrm>
            <a:off x="560527" y="2157984"/>
            <a:ext cx="2078431" cy="47548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6" name="Shape 22"/>
          <p:cNvSpPr/>
          <p:nvPr/>
        </p:nvSpPr>
        <p:spPr>
          <a:xfrm>
            <a:off x="487375" y="2231136"/>
            <a:ext cx="2224735" cy="329184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7" name="Shape 23"/>
          <p:cNvSpPr/>
          <p:nvPr/>
        </p:nvSpPr>
        <p:spPr>
          <a:xfrm>
            <a:off x="487375" y="2157984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8" name="Shape 24"/>
          <p:cNvSpPr/>
          <p:nvPr/>
        </p:nvSpPr>
        <p:spPr>
          <a:xfrm>
            <a:off x="792785" y="2157984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9" name="Shape 25"/>
          <p:cNvSpPr/>
          <p:nvPr/>
        </p:nvSpPr>
        <p:spPr>
          <a:xfrm>
            <a:off x="487375" y="2487168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0" name="Shape 26"/>
          <p:cNvSpPr/>
          <p:nvPr/>
        </p:nvSpPr>
        <p:spPr>
          <a:xfrm>
            <a:off x="792785" y="2487168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1" name="Shape 27"/>
          <p:cNvSpPr/>
          <p:nvPr/>
        </p:nvSpPr>
        <p:spPr>
          <a:xfrm>
            <a:off x="560527" y="2157984"/>
            <a:ext cx="304495" cy="47548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2" name="Shape 28"/>
          <p:cNvSpPr/>
          <p:nvPr/>
        </p:nvSpPr>
        <p:spPr>
          <a:xfrm>
            <a:off x="487375" y="2231136"/>
            <a:ext cx="450799" cy="329184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3" name="Text 29"/>
          <p:cNvSpPr/>
          <p:nvPr/>
        </p:nvSpPr>
        <p:spPr>
          <a:xfrm>
            <a:off x="487375" y="2157984"/>
            <a:ext cx="450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2310" dirty="0"/>
          </a:p>
        </p:txBody>
      </p:sp>
      <p:sp>
        <p:nvSpPr>
          <p:cNvPr id="34" name="Text 30"/>
          <p:cNvSpPr/>
          <p:nvPr/>
        </p:nvSpPr>
        <p:spPr>
          <a:xfrm>
            <a:off x="1097280" y="21579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자금사정 체감도</a:t>
            </a:r>
            <a:endParaRPr lang="en-US" sz="1730" dirty="0"/>
          </a:p>
        </p:txBody>
      </p:sp>
      <p:sp>
        <p:nvSpPr>
          <p:cNvPr id="35" name="Text 31"/>
          <p:cNvSpPr/>
          <p:nvPr/>
        </p:nvSpPr>
        <p:spPr>
          <a:xfrm>
            <a:off x="2901391" y="2243023"/>
            <a:ext cx="634045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1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현재와 미래 전망 모두 ‘보통(4점)’에 못 미쳐, 체감 자금사정은 다소 어려운 수준입니다.</a:t>
            </a:r>
            <a:endParaRPr lang="en-US" sz="1310" dirty="0"/>
          </a:p>
        </p:txBody>
      </p:sp>
      <p:sp>
        <p:nvSpPr>
          <p:cNvPr id="36" name="Shape 32"/>
          <p:cNvSpPr/>
          <p:nvPr/>
        </p:nvSpPr>
        <p:spPr>
          <a:xfrm>
            <a:off x="4913986" y="2864815"/>
            <a:ext cx="0" cy="2438705"/>
          </a:xfrm>
          <a:prstGeom prst="line">
            <a:avLst/>
          </a:prstGeom>
          <a:noFill/>
          <a:ln w="12700">
            <a:solidFill>
              <a:srgbClr val="DCE6F1"/>
            </a:solidFill>
            <a:prstDash val="solid"/>
          </a:ln>
        </p:spPr>
      </p:sp>
      <p:pic>
        <p:nvPicPr>
          <p:cNvPr id="37" name="Image 2" descr="g02-thi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9" y="2974543"/>
            <a:ext cx="1292047" cy="2402129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1877263" y="2907792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9" name="Shape 34"/>
          <p:cNvSpPr/>
          <p:nvPr/>
        </p:nvSpPr>
        <p:spPr>
          <a:xfrm>
            <a:off x="4297680" y="2907792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0" name="Shape 35"/>
          <p:cNvSpPr/>
          <p:nvPr/>
        </p:nvSpPr>
        <p:spPr>
          <a:xfrm>
            <a:off x="1877263" y="3072384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1" name="Shape 36"/>
          <p:cNvSpPr/>
          <p:nvPr/>
        </p:nvSpPr>
        <p:spPr>
          <a:xfrm>
            <a:off x="4297680" y="3072384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2" name="Shape 37"/>
          <p:cNvSpPr/>
          <p:nvPr/>
        </p:nvSpPr>
        <p:spPr>
          <a:xfrm>
            <a:off x="1999793" y="2907792"/>
            <a:ext cx="2420417" cy="408737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43" name="Shape 38"/>
          <p:cNvSpPr/>
          <p:nvPr/>
        </p:nvSpPr>
        <p:spPr>
          <a:xfrm>
            <a:off x="1877263" y="3029407"/>
            <a:ext cx="2663647" cy="164592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44" name="Text 39"/>
          <p:cNvSpPr/>
          <p:nvPr/>
        </p:nvSpPr>
        <p:spPr>
          <a:xfrm>
            <a:off x="1877263" y="2907792"/>
            <a:ext cx="2663647" cy="408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현재 자금사정</a:t>
            </a:r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(2025→2026)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1737360" y="3474720"/>
            <a:ext cx="304769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7점 평균 (①매우악화 ~ ⑦매우호전)</a:t>
            </a:r>
            <a:endParaRPr lang="en-US" sz="1490" dirty="0"/>
          </a:p>
        </p:txBody>
      </p:sp>
      <p:sp>
        <p:nvSpPr>
          <p:cNvPr id="46" name="Text 41"/>
          <p:cNvSpPr/>
          <p:nvPr/>
        </p:nvSpPr>
        <p:spPr>
          <a:xfrm>
            <a:off x="2586775" y="3448787"/>
            <a:ext cx="1016573" cy="86626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5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3.18</a:t>
            </a:r>
            <a:endParaRPr lang="en-US" sz="3590" dirty="0"/>
          </a:p>
        </p:txBody>
      </p:sp>
      <p:sp>
        <p:nvSpPr>
          <p:cNvPr id="47" name="Text 42"/>
          <p:cNvSpPr/>
          <p:nvPr/>
        </p:nvSpPr>
        <p:spPr>
          <a:xfrm>
            <a:off x="3493620" y="3727552"/>
            <a:ext cx="368869" cy="56464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4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2340" dirty="0"/>
          </a:p>
        </p:txBody>
      </p:sp>
      <p:sp>
        <p:nvSpPr>
          <p:cNvPr id="48" name="Shape 43"/>
          <p:cNvSpPr/>
          <p:nvPr/>
        </p:nvSpPr>
        <p:spPr>
          <a:xfrm>
            <a:off x="1968703" y="4736592"/>
            <a:ext cx="2377440" cy="0"/>
          </a:xfrm>
          <a:prstGeom prst="line">
            <a:avLst/>
          </a:prstGeom>
          <a:noFill/>
          <a:ln w="19050">
            <a:solidFill>
              <a:srgbClr val="DCE3EB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700784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1700784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420" dirty="0"/>
          </a:p>
        </p:txBody>
      </p:sp>
      <p:sp>
        <p:nvSpPr>
          <p:cNvPr id="51" name="Shape 46"/>
          <p:cNvSpPr/>
          <p:nvPr/>
        </p:nvSpPr>
        <p:spPr>
          <a:xfrm>
            <a:off x="2141525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141525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420" dirty="0"/>
          </a:p>
        </p:txBody>
      </p:sp>
      <p:sp>
        <p:nvSpPr>
          <p:cNvPr id="53" name="Shape 48"/>
          <p:cNvSpPr/>
          <p:nvPr/>
        </p:nvSpPr>
        <p:spPr>
          <a:xfrm>
            <a:off x="2583180" y="4602175"/>
            <a:ext cx="267919" cy="267919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B3C88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2583180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420" dirty="0"/>
          </a:p>
        </p:txBody>
      </p:sp>
      <p:sp>
        <p:nvSpPr>
          <p:cNvPr id="55" name="Shape 50"/>
          <p:cNvSpPr/>
          <p:nvPr/>
        </p:nvSpPr>
        <p:spPr>
          <a:xfrm>
            <a:off x="3023921" y="4602175"/>
            <a:ext cx="267919" cy="267919"/>
          </a:xfrm>
          <a:prstGeom prst="ellipse">
            <a:avLst/>
          </a:prstGeom>
          <a:solidFill>
            <a:srgbClr val="BFC6C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3023921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420" dirty="0"/>
          </a:p>
        </p:txBody>
      </p:sp>
      <p:sp>
        <p:nvSpPr>
          <p:cNvPr id="57" name="Shape 52"/>
          <p:cNvSpPr/>
          <p:nvPr/>
        </p:nvSpPr>
        <p:spPr>
          <a:xfrm>
            <a:off x="3464662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3464662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420" dirty="0"/>
          </a:p>
        </p:txBody>
      </p:sp>
      <p:sp>
        <p:nvSpPr>
          <p:cNvPr id="59" name="Shape 54"/>
          <p:cNvSpPr/>
          <p:nvPr/>
        </p:nvSpPr>
        <p:spPr>
          <a:xfrm>
            <a:off x="3905402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3905402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</a:t>
            </a:r>
            <a:endParaRPr lang="en-US" sz="1420" dirty="0"/>
          </a:p>
        </p:txBody>
      </p:sp>
      <p:sp>
        <p:nvSpPr>
          <p:cNvPr id="61" name="Shape 56"/>
          <p:cNvSpPr/>
          <p:nvPr/>
        </p:nvSpPr>
        <p:spPr>
          <a:xfrm>
            <a:off x="4346143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4346143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</a:t>
            </a:r>
            <a:endParaRPr lang="en-US" sz="1420" dirty="0"/>
          </a:p>
        </p:txBody>
      </p:sp>
      <p:sp>
        <p:nvSpPr>
          <p:cNvPr id="63" name="Shape 58"/>
          <p:cNvSpPr/>
          <p:nvPr/>
        </p:nvSpPr>
        <p:spPr>
          <a:xfrm rot="10800000">
            <a:off x="2625242" y="4395521"/>
            <a:ext cx="182880" cy="158191"/>
          </a:xfrm>
          <a:prstGeom prst="triangle">
            <a:avLst/>
          </a:prstGeom>
          <a:solidFill>
            <a:srgbClr val="0B3C88"/>
          </a:solidFill>
          <a:ln/>
        </p:spPr>
      </p:sp>
      <p:sp>
        <p:nvSpPr>
          <p:cNvPr id="64" name="Text 59"/>
          <p:cNvSpPr/>
          <p:nvPr/>
        </p:nvSpPr>
        <p:spPr>
          <a:xfrm>
            <a:off x="1456639" y="4889297"/>
            <a:ext cx="75620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E23B3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매우</a:t>
            </a:r>
            <a:endParaRPr lang="en-US" sz="142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E23B3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악화</a:t>
            </a:r>
            <a:endParaRPr lang="en-US" sz="1420" dirty="0"/>
          </a:p>
        </p:txBody>
      </p:sp>
      <p:sp>
        <p:nvSpPr>
          <p:cNvPr id="65" name="Text 60"/>
          <p:cNvSpPr/>
          <p:nvPr/>
        </p:nvSpPr>
        <p:spPr>
          <a:xfrm>
            <a:off x="2779776" y="4889297"/>
            <a:ext cx="756209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보통</a:t>
            </a:r>
            <a:endParaRPr lang="en-US" sz="1420" dirty="0"/>
          </a:p>
        </p:txBody>
      </p:sp>
      <p:sp>
        <p:nvSpPr>
          <p:cNvPr id="66" name="Text 61"/>
          <p:cNvSpPr/>
          <p:nvPr/>
        </p:nvSpPr>
        <p:spPr>
          <a:xfrm>
            <a:off x="4102913" y="4889297"/>
            <a:ext cx="75620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매우</a:t>
            </a:r>
            <a:endParaRPr lang="en-US" sz="142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호전</a:t>
            </a:r>
            <a:endParaRPr lang="en-US" sz="1420" dirty="0"/>
          </a:p>
        </p:txBody>
      </p:sp>
      <p:pic>
        <p:nvPicPr>
          <p:cNvPr id="67" name="Image 3" descr="g02-sco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0290" y="2889504"/>
            <a:ext cx="1426464" cy="1986991"/>
          </a:xfrm>
          <a:prstGeom prst="rect">
            <a:avLst/>
          </a:prstGeom>
        </p:spPr>
      </p:pic>
      <p:pic>
        <p:nvPicPr>
          <p:cNvPr id="68" name="Image 4" descr="g02-scope-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0290" y="4864608"/>
            <a:ext cx="926287" cy="512064"/>
          </a:xfrm>
          <a:prstGeom prst="rect">
            <a:avLst/>
          </a:prstGeom>
        </p:spPr>
      </p:pic>
      <p:sp>
        <p:nvSpPr>
          <p:cNvPr id="69" name="Shape 62"/>
          <p:cNvSpPr/>
          <p:nvPr/>
        </p:nvSpPr>
        <p:spPr>
          <a:xfrm>
            <a:off x="5810098" y="2907792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70" name="Shape 63"/>
          <p:cNvSpPr/>
          <p:nvPr/>
        </p:nvSpPr>
        <p:spPr>
          <a:xfrm>
            <a:off x="8650224" y="2907792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71" name="Shape 64"/>
          <p:cNvSpPr/>
          <p:nvPr/>
        </p:nvSpPr>
        <p:spPr>
          <a:xfrm>
            <a:off x="5810098" y="3072384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72" name="Shape 65"/>
          <p:cNvSpPr/>
          <p:nvPr/>
        </p:nvSpPr>
        <p:spPr>
          <a:xfrm>
            <a:off x="8650224" y="3072384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73" name="Shape 66"/>
          <p:cNvSpPr/>
          <p:nvPr/>
        </p:nvSpPr>
        <p:spPr>
          <a:xfrm>
            <a:off x="5931713" y="2907792"/>
            <a:ext cx="2841041" cy="408737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74" name="Shape 67"/>
          <p:cNvSpPr/>
          <p:nvPr/>
        </p:nvSpPr>
        <p:spPr>
          <a:xfrm>
            <a:off x="5810098" y="3029407"/>
            <a:ext cx="3084271" cy="164592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75" name="Text 68"/>
          <p:cNvSpPr/>
          <p:nvPr/>
        </p:nvSpPr>
        <p:spPr>
          <a:xfrm>
            <a:off x="5810098" y="2907792"/>
            <a:ext cx="3084271" cy="408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1년 후 자금사정 전망</a:t>
            </a:r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(2026→2027)</a:t>
            </a:r>
            <a:endParaRPr lang="en-US" sz="1200" dirty="0"/>
          </a:p>
        </p:txBody>
      </p:sp>
      <p:sp>
        <p:nvSpPr>
          <p:cNvPr id="76" name="Text 69"/>
          <p:cNvSpPr/>
          <p:nvPr/>
        </p:nvSpPr>
        <p:spPr>
          <a:xfrm>
            <a:off x="6096305" y="3474720"/>
            <a:ext cx="304769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7점 평균 (①매우악화 ~ ⑦매우호전)</a:t>
            </a:r>
            <a:endParaRPr lang="en-US" sz="1490" dirty="0"/>
          </a:p>
        </p:txBody>
      </p:sp>
      <p:sp>
        <p:nvSpPr>
          <p:cNvPr id="77" name="Text 70"/>
          <p:cNvSpPr/>
          <p:nvPr/>
        </p:nvSpPr>
        <p:spPr>
          <a:xfrm>
            <a:off x="6975895" y="3448787"/>
            <a:ext cx="1016573" cy="86626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5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3.32</a:t>
            </a:r>
            <a:endParaRPr lang="en-US" sz="3590" dirty="0"/>
          </a:p>
        </p:txBody>
      </p:sp>
      <p:sp>
        <p:nvSpPr>
          <p:cNvPr id="78" name="Text 71"/>
          <p:cNvSpPr/>
          <p:nvPr/>
        </p:nvSpPr>
        <p:spPr>
          <a:xfrm>
            <a:off x="7882740" y="3727552"/>
            <a:ext cx="368869" cy="56464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4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2340" dirty="0"/>
          </a:p>
        </p:txBody>
      </p:sp>
      <p:sp>
        <p:nvSpPr>
          <p:cNvPr id="79" name="Shape 72"/>
          <p:cNvSpPr/>
          <p:nvPr/>
        </p:nvSpPr>
        <p:spPr>
          <a:xfrm>
            <a:off x="6315761" y="4736592"/>
            <a:ext cx="2395728" cy="0"/>
          </a:xfrm>
          <a:prstGeom prst="line">
            <a:avLst/>
          </a:prstGeom>
          <a:noFill/>
          <a:ln w="19050">
            <a:solidFill>
              <a:srgbClr val="DCE3EB"/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6047842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81" name="Text 74"/>
          <p:cNvSpPr/>
          <p:nvPr/>
        </p:nvSpPr>
        <p:spPr>
          <a:xfrm>
            <a:off x="6047842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420" dirty="0"/>
          </a:p>
        </p:txBody>
      </p:sp>
      <p:sp>
        <p:nvSpPr>
          <p:cNvPr id="82" name="Shape 75"/>
          <p:cNvSpPr/>
          <p:nvPr/>
        </p:nvSpPr>
        <p:spPr>
          <a:xfrm>
            <a:off x="6491326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83" name="Text 76"/>
          <p:cNvSpPr/>
          <p:nvPr/>
        </p:nvSpPr>
        <p:spPr>
          <a:xfrm>
            <a:off x="6491326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420" dirty="0"/>
          </a:p>
        </p:txBody>
      </p:sp>
      <p:sp>
        <p:nvSpPr>
          <p:cNvPr id="84" name="Shape 77"/>
          <p:cNvSpPr/>
          <p:nvPr/>
        </p:nvSpPr>
        <p:spPr>
          <a:xfrm>
            <a:off x="6935724" y="4602175"/>
            <a:ext cx="267919" cy="267919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B3C88"/>
            </a:solidFill>
            <a:prstDash val="solid"/>
          </a:ln>
        </p:spPr>
      </p:sp>
      <p:sp>
        <p:nvSpPr>
          <p:cNvPr id="85" name="Text 78"/>
          <p:cNvSpPr/>
          <p:nvPr/>
        </p:nvSpPr>
        <p:spPr>
          <a:xfrm>
            <a:off x="6935724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420" dirty="0"/>
          </a:p>
        </p:txBody>
      </p:sp>
      <p:sp>
        <p:nvSpPr>
          <p:cNvPr id="86" name="Shape 79"/>
          <p:cNvSpPr/>
          <p:nvPr/>
        </p:nvSpPr>
        <p:spPr>
          <a:xfrm>
            <a:off x="7379208" y="4602175"/>
            <a:ext cx="267919" cy="267919"/>
          </a:xfrm>
          <a:prstGeom prst="ellipse">
            <a:avLst/>
          </a:prstGeom>
          <a:solidFill>
            <a:srgbClr val="BFC6C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87" name="Text 80"/>
          <p:cNvSpPr/>
          <p:nvPr/>
        </p:nvSpPr>
        <p:spPr>
          <a:xfrm>
            <a:off x="7379208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420" dirty="0"/>
          </a:p>
        </p:txBody>
      </p:sp>
      <p:sp>
        <p:nvSpPr>
          <p:cNvPr id="88" name="Shape 81"/>
          <p:cNvSpPr/>
          <p:nvPr/>
        </p:nvSpPr>
        <p:spPr>
          <a:xfrm>
            <a:off x="7823606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89" name="Text 82"/>
          <p:cNvSpPr/>
          <p:nvPr/>
        </p:nvSpPr>
        <p:spPr>
          <a:xfrm>
            <a:off x="7823606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420" dirty="0"/>
          </a:p>
        </p:txBody>
      </p:sp>
      <p:sp>
        <p:nvSpPr>
          <p:cNvPr id="90" name="Shape 83"/>
          <p:cNvSpPr/>
          <p:nvPr/>
        </p:nvSpPr>
        <p:spPr>
          <a:xfrm>
            <a:off x="8267090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91" name="Text 84"/>
          <p:cNvSpPr/>
          <p:nvPr/>
        </p:nvSpPr>
        <p:spPr>
          <a:xfrm>
            <a:off x="8267090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</a:t>
            </a:r>
            <a:endParaRPr lang="en-US" sz="1420" dirty="0"/>
          </a:p>
        </p:txBody>
      </p:sp>
      <p:sp>
        <p:nvSpPr>
          <p:cNvPr id="92" name="Shape 85"/>
          <p:cNvSpPr/>
          <p:nvPr/>
        </p:nvSpPr>
        <p:spPr>
          <a:xfrm>
            <a:off x="8711489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93" name="Text 86"/>
          <p:cNvSpPr/>
          <p:nvPr/>
        </p:nvSpPr>
        <p:spPr>
          <a:xfrm>
            <a:off x="8711489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</a:t>
            </a:r>
            <a:endParaRPr lang="en-US" sz="1420" dirty="0"/>
          </a:p>
        </p:txBody>
      </p:sp>
      <p:sp>
        <p:nvSpPr>
          <p:cNvPr id="94" name="Shape 87"/>
          <p:cNvSpPr/>
          <p:nvPr/>
        </p:nvSpPr>
        <p:spPr>
          <a:xfrm rot="10800000">
            <a:off x="6977786" y="4395521"/>
            <a:ext cx="182880" cy="158191"/>
          </a:xfrm>
          <a:prstGeom prst="triangle">
            <a:avLst/>
          </a:prstGeom>
          <a:solidFill>
            <a:srgbClr val="0B3C88"/>
          </a:solidFill>
          <a:ln/>
        </p:spPr>
      </p:sp>
      <p:sp>
        <p:nvSpPr>
          <p:cNvPr id="95" name="Text 88"/>
          <p:cNvSpPr/>
          <p:nvPr/>
        </p:nvSpPr>
        <p:spPr>
          <a:xfrm>
            <a:off x="5803697" y="4889297"/>
            <a:ext cx="75620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E23B3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매우</a:t>
            </a:r>
            <a:endParaRPr lang="en-US" sz="142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E23B3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악화</a:t>
            </a:r>
            <a:endParaRPr lang="en-US" sz="1420" dirty="0"/>
          </a:p>
        </p:txBody>
      </p:sp>
      <p:sp>
        <p:nvSpPr>
          <p:cNvPr id="96" name="Text 89"/>
          <p:cNvSpPr/>
          <p:nvPr/>
        </p:nvSpPr>
        <p:spPr>
          <a:xfrm>
            <a:off x="7135978" y="4889297"/>
            <a:ext cx="756209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보통</a:t>
            </a:r>
            <a:endParaRPr lang="en-US" sz="1420" dirty="0"/>
          </a:p>
        </p:txBody>
      </p:sp>
      <p:sp>
        <p:nvSpPr>
          <p:cNvPr id="97" name="Text 90"/>
          <p:cNvSpPr/>
          <p:nvPr/>
        </p:nvSpPr>
        <p:spPr>
          <a:xfrm>
            <a:off x="8467344" y="4889297"/>
            <a:ext cx="75620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매우</a:t>
            </a:r>
            <a:endParaRPr lang="en-US" sz="142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호전</a:t>
            </a:r>
            <a:endParaRPr lang="en-US" sz="1420" dirty="0"/>
          </a:p>
        </p:txBody>
      </p:sp>
      <p:sp>
        <p:nvSpPr>
          <p:cNvPr id="98" name="Shape 91"/>
          <p:cNvSpPr/>
          <p:nvPr/>
        </p:nvSpPr>
        <p:spPr>
          <a:xfrm>
            <a:off x="317297" y="5644591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9" name="Shape 92"/>
          <p:cNvSpPr/>
          <p:nvPr/>
        </p:nvSpPr>
        <p:spPr>
          <a:xfrm>
            <a:off x="9107424" y="5644591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0" name="Shape 93"/>
          <p:cNvSpPr/>
          <p:nvPr/>
        </p:nvSpPr>
        <p:spPr>
          <a:xfrm>
            <a:off x="317297" y="9095537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1" name="Shape 94"/>
          <p:cNvSpPr/>
          <p:nvPr/>
        </p:nvSpPr>
        <p:spPr>
          <a:xfrm>
            <a:off x="9107424" y="9095537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2" name="Shape 95"/>
          <p:cNvSpPr/>
          <p:nvPr/>
        </p:nvSpPr>
        <p:spPr>
          <a:xfrm>
            <a:off x="475488" y="5644591"/>
            <a:ext cx="8791042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3" name="Shape 96"/>
          <p:cNvSpPr/>
          <p:nvPr/>
        </p:nvSpPr>
        <p:spPr>
          <a:xfrm>
            <a:off x="317297" y="5803697"/>
            <a:ext cx="9107424" cy="3450031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4" name="Shape 97"/>
          <p:cNvSpPr/>
          <p:nvPr/>
        </p:nvSpPr>
        <p:spPr>
          <a:xfrm>
            <a:off x="475488" y="5653735"/>
            <a:ext cx="8791042" cy="3749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Shape 98"/>
          <p:cNvSpPr/>
          <p:nvPr/>
        </p:nvSpPr>
        <p:spPr>
          <a:xfrm>
            <a:off x="326441" y="5803697"/>
            <a:ext cx="9089136" cy="34500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Shape 99"/>
          <p:cNvSpPr/>
          <p:nvPr/>
        </p:nvSpPr>
        <p:spPr>
          <a:xfrm>
            <a:off x="487375" y="5785409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07" name="Shape 100"/>
          <p:cNvSpPr/>
          <p:nvPr/>
        </p:nvSpPr>
        <p:spPr>
          <a:xfrm>
            <a:off x="5394960" y="5785409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08" name="Shape 101"/>
          <p:cNvSpPr/>
          <p:nvPr/>
        </p:nvSpPr>
        <p:spPr>
          <a:xfrm>
            <a:off x="487375" y="6114593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09" name="Shape 102"/>
          <p:cNvSpPr/>
          <p:nvPr/>
        </p:nvSpPr>
        <p:spPr>
          <a:xfrm>
            <a:off x="5394960" y="6114593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10" name="Shape 103"/>
          <p:cNvSpPr/>
          <p:nvPr/>
        </p:nvSpPr>
        <p:spPr>
          <a:xfrm>
            <a:off x="560527" y="5785409"/>
            <a:ext cx="4907585" cy="47548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11" name="Shape 104"/>
          <p:cNvSpPr/>
          <p:nvPr/>
        </p:nvSpPr>
        <p:spPr>
          <a:xfrm>
            <a:off x="487375" y="5858561"/>
            <a:ext cx="5053889" cy="329184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12" name="Shape 105"/>
          <p:cNvSpPr/>
          <p:nvPr/>
        </p:nvSpPr>
        <p:spPr>
          <a:xfrm>
            <a:off x="487375" y="5785409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3" name="Shape 106"/>
          <p:cNvSpPr/>
          <p:nvPr/>
        </p:nvSpPr>
        <p:spPr>
          <a:xfrm>
            <a:off x="792785" y="5785409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4" name="Shape 107"/>
          <p:cNvSpPr/>
          <p:nvPr/>
        </p:nvSpPr>
        <p:spPr>
          <a:xfrm>
            <a:off x="487375" y="6114593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5" name="Shape 108"/>
          <p:cNvSpPr/>
          <p:nvPr/>
        </p:nvSpPr>
        <p:spPr>
          <a:xfrm>
            <a:off x="792785" y="6114593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6" name="Shape 109"/>
          <p:cNvSpPr/>
          <p:nvPr/>
        </p:nvSpPr>
        <p:spPr>
          <a:xfrm>
            <a:off x="560527" y="5785409"/>
            <a:ext cx="304495" cy="47548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17" name="Shape 110"/>
          <p:cNvSpPr/>
          <p:nvPr/>
        </p:nvSpPr>
        <p:spPr>
          <a:xfrm>
            <a:off x="487375" y="5858561"/>
            <a:ext cx="450799" cy="329184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18" name="Text 111"/>
          <p:cNvSpPr/>
          <p:nvPr/>
        </p:nvSpPr>
        <p:spPr>
          <a:xfrm>
            <a:off x="487375" y="5785409"/>
            <a:ext cx="450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2310" dirty="0"/>
          </a:p>
        </p:txBody>
      </p:sp>
      <p:sp>
        <p:nvSpPr>
          <p:cNvPr id="119" name="Text 112"/>
          <p:cNvSpPr/>
          <p:nvPr/>
        </p:nvSpPr>
        <p:spPr>
          <a:xfrm>
            <a:off x="1097280" y="5785409"/>
            <a:ext cx="43827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자금사정에 가장 큰 영향을 미치는 요인</a:t>
            </a:r>
            <a:pPr algn="l" indent="0" marL="0">
              <a:lnSpc>
                <a:spcPct val="95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(1·2순위 합산)</a:t>
            </a:r>
            <a:endParaRPr lang="en-US" sz="1610" dirty="0"/>
          </a:p>
        </p:txBody>
      </p:sp>
      <p:sp>
        <p:nvSpPr>
          <p:cNvPr id="120" name="Text 113"/>
          <p:cNvSpPr/>
          <p:nvPr/>
        </p:nvSpPr>
        <p:spPr>
          <a:xfrm>
            <a:off x="5730545" y="5767121"/>
            <a:ext cx="36576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현재와 미래 전망 모두 ‘매출 변화’와</a:t>
            </a:r>
            <a:endParaRPr lang="en-US" sz="157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‘경기 불확실성’이 가장 큰 영향을 미칩니다.</a:t>
            </a:r>
            <a:endParaRPr lang="en-US" sz="1570" dirty="0"/>
          </a:p>
        </p:txBody>
      </p:sp>
      <p:sp>
        <p:nvSpPr>
          <p:cNvPr id="121" name="Text 114"/>
          <p:cNvSpPr/>
          <p:nvPr/>
        </p:nvSpPr>
        <p:spPr>
          <a:xfrm>
            <a:off x="1218895" y="6462065"/>
            <a:ext cx="280446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현재 (2025→2026)</a:t>
            </a:r>
            <a:endParaRPr lang="en-US" sz="1730" dirty="0"/>
          </a:p>
        </p:txBody>
      </p:sp>
      <p:sp>
        <p:nvSpPr>
          <p:cNvPr id="122" name="Text 115"/>
          <p:cNvSpPr/>
          <p:nvPr/>
        </p:nvSpPr>
        <p:spPr>
          <a:xfrm>
            <a:off x="6035040" y="6462065"/>
            <a:ext cx="280446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미래 전망 (2026→2027)</a:t>
            </a:r>
            <a:endParaRPr lang="en-US" sz="1730" dirty="0"/>
          </a:p>
        </p:txBody>
      </p:sp>
      <p:sp>
        <p:nvSpPr>
          <p:cNvPr id="123" name="Text 116"/>
          <p:cNvSpPr/>
          <p:nvPr/>
        </p:nvSpPr>
        <p:spPr>
          <a:xfrm>
            <a:off x="365760" y="7010705"/>
            <a:ext cx="106070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 변화</a:t>
            </a:r>
            <a:endParaRPr lang="en-US" sz="1420" dirty="0"/>
          </a:p>
        </p:txBody>
      </p:sp>
      <p:pic>
        <p:nvPicPr>
          <p:cNvPr id="124" name="Image 5" descr="g02-fac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1551" y="6949440"/>
            <a:ext cx="536753" cy="487375"/>
          </a:xfrm>
          <a:prstGeom prst="rect">
            <a:avLst/>
          </a:prstGeom>
        </p:spPr>
      </p:pic>
      <p:sp>
        <p:nvSpPr>
          <p:cNvPr id="125" name="Text 117"/>
          <p:cNvSpPr/>
          <p:nvPr/>
        </p:nvSpPr>
        <p:spPr>
          <a:xfrm>
            <a:off x="4821631" y="7010705"/>
            <a:ext cx="140177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 변화</a:t>
            </a:r>
            <a:endParaRPr lang="en-US" sz="1420" dirty="0"/>
          </a:p>
        </p:txBody>
      </p:sp>
      <p:sp>
        <p:nvSpPr>
          <p:cNvPr id="126" name="Shape 118"/>
          <p:cNvSpPr/>
          <p:nvPr/>
        </p:nvSpPr>
        <p:spPr>
          <a:xfrm>
            <a:off x="365760" y="7396582"/>
            <a:ext cx="3657600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27" name="Shape 119"/>
          <p:cNvSpPr/>
          <p:nvPr/>
        </p:nvSpPr>
        <p:spPr>
          <a:xfrm>
            <a:off x="4821631" y="7396582"/>
            <a:ext cx="451073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28" name="Text 120"/>
          <p:cNvSpPr/>
          <p:nvPr/>
        </p:nvSpPr>
        <p:spPr>
          <a:xfrm>
            <a:off x="365760" y="7511796"/>
            <a:ext cx="106070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경기 불확실성</a:t>
            </a:r>
            <a:endParaRPr lang="en-US" sz="1360" dirty="0"/>
          </a:p>
        </p:txBody>
      </p:sp>
      <p:pic>
        <p:nvPicPr>
          <p:cNvPr id="129" name="Image 6" descr="g02-fac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1551" y="7451446"/>
            <a:ext cx="536753" cy="487375"/>
          </a:xfrm>
          <a:prstGeom prst="rect">
            <a:avLst/>
          </a:prstGeom>
        </p:spPr>
      </p:pic>
      <p:sp>
        <p:nvSpPr>
          <p:cNvPr id="130" name="Text 121"/>
          <p:cNvSpPr/>
          <p:nvPr/>
        </p:nvSpPr>
        <p:spPr>
          <a:xfrm>
            <a:off x="4821631" y="7511796"/>
            <a:ext cx="140177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경기 불확실성</a:t>
            </a:r>
            <a:endParaRPr lang="en-US" sz="1420" dirty="0"/>
          </a:p>
        </p:txBody>
      </p:sp>
      <p:sp>
        <p:nvSpPr>
          <p:cNvPr id="131" name="Shape 122"/>
          <p:cNvSpPr/>
          <p:nvPr/>
        </p:nvSpPr>
        <p:spPr>
          <a:xfrm>
            <a:off x="365760" y="7897673"/>
            <a:ext cx="3657600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32" name="Shape 123"/>
          <p:cNvSpPr/>
          <p:nvPr/>
        </p:nvSpPr>
        <p:spPr>
          <a:xfrm>
            <a:off x="4821631" y="7897673"/>
            <a:ext cx="451073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33" name="Text 124"/>
          <p:cNvSpPr/>
          <p:nvPr/>
        </p:nvSpPr>
        <p:spPr>
          <a:xfrm>
            <a:off x="365760" y="8013802"/>
            <a:ext cx="106070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자금조달 여건</a:t>
            </a:r>
            <a:endParaRPr lang="en-US" sz="1360" dirty="0"/>
          </a:p>
        </p:txBody>
      </p:sp>
      <p:pic>
        <p:nvPicPr>
          <p:cNvPr id="134" name="Image 7" descr="g02-fac3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1551" y="7952537"/>
            <a:ext cx="536753" cy="487375"/>
          </a:xfrm>
          <a:prstGeom prst="rect">
            <a:avLst/>
          </a:prstGeom>
        </p:spPr>
      </p:pic>
      <p:sp>
        <p:nvSpPr>
          <p:cNvPr id="135" name="Text 125"/>
          <p:cNvSpPr/>
          <p:nvPr/>
        </p:nvSpPr>
        <p:spPr>
          <a:xfrm>
            <a:off x="4821631" y="8013802"/>
            <a:ext cx="140177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자금조달 여건</a:t>
            </a:r>
            <a:endParaRPr lang="en-US" sz="1420" dirty="0"/>
          </a:p>
        </p:txBody>
      </p:sp>
      <p:sp>
        <p:nvSpPr>
          <p:cNvPr id="136" name="Shape 126"/>
          <p:cNvSpPr/>
          <p:nvPr/>
        </p:nvSpPr>
        <p:spPr>
          <a:xfrm>
            <a:off x="365760" y="8399678"/>
            <a:ext cx="3657600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37" name="Shape 127"/>
          <p:cNvSpPr/>
          <p:nvPr/>
        </p:nvSpPr>
        <p:spPr>
          <a:xfrm>
            <a:off x="4821631" y="8399678"/>
            <a:ext cx="451073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38" name="Text 128"/>
          <p:cNvSpPr/>
          <p:nvPr/>
        </p:nvSpPr>
        <p:spPr>
          <a:xfrm>
            <a:off x="365760" y="8515807"/>
            <a:ext cx="106070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원자재·재료비 상승</a:t>
            </a:r>
            <a:endParaRPr lang="en-US" sz="1000" dirty="0"/>
          </a:p>
        </p:txBody>
      </p:sp>
      <p:pic>
        <p:nvPicPr>
          <p:cNvPr id="139" name="Image 8" descr="g02-fac4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1551" y="8454542"/>
            <a:ext cx="536753" cy="487375"/>
          </a:xfrm>
          <a:prstGeom prst="rect">
            <a:avLst/>
          </a:prstGeom>
        </p:spPr>
      </p:pic>
      <p:sp>
        <p:nvSpPr>
          <p:cNvPr id="140" name="Text 129"/>
          <p:cNvSpPr/>
          <p:nvPr/>
        </p:nvSpPr>
        <p:spPr>
          <a:xfrm>
            <a:off x="4821631" y="8515807"/>
            <a:ext cx="140177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원자재·재료비 상승</a:t>
            </a:r>
            <a:endParaRPr lang="en-US" sz="1220" dirty="0"/>
          </a:p>
        </p:txBody>
      </p:sp>
      <p:sp>
        <p:nvSpPr>
          <p:cNvPr id="141" name="Shape 130"/>
          <p:cNvSpPr/>
          <p:nvPr/>
        </p:nvSpPr>
        <p:spPr>
          <a:xfrm>
            <a:off x="365760" y="8901684"/>
            <a:ext cx="3657600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42" name="Shape 131"/>
          <p:cNvSpPr/>
          <p:nvPr/>
        </p:nvSpPr>
        <p:spPr>
          <a:xfrm>
            <a:off x="4821631" y="8901684"/>
            <a:ext cx="451073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43" name="Text 132"/>
          <p:cNvSpPr/>
          <p:nvPr/>
        </p:nvSpPr>
        <p:spPr>
          <a:xfrm>
            <a:off x="365760" y="9016898"/>
            <a:ext cx="106070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420" dirty="0"/>
          </a:p>
        </p:txBody>
      </p:sp>
      <p:pic>
        <p:nvPicPr>
          <p:cNvPr id="144" name="Image 9" descr="g02-fac5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1551" y="8956548"/>
            <a:ext cx="536753" cy="487375"/>
          </a:xfrm>
          <a:prstGeom prst="rect">
            <a:avLst/>
          </a:prstGeom>
        </p:spPr>
      </p:pic>
      <p:sp>
        <p:nvSpPr>
          <p:cNvPr id="145" name="Text 133"/>
          <p:cNvSpPr/>
          <p:nvPr/>
        </p:nvSpPr>
        <p:spPr>
          <a:xfrm>
            <a:off x="4821631" y="9016898"/>
            <a:ext cx="140177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420" dirty="0"/>
          </a:p>
        </p:txBody>
      </p:sp>
      <p:graphicFrame>
        <p:nvGraphicFramePr>
          <p:cNvPr id="146" name="Chart 0" descr=""/>
          <p:cNvGraphicFramePr/>
          <p:nvPr/>
        </p:nvGraphicFramePr>
        <p:xfrm>
          <a:off x="1560881" y="6890918"/>
          <a:ext cx="2585009" cy="250819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147" name="Chart 1" descr=""/>
          <p:cNvGraphicFramePr/>
          <p:nvPr/>
        </p:nvGraphicFramePr>
        <p:xfrm>
          <a:off x="6279185" y="6890918"/>
          <a:ext cx="3145536" cy="250819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148" name="Shape 134"/>
          <p:cNvSpPr/>
          <p:nvPr/>
        </p:nvSpPr>
        <p:spPr>
          <a:xfrm>
            <a:off x="317297" y="9564624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9107424" y="9564624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317297" y="13039344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9107424" y="13039344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2" name="Shape 138"/>
          <p:cNvSpPr/>
          <p:nvPr/>
        </p:nvSpPr>
        <p:spPr>
          <a:xfrm>
            <a:off x="475488" y="9564624"/>
            <a:ext cx="8791042" cy="3792017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3" name="Shape 139"/>
          <p:cNvSpPr/>
          <p:nvPr/>
        </p:nvSpPr>
        <p:spPr>
          <a:xfrm>
            <a:off x="317297" y="9722815"/>
            <a:ext cx="9107424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4" name="Shape 140"/>
          <p:cNvSpPr/>
          <p:nvPr/>
        </p:nvSpPr>
        <p:spPr>
          <a:xfrm>
            <a:off x="475488" y="9573768"/>
            <a:ext cx="8791042" cy="37737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Shape 141"/>
          <p:cNvSpPr/>
          <p:nvPr/>
        </p:nvSpPr>
        <p:spPr>
          <a:xfrm>
            <a:off x="326441" y="9722815"/>
            <a:ext cx="9089136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6" name="Shape 142"/>
          <p:cNvSpPr/>
          <p:nvPr/>
        </p:nvSpPr>
        <p:spPr>
          <a:xfrm>
            <a:off x="487375" y="9710928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57" name="Shape 143"/>
          <p:cNvSpPr/>
          <p:nvPr/>
        </p:nvSpPr>
        <p:spPr>
          <a:xfrm>
            <a:off x="3956609" y="9710928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58" name="Shape 144"/>
          <p:cNvSpPr/>
          <p:nvPr/>
        </p:nvSpPr>
        <p:spPr>
          <a:xfrm>
            <a:off x="487375" y="10040112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59" name="Shape 145"/>
          <p:cNvSpPr/>
          <p:nvPr/>
        </p:nvSpPr>
        <p:spPr>
          <a:xfrm>
            <a:off x="3956609" y="10040112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60" name="Shape 146"/>
          <p:cNvSpPr/>
          <p:nvPr/>
        </p:nvSpPr>
        <p:spPr>
          <a:xfrm>
            <a:off x="560527" y="9710928"/>
            <a:ext cx="3468319" cy="47548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61" name="Shape 147"/>
          <p:cNvSpPr/>
          <p:nvPr/>
        </p:nvSpPr>
        <p:spPr>
          <a:xfrm>
            <a:off x="487375" y="9784080"/>
            <a:ext cx="3614623" cy="329184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62" name="Shape 148"/>
          <p:cNvSpPr/>
          <p:nvPr/>
        </p:nvSpPr>
        <p:spPr>
          <a:xfrm>
            <a:off x="487375" y="9710928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3" name="Shape 149"/>
          <p:cNvSpPr/>
          <p:nvPr/>
        </p:nvSpPr>
        <p:spPr>
          <a:xfrm>
            <a:off x="792785" y="9710928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4" name="Shape 150"/>
          <p:cNvSpPr/>
          <p:nvPr/>
        </p:nvSpPr>
        <p:spPr>
          <a:xfrm>
            <a:off x="487375" y="10040112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5" name="Shape 151"/>
          <p:cNvSpPr/>
          <p:nvPr/>
        </p:nvSpPr>
        <p:spPr>
          <a:xfrm>
            <a:off x="792785" y="10040112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6" name="Shape 152"/>
          <p:cNvSpPr/>
          <p:nvPr/>
        </p:nvSpPr>
        <p:spPr>
          <a:xfrm>
            <a:off x="560527" y="9710928"/>
            <a:ext cx="304495" cy="47548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67" name="Shape 153"/>
          <p:cNvSpPr/>
          <p:nvPr/>
        </p:nvSpPr>
        <p:spPr>
          <a:xfrm>
            <a:off x="487375" y="9784080"/>
            <a:ext cx="450799" cy="329184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68" name="Text 154"/>
          <p:cNvSpPr/>
          <p:nvPr/>
        </p:nvSpPr>
        <p:spPr>
          <a:xfrm>
            <a:off x="487375" y="9710928"/>
            <a:ext cx="450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2310" dirty="0"/>
          </a:p>
        </p:txBody>
      </p:sp>
      <p:sp>
        <p:nvSpPr>
          <p:cNvPr id="169" name="Text 155"/>
          <p:cNvSpPr/>
          <p:nvPr/>
        </p:nvSpPr>
        <p:spPr>
          <a:xfrm>
            <a:off x="1097280" y="9710928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부채 총액</a:t>
            </a:r>
            <a:endParaRPr lang="en-US" sz="1730" dirty="0"/>
          </a:p>
        </p:txBody>
      </p:sp>
      <p:sp>
        <p:nvSpPr>
          <p:cNvPr id="170" name="Shape 156"/>
          <p:cNvSpPr/>
          <p:nvPr/>
        </p:nvSpPr>
        <p:spPr>
          <a:xfrm>
            <a:off x="4315968" y="9710928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71" name="Shape 157"/>
          <p:cNvSpPr/>
          <p:nvPr/>
        </p:nvSpPr>
        <p:spPr>
          <a:xfrm>
            <a:off x="9125712" y="9710928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72" name="Shape 158"/>
          <p:cNvSpPr/>
          <p:nvPr/>
        </p:nvSpPr>
        <p:spPr>
          <a:xfrm>
            <a:off x="4315968" y="10033711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73" name="Shape 159"/>
          <p:cNvSpPr/>
          <p:nvPr/>
        </p:nvSpPr>
        <p:spPr>
          <a:xfrm>
            <a:off x="9125712" y="10033711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74" name="Shape 160"/>
          <p:cNvSpPr/>
          <p:nvPr/>
        </p:nvSpPr>
        <p:spPr>
          <a:xfrm>
            <a:off x="4389120" y="9710928"/>
            <a:ext cx="4809744" cy="469087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75" name="Shape 161"/>
          <p:cNvSpPr/>
          <p:nvPr/>
        </p:nvSpPr>
        <p:spPr>
          <a:xfrm>
            <a:off x="4315968" y="9784080"/>
            <a:ext cx="4956048" cy="32278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76" name="Text 162"/>
          <p:cNvSpPr/>
          <p:nvPr/>
        </p:nvSpPr>
        <p:spPr>
          <a:xfrm>
            <a:off x="4510735" y="9710928"/>
            <a:ext cx="4633265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경영상 가장 큰 애로사항</a:t>
            </a:r>
            <a:pPr algn="l" indent="0" marL="0">
              <a:lnSpc>
                <a:spcPct val="95000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(1·2순위 합산)</a:t>
            </a:r>
            <a:endParaRPr lang="en-US" sz="1200" dirty="0"/>
          </a:p>
        </p:txBody>
      </p:sp>
      <p:sp>
        <p:nvSpPr>
          <p:cNvPr id="177" name="Shape 163"/>
          <p:cNvSpPr/>
          <p:nvPr/>
        </p:nvSpPr>
        <p:spPr>
          <a:xfrm>
            <a:off x="4206240" y="10302545"/>
            <a:ext cx="0" cy="2864815"/>
          </a:xfrm>
          <a:prstGeom prst="line">
            <a:avLst/>
          </a:prstGeom>
          <a:noFill/>
          <a:ln w="12700">
            <a:solidFill>
              <a:srgbClr val="DCE6F1"/>
            </a:solidFill>
            <a:prstDash val="solid"/>
          </a:ln>
        </p:spPr>
      </p:sp>
      <p:pic>
        <p:nvPicPr>
          <p:cNvPr id="178" name="Image 10" descr="g02-moneyba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216" y="10533888"/>
            <a:ext cx="1511503" cy="1597457"/>
          </a:xfrm>
          <a:prstGeom prst="rect">
            <a:avLst/>
          </a:prstGeom>
        </p:spPr>
      </p:pic>
      <p:sp>
        <p:nvSpPr>
          <p:cNvPr id="179" name="Text 164"/>
          <p:cNvSpPr/>
          <p:nvPr/>
        </p:nvSpPr>
        <p:spPr>
          <a:xfrm>
            <a:off x="2121408" y="10424160"/>
            <a:ext cx="1828800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평균</a:t>
            </a:r>
            <a:endParaRPr lang="en-US" sz="1680" dirty="0"/>
          </a:p>
        </p:txBody>
      </p:sp>
      <p:sp>
        <p:nvSpPr>
          <p:cNvPr id="180" name="Text 165"/>
          <p:cNvSpPr/>
          <p:nvPr/>
        </p:nvSpPr>
        <p:spPr>
          <a:xfrm>
            <a:off x="2121408" y="10418343"/>
            <a:ext cx="1536342" cy="69253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2억 232</a:t>
            </a:r>
            <a:endParaRPr lang="en-US" sz="2870" dirty="0"/>
          </a:p>
        </p:txBody>
      </p:sp>
      <p:sp>
        <p:nvSpPr>
          <p:cNvPr id="181" name="Text 166"/>
          <p:cNvSpPr/>
          <p:nvPr/>
        </p:nvSpPr>
        <p:spPr>
          <a:xfrm>
            <a:off x="3548022" y="10658831"/>
            <a:ext cx="506192" cy="43192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만원</a:t>
            </a:r>
            <a:endParaRPr lang="en-US" sz="1790" dirty="0"/>
          </a:p>
        </p:txBody>
      </p:sp>
      <p:sp>
        <p:nvSpPr>
          <p:cNvPr id="182" name="Text 167"/>
          <p:cNvSpPr/>
          <p:nvPr/>
        </p:nvSpPr>
        <p:spPr>
          <a:xfrm>
            <a:off x="2121408" y="11399825"/>
            <a:ext cx="1828800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중앙값</a:t>
            </a:r>
            <a:endParaRPr lang="en-US" sz="1680" dirty="0"/>
          </a:p>
        </p:txBody>
      </p:sp>
      <p:sp>
        <p:nvSpPr>
          <p:cNvPr id="183" name="Text 168"/>
          <p:cNvSpPr/>
          <p:nvPr/>
        </p:nvSpPr>
        <p:spPr>
          <a:xfrm>
            <a:off x="2121408" y="11510239"/>
            <a:ext cx="1583958" cy="5863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1억 1,000</a:t>
            </a:r>
            <a:endParaRPr lang="en-US" sz="2430" dirty="0"/>
          </a:p>
        </p:txBody>
      </p:sp>
      <p:sp>
        <p:nvSpPr>
          <p:cNvPr id="184" name="Text 169"/>
          <p:cNvSpPr/>
          <p:nvPr/>
        </p:nvSpPr>
        <p:spPr>
          <a:xfrm>
            <a:off x="3595638" y="11713362"/>
            <a:ext cx="446390" cy="36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만원</a:t>
            </a:r>
            <a:endParaRPr lang="en-US" sz="1520" dirty="0"/>
          </a:p>
        </p:txBody>
      </p:sp>
      <p:sp>
        <p:nvSpPr>
          <p:cNvPr id="185" name="Shape 170"/>
          <p:cNvSpPr/>
          <p:nvPr/>
        </p:nvSpPr>
        <p:spPr>
          <a:xfrm>
            <a:off x="2121408" y="11290097"/>
            <a:ext cx="1804111" cy="0"/>
          </a:xfrm>
          <a:prstGeom prst="line">
            <a:avLst/>
          </a:prstGeom>
          <a:noFill/>
          <a:ln w="9525">
            <a:solidFill>
              <a:srgbClr val="DCE6F1"/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560527" y="12460529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87" name="Shape 172"/>
          <p:cNvSpPr/>
          <p:nvPr/>
        </p:nvSpPr>
        <p:spPr>
          <a:xfrm>
            <a:off x="3755441" y="12460529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88" name="Shape 173"/>
          <p:cNvSpPr/>
          <p:nvPr/>
        </p:nvSpPr>
        <p:spPr>
          <a:xfrm>
            <a:off x="560527" y="12984480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89" name="Shape 174"/>
          <p:cNvSpPr/>
          <p:nvPr/>
        </p:nvSpPr>
        <p:spPr>
          <a:xfrm>
            <a:off x="3755441" y="12984480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90" name="Shape 175"/>
          <p:cNvSpPr/>
          <p:nvPr/>
        </p:nvSpPr>
        <p:spPr>
          <a:xfrm>
            <a:off x="670255" y="12460529"/>
            <a:ext cx="3193999" cy="743407"/>
          </a:xfrm>
          <a:prstGeom prst="rect">
            <a:avLst/>
          </a:prstGeom>
          <a:solidFill>
            <a:srgbClr val="D9E9F9"/>
          </a:solidFill>
          <a:ln/>
        </p:spPr>
      </p:sp>
      <p:sp>
        <p:nvSpPr>
          <p:cNvPr id="191" name="Shape 176"/>
          <p:cNvSpPr/>
          <p:nvPr/>
        </p:nvSpPr>
        <p:spPr>
          <a:xfrm>
            <a:off x="560527" y="12570257"/>
            <a:ext cx="3413455" cy="523951"/>
          </a:xfrm>
          <a:prstGeom prst="rect">
            <a:avLst/>
          </a:prstGeom>
          <a:solidFill>
            <a:srgbClr val="D9E9F9"/>
          </a:solidFill>
          <a:ln/>
        </p:spPr>
      </p:sp>
      <p:pic>
        <p:nvPicPr>
          <p:cNvPr id="192" name="Image 11" descr="g02-bulb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679" y="12508992"/>
            <a:ext cx="694944" cy="646481"/>
          </a:xfrm>
          <a:prstGeom prst="rect">
            <a:avLst/>
          </a:prstGeom>
        </p:spPr>
      </p:pic>
      <p:sp>
        <p:nvSpPr>
          <p:cNvPr id="193" name="Text 177"/>
          <p:cNvSpPr/>
          <p:nvPr/>
        </p:nvSpPr>
        <p:spPr>
          <a:xfrm>
            <a:off x="1353312" y="12460529"/>
            <a:ext cx="252374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기업별 편차가 큰 편으로,</a:t>
            </a:r>
            <a:endParaRPr lang="en-US" sz="149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재무 건전성 관리가 중요합니다.</a:t>
            </a:r>
            <a:endParaRPr lang="en-US" sz="1490" dirty="0"/>
          </a:p>
        </p:txBody>
      </p:sp>
      <p:pic>
        <p:nvPicPr>
          <p:cNvPr id="194" name="Image 12" descr="g02-medal1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35424" y="10265969"/>
            <a:ext cx="560527" cy="487375"/>
          </a:xfrm>
          <a:prstGeom prst="rect">
            <a:avLst/>
          </a:prstGeom>
        </p:spPr>
      </p:pic>
      <p:pic>
        <p:nvPicPr>
          <p:cNvPr id="195" name="Image 13" descr="g02-rank1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96866" y="10326319"/>
            <a:ext cx="621792" cy="450799"/>
          </a:xfrm>
          <a:prstGeom prst="rect">
            <a:avLst/>
          </a:prstGeom>
        </p:spPr>
      </p:pic>
      <p:sp>
        <p:nvSpPr>
          <p:cNvPr id="196" name="Text 178"/>
          <p:cNvSpPr/>
          <p:nvPr/>
        </p:nvSpPr>
        <p:spPr>
          <a:xfrm>
            <a:off x="5840273" y="10339121"/>
            <a:ext cx="2316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자금조달</a:t>
            </a:r>
            <a:endParaRPr lang="en-US" sz="1830" dirty="0"/>
          </a:p>
        </p:txBody>
      </p:sp>
      <p:sp>
        <p:nvSpPr>
          <p:cNvPr id="197" name="Text 179"/>
          <p:cNvSpPr/>
          <p:nvPr/>
        </p:nvSpPr>
        <p:spPr>
          <a:xfrm>
            <a:off x="8186485" y="10134676"/>
            <a:ext cx="693241" cy="557403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43.5</a:t>
            </a:r>
            <a:endParaRPr lang="en-US" sz="2310" dirty="0"/>
          </a:p>
        </p:txBody>
      </p:sp>
      <p:sp>
        <p:nvSpPr>
          <p:cNvPr id="198" name="Text 180"/>
          <p:cNvSpPr/>
          <p:nvPr/>
        </p:nvSpPr>
        <p:spPr>
          <a:xfrm>
            <a:off x="8769998" y="10326649"/>
            <a:ext cx="270675" cy="3498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450" dirty="0"/>
          </a:p>
        </p:txBody>
      </p:sp>
      <p:sp>
        <p:nvSpPr>
          <p:cNvPr id="199" name="Shape 181"/>
          <p:cNvSpPr/>
          <p:nvPr/>
        </p:nvSpPr>
        <p:spPr>
          <a:xfrm>
            <a:off x="5060290" y="10698480"/>
            <a:ext cx="426750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pic>
        <p:nvPicPr>
          <p:cNvPr id="200" name="Image 14" descr="g02-medal2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5424" y="10698480"/>
            <a:ext cx="560527" cy="487375"/>
          </a:xfrm>
          <a:prstGeom prst="rect">
            <a:avLst/>
          </a:prstGeom>
        </p:spPr>
      </p:pic>
      <p:pic>
        <p:nvPicPr>
          <p:cNvPr id="201" name="Image 15" descr="g02-rank2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96866" y="10759745"/>
            <a:ext cx="621792" cy="450799"/>
          </a:xfrm>
          <a:prstGeom prst="rect">
            <a:avLst/>
          </a:prstGeom>
        </p:spPr>
      </p:pic>
      <p:sp>
        <p:nvSpPr>
          <p:cNvPr id="202" name="Text 182"/>
          <p:cNvSpPr/>
          <p:nvPr/>
        </p:nvSpPr>
        <p:spPr>
          <a:xfrm>
            <a:off x="5840273" y="10771632"/>
            <a:ext cx="2316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원자재·재료비 부담</a:t>
            </a:r>
            <a:endParaRPr lang="en-US" sz="1830" dirty="0"/>
          </a:p>
        </p:txBody>
      </p:sp>
      <p:sp>
        <p:nvSpPr>
          <p:cNvPr id="203" name="Text 183"/>
          <p:cNvSpPr/>
          <p:nvPr/>
        </p:nvSpPr>
        <p:spPr>
          <a:xfrm>
            <a:off x="8186485" y="10568102"/>
            <a:ext cx="693241" cy="557403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36.6</a:t>
            </a:r>
            <a:endParaRPr lang="en-US" sz="2310" dirty="0"/>
          </a:p>
        </p:txBody>
      </p:sp>
      <p:sp>
        <p:nvSpPr>
          <p:cNvPr id="204" name="Text 184"/>
          <p:cNvSpPr/>
          <p:nvPr/>
        </p:nvSpPr>
        <p:spPr>
          <a:xfrm>
            <a:off x="8769998" y="10759161"/>
            <a:ext cx="270675" cy="3498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450" dirty="0"/>
          </a:p>
        </p:txBody>
      </p:sp>
      <p:sp>
        <p:nvSpPr>
          <p:cNvPr id="205" name="Shape 185"/>
          <p:cNvSpPr/>
          <p:nvPr/>
        </p:nvSpPr>
        <p:spPr>
          <a:xfrm>
            <a:off x="5060290" y="11130991"/>
            <a:ext cx="426750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pic>
        <p:nvPicPr>
          <p:cNvPr id="206" name="Image 16" descr="g02-medal3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35424" y="11130991"/>
            <a:ext cx="560527" cy="487375"/>
          </a:xfrm>
          <a:prstGeom prst="rect">
            <a:avLst/>
          </a:prstGeom>
        </p:spPr>
      </p:pic>
      <p:pic>
        <p:nvPicPr>
          <p:cNvPr id="207" name="Image 17" descr="g02-rank3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96866" y="11192256"/>
            <a:ext cx="621792" cy="450799"/>
          </a:xfrm>
          <a:prstGeom prst="rect">
            <a:avLst/>
          </a:prstGeom>
        </p:spPr>
      </p:pic>
      <p:sp>
        <p:nvSpPr>
          <p:cNvPr id="208" name="Text 186"/>
          <p:cNvSpPr/>
          <p:nvPr/>
        </p:nvSpPr>
        <p:spPr>
          <a:xfrm>
            <a:off x="5840273" y="11204143"/>
            <a:ext cx="2316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경기 침체·내수부진</a:t>
            </a:r>
            <a:endParaRPr lang="en-US" sz="1830" dirty="0"/>
          </a:p>
        </p:txBody>
      </p:sp>
      <p:sp>
        <p:nvSpPr>
          <p:cNvPr id="209" name="Text 187"/>
          <p:cNvSpPr/>
          <p:nvPr/>
        </p:nvSpPr>
        <p:spPr>
          <a:xfrm>
            <a:off x="8186485" y="11000613"/>
            <a:ext cx="693241" cy="557403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33.5</a:t>
            </a:r>
            <a:endParaRPr lang="en-US" sz="2310" dirty="0"/>
          </a:p>
        </p:txBody>
      </p:sp>
      <p:sp>
        <p:nvSpPr>
          <p:cNvPr id="210" name="Text 188"/>
          <p:cNvSpPr/>
          <p:nvPr/>
        </p:nvSpPr>
        <p:spPr>
          <a:xfrm>
            <a:off x="8769998" y="11192586"/>
            <a:ext cx="270675" cy="3498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450" dirty="0"/>
          </a:p>
        </p:txBody>
      </p:sp>
      <p:sp>
        <p:nvSpPr>
          <p:cNvPr id="211" name="Shape 189"/>
          <p:cNvSpPr/>
          <p:nvPr/>
        </p:nvSpPr>
        <p:spPr>
          <a:xfrm>
            <a:off x="5060290" y="11564417"/>
            <a:ext cx="426750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pic>
        <p:nvPicPr>
          <p:cNvPr id="212" name="Image 18" descr="g02-medal4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35424" y="11564417"/>
            <a:ext cx="560527" cy="487375"/>
          </a:xfrm>
          <a:prstGeom prst="rect">
            <a:avLst/>
          </a:prstGeom>
        </p:spPr>
      </p:pic>
      <p:pic>
        <p:nvPicPr>
          <p:cNvPr id="213" name="Image 19" descr="g02-rank4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96866" y="11624767"/>
            <a:ext cx="621792" cy="450799"/>
          </a:xfrm>
          <a:prstGeom prst="rect">
            <a:avLst/>
          </a:prstGeom>
        </p:spPr>
      </p:pic>
      <p:sp>
        <p:nvSpPr>
          <p:cNvPr id="214" name="Text 190"/>
          <p:cNvSpPr/>
          <p:nvPr/>
        </p:nvSpPr>
        <p:spPr>
          <a:xfrm>
            <a:off x="5840273" y="11637569"/>
            <a:ext cx="2316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금융비용 상환 부담</a:t>
            </a:r>
            <a:endParaRPr lang="en-US" sz="1830" dirty="0"/>
          </a:p>
        </p:txBody>
      </p:sp>
      <p:sp>
        <p:nvSpPr>
          <p:cNvPr id="215" name="Text 191"/>
          <p:cNvSpPr/>
          <p:nvPr/>
        </p:nvSpPr>
        <p:spPr>
          <a:xfrm>
            <a:off x="8186485" y="11433124"/>
            <a:ext cx="693241" cy="557403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31.7</a:t>
            </a:r>
            <a:endParaRPr lang="en-US" sz="2310" dirty="0"/>
          </a:p>
        </p:txBody>
      </p:sp>
      <p:sp>
        <p:nvSpPr>
          <p:cNvPr id="216" name="Text 192"/>
          <p:cNvSpPr/>
          <p:nvPr/>
        </p:nvSpPr>
        <p:spPr>
          <a:xfrm>
            <a:off x="8769998" y="11625097"/>
            <a:ext cx="270675" cy="3498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450" dirty="0"/>
          </a:p>
        </p:txBody>
      </p:sp>
      <p:sp>
        <p:nvSpPr>
          <p:cNvPr id="217" name="Shape 193"/>
          <p:cNvSpPr/>
          <p:nvPr/>
        </p:nvSpPr>
        <p:spPr>
          <a:xfrm>
            <a:off x="5060290" y="11996928"/>
            <a:ext cx="426750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pic>
        <p:nvPicPr>
          <p:cNvPr id="218" name="Image 20" descr="g02-medal5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35424" y="11996928"/>
            <a:ext cx="560527" cy="487375"/>
          </a:xfrm>
          <a:prstGeom prst="rect">
            <a:avLst/>
          </a:prstGeom>
        </p:spPr>
      </p:pic>
      <p:pic>
        <p:nvPicPr>
          <p:cNvPr id="219" name="Image 21" descr="g02-rank5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96866" y="12058193"/>
            <a:ext cx="621792" cy="450799"/>
          </a:xfrm>
          <a:prstGeom prst="rect">
            <a:avLst/>
          </a:prstGeom>
        </p:spPr>
      </p:pic>
      <p:sp>
        <p:nvSpPr>
          <p:cNvPr id="220" name="Text 194"/>
          <p:cNvSpPr/>
          <p:nvPr/>
        </p:nvSpPr>
        <p:spPr>
          <a:xfrm>
            <a:off x="5840273" y="12070080"/>
            <a:ext cx="2316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인력관리</a:t>
            </a:r>
            <a:endParaRPr lang="en-US" sz="1830" dirty="0"/>
          </a:p>
        </p:txBody>
      </p:sp>
      <p:sp>
        <p:nvSpPr>
          <p:cNvPr id="221" name="Text 195"/>
          <p:cNvSpPr/>
          <p:nvPr/>
        </p:nvSpPr>
        <p:spPr>
          <a:xfrm>
            <a:off x="8186485" y="11866550"/>
            <a:ext cx="693241" cy="557403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16.1</a:t>
            </a:r>
            <a:endParaRPr lang="en-US" sz="2310" dirty="0"/>
          </a:p>
        </p:txBody>
      </p:sp>
      <p:sp>
        <p:nvSpPr>
          <p:cNvPr id="222" name="Text 196"/>
          <p:cNvSpPr/>
          <p:nvPr/>
        </p:nvSpPr>
        <p:spPr>
          <a:xfrm>
            <a:off x="8769998" y="12057609"/>
            <a:ext cx="270675" cy="3498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450" dirty="0"/>
          </a:p>
        </p:txBody>
      </p:sp>
      <p:sp>
        <p:nvSpPr>
          <p:cNvPr id="223" name="Shape 197"/>
          <p:cNvSpPr/>
          <p:nvPr/>
        </p:nvSpPr>
        <p:spPr>
          <a:xfrm>
            <a:off x="4462272" y="12460529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224" name="Shape 198"/>
          <p:cNvSpPr/>
          <p:nvPr/>
        </p:nvSpPr>
        <p:spPr>
          <a:xfrm>
            <a:off x="9058961" y="12460529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225" name="Shape 199"/>
          <p:cNvSpPr/>
          <p:nvPr/>
        </p:nvSpPr>
        <p:spPr>
          <a:xfrm>
            <a:off x="4462272" y="12984480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226" name="Shape 200"/>
          <p:cNvSpPr/>
          <p:nvPr/>
        </p:nvSpPr>
        <p:spPr>
          <a:xfrm>
            <a:off x="9058961" y="12984480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227" name="Shape 201"/>
          <p:cNvSpPr/>
          <p:nvPr/>
        </p:nvSpPr>
        <p:spPr>
          <a:xfrm>
            <a:off x="4572000" y="12460529"/>
            <a:ext cx="4596689" cy="743407"/>
          </a:xfrm>
          <a:prstGeom prst="rect">
            <a:avLst/>
          </a:prstGeom>
          <a:solidFill>
            <a:srgbClr val="D9E9F9"/>
          </a:solidFill>
          <a:ln/>
        </p:spPr>
      </p:sp>
      <p:sp>
        <p:nvSpPr>
          <p:cNvPr id="228" name="Shape 202"/>
          <p:cNvSpPr/>
          <p:nvPr/>
        </p:nvSpPr>
        <p:spPr>
          <a:xfrm>
            <a:off x="4462272" y="12570257"/>
            <a:ext cx="4816145" cy="523951"/>
          </a:xfrm>
          <a:prstGeom prst="rect">
            <a:avLst/>
          </a:prstGeom>
          <a:solidFill>
            <a:srgbClr val="D9E9F9"/>
          </a:solidFill>
          <a:ln/>
        </p:spPr>
      </p:sp>
      <p:pic>
        <p:nvPicPr>
          <p:cNvPr id="229" name="Image 22" descr="g02-target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35424" y="12508992"/>
            <a:ext cx="694944" cy="646481"/>
          </a:xfrm>
          <a:prstGeom prst="rect">
            <a:avLst/>
          </a:prstGeom>
        </p:spPr>
      </p:pic>
      <p:sp>
        <p:nvSpPr>
          <p:cNvPr id="230" name="Text 203"/>
          <p:cNvSpPr/>
          <p:nvPr/>
        </p:nvSpPr>
        <p:spPr>
          <a:xfrm>
            <a:off x="5255057" y="12460529"/>
            <a:ext cx="3925519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자금조달 부담이 가장 크며,</a:t>
            </a:r>
            <a:endParaRPr lang="en-US" sz="147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원가·경기·금융비용 부담이 뒤를 잇고 있습니다.</a:t>
            </a:r>
            <a:endParaRPr lang="en-US" sz="1470" dirty="0"/>
          </a:p>
        </p:txBody>
      </p:sp>
      <p:sp>
        <p:nvSpPr>
          <p:cNvPr id="231" name="Shape 204"/>
          <p:cNvSpPr/>
          <p:nvPr/>
        </p:nvSpPr>
        <p:spPr>
          <a:xfrm>
            <a:off x="317297" y="13466369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32" name="Shape 205"/>
          <p:cNvSpPr/>
          <p:nvPr/>
        </p:nvSpPr>
        <p:spPr>
          <a:xfrm>
            <a:off x="9180576" y="13466369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33" name="Shape 206"/>
          <p:cNvSpPr/>
          <p:nvPr/>
        </p:nvSpPr>
        <p:spPr>
          <a:xfrm>
            <a:off x="317297" y="14185087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34" name="Shape 207"/>
          <p:cNvSpPr/>
          <p:nvPr/>
        </p:nvSpPr>
        <p:spPr>
          <a:xfrm>
            <a:off x="9180576" y="14185087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35" name="Shape 208"/>
          <p:cNvSpPr/>
          <p:nvPr/>
        </p:nvSpPr>
        <p:spPr>
          <a:xfrm>
            <a:off x="438912" y="13466369"/>
            <a:ext cx="8864194" cy="96286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36" name="Shape 209"/>
          <p:cNvSpPr/>
          <p:nvPr/>
        </p:nvSpPr>
        <p:spPr>
          <a:xfrm>
            <a:off x="317297" y="13587984"/>
            <a:ext cx="9107424" cy="719633"/>
          </a:xfrm>
          <a:prstGeom prst="rect">
            <a:avLst/>
          </a:prstGeom>
          <a:solidFill>
            <a:srgbClr val="00337F"/>
          </a:solidFill>
          <a:ln/>
        </p:spPr>
      </p:sp>
      <p:pic>
        <p:nvPicPr>
          <p:cNvPr id="237" name="Image 23" descr="g02-clipboard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6209" y="13618159"/>
            <a:ext cx="1048817" cy="694944"/>
          </a:xfrm>
          <a:prstGeom prst="rect">
            <a:avLst/>
          </a:prstGeom>
        </p:spPr>
      </p:pic>
      <p:sp>
        <p:nvSpPr>
          <p:cNvPr id="238" name="Text 210"/>
          <p:cNvSpPr/>
          <p:nvPr/>
        </p:nvSpPr>
        <p:spPr>
          <a:xfrm>
            <a:off x="1950415" y="13606272"/>
            <a:ext cx="6889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 회복과 경기 불확실성 해소가 자금사정 개선의 핵심 열쇠!</a:t>
            </a:r>
            <a:endParaRPr lang="en-US" sz="1780" dirty="0"/>
          </a:p>
        </p:txBody>
      </p:sp>
      <p:sp>
        <p:nvSpPr>
          <p:cNvPr id="239" name="Text 211"/>
          <p:cNvSpPr/>
          <p:nvPr/>
        </p:nvSpPr>
        <p:spPr>
          <a:xfrm>
            <a:off x="1950415" y="13960145"/>
            <a:ext cx="6889090" cy="341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80" b="1" dirty="0">
                <a:solidFill>
                  <a:srgbClr val="FFD34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안정적 자금확보와 비용관리로 위기에 견디는 체력을 키워야 합니다.</a:t>
            </a:r>
            <a:endParaRPr lang="en-US" sz="1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03-h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698" y="158191"/>
            <a:ext cx="2462479" cy="13533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182880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" name="Shape 1"/>
          <p:cNvSpPr/>
          <p:nvPr/>
        </p:nvSpPr>
        <p:spPr>
          <a:xfrm>
            <a:off x="939089" y="182880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" name="Shape 2"/>
          <p:cNvSpPr/>
          <p:nvPr/>
        </p:nvSpPr>
        <p:spPr>
          <a:xfrm>
            <a:off x="164592" y="847649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" name="Shape 3"/>
          <p:cNvSpPr/>
          <p:nvPr/>
        </p:nvSpPr>
        <p:spPr>
          <a:xfrm>
            <a:off x="939089" y="847649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" name="Shape 4"/>
          <p:cNvSpPr/>
          <p:nvPr/>
        </p:nvSpPr>
        <p:spPr>
          <a:xfrm>
            <a:off x="299009" y="182880"/>
            <a:ext cx="774497" cy="93268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8" name="Shape 5"/>
          <p:cNvSpPr/>
          <p:nvPr/>
        </p:nvSpPr>
        <p:spPr>
          <a:xfrm>
            <a:off x="164592" y="317297"/>
            <a:ext cx="1042416" cy="664769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9" name="Text 6"/>
          <p:cNvSpPr/>
          <p:nvPr/>
        </p:nvSpPr>
        <p:spPr>
          <a:xfrm>
            <a:off x="164592" y="182880"/>
            <a:ext cx="10424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6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03</a:t>
            </a:r>
            <a:endParaRPr lang="en-US" sz="4630" dirty="0"/>
          </a:p>
        </p:txBody>
      </p:sp>
      <p:sp>
        <p:nvSpPr>
          <p:cNvPr id="10" name="Text 7"/>
          <p:cNvSpPr/>
          <p:nvPr/>
        </p:nvSpPr>
        <p:spPr>
          <a:xfrm>
            <a:off x="1444752" y="207569"/>
            <a:ext cx="5486400" cy="6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50" b="1" dirty="0">
                <a:solidFill>
                  <a:srgbClr val="00337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신용보증 이용 및 지원 효과</a:t>
            </a:r>
            <a:endParaRPr lang="en-US" sz="3850" dirty="0"/>
          </a:p>
        </p:txBody>
      </p:sp>
      <p:sp>
        <p:nvSpPr>
          <p:cNvPr id="11" name="Text 8"/>
          <p:cNvSpPr/>
          <p:nvPr/>
        </p:nvSpPr>
        <p:spPr>
          <a:xfrm>
            <a:off x="1444752" y="889711"/>
            <a:ext cx="548640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7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신용보증은 기업의 성장과 안정에 실질적인 도움을 주고 있습니다.</a:t>
            </a:r>
            <a:endParaRPr lang="en-US" sz="1570" dirty="0"/>
          </a:p>
        </p:txBody>
      </p:sp>
      <p:sp>
        <p:nvSpPr>
          <p:cNvPr id="12" name="Shape 9"/>
          <p:cNvSpPr/>
          <p:nvPr/>
        </p:nvSpPr>
        <p:spPr>
          <a:xfrm>
            <a:off x="170993" y="1639519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74543" y="1639519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0993" y="546171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74543" y="546171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4495" y="1639519"/>
            <a:ext cx="2804465" cy="4090111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0993" y="1773936"/>
            <a:ext cx="3072384" cy="3822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4495" y="1648663"/>
            <a:ext cx="2804465" cy="4071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180137" y="1773936"/>
            <a:ext cx="3054096" cy="3822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3346704" y="1639519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85586" y="1639519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46704" y="546171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85586" y="546171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481121" y="1639519"/>
            <a:ext cx="2937967" cy="4090111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346704" y="1773936"/>
            <a:ext cx="3206801" cy="3822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81121" y="1648663"/>
            <a:ext cx="2937967" cy="4071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3355848" y="1773936"/>
            <a:ext cx="3188513" cy="3822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6651346" y="1639519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14993" y="1639519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51346" y="546171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314993" y="546171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784848" y="1639519"/>
            <a:ext cx="2663647" cy="4090111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651346" y="1773936"/>
            <a:ext cx="2932481" cy="3822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84848" y="1648663"/>
            <a:ext cx="2663647" cy="4071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6660490" y="1773936"/>
            <a:ext cx="2914193" cy="3822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299009" y="168889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7" name="Shape 34"/>
          <p:cNvSpPr/>
          <p:nvPr/>
        </p:nvSpPr>
        <p:spPr>
          <a:xfrm>
            <a:off x="2292401" y="168889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8" name="Shape 35"/>
          <p:cNvSpPr/>
          <p:nvPr/>
        </p:nvSpPr>
        <p:spPr>
          <a:xfrm>
            <a:off x="299009" y="19504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9" name="Shape 36"/>
          <p:cNvSpPr/>
          <p:nvPr/>
        </p:nvSpPr>
        <p:spPr>
          <a:xfrm>
            <a:off x="2292401" y="19504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40" name="Shape 37"/>
          <p:cNvSpPr/>
          <p:nvPr/>
        </p:nvSpPr>
        <p:spPr>
          <a:xfrm>
            <a:off x="365760" y="1688897"/>
            <a:ext cx="1993392" cy="395935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41" name="Shape 38"/>
          <p:cNvSpPr/>
          <p:nvPr/>
        </p:nvSpPr>
        <p:spPr>
          <a:xfrm>
            <a:off x="299009" y="1755648"/>
            <a:ext cx="2127809" cy="26243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42" name="Shape 39"/>
          <p:cNvSpPr/>
          <p:nvPr/>
        </p:nvSpPr>
        <p:spPr>
          <a:xfrm>
            <a:off x="299009" y="168889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3" name="Shape 40"/>
          <p:cNvSpPr/>
          <p:nvPr/>
        </p:nvSpPr>
        <p:spPr>
          <a:xfrm>
            <a:off x="542239" y="168889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4" name="Shape 41"/>
          <p:cNvSpPr/>
          <p:nvPr/>
        </p:nvSpPr>
        <p:spPr>
          <a:xfrm>
            <a:off x="299009" y="19504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5" name="Shape 42"/>
          <p:cNvSpPr/>
          <p:nvPr/>
        </p:nvSpPr>
        <p:spPr>
          <a:xfrm>
            <a:off x="542239" y="19504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6" name="Shape 43"/>
          <p:cNvSpPr/>
          <p:nvPr/>
        </p:nvSpPr>
        <p:spPr>
          <a:xfrm>
            <a:off x="365760" y="1688897"/>
            <a:ext cx="244145" cy="395935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47" name="Shape 44"/>
          <p:cNvSpPr/>
          <p:nvPr/>
        </p:nvSpPr>
        <p:spPr>
          <a:xfrm>
            <a:off x="299009" y="1755648"/>
            <a:ext cx="377647" cy="26243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48" name="Text 45"/>
          <p:cNvSpPr/>
          <p:nvPr/>
        </p:nvSpPr>
        <p:spPr>
          <a:xfrm>
            <a:off x="299009" y="1688897"/>
            <a:ext cx="37764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2080" dirty="0"/>
          </a:p>
        </p:txBody>
      </p:sp>
      <p:sp>
        <p:nvSpPr>
          <p:cNvPr id="49" name="Text 46"/>
          <p:cNvSpPr/>
          <p:nvPr/>
        </p:nvSpPr>
        <p:spPr>
          <a:xfrm>
            <a:off x="811073" y="1688897"/>
            <a:ext cx="1554480" cy="395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인지 경로</a:t>
            </a:r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(복수응답)</a:t>
            </a:r>
            <a:endParaRPr lang="en-US" sz="1560" dirty="0"/>
          </a:p>
        </p:txBody>
      </p:sp>
      <p:sp>
        <p:nvSpPr>
          <p:cNvPr id="50" name="Text 47"/>
          <p:cNvSpPr/>
          <p:nvPr/>
        </p:nvSpPr>
        <p:spPr>
          <a:xfrm>
            <a:off x="365760" y="2169871"/>
            <a:ext cx="2804465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지인·이용경험자 통한 인지가 가장 많고,</a:t>
            </a:r>
            <a:endParaRPr lang="en-US" sz="130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온라인 채널 활용도는 낮습니다.</a:t>
            </a:r>
            <a:endParaRPr lang="en-US" sz="1300" dirty="0"/>
          </a:p>
        </p:txBody>
      </p:sp>
      <p:pic>
        <p:nvPicPr>
          <p:cNvPr id="51" name="Image 1" descr="g03-ch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822753"/>
            <a:ext cx="402336" cy="390449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768096" y="2804465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지인 또는</a:t>
            </a:r>
            <a:endParaRPr lang="en-US" sz="137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이용경험자</a:t>
            </a:r>
            <a:endParaRPr lang="en-US" sz="1370" dirty="0"/>
          </a:p>
        </p:txBody>
      </p:sp>
      <p:pic>
        <p:nvPicPr>
          <p:cNvPr id="53" name="Image 2" descr="g03-ch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3351276"/>
            <a:ext cx="402336" cy="390449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768096" y="3332988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소상공인</a:t>
            </a:r>
            <a:endParaRPr lang="en-US" sz="137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협회·조합</a:t>
            </a:r>
            <a:endParaRPr lang="en-US" sz="1370" dirty="0"/>
          </a:p>
        </p:txBody>
      </p:sp>
      <p:pic>
        <p:nvPicPr>
          <p:cNvPr id="55" name="Image 3" descr="g03-ch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3879799"/>
            <a:ext cx="402336" cy="390449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768096" y="3861511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금융기관</a:t>
            </a:r>
            <a:endParaRPr lang="en-US" sz="1370" dirty="0"/>
          </a:p>
        </p:txBody>
      </p:sp>
      <p:pic>
        <p:nvPicPr>
          <p:cNvPr id="57" name="Image 4" descr="g03-ch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" y="4409237"/>
            <a:ext cx="402336" cy="390449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768096" y="4390949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온라인 매체</a:t>
            </a:r>
            <a:endParaRPr lang="en-US" sz="1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(SNS, 인터넷 등)</a:t>
            </a:r>
            <a:endParaRPr lang="en-US" sz="1000" dirty="0"/>
          </a:p>
        </p:txBody>
      </p:sp>
      <p:pic>
        <p:nvPicPr>
          <p:cNvPr id="59" name="Image 5" descr="g03-ch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" y="4937760"/>
            <a:ext cx="402336" cy="390449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768096" y="4919472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재단 홈페이지</a:t>
            </a:r>
            <a:endParaRPr lang="en-US" sz="1100" dirty="0"/>
          </a:p>
        </p:txBody>
      </p:sp>
      <p:graphicFrame>
        <p:nvGraphicFramePr>
          <p:cNvPr id="61" name="Chart 0" descr=""/>
          <p:cNvGraphicFramePr/>
          <p:nvPr/>
        </p:nvGraphicFramePr>
        <p:xfrm>
          <a:off x="1584655" y="2756002"/>
          <a:ext cx="1634033" cy="264444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62" name="Text 53"/>
          <p:cNvSpPr/>
          <p:nvPr/>
        </p:nvSpPr>
        <p:spPr>
          <a:xfrm>
            <a:off x="353873" y="5474513"/>
            <a:ext cx="182880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복수응답 기준</a:t>
            </a:r>
            <a:endParaRPr lang="en-US" sz="1220" dirty="0"/>
          </a:p>
        </p:txBody>
      </p:sp>
      <p:sp>
        <p:nvSpPr>
          <p:cNvPr id="63" name="Shape 54"/>
          <p:cNvSpPr/>
          <p:nvPr/>
        </p:nvSpPr>
        <p:spPr>
          <a:xfrm>
            <a:off x="3468319" y="168889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64" name="Shape 55"/>
          <p:cNvSpPr/>
          <p:nvPr/>
        </p:nvSpPr>
        <p:spPr>
          <a:xfrm>
            <a:off x="5401361" y="168889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65" name="Shape 56"/>
          <p:cNvSpPr/>
          <p:nvPr/>
        </p:nvSpPr>
        <p:spPr>
          <a:xfrm>
            <a:off x="3468319" y="19504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66" name="Shape 57"/>
          <p:cNvSpPr/>
          <p:nvPr/>
        </p:nvSpPr>
        <p:spPr>
          <a:xfrm>
            <a:off x="5401361" y="19504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67" name="Shape 58"/>
          <p:cNvSpPr/>
          <p:nvPr/>
        </p:nvSpPr>
        <p:spPr>
          <a:xfrm>
            <a:off x="3535985" y="1688897"/>
            <a:ext cx="1932127" cy="395935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68" name="Shape 59"/>
          <p:cNvSpPr/>
          <p:nvPr/>
        </p:nvSpPr>
        <p:spPr>
          <a:xfrm>
            <a:off x="3468319" y="1755648"/>
            <a:ext cx="2066544" cy="26243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69" name="Shape 60"/>
          <p:cNvSpPr/>
          <p:nvPr/>
        </p:nvSpPr>
        <p:spPr>
          <a:xfrm>
            <a:off x="3468319" y="168889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0" name="Shape 61"/>
          <p:cNvSpPr/>
          <p:nvPr/>
        </p:nvSpPr>
        <p:spPr>
          <a:xfrm>
            <a:off x="3712464" y="168889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1" name="Shape 62"/>
          <p:cNvSpPr/>
          <p:nvPr/>
        </p:nvSpPr>
        <p:spPr>
          <a:xfrm>
            <a:off x="3468319" y="19504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2" name="Shape 63"/>
          <p:cNvSpPr/>
          <p:nvPr/>
        </p:nvSpPr>
        <p:spPr>
          <a:xfrm>
            <a:off x="3712464" y="19504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3" name="Shape 64"/>
          <p:cNvSpPr/>
          <p:nvPr/>
        </p:nvSpPr>
        <p:spPr>
          <a:xfrm>
            <a:off x="3535985" y="1688897"/>
            <a:ext cx="244145" cy="395935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74" name="Shape 65"/>
          <p:cNvSpPr/>
          <p:nvPr/>
        </p:nvSpPr>
        <p:spPr>
          <a:xfrm>
            <a:off x="3468319" y="1755648"/>
            <a:ext cx="377647" cy="26243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75" name="Text 66"/>
          <p:cNvSpPr/>
          <p:nvPr/>
        </p:nvSpPr>
        <p:spPr>
          <a:xfrm>
            <a:off x="3468319" y="1688897"/>
            <a:ext cx="37764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2080" dirty="0"/>
          </a:p>
        </p:txBody>
      </p:sp>
      <p:sp>
        <p:nvSpPr>
          <p:cNvPr id="76" name="Text 67"/>
          <p:cNvSpPr/>
          <p:nvPr/>
        </p:nvSpPr>
        <p:spPr>
          <a:xfrm>
            <a:off x="3980383" y="1688897"/>
            <a:ext cx="149321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이용 방식 및 장점</a:t>
            </a:r>
            <a:endParaRPr lang="en-US" sz="1540" dirty="0"/>
          </a:p>
        </p:txBody>
      </p:sp>
      <p:sp>
        <p:nvSpPr>
          <p:cNvPr id="77" name="Text 68"/>
          <p:cNvSpPr/>
          <p:nvPr/>
        </p:nvSpPr>
        <p:spPr>
          <a:xfrm>
            <a:off x="3517697" y="2169871"/>
            <a:ext cx="2864815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51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대면 이용이 절대 다수이며,</a:t>
            </a:r>
            <a:endParaRPr lang="en-US" sz="151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51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각 방식별로 다른 장점을 체감합니다.</a:t>
            </a:r>
            <a:endParaRPr lang="en-US" sz="1510" dirty="0"/>
          </a:p>
        </p:txBody>
      </p:sp>
      <p:sp>
        <p:nvSpPr>
          <p:cNvPr id="78" name="Text 69"/>
          <p:cNvSpPr/>
          <p:nvPr/>
        </p:nvSpPr>
        <p:spPr>
          <a:xfrm>
            <a:off x="3517697" y="2841041"/>
            <a:ext cx="158465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대면 이용</a:t>
            </a:r>
            <a:endParaRPr lang="en-US" sz="1630" dirty="0"/>
          </a:p>
        </p:txBody>
      </p:sp>
      <p:sp>
        <p:nvSpPr>
          <p:cNvPr id="79" name="Text 70"/>
          <p:cNvSpPr/>
          <p:nvPr/>
        </p:nvSpPr>
        <p:spPr>
          <a:xfrm>
            <a:off x="3517697" y="2772512"/>
            <a:ext cx="781652" cy="64185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89.4</a:t>
            </a:r>
            <a:endParaRPr lang="en-US" sz="2660" dirty="0"/>
          </a:p>
        </p:txBody>
      </p:sp>
      <p:sp>
        <p:nvSpPr>
          <p:cNvPr id="80" name="Text 71"/>
          <p:cNvSpPr/>
          <p:nvPr/>
        </p:nvSpPr>
        <p:spPr>
          <a:xfrm>
            <a:off x="4189621" y="3004261"/>
            <a:ext cx="2895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620" dirty="0"/>
          </a:p>
        </p:txBody>
      </p:sp>
      <p:sp>
        <p:nvSpPr>
          <p:cNvPr id="81" name="Text 72"/>
          <p:cNvSpPr/>
          <p:nvPr/>
        </p:nvSpPr>
        <p:spPr>
          <a:xfrm>
            <a:off x="5639105" y="2841041"/>
            <a:ext cx="158465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비대면 이용</a:t>
            </a:r>
            <a:endParaRPr lang="en-US" sz="1630" dirty="0"/>
          </a:p>
        </p:txBody>
      </p:sp>
      <p:sp>
        <p:nvSpPr>
          <p:cNvPr id="82" name="Text 73"/>
          <p:cNvSpPr/>
          <p:nvPr/>
        </p:nvSpPr>
        <p:spPr>
          <a:xfrm>
            <a:off x="5639105" y="2772512"/>
            <a:ext cx="781652" cy="64185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10.6</a:t>
            </a:r>
            <a:endParaRPr lang="en-US" sz="2660" dirty="0"/>
          </a:p>
        </p:txBody>
      </p:sp>
      <p:sp>
        <p:nvSpPr>
          <p:cNvPr id="83" name="Text 74"/>
          <p:cNvSpPr/>
          <p:nvPr/>
        </p:nvSpPr>
        <p:spPr>
          <a:xfrm>
            <a:off x="6311029" y="3004261"/>
            <a:ext cx="2895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620" dirty="0"/>
          </a:p>
        </p:txBody>
      </p:sp>
      <p:pic>
        <p:nvPicPr>
          <p:cNvPr id="84" name="Image 6" descr="g03-mee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5169" y="3389681"/>
            <a:ext cx="1755648" cy="987552"/>
          </a:xfrm>
          <a:prstGeom prst="rect">
            <a:avLst/>
          </a:prstGeom>
        </p:spPr>
      </p:pic>
      <p:pic>
        <p:nvPicPr>
          <p:cNvPr id="85" name="Image 7" descr="g03-phon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8658" y="3535985"/>
            <a:ext cx="573329" cy="829361"/>
          </a:xfrm>
          <a:prstGeom prst="rect">
            <a:avLst/>
          </a:prstGeom>
        </p:spPr>
      </p:pic>
      <p:sp>
        <p:nvSpPr>
          <p:cNvPr id="86" name="Shape 75"/>
          <p:cNvSpPr/>
          <p:nvPr/>
        </p:nvSpPr>
        <p:spPr>
          <a:xfrm>
            <a:off x="3444545" y="4450385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87" name="Shape 76"/>
          <p:cNvSpPr/>
          <p:nvPr/>
        </p:nvSpPr>
        <p:spPr>
          <a:xfrm>
            <a:off x="4711903" y="4450385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88" name="Shape 77"/>
          <p:cNvSpPr/>
          <p:nvPr/>
        </p:nvSpPr>
        <p:spPr>
          <a:xfrm>
            <a:off x="3444545" y="54498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89" name="Shape 78"/>
          <p:cNvSpPr/>
          <p:nvPr/>
        </p:nvSpPr>
        <p:spPr>
          <a:xfrm>
            <a:off x="4711903" y="54498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90" name="Shape 79"/>
          <p:cNvSpPr/>
          <p:nvPr/>
        </p:nvSpPr>
        <p:spPr>
          <a:xfrm>
            <a:off x="3541471" y="4450385"/>
            <a:ext cx="1268273" cy="1195121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91" name="Shape 80"/>
          <p:cNvSpPr/>
          <p:nvPr/>
        </p:nvSpPr>
        <p:spPr>
          <a:xfrm>
            <a:off x="3444545" y="4547311"/>
            <a:ext cx="1463040" cy="9994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92" name="Shape 81"/>
          <p:cNvSpPr/>
          <p:nvPr/>
        </p:nvSpPr>
        <p:spPr>
          <a:xfrm>
            <a:off x="3541471" y="4459529"/>
            <a:ext cx="1268273" cy="11768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hape 82"/>
          <p:cNvSpPr/>
          <p:nvPr/>
        </p:nvSpPr>
        <p:spPr>
          <a:xfrm>
            <a:off x="3453689" y="4547311"/>
            <a:ext cx="1444752" cy="9994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Shape 83"/>
          <p:cNvSpPr/>
          <p:nvPr/>
        </p:nvSpPr>
        <p:spPr>
          <a:xfrm>
            <a:off x="3444545" y="445038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95" name="Shape 84"/>
          <p:cNvSpPr/>
          <p:nvPr/>
        </p:nvSpPr>
        <p:spPr>
          <a:xfrm>
            <a:off x="4711903" y="445038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96" name="Shape 85"/>
          <p:cNvSpPr/>
          <p:nvPr/>
        </p:nvSpPr>
        <p:spPr>
          <a:xfrm>
            <a:off x="3444545" y="45354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97" name="Shape 86"/>
          <p:cNvSpPr/>
          <p:nvPr/>
        </p:nvSpPr>
        <p:spPr>
          <a:xfrm>
            <a:off x="4711903" y="45354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98" name="Shape 87"/>
          <p:cNvSpPr/>
          <p:nvPr/>
        </p:nvSpPr>
        <p:spPr>
          <a:xfrm>
            <a:off x="3541471" y="4450385"/>
            <a:ext cx="1268273" cy="280721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99" name="Shape 88"/>
          <p:cNvSpPr/>
          <p:nvPr/>
        </p:nvSpPr>
        <p:spPr>
          <a:xfrm>
            <a:off x="3444545" y="4547311"/>
            <a:ext cx="1463040" cy="85039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100" name="Shape 89"/>
          <p:cNvSpPr/>
          <p:nvPr/>
        </p:nvSpPr>
        <p:spPr>
          <a:xfrm>
            <a:off x="3444545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01" name="Shape 90"/>
          <p:cNvSpPr/>
          <p:nvPr/>
        </p:nvSpPr>
        <p:spPr>
          <a:xfrm>
            <a:off x="4797857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02" name="Shape 91"/>
          <p:cNvSpPr/>
          <p:nvPr/>
        </p:nvSpPr>
        <p:spPr>
          <a:xfrm>
            <a:off x="3444545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03" name="Shape 92"/>
          <p:cNvSpPr/>
          <p:nvPr/>
        </p:nvSpPr>
        <p:spPr>
          <a:xfrm>
            <a:off x="4797857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04" name="Shape 93"/>
          <p:cNvSpPr/>
          <p:nvPr/>
        </p:nvSpPr>
        <p:spPr>
          <a:xfrm>
            <a:off x="3499409" y="4620463"/>
            <a:ext cx="1353312" cy="109728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105" name="Shape 94"/>
          <p:cNvSpPr/>
          <p:nvPr/>
        </p:nvSpPr>
        <p:spPr>
          <a:xfrm>
            <a:off x="3444545" y="4675327"/>
            <a:ext cx="1463040" cy="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106" name="Text 95"/>
          <p:cNvSpPr/>
          <p:nvPr/>
        </p:nvSpPr>
        <p:spPr>
          <a:xfrm>
            <a:off x="3444545" y="4450385"/>
            <a:ext cx="1463040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대면 이용자의 장점 TOP1</a:t>
            </a:r>
            <a:endParaRPr lang="en-US" sz="1020" dirty="0"/>
          </a:p>
        </p:txBody>
      </p:sp>
      <p:pic>
        <p:nvPicPr>
          <p:cNvPr id="107" name="Image 8" descr="g03-bubbl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8047" y="4839919"/>
            <a:ext cx="573329" cy="475488"/>
          </a:xfrm>
          <a:prstGeom prst="rect">
            <a:avLst/>
          </a:prstGeom>
        </p:spPr>
      </p:pic>
      <p:sp>
        <p:nvSpPr>
          <p:cNvPr id="108" name="Text 96"/>
          <p:cNvSpPr/>
          <p:nvPr/>
        </p:nvSpPr>
        <p:spPr>
          <a:xfrm>
            <a:off x="4163263" y="4816145"/>
            <a:ext cx="694944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충실한 상담</a:t>
            </a:r>
            <a:endParaRPr lang="en-US" sz="101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0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및 설명</a:t>
            </a:r>
            <a:endParaRPr lang="en-US" sz="1010" dirty="0"/>
          </a:p>
        </p:txBody>
      </p:sp>
      <p:sp>
        <p:nvSpPr>
          <p:cNvPr id="109" name="Text 97"/>
          <p:cNvSpPr/>
          <p:nvPr/>
        </p:nvSpPr>
        <p:spPr>
          <a:xfrm>
            <a:off x="4059766" y="5017999"/>
            <a:ext cx="723553" cy="5863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70.8</a:t>
            </a:r>
            <a:endParaRPr lang="en-US" sz="2430" dirty="0"/>
          </a:p>
        </p:txBody>
      </p:sp>
      <p:sp>
        <p:nvSpPr>
          <p:cNvPr id="110" name="Text 98"/>
          <p:cNvSpPr/>
          <p:nvPr/>
        </p:nvSpPr>
        <p:spPr>
          <a:xfrm>
            <a:off x="4673592" y="5225034"/>
            <a:ext cx="27622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500" dirty="0"/>
          </a:p>
        </p:txBody>
      </p:sp>
      <p:sp>
        <p:nvSpPr>
          <p:cNvPr id="111" name="Shape 99"/>
          <p:cNvSpPr/>
          <p:nvPr/>
        </p:nvSpPr>
        <p:spPr>
          <a:xfrm>
            <a:off x="4980737" y="4450385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12" name="Shape 100"/>
          <p:cNvSpPr/>
          <p:nvPr/>
        </p:nvSpPr>
        <p:spPr>
          <a:xfrm>
            <a:off x="6267298" y="4450385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13" name="Shape 101"/>
          <p:cNvSpPr/>
          <p:nvPr/>
        </p:nvSpPr>
        <p:spPr>
          <a:xfrm>
            <a:off x="4980737" y="54498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14" name="Shape 102"/>
          <p:cNvSpPr/>
          <p:nvPr/>
        </p:nvSpPr>
        <p:spPr>
          <a:xfrm>
            <a:off x="6267298" y="54498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15" name="Shape 103"/>
          <p:cNvSpPr/>
          <p:nvPr/>
        </p:nvSpPr>
        <p:spPr>
          <a:xfrm>
            <a:off x="5078578" y="4450385"/>
            <a:ext cx="1286561" cy="1195121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16" name="Shape 104"/>
          <p:cNvSpPr/>
          <p:nvPr/>
        </p:nvSpPr>
        <p:spPr>
          <a:xfrm>
            <a:off x="4980737" y="4547311"/>
            <a:ext cx="1481328" cy="9994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17" name="Shape 105"/>
          <p:cNvSpPr/>
          <p:nvPr/>
        </p:nvSpPr>
        <p:spPr>
          <a:xfrm>
            <a:off x="5078578" y="4459529"/>
            <a:ext cx="1286561" cy="11768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8" name="Shape 106"/>
          <p:cNvSpPr/>
          <p:nvPr/>
        </p:nvSpPr>
        <p:spPr>
          <a:xfrm>
            <a:off x="4989881" y="4547311"/>
            <a:ext cx="1463040" cy="9994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Shape 107"/>
          <p:cNvSpPr/>
          <p:nvPr/>
        </p:nvSpPr>
        <p:spPr>
          <a:xfrm>
            <a:off x="4980737" y="445038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0" name="Shape 108"/>
          <p:cNvSpPr/>
          <p:nvPr/>
        </p:nvSpPr>
        <p:spPr>
          <a:xfrm>
            <a:off x="6267298" y="445038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1" name="Shape 109"/>
          <p:cNvSpPr/>
          <p:nvPr/>
        </p:nvSpPr>
        <p:spPr>
          <a:xfrm>
            <a:off x="4980737" y="45354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2" name="Shape 110"/>
          <p:cNvSpPr/>
          <p:nvPr/>
        </p:nvSpPr>
        <p:spPr>
          <a:xfrm>
            <a:off x="6267298" y="45354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3" name="Shape 111"/>
          <p:cNvSpPr/>
          <p:nvPr/>
        </p:nvSpPr>
        <p:spPr>
          <a:xfrm>
            <a:off x="5078578" y="4450385"/>
            <a:ext cx="1286561" cy="280721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124" name="Shape 112"/>
          <p:cNvSpPr/>
          <p:nvPr/>
        </p:nvSpPr>
        <p:spPr>
          <a:xfrm>
            <a:off x="4980737" y="4547311"/>
            <a:ext cx="1481328" cy="85039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125" name="Shape 113"/>
          <p:cNvSpPr/>
          <p:nvPr/>
        </p:nvSpPr>
        <p:spPr>
          <a:xfrm>
            <a:off x="4980737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6" name="Shape 114"/>
          <p:cNvSpPr/>
          <p:nvPr/>
        </p:nvSpPr>
        <p:spPr>
          <a:xfrm>
            <a:off x="6352337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7" name="Shape 115"/>
          <p:cNvSpPr/>
          <p:nvPr/>
        </p:nvSpPr>
        <p:spPr>
          <a:xfrm>
            <a:off x="4980737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8" name="Shape 116"/>
          <p:cNvSpPr/>
          <p:nvPr/>
        </p:nvSpPr>
        <p:spPr>
          <a:xfrm>
            <a:off x="6352337" y="4620463"/>
            <a:ext cx="109728" cy="1097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29" name="Shape 117"/>
          <p:cNvSpPr/>
          <p:nvPr/>
        </p:nvSpPr>
        <p:spPr>
          <a:xfrm>
            <a:off x="5035601" y="4620463"/>
            <a:ext cx="1371600" cy="109728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130" name="Shape 118"/>
          <p:cNvSpPr/>
          <p:nvPr/>
        </p:nvSpPr>
        <p:spPr>
          <a:xfrm>
            <a:off x="4980737" y="4675327"/>
            <a:ext cx="1481328" cy="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131" name="Text 119"/>
          <p:cNvSpPr/>
          <p:nvPr/>
        </p:nvSpPr>
        <p:spPr>
          <a:xfrm>
            <a:off x="4980737" y="4450385"/>
            <a:ext cx="1481328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비대면 이용자의 장점 TOP1</a:t>
            </a:r>
            <a:endParaRPr lang="en-US" sz="1000" dirty="0"/>
          </a:p>
        </p:txBody>
      </p:sp>
      <p:pic>
        <p:nvPicPr>
          <p:cNvPr id="132" name="Image 9" descr="g03-clock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5154" y="4839919"/>
            <a:ext cx="573329" cy="475488"/>
          </a:xfrm>
          <a:prstGeom prst="rect">
            <a:avLst/>
          </a:prstGeom>
        </p:spPr>
      </p:pic>
      <p:sp>
        <p:nvSpPr>
          <p:cNvPr id="133" name="Text 120"/>
          <p:cNvSpPr/>
          <p:nvPr/>
        </p:nvSpPr>
        <p:spPr>
          <a:xfrm>
            <a:off x="5700370" y="4816145"/>
            <a:ext cx="713232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신속한 지원</a:t>
            </a:r>
            <a:endParaRPr lang="en-US" sz="10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절차</a:t>
            </a:r>
            <a:endParaRPr lang="en-US" sz="1050" dirty="0"/>
          </a:p>
        </p:txBody>
      </p:sp>
      <p:sp>
        <p:nvSpPr>
          <p:cNvPr id="134" name="Text 121"/>
          <p:cNvSpPr/>
          <p:nvPr/>
        </p:nvSpPr>
        <p:spPr>
          <a:xfrm>
            <a:off x="5606017" y="5017999"/>
            <a:ext cx="723553" cy="5863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70.6</a:t>
            </a:r>
            <a:endParaRPr lang="en-US" sz="2430" dirty="0"/>
          </a:p>
        </p:txBody>
      </p:sp>
      <p:sp>
        <p:nvSpPr>
          <p:cNvPr id="135" name="Text 122"/>
          <p:cNvSpPr/>
          <p:nvPr/>
        </p:nvSpPr>
        <p:spPr>
          <a:xfrm>
            <a:off x="6219842" y="5225034"/>
            <a:ext cx="27622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500" dirty="0"/>
          </a:p>
        </p:txBody>
      </p:sp>
      <p:sp>
        <p:nvSpPr>
          <p:cNvPr id="136" name="Shape 123"/>
          <p:cNvSpPr/>
          <p:nvPr/>
        </p:nvSpPr>
        <p:spPr>
          <a:xfrm>
            <a:off x="6784848" y="168889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37" name="Shape 124"/>
          <p:cNvSpPr/>
          <p:nvPr/>
        </p:nvSpPr>
        <p:spPr>
          <a:xfrm>
            <a:off x="9120226" y="168889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38" name="Shape 125"/>
          <p:cNvSpPr/>
          <p:nvPr/>
        </p:nvSpPr>
        <p:spPr>
          <a:xfrm>
            <a:off x="6784848" y="19504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39" name="Shape 126"/>
          <p:cNvSpPr/>
          <p:nvPr/>
        </p:nvSpPr>
        <p:spPr>
          <a:xfrm>
            <a:off x="9120226" y="19504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40" name="Shape 127"/>
          <p:cNvSpPr/>
          <p:nvPr/>
        </p:nvSpPr>
        <p:spPr>
          <a:xfrm>
            <a:off x="6852514" y="1688897"/>
            <a:ext cx="2334463" cy="395935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41" name="Shape 128"/>
          <p:cNvSpPr/>
          <p:nvPr/>
        </p:nvSpPr>
        <p:spPr>
          <a:xfrm>
            <a:off x="6784848" y="1755648"/>
            <a:ext cx="2468880" cy="26243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42" name="Shape 129"/>
          <p:cNvSpPr/>
          <p:nvPr/>
        </p:nvSpPr>
        <p:spPr>
          <a:xfrm>
            <a:off x="6784848" y="168889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3" name="Shape 130"/>
          <p:cNvSpPr/>
          <p:nvPr/>
        </p:nvSpPr>
        <p:spPr>
          <a:xfrm>
            <a:off x="7028993" y="168889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4" name="Shape 131"/>
          <p:cNvSpPr/>
          <p:nvPr/>
        </p:nvSpPr>
        <p:spPr>
          <a:xfrm>
            <a:off x="6784848" y="19504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5" name="Shape 132"/>
          <p:cNvSpPr/>
          <p:nvPr/>
        </p:nvSpPr>
        <p:spPr>
          <a:xfrm>
            <a:off x="7028993" y="19504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6" name="Shape 133"/>
          <p:cNvSpPr/>
          <p:nvPr/>
        </p:nvSpPr>
        <p:spPr>
          <a:xfrm>
            <a:off x="6852514" y="1688897"/>
            <a:ext cx="244145" cy="395935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47" name="Shape 134"/>
          <p:cNvSpPr/>
          <p:nvPr/>
        </p:nvSpPr>
        <p:spPr>
          <a:xfrm>
            <a:off x="6784848" y="1755648"/>
            <a:ext cx="377647" cy="26243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48" name="Text 135"/>
          <p:cNvSpPr/>
          <p:nvPr/>
        </p:nvSpPr>
        <p:spPr>
          <a:xfrm>
            <a:off x="6784848" y="1688897"/>
            <a:ext cx="37764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2080" dirty="0"/>
          </a:p>
        </p:txBody>
      </p:sp>
      <p:sp>
        <p:nvSpPr>
          <p:cNvPr id="149" name="Text 136"/>
          <p:cNvSpPr/>
          <p:nvPr/>
        </p:nvSpPr>
        <p:spPr>
          <a:xfrm>
            <a:off x="7296912" y="1688897"/>
            <a:ext cx="1895551" cy="395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조달 자금 용도</a:t>
            </a:r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(복수응답)</a:t>
            </a:r>
            <a:endParaRPr lang="en-US" sz="1520" dirty="0"/>
          </a:p>
        </p:txBody>
      </p:sp>
      <p:sp>
        <p:nvSpPr>
          <p:cNvPr id="150" name="Text 137"/>
          <p:cNvSpPr/>
          <p:nvPr/>
        </p:nvSpPr>
        <p:spPr>
          <a:xfrm>
            <a:off x="6834226" y="2169871"/>
            <a:ext cx="2621585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63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운영자금과 시설투자 용도로</a:t>
            </a:r>
            <a:endParaRPr lang="en-US" sz="163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63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주로 사용되고 있습니다.</a:t>
            </a:r>
            <a:endParaRPr lang="en-US" sz="1630" dirty="0"/>
          </a:p>
        </p:txBody>
      </p:sp>
      <p:sp>
        <p:nvSpPr>
          <p:cNvPr id="151" name="Shape 138"/>
          <p:cNvSpPr/>
          <p:nvPr/>
        </p:nvSpPr>
        <p:spPr>
          <a:xfrm>
            <a:off x="6779362" y="2779776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52" name="Shape 139"/>
          <p:cNvSpPr/>
          <p:nvPr/>
        </p:nvSpPr>
        <p:spPr>
          <a:xfrm>
            <a:off x="9266530" y="2779776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53" name="Shape 140"/>
          <p:cNvSpPr/>
          <p:nvPr/>
        </p:nvSpPr>
        <p:spPr>
          <a:xfrm>
            <a:off x="6779362" y="3742639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54" name="Shape 141"/>
          <p:cNvSpPr/>
          <p:nvPr/>
        </p:nvSpPr>
        <p:spPr>
          <a:xfrm>
            <a:off x="9266530" y="3742639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55" name="Shape 142"/>
          <p:cNvSpPr/>
          <p:nvPr/>
        </p:nvSpPr>
        <p:spPr>
          <a:xfrm>
            <a:off x="6876288" y="2779776"/>
            <a:ext cx="2487168" cy="115854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56" name="Shape 143"/>
          <p:cNvSpPr/>
          <p:nvPr/>
        </p:nvSpPr>
        <p:spPr>
          <a:xfrm>
            <a:off x="6779362" y="2877617"/>
            <a:ext cx="2681935" cy="962863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57" name="Shape 144"/>
          <p:cNvSpPr/>
          <p:nvPr/>
        </p:nvSpPr>
        <p:spPr>
          <a:xfrm>
            <a:off x="6876288" y="2788920"/>
            <a:ext cx="2487168" cy="11402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8" name="Shape 145"/>
          <p:cNvSpPr/>
          <p:nvPr/>
        </p:nvSpPr>
        <p:spPr>
          <a:xfrm>
            <a:off x="6788506" y="2877617"/>
            <a:ext cx="2663647" cy="96286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9" name="Image 10" descr="g03-coin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6016" y="3060497"/>
            <a:ext cx="902513" cy="865937"/>
          </a:xfrm>
          <a:prstGeom prst="rect">
            <a:avLst/>
          </a:prstGeom>
        </p:spPr>
      </p:pic>
      <p:sp>
        <p:nvSpPr>
          <p:cNvPr id="160" name="Text 146"/>
          <p:cNvSpPr/>
          <p:nvPr/>
        </p:nvSpPr>
        <p:spPr>
          <a:xfrm>
            <a:off x="7986370" y="3047695"/>
            <a:ext cx="134142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운영자금</a:t>
            </a:r>
            <a:endParaRPr lang="en-US" sz="1730" dirty="0"/>
          </a:p>
        </p:txBody>
      </p:sp>
      <p:sp>
        <p:nvSpPr>
          <p:cNvPr id="161" name="Text 147"/>
          <p:cNvSpPr/>
          <p:nvPr/>
        </p:nvSpPr>
        <p:spPr>
          <a:xfrm>
            <a:off x="7986370" y="2979674"/>
            <a:ext cx="1044359" cy="89281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7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92.5</a:t>
            </a:r>
            <a:endParaRPr lang="en-US" sz="3700" dirty="0"/>
          </a:p>
        </p:txBody>
      </p:sp>
      <p:sp>
        <p:nvSpPr>
          <p:cNvPr id="162" name="Text 148"/>
          <p:cNvSpPr/>
          <p:nvPr/>
        </p:nvSpPr>
        <p:spPr>
          <a:xfrm>
            <a:off x="8921001" y="3340405"/>
            <a:ext cx="340604" cy="50190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2080" dirty="0"/>
          </a:p>
        </p:txBody>
      </p:sp>
      <p:sp>
        <p:nvSpPr>
          <p:cNvPr id="163" name="Shape 149"/>
          <p:cNvSpPr/>
          <p:nvPr/>
        </p:nvSpPr>
        <p:spPr>
          <a:xfrm>
            <a:off x="6779362" y="4157777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64" name="Shape 150"/>
          <p:cNvSpPr/>
          <p:nvPr/>
        </p:nvSpPr>
        <p:spPr>
          <a:xfrm>
            <a:off x="9266530" y="4157777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65" name="Shape 151"/>
          <p:cNvSpPr/>
          <p:nvPr/>
        </p:nvSpPr>
        <p:spPr>
          <a:xfrm>
            <a:off x="6779362" y="512064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66" name="Shape 152"/>
          <p:cNvSpPr/>
          <p:nvPr/>
        </p:nvSpPr>
        <p:spPr>
          <a:xfrm>
            <a:off x="9266530" y="512064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67" name="Shape 153"/>
          <p:cNvSpPr/>
          <p:nvPr/>
        </p:nvSpPr>
        <p:spPr>
          <a:xfrm>
            <a:off x="6876288" y="4157777"/>
            <a:ext cx="2487168" cy="115854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68" name="Shape 154"/>
          <p:cNvSpPr/>
          <p:nvPr/>
        </p:nvSpPr>
        <p:spPr>
          <a:xfrm>
            <a:off x="6779362" y="4254703"/>
            <a:ext cx="2681935" cy="962863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169" name="Shape 155"/>
          <p:cNvSpPr/>
          <p:nvPr/>
        </p:nvSpPr>
        <p:spPr>
          <a:xfrm>
            <a:off x="6876288" y="4166921"/>
            <a:ext cx="2487168" cy="11402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0" name="Shape 156"/>
          <p:cNvSpPr/>
          <p:nvPr/>
        </p:nvSpPr>
        <p:spPr>
          <a:xfrm>
            <a:off x="6788506" y="4254703"/>
            <a:ext cx="2663647" cy="96286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1" name="Image 11" descr="g03-bld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6016" y="4437583"/>
            <a:ext cx="902513" cy="865937"/>
          </a:xfrm>
          <a:prstGeom prst="rect">
            <a:avLst/>
          </a:prstGeom>
        </p:spPr>
      </p:pic>
      <p:sp>
        <p:nvSpPr>
          <p:cNvPr id="172" name="Text 157"/>
          <p:cNvSpPr/>
          <p:nvPr/>
        </p:nvSpPr>
        <p:spPr>
          <a:xfrm>
            <a:off x="7986370" y="4425696"/>
            <a:ext cx="134142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시설투자</a:t>
            </a:r>
            <a:endParaRPr lang="en-US" sz="1730" dirty="0"/>
          </a:p>
        </p:txBody>
      </p:sp>
      <p:sp>
        <p:nvSpPr>
          <p:cNvPr id="173" name="Text 158"/>
          <p:cNvSpPr/>
          <p:nvPr/>
        </p:nvSpPr>
        <p:spPr>
          <a:xfrm>
            <a:off x="7986370" y="4356760"/>
            <a:ext cx="1044359" cy="89281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7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50.9</a:t>
            </a:r>
            <a:endParaRPr lang="en-US" sz="3700" dirty="0"/>
          </a:p>
        </p:txBody>
      </p:sp>
      <p:sp>
        <p:nvSpPr>
          <p:cNvPr id="174" name="Text 159"/>
          <p:cNvSpPr/>
          <p:nvPr/>
        </p:nvSpPr>
        <p:spPr>
          <a:xfrm>
            <a:off x="8921001" y="4718406"/>
            <a:ext cx="340604" cy="50190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2080" dirty="0"/>
          </a:p>
        </p:txBody>
      </p:sp>
      <p:sp>
        <p:nvSpPr>
          <p:cNvPr id="175" name="Shape 160"/>
          <p:cNvSpPr/>
          <p:nvPr/>
        </p:nvSpPr>
        <p:spPr>
          <a:xfrm>
            <a:off x="170993" y="5955487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6" name="Shape 161"/>
          <p:cNvSpPr/>
          <p:nvPr/>
        </p:nvSpPr>
        <p:spPr>
          <a:xfrm>
            <a:off x="4480560" y="5955487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7" name="Shape 162"/>
          <p:cNvSpPr/>
          <p:nvPr/>
        </p:nvSpPr>
        <p:spPr>
          <a:xfrm>
            <a:off x="170993" y="9601200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8" name="Shape 163"/>
          <p:cNvSpPr/>
          <p:nvPr/>
        </p:nvSpPr>
        <p:spPr>
          <a:xfrm>
            <a:off x="4480560" y="9601200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9" name="Shape 164"/>
          <p:cNvSpPr/>
          <p:nvPr/>
        </p:nvSpPr>
        <p:spPr>
          <a:xfrm>
            <a:off x="304495" y="5955487"/>
            <a:ext cx="4309567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0" name="Shape 165"/>
          <p:cNvSpPr/>
          <p:nvPr/>
        </p:nvSpPr>
        <p:spPr>
          <a:xfrm>
            <a:off x="170993" y="6089904"/>
            <a:ext cx="4578401" cy="364571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1" name="Shape 166"/>
          <p:cNvSpPr/>
          <p:nvPr/>
        </p:nvSpPr>
        <p:spPr>
          <a:xfrm>
            <a:off x="304495" y="5964631"/>
            <a:ext cx="4309567" cy="3895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2" name="Shape 167"/>
          <p:cNvSpPr/>
          <p:nvPr/>
        </p:nvSpPr>
        <p:spPr>
          <a:xfrm>
            <a:off x="180137" y="6089904"/>
            <a:ext cx="4560113" cy="36457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3" name="Shape 168"/>
          <p:cNvSpPr/>
          <p:nvPr/>
        </p:nvSpPr>
        <p:spPr>
          <a:xfrm>
            <a:off x="4858207" y="5955487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4" name="Shape 169"/>
          <p:cNvSpPr/>
          <p:nvPr/>
        </p:nvSpPr>
        <p:spPr>
          <a:xfrm>
            <a:off x="9314993" y="5955487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5" name="Shape 170"/>
          <p:cNvSpPr/>
          <p:nvPr/>
        </p:nvSpPr>
        <p:spPr>
          <a:xfrm>
            <a:off x="4858207" y="9601200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9314993" y="9601200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7" name="Shape 172"/>
          <p:cNvSpPr/>
          <p:nvPr/>
        </p:nvSpPr>
        <p:spPr>
          <a:xfrm>
            <a:off x="4992624" y="5955487"/>
            <a:ext cx="4455871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8" name="Shape 173"/>
          <p:cNvSpPr/>
          <p:nvPr/>
        </p:nvSpPr>
        <p:spPr>
          <a:xfrm>
            <a:off x="4858207" y="6089904"/>
            <a:ext cx="4724705" cy="364571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9" name="Shape 174"/>
          <p:cNvSpPr/>
          <p:nvPr/>
        </p:nvSpPr>
        <p:spPr>
          <a:xfrm>
            <a:off x="4992624" y="5964631"/>
            <a:ext cx="4455871" cy="3895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0" name="Shape 175"/>
          <p:cNvSpPr/>
          <p:nvPr/>
        </p:nvSpPr>
        <p:spPr>
          <a:xfrm>
            <a:off x="4867351" y="6089904"/>
            <a:ext cx="4706417" cy="36457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1" name="Shape 176"/>
          <p:cNvSpPr/>
          <p:nvPr/>
        </p:nvSpPr>
        <p:spPr>
          <a:xfrm>
            <a:off x="286207" y="599206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92" name="Shape 177"/>
          <p:cNvSpPr/>
          <p:nvPr/>
        </p:nvSpPr>
        <p:spPr>
          <a:xfrm>
            <a:off x="4505249" y="599206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93" name="Shape 178"/>
          <p:cNvSpPr/>
          <p:nvPr/>
        </p:nvSpPr>
        <p:spPr>
          <a:xfrm>
            <a:off x="286207" y="624809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94" name="Shape 179"/>
          <p:cNvSpPr/>
          <p:nvPr/>
        </p:nvSpPr>
        <p:spPr>
          <a:xfrm>
            <a:off x="4505249" y="624809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95" name="Shape 180"/>
          <p:cNvSpPr/>
          <p:nvPr/>
        </p:nvSpPr>
        <p:spPr>
          <a:xfrm>
            <a:off x="353873" y="5992063"/>
            <a:ext cx="4218127" cy="390449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96" name="Shape 181"/>
          <p:cNvSpPr/>
          <p:nvPr/>
        </p:nvSpPr>
        <p:spPr>
          <a:xfrm>
            <a:off x="286207" y="6059729"/>
            <a:ext cx="4352544" cy="256032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97" name="Shape 182"/>
          <p:cNvSpPr/>
          <p:nvPr/>
        </p:nvSpPr>
        <p:spPr>
          <a:xfrm>
            <a:off x="286207" y="599206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98" name="Shape 183"/>
          <p:cNvSpPr/>
          <p:nvPr/>
        </p:nvSpPr>
        <p:spPr>
          <a:xfrm>
            <a:off x="530352" y="599206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99" name="Shape 184"/>
          <p:cNvSpPr/>
          <p:nvPr/>
        </p:nvSpPr>
        <p:spPr>
          <a:xfrm>
            <a:off x="286207" y="624809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00" name="Shape 185"/>
          <p:cNvSpPr/>
          <p:nvPr/>
        </p:nvSpPr>
        <p:spPr>
          <a:xfrm>
            <a:off x="530352" y="624809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01" name="Shape 186"/>
          <p:cNvSpPr/>
          <p:nvPr/>
        </p:nvSpPr>
        <p:spPr>
          <a:xfrm>
            <a:off x="353873" y="5992063"/>
            <a:ext cx="244145" cy="390449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02" name="Shape 187"/>
          <p:cNvSpPr/>
          <p:nvPr/>
        </p:nvSpPr>
        <p:spPr>
          <a:xfrm>
            <a:off x="286207" y="6059729"/>
            <a:ext cx="377647" cy="256032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03" name="Text 188"/>
          <p:cNvSpPr/>
          <p:nvPr/>
        </p:nvSpPr>
        <p:spPr>
          <a:xfrm>
            <a:off x="286207" y="5992063"/>
            <a:ext cx="377647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2080" dirty="0"/>
          </a:p>
        </p:txBody>
      </p:sp>
      <p:sp>
        <p:nvSpPr>
          <p:cNvPr id="204" name="Text 189"/>
          <p:cNvSpPr/>
          <p:nvPr/>
        </p:nvSpPr>
        <p:spPr>
          <a:xfrm>
            <a:off x="798271" y="5992063"/>
            <a:ext cx="3779215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보증부대출 평가 &amp; 자금 운용 상황</a:t>
            </a:r>
            <a:pPr algn="l" indent="0" marL="0">
              <a:lnSpc>
                <a:spcPct val="9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(7점 척도)</a:t>
            </a:r>
            <a:endParaRPr lang="en-US" sz="1640" dirty="0"/>
          </a:p>
        </p:txBody>
      </p:sp>
      <p:sp>
        <p:nvSpPr>
          <p:cNvPr id="205" name="Text 190"/>
          <p:cNvSpPr/>
          <p:nvPr/>
        </p:nvSpPr>
        <p:spPr>
          <a:xfrm>
            <a:off x="353873" y="6449263"/>
            <a:ext cx="4267505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8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지원절차·금리는 높게 평가된 반면, 대출한도·조건은 낮게 평가되었습니다.</a:t>
            </a:r>
            <a:endParaRPr lang="en-US" sz="108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08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 이용 후 자금 운용 상황은 개선되었습니다.</a:t>
            </a:r>
            <a:endParaRPr lang="en-US" sz="1080" dirty="0"/>
          </a:p>
        </p:txBody>
      </p:sp>
      <p:sp>
        <p:nvSpPr>
          <p:cNvPr id="206" name="Shape 191"/>
          <p:cNvSpPr/>
          <p:nvPr/>
        </p:nvSpPr>
        <p:spPr>
          <a:xfrm>
            <a:off x="274320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07" name="Shape 192"/>
          <p:cNvSpPr/>
          <p:nvPr/>
        </p:nvSpPr>
        <p:spPr>
          <a:xfrm>
            <a:off x="2383841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08" name="Shape 193"/>
          <p:cNvSpPr/>
          <p:nvPr/>
        </p:nvSpPr>
        <p:spPr>
          <a:xfrm>
            <a:off x="274320" y="9649663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09" name="Shape 194"/>
          <p:cNvSpPr/>
          <p:nvPr/>
        </p:nvSpPr>
        <p:spPr>
          <a:xfrm>
            <a:off x="2383841" y="9649663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0" name="Shape 195"/>
          <p:cNvSpPr/>
          <p:nvPr/>
        </p:nvSpPr>
        <p:spPr>
          <a:xfrm>
            <a:off x="372161" y="7040880"/>
            <a:ext cx="2109521" cy="280446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1" name="Shape 196"/>
          <p:cNvSpPr/>
          <p:nvPr/>
        </p:nvSpPr>
        <p:spPr>
          <a:xfrm>
            <a:off x="274320" y="7138721"/>
            <a:ext cx="2304288" cy="2608783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2" name="Shape 197"/>
          <p:cNvSpPr/>
          <p:nvPr/>
        </p:nvSpPr>
        <p:spPr>
          <a:xfrm>
            <a:off x="372161" y="7050024"/>
            <a:ext cx="2109521" cy="27861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3" name="Shape 198"/>
          <p:cNvSpPr/>
          <p:nvPr/>
        </p:nvSpPr>
        <p:spPr>
          <a:xfrm>
            <a:off x="283464" y="7138721"/>
            <a:ext cx="2286000" cy="2608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4" name="Shape 199"/>
          <p:cNvSpPr/>
          <p:nvPr/>
        </p:nvSpPr>
        <p:spPr>
          <a:xfrm>
            <a:off x="2639873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5" name="Shape 200"/>
          <p:cNvSpPr/>
          <p:nvPr/>
        </p:nvSpPr>
        <p:spPr>
          <a:xfrm>
            <a:off x="4517136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6" name="Shape 201"/>
          <p:cNvSpPr/>
          <p:nvPr/>
        </p:nvSpPr>
        <p:spPr>
          <a:xfrm>
            <a:off x="2639873" y="9649663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7" name="Shape 202"/>
          <p:cNvSpPr/>
          <p:nvPr/>
        </p:nvSpPr>
        <p:spPr>
          <a:xfrm>
            <a:off x="4517136" y="9649663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8" name="Shape 203"/>
          <p:cNvSpPr/>
          <p:nvPr/>
        </p:nvSpPr>
        <p:spPr>
          <a:xfrm>
            <a:off x="2736799" y="7040880"/>
            <a:ext cx="1877263" cy="280446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19" name="Shape 204"/>
          <p:cNvSpPr/>
          <p:nvPr/>
        </p:nvSpPr>
        <p:spPr>
          <a:xfrm>
            <a:off x="2639873" y="7138721"/>
            <a:ext cx="2072945" cy="2608783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20" name="Shape 205"/>
          <p:cNvSpPr/>
          <p:nvPr/>
        </p:nvSpPr>
        <p:spPr>
          <a:xfrm>
            <a:off x="2736799" y="7050024"/>
            <a:ext cx="1877263" cy="27861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1" name="Shape 206"/>
          <p:cNvSpPr/>
          <p:nvPr/>
        </p:nvSpPr>
        <p:spPr>
          <a:xfrm>
            <a:off x="2649017" y="7138721"/>
            <a:ext cx="2054657" cy="2608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2" name="Text 207"/>
          <p:cNvSpPr/>
          <p:nvPr/>
        </p:nvSpPr>
        <p:spPr>
          <a:xfrm>
            <a:off x="274320" y="7107631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보증부대출의 장단점 평가</a:t>
            </a:r>
            <a:endParaRPr lang="en-US" sz="1570" dirty="0"/>
          </a:p>
        </p:txBody>
      </p:sp>
      <p:sp>
        <p:nvSpPr>
          <p:cNvPr id="223" name="Text 208"/>
          <p:cNvSpPr/>
          <p:nvPr/>
        </p:nvSpPr>
        <p:spPr>
          <a:xfrm>
            <a:off x="1542593" y="7388352"/>
            <a:ext cx="975665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7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(7점 척도)</a:t>
            </a:r>
            <a:endParaRPr lang="en-US" sz="1170" dirty="0"/>
          </a:p>
        </p:txBody>
      </p:sp>
      <p:sp>
        <p:nvSpPr>
          <p:cNvPr id="224" name="Text 209"/>
          <p:cNvSpPr/>
          <p:nvPr/>
        </p:nvSpPr>
        <p:spPr>
          <a:xfrm>
            <a:off x="304495" y="7601407"/>
            <a:ext cx="962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지원절차</a:t>
            </a:r>
            <a:endParaRPr lang="en-US" sz="1120" dirty="0"/>
          </a:p>
        </p:txBody>
      </p:sp>
      <p:sp>
        <p:nvSpPr>
          <p:cNvPr id="225" name="Shape 210"/>
          <p:cNvSpPr/>
          <p:nvPr/>
        </p:nvSpPr>
        <p:spPr>
          <a:xfrm>
            <a:off x="335585" y="7879385"/>
            <a:ext cx="2133295" cy="0"/>
          </a:xfrm>
          <a:prstGeom prst="line">
            <a:avLst/>
          </a:prstGeom>
          <a:noFill/>
          <a:ln w="9525">
            <a:solidFill>
              <a:srgbClr val="F0F5FA"/>
            </a:solidFill>
            <a:prstDash val="solid"/>
          </a:ln>
        </p:spPr>
      </p:sp>
      <p:sp>
        <p:nvSpPr>
          <p:cNvPr id="226" name="Text 211"/>
          <p:cNvSpPr/>
          <p:nvPr/>
        </p:nvSpPr>
        <p:spPr>
          <a:xfrm>
            <a:off x="304495" y="7892186"/>
            <a:ext cx="962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금리 수준</a:t>
            </a:r>
            <a:endParaRPr lang="en-US" sz="1120" dirty="0"/>
          </a:p>
        </p:txBody>
      </p:sp>
      <p:sp>
        <p:nvSpPr>
          <p:cNvPr id="227" name="Shape 212"/>
          <p:cNvSpPr/>
          <p:nvPr/>
        </p:nvSpPr>
        <p:spPr>
          <a:xfrm>
            <a:off x="335585" y="8170164"/>
            <a:ext cx="2133295" cy="0"/>
          </a:xfrm>
          <a:prstGeom prst="line">
            <a:avLst/>
          </a:prstGeom>
          <a:noFill/>
          <a:ln w="9525">
            <a:solidFill>
              <a:srgbClr val="F0F5FA"/>
            </a:solidFill>
            <a:prstDash val="solid"/>
          </a:ln>
        </p:spPr>
      </p:sp>
      <p:sp>
        <p:nvSpPr>
          <p:cNvPr id="228" name="Text 213"/>
          <p:cNvSpPr/>
          <p:nvPr/>
        </p:nvSpPr>
        <p:spPr>
          <a:xfrm>
            <a:off x="304495" y="8182051"/>
            <a:ext cx="962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금융기관 협력도</a:t>
            </a:r>
            <a:endParaRPr lang="en-US" sz="1120" dirty="0"/>
          </a:p>
        </p:txBody>
      </p:sp>
      <p:sp>
        <p:nvSpPr>
          <p:cNvPr id="229" name="Shape 214"/>
          <p:cNvSpPr/>
          <p:nvPr/>
        </p:nvSpPr>
        <p:spPr>
          <a:xfrm>
            <a:off x="335585" y="8460029"/>
            <a:ext cx="2133295" cy="0"/>
          </a:xfrm>
          <a:prstGeom prst="line">
            <a:avLst/>
          </a:prstGeom>
          <a:noFill/>
          <a:ln w="9525">
            <a:solidFill>
              <a:srgbClr val="F0F5FA"/>
            </a:solidFill>
            <a:prstDash val="solid"/>
          </a:ln>
        </p:spPr>
      </p:sp>
      <p:sp>
        <p:nvSpPr>
          <p:cNvPr id="230" name="Text 215"/>
          <p:cNvSpPr/>
          <p:nvPr/>
        </p:nvSpPr>
        <p:spPr>
          <a:xfrm>
            <a:off x="304495" y="8471916"/>
            <a:ext cx="962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상환조건(기간·상환방식)</a:t>
            </a:r>
            <a:endParaRPr lang="en-US" sz="1120" dirty="0"/>
          </a:p>
        </p:txBody>
      </p:sp>
      <p:sp>
        <p:nvSpPr>
          <p:cNvPr id="231" name="Shape 216"/>
          <p:cNvSpPr/>
          <p:nvPr/>
        </p:nvSpPr>
        <p:spPr>
          <a:xfrm>
            <a:off x="335585" y="8749894"/>
            <a:ext cx="2133295" cy="0"/>
          </a:xfrm>
          <a:prstGeom prst="line">
            <a:avLst/>
          </a:prstGeom>
          <a:noFill/>
          <a:ln w="9525">
            <a:solidFill>
              <a:srgbClr val="F0F5FA"/>
            </a:solidFill>
            <a:prstDash val="solid"/>
          </a:ln>
        </p:spPr>
      </p:sp>
      <p:sp>
        <p:nvSpPr>
          <p:cNvPr id="232" name="Text 217"/>
          <p:cNvSpPr/>
          <p:nvPr/>
        </p:nvSpPr>
        <p:spPr>
          <a:xfrm>
            <a:off x="304495" y="8762695"/>
            <a:ext cx="962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대출 조건·문턱</a:t>
            </a:r>
            <a:endParaRPr lang="en-US" sz="1120" dirty="0"/>
          </a:p>
        </p:txBody>
      </p:sp>
      <p:sp>
        <p:nvSpPr>
          <p:cNvPr id="233" name="Shape 218"/>
          <p:cNvSpPr/>
          <p:nvPr/>
        </p:nvSpPr>
        <p:spPr>
          <a:xfrm>
            <a:off x="335585" y="9040673"/>
            <a:ext cx="2133295" cy="0"/>
          </a:xfrm>
          <a:prstGeom prst="line">
            <a:avLst/>
          </a:prstGeom>
          <a:noFill/>
          <a:ln w="9525">
            <a:solidFill>
              <a:srgbClr val="F0F5FA"/>
            </a:solidFill>
            <a:prstDash val="solid"/>
          </a:ln>
        </p:spPr>
      </p:sp>
      <p:sp>
        <p:nvSpPr>
          <p:cNvPr id="234" name="Text 219"/>
          <p:cNvSpPr/>
          <p:nvPr/>
        </p:nvSpPr>
        <p:spPr>
          <a:xfrm>
            <a:off x="304495" y="9052560"/>
            <a:ext cx="962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대출한도</a:t>
            </a:r>
            <a:endParaRPr lang="en-US" sz="1120" dirty="0"/>
          </a:p>
        </p:txBody>
      </p:sp>
      <p:graphicFrame>
        <p:nvGraphicFramePr>
          <p:cNvPr id="235" name="Chart 1" descr=""/>
          <p:cNvGraphicFramePr/>
          <p:nvPr/>
        </p:nvGraphicFramePr>
        <p:xfrm>
          <a:off x="1316736" y="7581290"/>
          <a:ext cx="1292047" cy="174101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236" name="Text 220"/>
          <p:cNvSpPr/>
          <p:nvPr/>
        </p:nvSpPr>
        <p:spPr>
          <a:xfrm>
            <a:off x="2639873" y="7107631"/>
            <a:ext cx="20729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 운용 상황 변화</a:t>
            </a:r>
            <a:endParaRPr lang="en-US" sz="1570" dirty="0"/>
          </a:p>
        </p:txBody>
      </p:sp>
      <p:sp>
        <p:nvSpPr>
          <p:cNvPr id="237" name="Text 221"/>
          <p:cNvSpPr/>
          <p:nvPr/>
        </p:nvSpPr>
        <p:spPr>
          <a:xfrm>
            <a:off x="3657600" y="7388352"/>
            <a:ext cx="975665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7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(7점 척도)</a:t>
            </a:r>
            <a:endParaRPr lang="en-US" sz="1170" dirty="0"/>
          </a:p>
        </p:txBody>
      </p:sp>
      <p:graphicFrame>
        <p:nvGraphicFramePr>
          <p:cNvPr id="238" name="Chart 2" descr=""/>
          <p:cNvGraphicFramePr/>
          <p:nvPr/>
        </p:nvGraphicFramePr>
        <p:xfrm>
          <a:off x="2694737" y="7669073"/>
          <a:ext cx="1950415" cy="103601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5"/>
          </a:graphicData>
        </a:graphic>
      </p:graphicFrame>
      <p:sp>
        <p:nvSpPr>
          <p:cNvPr id="239" name="Text 222"/>
          <p:cNvSpPr/>
          <p:nvPr/>
        </p:nvSpPr>
        <p:spPr>
          <a:xfrm>
            <a:off x="2892424" y="7771003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3.99</a:t>
            </a:r>
            <a:endParaRPr lang="en-US" sz="1730" dirty="0"/>
          </a:p>
        </p:txBody>
      </p:sp>
      <p:sp>
        <p:nvSpPr>
          <p:cNvPr id="240" name="Text 223"/>
          <p:cNvSpPr/>
          <p:nvPr/>
        </p:nvSpPr>
        <p:spPr>
          <a:xfrm>
            <a:off x="3329428" y="7896073"/>
            <a:ext cx="239298" cy="28232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1170" dirty="0"/>
          </a:p>
        </p:txBody>
      </p:sp>
      <p:sp>
        <p:nvSpPr>
          <p:cNvPr id="241" name="Text 224"/>
          <p:cNvSpPr/>
          <p:nvPr/>
        </p:nvSpPr>
        <p:spPr>
          <a:xfrm>
            <a:off x="3856202" y="7466508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4.59</a:t>
            </a:r>
            <a:endParaRPr lang="en-US" sz="1730" dirty="0"/>
          </a:p>
        </p:txBody>
      </p:sp>
      <p:sp>
        <p:nvSpPr>
          <p:cNvPr id="242" name="Text 225"/>
          <p:cNvSpPr/>
          <p:nvPr/>
        </p:nvSpPr>
        <p:spPr>
          <a:xfrm>
            <a:off x="4293205" y="7590663"/>
            <a:ext cx="239298" cy="28232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1170" dirty="0"/>
          </a:p>
        </p:txBody>
      </p:sp>
      <p:pic>
        <p:nvPicPr>
          <p:cNvPr id="243" name="Image 12" descr="g03-uparrow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99409" y="7851953"/>
            <a:ext cx="365760" cy="353873"/>
          </a:xfrm>
          <a:prstGeom prst="rect">
            <a:avLst/>
          </a:prstGeom>
        </p:spPr>
      </p:pic>
      <p:sp>
        <p:nvSpPr>
          <p:cNvPr id="244" name="Shape 226"/>
          <p:cNvSpPr/>
          <p:nvPr/>
        </p:nvSpPr>
        <p:spPr>
          <a:xfrm>
            <a:off x="2755087" y="8662111"/>
            <a:ext cx="1828800" cy="0"/>
          </a:xfrm>
          <a:prstGeom prst="line">
            <a:avLst/>
          </a:prstGeom>
          <a:noFill/>
          <a:ln w="15875">
            <a:solidFill>
              <a:srgbClr val="C9D4E0"/>
            </a:solidFill>
            <a:prstDash val="solid"/>
          </a:ln>
        </p:spPr>
      </p:sp>
      <p:sp>
        <p:nvSpPr>
          <p:cNvPr id="245" name="Text 227"/>
          <p:cNvSpPr/>
          <p:nvPr/>
        </p:nvSpPr>
        <p:spPr>
          <a:xfrm>
            <a:off x="2755087" y="8716975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 당시</a:t>
            </a:r>
            <a:endParaRPr lang="en-US" sz="137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(신청 시)</a:t>
            </a:r>
            <a:endParaRPr lang="en-US" sz="1370" dirty="0"/>
          </a:p>
        </p:txBody>
      </p:sp>
      <p:sp>
        <p:nvSpPr>
          <p:cNvPr id="246" name="Text 228"/>
          <p:cNvSpPr/>
          <p:nvPr/>
        </p:nvSpPr>
        <p:spPr>
          <a:xfrm>
            <a:off x="3718865" y="8716975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 이용 후</a:t>
            </a:r>
            <a:endParaRPr lang="en-US" sz="129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(현재)</a:t>
            </a:r>
            <a:endParaRPr lang="en-US" sz="1290" dirty="0"/>
          </a:p>
        </p:txBody>
      </p:sp>
      <p:sp>
        <p:nvSpPr>
          <p:cNvPr id="247" name="Shape 229"/>
          <p:cNvSpPr/>
          <p:nvPr/>
        </p:nvSpPr>
        <p:spPr>
          <a:xfrm>
            <a:off x="2852928" y="9205265"/>
            <a:ext cx="170993" cy="170993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248" name="Shape 230"/>
          <p:cNvSpPr/>
          <p:nvPr/>
        </p:nvSpPr>
        <p:spPr>
          <a:xfrm>
            <a:off x="4279392" y="9205265"/>
            <a:ext cx="170993" cy="170993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249" name="Shape 231"/>
          <p:cNvSpPr/>
          <p:nvPr/>
        </p:nvSpPr>
        <p:spPr>
          <a:xfrm>
            <a:off x="2852928" y="9411919"/>
            <a:ext cx="170993" cy="170993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250" name="Shape 232"/>
          <p:cNvSpPr/>
          <p:nvPr/>
        </p:nvSpPr>
        <p:spPr>
          <a:xfrm>
            <a:off x="4279392" y="9411919"/>
            <a:ext cx="170993" cy="170993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251" name="Shape 233"/>
          <p:cNvSpPr/>
          <p:nvPr/>
        </p:nvSpPr>
        <p:spPr>
          <a:xfrm>
            <a:off x="2937967" y="9205265"/>
            <a:ext cx="1426464" cy="377647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252" name="Shape 234"/>
          <p:cNvSpPr/>
          <p:nvPr/>
        </p:nvSpPr>
        <p:spPr>
          <a:xfrm>
            <a:off x="2852928" y="9290304"/>
            <a:ext cx="1597457" cy="207569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253" name="Text 235"/>
          <p:cNvSpPr/>
          <p:nvPr/>
        </p:nvSpPr>
        <p:spPr>
          <a:xfrm>
            <a:off x="2852928" y="9205265"/>
            <a:ext cx="1597457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+0.54점 개선 ↑</a:t>
            </a:r>
            <a:endParaRPr lang="en-US" sz="1670" dirty="0"/>
          </a:p>
        </p:txBody>
      </p:sp>
      <p:sp>
        <p:nvSpPr>
          <p:cNvPr id="254" name="Shape 236"/>
          <p:cNvSpPr/>
          <p:nvPr/>
        </p:nvSpPr>
        <p:spPr>
          <a:xfrm>
            <a:off x="4974336" y="598657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55" name="Shape 237"/>
          <p:cNvSpPr/>
          <p:nvPr/>
        </p:nvSpPr>
        <p:spPr>
          <a:xfrm>
            <a:off x="8284464" y="5986577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56" name="Shape 238"/>
          <p:cNvSpPr/>
          <p:nvPr/>
        </p:nvSpPr>
        <p:spPr>
          <a:xfrm>
            <a:off x="4974336" y="624809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57" name="Shape 239"/>
          <p:cNvSpPr/>
          <p:nvPr/>
        </p:nvSpPr>
        <p:spPr>
          <a:xfrm>
            <a:off x="8284464" y="624809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58" name="Shape 240"/>
          <p:cNvSpPr/>
          <p:nvPr/>
        </p:nvSpPr>
        <p:spPr>
          <a:xfrm>
            <a:off x="5042002" y="5986577"/>
            <a:ext cx="3310128" cy="395935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59" name="Shape 241"/>
          <p:cNvSpPr/>
          <p:nvPr/>
        </p:nvSpPr>
        <p:spPr>
          <a:xfrm>
            <a:off x="4974336" y="6053328"/>
            <a:ext cx="3444545" cy="26243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60" name="Shape 242"/>
          <p:cNvSpPr/>
          <p:nvPr/>
        </p:nvSpPr>
        <p:spPr>
          <a:xfrm>
            <a:off x="4974336" y="598657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61" name="Shape 243"/>
          <p:cNvSpPr/>
          <p:nvPr/>
        </p:nvSpPr>
        <p:spPr>
          <a:xfrm>
            <a:off x="5218481" y="5986577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62" name="Shape 244"/>
          <p:cNvSpPr/>
          <p:nvPr/>
        </p:nvSpPr>
        <p:spPr>
          <a:xfrm>
            <a:off x="4974336" y="624809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63" name="Shape 245"/>
          <p:cNvSpPr/>
          <p:nvPr/>
        </p:nvSpPr>
        <p:spPr>
          <a:xfrm>
            <a:off x="5218481" y="624809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64" name="Shape 246"/>
          <p:cNvSpPr/>
          <p:nvPr/>
        </p:nvSpPr>
        <p:spPr>
          <a:xfrm>
            <a:off x="5042002" y="5986577"/>
            <a:ext cx="244145" cy="395935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65" name="Shape 247"/>
          <p:cNvSpPr/>
          <p:nvPr/>
        </p:nvSpPr>
        <p:spPr>
          <a:xfrm>
            <a:off x="4974336" y="6053328"/>
            <a:ext cx="377647" cy="26243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66" name="Text 248"/>
          <p:cNvSpPr/>
          <p:nvPr/>
        </p:nvSpPr>
        <p:spPr>
          <a:xfrm>
            <a:off x="4974336" y="5986577"/>
            <a:ext cx="37764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2080" dirty="0"/>
          </a:p>
        </p:txBody>
      </p:sp>
      <p:sp>
        <p:nvSpPr>
          <p:cNvPr id="267" name="Text 249"/>
          <p:cNvSpPr/>
          <p:nvPr/>
        </p:nvSpPr>
        <p:spPr>
          <a:xfrm>
            <a:off x="5486400" y="5986577"/>
            <a:ext cx="2871216" cy="395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경영 성과 변화</a:t>
            </a:r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(보증신청 당시 대비 현재)</a:t>
            </a:r>
            <a:endParaRPr lang="en-US" sz="1560" dirty="0"/>
          </a:p>
        </p:txBody>
      </p:sp>
      <p:sp>
        <p:nvSpPr>
          <p:cNvPr id="268" name="Text 250"/>
          <p:cNvSpPr/>
          <p:nvPr/>
        </p:nvSpPr>
        <p:spPr>
          <a:xfrm>
            <a:off x="5042002" y="6449263"/>
            <a:ext cx="3901745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5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매출은 대체로 안정적이나, 수익성과 금융비용은</a:t>
            </a:r>
            <a:endParaRPr lang="en-US" sz="15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5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변동 쪽이 더 크게 나타났습니다.</a:t>
            </a:r>
            <a:endParaRPr lang="en-US" sz="1520" dirty="0"/>
          </a:p>
        </p:txBody>
      </p:sp>
      <p:sp>
        <p:nvSpPr>
          <p:cNvPr id="269" name="Shape 251"/>
          <p:cNvSpPr/>
          <p:nvPr/>
        </p:nvSpPr>
        <p:spPr>
          <a:xfrm>
            <a:off x="4937760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70" name="Shape 252"/>
          <p:cNvSpPr/>
          <p:nvPr/>
        </p:nvSpPr>
        <p:spPr>
          <a:xfrm>
            <a:off x="6084418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71" name="Shape 253"/>
          <p:cNvSpPr/>
          <p:nvPr/>
        </p:nvSpPr>
        <p:spPr>
          <a:xfrm>
            <a:off x="4937760" y="952804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72" name="Shape 254"/>
          <p:cNvSpPr/>
          <p:nvPr/>
        </p:nvSpPr>
        <p:spPr>
          <a:xfrm>
            <a:off x="6084418" y="952804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73" name="Shape 255"/>
          <p:cNvSpPr/>
          <p:nvPr/>
        </p:nvSpPr>
        <p:spPr>
          <a:xfrm>
            <a:off x="5035601" y="7040880"/>
            <a:ext cx="1145743" cy="268193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74" name="Shape 256"/>
          <p:cNvSpPr/>
          <p:nvPr/>
        </p:nvSpPr>
        <p:spPr>
          <a:xfrm>
            <a:off x="4937760" y="7138721"/>
            <a:ext cx="1341425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75" name="Shape 257"/>
          <p:cNvSpPr/>
          <p:nvPr/>
        </p:nvSpPr>
        <p:spPr>
          <a:xfrm>
            <a:off x="5035601" y="7050024"/>
            <a:ext cx="1145743" cy="26636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6" name="Shape 258"/>
          <p:cNvSpPr/>
          <p:nvPr/>
        </p:nvSpPr>
        <p:spPr>
          <a:xfrm>
            <a:off x="4946904" y="7138721"/>
            <a:ext cx="1323137" cy="2487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7" name="Text 259"/>
          <p:cNvSpPr/>
          <p:nvPr/>
        </p:nvSpPr>
        <p:spPr>
          <a:xfrm>
            <a:off x="4937760" y="7120433"/>
            <a:ext cx="134142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매출액 변화</a:t>
            </a:r>
            <a:endParaRPr lang="en-US" sz="1470" dirty="0"/>
          </a:p>
        </p:txBody>
      </p:sp>
      <p:graphicFrame>
        <p:nvGraphicFramePr>
          <p:cNvPr id="278" name="Chart 3" descr=""/>
          <p:cNvGraphicFramePr/>
          <p:nvPr/>
        </p:nvGraphicFramePr>
        <p:xfrm>
          <a:off x="5042002" y="7534656"/>
          <a:ext cx="1133856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7"/>
          </a:graphicData>
        </a:graphic>
      </p:graphicFrame>
      <p:pic>
        <p:nvPicPr>
          <p:cNvPr id="279" name="Image 13" descr="g03-dn1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86400" y="7979969"/>
            <a:ext cx="244145" cy="244145"/>
          </a:xfrm>
          <a:prstGeom prst="rect">
            <a:avLst/>
          </a:prstGeom>
        </p:spPr>
      </p:pic>
      <p:sp>
        <p:nvSpPr>
          <p:cNvPr id="280" name="Text 260"/>
          <p:cNvSpPr/>
          <p:nvPr/>
        </p:nvSpPr>
        <p:spPr>
          <a:xfrm>
            <a:off x="5023714" y="8729777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증가</a:t>
            </a:r>
            <a:endParaRPr lang="en-US" sz="1220" dirty="0"/>
          </a:p>
        </p:txBody>
      </p:sp>
      <p:sp>
        <p:nvSpPr>
          <p:cNvPr id="281" name="Text 261"/>
          <p:cNvSpPr/>
          <p:nvPr/>
        </p:nvSpPr>
        <p:spPr>
          <a:xfrm>
            <a:off x="5777748" y="8551012"/>
            <a:ext cx="403113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6.2</a:t>
            </a:r>
            <a:endParaRPr lang="en-US" sz="1620" dirty="0"/>
          </a:p>
        </p:txBody>
      </p:sp>
      <p:sp>
        <p:nvSpPr>
          <p:cNvPr id="282" name="Text 262"/>
          <p:cNvSpPr/>
          <p:nvPr/>
        </p:nvSpPr>
        <p:spPr>
          <a:xfrm>
            <a:off x="6071133" y="866734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83" name="Shape 263"/>
          <p:cNvSpPr/>
          <p:nvPr/>
        </p:nvSpPr>
        <p:spPr>
          <a:xfrm>
            <a:off x="5023714" y="8997696"/>
            <a:ext cx="1170432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284" name="Text 264"/>
          <p:cNvSpPr/>
          <p:nvPr/>
        </p:nvSpPr>
        <p:spPr>
          <a:xfrm>
            <a:off x="5023714" y="9034272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변화없음</a:t>
            </a:r>
            <a:endParaRPr lang="en-US" sz="1060" dirty="0"/>
          </a:p>
        </p:txBody>
      </p:sp>
      <p:sp>
        <p:nvSpPr>
          <p:cNvPr id="285" name="Text 265"/>
          <p:cNvSpPr/>
          <p:nvPr/>
        </p:nvSpPr>
        <p:spPr>
          <a:xfrm>
            <a:off x="5661917" y="8856421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78.9</a:t>
            </a:r>
            <a:endParaRPr lang="en-US" sz="1620" dirty="0"/>
          </a:p>
        </p:txBody>
      </p:sp>
      <p:sp>
        <p:nvSpPr>
          <p:cNvPr id="286" name="Text 266"/>
          <p:cNvSpPr/>
          <p:nvPr/>
        </p:nvSpPr>
        <p:spPr>
          <a:xfrm>
            <a:off x="6071133" y="8971839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87" name="Shape 267"/>
          <p:cNvSpPr/>
          <p:nvPr/>
        </p:nvSpPr>
        <p:spPr>
          <a:xfrm>
            <a:off x="5023714" y="9302191"/>
            <a:ext cx="1170432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288" name="Text 268"/>
          <p:cNvSpPr/>
          <p:nvPr/>
        </p:nvSpPr>
        <p:spPr>
          <a:xfrm>
            <a:off x="5023714" y="9338767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감소</a:t>
            </a:r>
            <a:endParaRPr lang="en-US" sz="1220" dirty="0"/>
          </a:p>
        </p:txBody>
      </p:sp>
      <p:sp>
        <p:nvSpPr>
          <p:cNvPr id="289" name="Text 269"/>
          <p:cNvSpPr/>
          <p:nvPr/>
        </p:nvSpPr>
        <p:spPr>
          <a:xfrm>
            <a:off x="5661917" y="9160916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14.9</a:t>
            </a:r>
            <a:endParaRPr lang="en-US" sz="1620" dirty="0"/>
          </a:p>
        </p:txBody>
      </p:sp>
      <p:sp>
        <p:nvSpPr>
          <p:cNvPr id="290" name="Text 270"/>
          <p:cNvSpPr/>
          <p:nvPr/>
        </p:nvSpPr>
        <p:spPr>
          <a:xfrm>
            <a:off x="6071133" y="927633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91" name="Shape 271"/>
          <p:cNvSpPr/>
          <p:nvPr/>
        </p:nvSpPr>
        <p:spPr>
          <a:xfrm>
            <a:off x="6340450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92" name="Shape 272"/>
          <p:cNvSpPr/>
          <p:nvPr/>
        </p:nvSpPr>
        <p:spPr>
          <a:xfrm>
            <a:off x="7760513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93" name="Shape 273"/>
          <p:cNvSpPr/>
          <p:nvPr/>
        </p:nvSpPr>
        <p:spPr>
          <a:xfrm>
            <a:off x="6340450" y="952804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94" name="Shape 274"/>
          <p:cNvSpPr/>
          <p:nvPr/>
        </p:nvSpPr>
        <p:spPr>
          <a:xfrm>
            <a:off x="7760513" y="952804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95" name="Shape 275"/>
          <p:cNvSpPr/>
          <p:nvPr/>
        </p:nvSpPr>
        <p:spPr>
          <a:xfrm>
            <a:off x="6437376" y="7040880"/>
            <a:ext cx="1420063" cy="268193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96" name="Shape 276"/>
          <p:cNvSpPr/>
          <p:nvPr/>
        </p:nvSpPr>
        <p:spPr>
          <a:xfrm>
            <a:off x="6340450" y="7138721"/>
            <a:ext cx="1615745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297" name="Shape 277"/>
          <p:cNvSpPr/>
          <p:nvPr/>
        </p:nvSpPr>
        <p:spPr>
          <a:xfrm>
            <a:off x="6437376" y="7050024"/>
            <a:ext cx="1420063" cy="26636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8" name="Shape 278"/>
          <p:cNvSpPr/>
          <p:nvPr/>
        </p:nvSpPr>
        <p:spPr>
          <a:xfrm>
            <a:off x="6349594" y="7138721"/>
            <a:ext cx="1597457" cy="2487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9" name="Text 279"/>
          <p:cNvSpPr/>
          <p:nvPr/>
        </p:nvSpPr>
        <p:spPr>
          <a:xfrm>
            <a:off x="6340450" y="7120433"/>
            <a:ext cx="161574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수익성(영업이익) 변화</a:t>
            </a:r>
            <a:endParaRPr lang="en-US" sz="1230" dirty="0"/>
          </a:p>
        </p:txBody>
      </p:sp>
      <p:graphicFrame>
        <p:nvGraphicFramePr>
          <p:cNvPr id="300" name="Chart 4" descr=""/>
          <p:cNvGraphicFramePr/>
          <p:nvPr/>
        </p:nvGraphicFramePr>
        <p:xfrm>
          <a:off x="6580937" y="7534656"/>
          <a:ext cx="1133856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9"/>
          </a:graphicData>
        </a:graphic>
      </p:graphicFrame>
      <p:pic>
        <p:nvPicPr>
          <p:cNvPr id="301" name="Image 14" descr="g03-dn2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26250" y="7979969"/>
            <a:ext cx="244145" cy="244145"/>
          </a:xfrm>
          <a:prstGeom prst="rect">
            <a:avLst/>
          </a:prstGeom>
        </p:spPr>
      </p:pic>
      <p:sp>
        <p:nvSpPr>
          <p:cNvPr id="302" name="Text 280"/>
          <p:cNvSpPr/>
          <p:nvPr/>
        </p:nvSpPr>
        <p:spPr>
          <a:xfrm>
            <a:off x="6425489" y="8729777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증가</a:t>
            </a:r>
            <a:endParaRPr lang="en-US" sz="1220" dirty="0"/>
          </a:p>
        </p:txBody>
      </p:sp>
      <p:sp>
        <p:nvSpPr>
          <p:cNvPr id="303" name="Text 281"/>
          <p:cNvSpPr/>
          <p:nvPr/>
        </p:nvSpPr>
        <p:spPr>
          <a:xfrm>
            <a:off x="7338926" y="8551012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27.3</a:t>
            </a:r>
            <a:endParaRPr lang="en-US" sz="1620" dirty="0"/>
          </a:p>
        </p:txBody>
      </p:sp>
      <p:sp>
        <p:nvSpPr>
          <p:cNvPr id="304" name="Text 282"/>
          <p:cNvSpPr/>
          <p:nvPr/>
        </p:nvSpPr>
        <p:spPr>
          <a:xfrm>
            <a:off x="7748143" y="866734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05" name="Shape 283"/>
          <p:cNvSpPr/>
          <p:nvPr/>
        </p:nvSpPr>
        <p:spPr>
          <a:xfrm>
            <a:off x="6425489" y="8997696"/>
            <a:ext cx="1444752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306" name="Text 284"/>
          <p:cNvSpPr/>
          <p:nvPr/>
        </p:nvSpPr>
        <p:spPr>
          <a:xfrm>
            <a:off x="6425489" y="9034272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변화없음</a:t>
            </a:r>
            <a:endParaRPr lang="en-US" sz="1060" dirty="0"/>
          </a:p>
        </p:txBody>
      </p:sp>
      <p:sp>
        <p:nvSpPr>
          <p:cNvPr id="307" name="Text 285"/>
          <p:cNvSpPr/>
          <p:nvPr/>
        </p:nvSpPr>
        <p:spPr>
          <a:xfrm>
            <a:off x="7338926" y="8856421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44.1</a:t>
            </a:r>
            <a:endParaRPr lang="en-US" sz="1620" dirty="0"/>
          </a:p>
        </p:txBody>
      </p:sp>
      <p:sp>
        <p:nvSpPr>
          <p:cNvPr id="308" name="Text 286"/>
          <p:cNvSpPr/>
          <p:nvPr/>
        </p:nvSpPr>
        <p:spPr>
          <a:xfrm>
            <a:off x="7748143" y="8971839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09" name="Shape 287"/>
          <p:cNvSpPr/>
          <p:nvPr/>
        </p:nvSpPr>
        <p:spPr>
          <a:xfrm>
            <a:off x="6425489" y="9302191"/>
            <a:ext cx="1444752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310" name="Text 288"/>
          <p:cNvSpPr/>
          <p:nvPr/>
        </p:nvSpPr>
        <p:spPr>
          <a:xfrm>
            <a:off x="6425489" y="9338767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감소</a:t>
            </a:r>
            <a:endParaRPr lang="en-US" sz="1220" dirty="0"/>
          </a:p>
        </p:txBody>
      </p:sp>
      <p:sp>
        <p:nvSpPr>
          <p:cNvPr id="311" name="Text 289"/>
          <p:cNvSpPr/>
          <p:nvPr/>
        </p:nvSpPr>
        <p:spPr>
          <a:xfrm>
            <a:off x="7338926" y="9160916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28.6</a:t>
            </a:r>
            <a:endParaRPr lang="en-US" sz="1620" dirty="0"/>
          </a:p>
        </p:txBody>
      </p:sp>
      <p:sp>
        <p:nvSpPr>
          <p:cNvPr id="312" name="Text 290"/>
          <p:cNvSpPr/>
          <p:nvPr/>
        </p:nvSpPr>
        <p:spPr>
          <a:xfrm>
            <a:off x="7748143" y="927633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13" name="Shape 291"/>
          <p:cNvSpPr/>
          <p:nvPr/>
        </p:nvSpPr>
        <p:spPr>
          <a:xfrm>
            <a:off x="8016545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14" name="Shape 292"/>
          <p:cNvSpPr/>
          <p:nvPr/>
        </p:nvSpPr>
        <p:spPr>
          <a:xfrm>
            <a:off x="9376258" y="7040880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15" name="Shape 293"/>
          <p:cNvSpPr/>
          <p:nvPr/>
        </p:nvSpPr>
        <p:spPr>
          <a:xfrm>
            <a:off x="8016545" y="952804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16" name="Shape 294"/>
          <p:cNvSpPr/>
          <p:nvPr/>
        </p:nvSpPr>
        <p:spPr>
          <a:xfrm>
            <a:off x="9376258" y="952804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17" name="Shape 295"/>
          <p:cNvSpPr/>
          <p:nvPr/>
        </p:nvSpPr>
        <p:spPr>
          <a:xfrm>
            <a:off x="8114386" y="7040880"/>
            <a:ext cx="1359713" cy="268193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18" name="Shape 296"/>
          <p:cNvSpPr/>
          <p:nvPr/>
        </p:nvSpPr>
        <p:spPr>
          <a:xfrm>
            <a:off x="8016545" y="7138721"/>
            <a:ext cx="155448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19" name="Shape 297"/>
          <p:cNvSpPr/>
          <p:nvPr/>
        </p:nvSpPr>
        <p:spPr>
          <a:xfrm>
            <a:off x="8114386" y="7050024"/>
            <a:ext cx="1359713" cy="26636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0" name="Shape 298"/>
          <p:cNvSpPr/>
          <p:nvPr/>
        </p:nvSpPr>
        <p:spPr>
          <a:xfrm>
            <a:off x="8025689" y="7138721"/>
            <a:ext cx="1536192" cy="2487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1" name="Text 299"/>
          <p:cNvSpPr/>
          <p:nvPr/>
        </p:nvSpPr>
        <p:spPr>
          <a:xfrm>
            <a:off x="8016545" y="7120433"/>
            <a:ext cx="1554480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월평균 금융비용 변화</a:t>
            </a:r>
            <a:endParaRPr lang="en-US" sz="1330" dirty="0"/>
          </a:p>
        </p:txBody>
      </p:sp>
      <p:graphicFrame>
        <p:nvGraphicFramePr>
          <p:cNvPr id="322" name="Chart 5" descr=""/>
          <p:cNvGraphicFramePr/>
          <p:nvPr/>
        </p:nvGraphicFramePr>
        <p:xfrm>
          <a:off x="8226857" y="7534656"/>
          <a:ext cx="1133856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1"/>
          </a:graphicData>
        </a:graphic>
      </p:graphicFrame>
      <p:pic>
        <p:nvPicPr>
          <p:cNvPr id="323" name="Image 15" descr="g03-dn3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72170" y="7979969"/>
            <a:ext cx="244145" cy="244145"/>
          </a:xfrm>
          <a:prstGeom prst="rect">
            <a:avLst/>
          </a:prstGeom>
        </p:spPr>
      </p:pic>
      <p:sp>
        <p:nvSpPr>
          <p:cNvPr id="324" name="Text 300"/>
          <p:cNvSpPr/>
          <p:nvPr/>
        </p:nvSpPr>
        <p:spPr>
          <a:xfrm>
            <a:off x="8101584" y="8729777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증가</a:t>
            </a:r>
            <a:endParaRPr lang="en-US" sz="1220" dirty="0"/>
          </a:p>
        </p:txBody>
      </p:sp>
      <p:sp>
        <p:nvSpPr>
          <p:cNvPr id="325" name="Text 301"/>
          <p:cNvSpPr/>
          <p:nvPr/>
        </p:nvSpPr>
        <p:spPr>
          <a:xfrm>
            <a:off x="8953757" y="8551012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21.1</a:t>
            </a:r>
            <a:endParaRPr lang="en-US" sz="1620" dirty="0"/>
          </a:p>
        </p:txBody>
      </p:sp>
      <p:sp>
        <p:nvSpPr>
          <p:cNvPr id="326" name="Text 302"/>
          <p:cNvSpPr/>
          <p:nvPr/>
        </p:nvSpPr>
        <p:spPr>
          <a:xfrm>
            <a:off x="9362973" y="866734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27" name="Shape 303"/>
          <p:cNvSpPr/>
          <p:nvPr/>
        </p:nvSpPr>
        <p:spPr>
          <a:xfrm>
            <a:off x="8101584" y="8997696"/>
            <a:ext cx="1383487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328" name="Text 304"/>
          <p:cNvSpPr/>
          <p:nvPr/>
        </p:nvSpPr>
        <p:spPr>
          <a:xfrm>
            <a:off x="8101584" y="9034272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변화없음</a:t>
            </a:r>
            <a:endParaRPr lang="en-US" sz="1060" dirty="0"/>
          </a:p>
        </p:txBody>
      </p:sp>
      <p:sp>
        <p:nvSpPr>
          <p:cNvPr id="329" name="Text 305"/>
          <p:cNvSpPr/>
          <p:nvPr/>
        </p:nvSpPr>
        <p:spPr>
          <a:xfrm>
            <a:off x="8953757" y="8856421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66.5</a:t>
            </a:r>
            <a:endParaRPr lang="en-US" sz="1620" dirty="0"/>
          </a:p>
        </p:txBody>
      </p:sp>
      <p:sp>
        <p:nvSpPr>
          <p:cNvPr id="330" name="Text 306"/>
          <p:cNvSpPr/>
          <p:nvPr/>
        </p:nvSpPr>
        <p:spPr>
          <a:xfrm>
            <a:off x="9362973" y="8971839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31" name="Shape 307"/>
          <p:cNvSpPr/>
          <p:nvPr/>
        </p:nvSpPr>
        <p:spPr>
          <a:xfrm>
            <a:off x="8101584" y="9302191"/>
            <a:ext cx="1383487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332" name="Text 308"/>
          <p:cNvSpPr/>
          <p:nvPr/>
        </p:nvSpPr>
        <p:spPr>
          <a:xfrm>
            <a:off x="8101584" y="9338767"/>
            <a:ext cx="56052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감소</a:t>
            </a:r>
            <a:endParaRPr lang="en-US" sz="1220" dirty="0"/>
          </a:p>
        </p:txBody>
      </p:sp>
      <p:sp>
        <p:nvSpPr>
          <p:cNvPr id="333" name="Text 309"/>
          <p:cNvSpPr/>
          <p:nvPr/>
        </p:nvSpPr>
        <p:spPr>
          <a:xfrm>
            <a:off x="8953757" y="9160916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12.4</a:t>
            </a:r>
            <a:endParaRPr lang="en-US" sz="1620" dirty="0"/>
          </a:p>
        </p:txBody>
      </p:sp>
      <p:sp>
        <p:nvSpPr>
          <p:cNvPr id="334" name="Text 310"/>
          <p:cNvSpPr/>
          <p:nvPr/>
        </p:nvSpPr>
        <p:spPr>
          <a:xfrm>
            <a:off x="9362973" y="927633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35" name="Text 311"/>
          <p:cNvSpPr/>
          <p:nvPr/>
        </p:nvSpPr>
        <p:spPr>
          <a:xfrm>
            <a:off x="4950562" y="9729216"/>
            <a:ext cx="2438705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각 항목 단수응답 기준</a:t>
            </a:r>
            <a:endParaRPr lang="en-US" sz="1220" dirty="0"/>
          </a:p>
        </p:txBody>
      </p:sp>
      <p:sp>
        <p:nvSpPr>
          <p:cNvPr id="336" name="Shape 312"/>
          <p:cNvSpPr/>
          <p:nvPr/>
        </p:nvSpPr>
        <p:spPr>
          <a:xfrm>
            <a:off x="170993" y="100885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37" name="Shape 313"/>
          <p:cNvSpPr/>
          <p:nvPr/>
        </p:nvSpPr>
        <p:spPr>
          <a:xfrm>
            <a:off x="4389120" y="100885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38" name="Shape 314"/>
          <p:cNvSpPr/>
          <p:nvPr/>
        </p:nvSpPr>
        <p:spPr>
          <a:xfrm>
            <a:off x="170993" y="1331366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39" name="Shape 315"/>
          <p:cNvSpPr/>
          <p:nvPr/>
        </p:nvSpPr>
        <p:spPr>
          <a:xfrm>
            <a:off x="4389120" y="1331366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0" name="Shape 316"/>
          <p:cNvSpPr/>
          <p:nvPr/>
        </p:nvSpPr>
        <p:spPr>
          <a:xfrm>
            <a:off x="304495" y="10088575"/>
            <a:ext cx="4218127" cy="34930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1" name="Shape 317"/>
          <p:cNvSpPr/>
          <p:nvPr/>
        </p:nvSpPr>
        <p:spPr>
          <a:xfrm>
            <a:off x="170993" y="10222992"/>
            <a:ext cx="4486961" cy="3225089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2" name="Shape 318"/>
          <p:cNvSpPr/>
          <p:nvPr/>
        </p:nvSpPr>
        <p:spPr>
          <a:xfrm>
            <a:off x="304495" y="10097719"/>
            <a:ext cx="4218127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3" name="Shape 319"/>
          <p:cNvSpPr/>
          <p:nvPr/>
        </p:nvSpPr>
        <p:spPr>
          <a:xfrm>
            <a:off x="180137" y="10222992"/>
            <a:ext cx="4468673" cy="32250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4" name="Shape 320"/>
          <p:cNvSpPr/>
          <p:nvPr/>
        </p:nvSpPr>
        <p:spPr>
          <a:xfrm>
            <a:off x="4761281" y="100885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5" name="Shape 321"/>
          <p:cNvSpPr/>
          <p:nvPr/>
        </p:nvSpPr>
        <p:spPr>
          <a:xfrm>
            <a:off x="9314993" y="100885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6" name="Shape 322"/>
          <p:cNvSpPr/>
          <p:nvPr/>
        </p:nvSpPr>
        <p:spPr>
          <a:xfrm>
            <a:off x="4761281" y="1331366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7" name="Shape 323"/>
          <p:cNvSpPr/>
          <p:nvPr/>
        </p:nvSpPr>
        <p:spPr>
          <a:xfrm>
            <a:off x="9314993" y="1331366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8" name="Shape 324"/>
          <p:cNvSpPr/>
          <p:nvPr/>
        </p:nvSpPr>
        <p:spPr>
          <a:xfrm>
            <a:off x="4895698" y="10088575"/>
            <a:ext cx="4553712" cy="34930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49" name="Shape 325"/>
          <p:cNvSpPr/>
          <p:nvPr/>
        </p:nvSpPr>
        <p:spPr>
          <a:xfrm>
            <a:off x="4761281" y="10222992"/>
            <a:ext cx="4821631" cy="3225089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50" name="Shape 326"/>
          <p:cNvSpPr/>
          <p:nvPr/>
        </p:nvSpPr>
        <p:spPr>
          <a:xfrm>
            <a:off x="4895698" y="10097719"/>
            <a:ext cx="4553712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1" name="Shape 327"/>
          <p:cNvSpPr/>
          <p:nvPr/>
        </p:nvSpPr>
        <p:spPr>
          <a:xfrm>
            <a:off x="4770425" y="10222992"/>
            <a:ext cx="4803343" cy="32250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2" name="Shape 328"/>
          <p:cNvSpPr/>
          <p:nvPr/>
        </p:nvSpPr>
        <p:spPr>
          <a:xfrm>
            <a:off x="280721" y="1011966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53" name="Shape 329"/>
          <p:cNvSpPr/>
          <p:nvPr/>
        </p:nvSpPr>
        <p:spPr>
          <a:xfrm>
            <a:off x="4267505" y="1011966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54" name="Shape 330"/>
          <p:cNvSpPr/>
          <p:nvPr/>
        </p:nvSpPr>
        <p:spPr>
          <a:xfrm>
            <a:off x="280721" y="1038118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55" name="Shape 331"/>
          <p:cNvSpPr/>
          <p:nvPr/>
        </p:nvSpPr>
        <p:spPr>
          <a:xfrm>
            <a:off x="4267505" y="1038118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56" name="Shape 332"/>
          <p:cNvSpPr/>
          <p:nvPr/>
        </p:nvSpPr>
        <p:spPr>
          <a:xfrm>
            <a:off x="347472" y="10119665"/>
            <a:ext cx="3986784" cy="395935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357" name="Shape 333"/>
          <p:cNvSpPr/>
          <p:nvPr/>
        </p:nvSpPr>
        <p:spPr>
          <a:xfrm>
            <a:off x="280721" y="10186416"/>
            <a:ext cx="4121201" cy="26243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358" name="Shape 334"/>
          <p:cNvSpPr/>
          <p:nvPr/>
        </p:nvSpPr>
        <p:spPr>
          <a:xfrm>
            <a:off x="280721" y="1011966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59" name="Shape 335"/>
          <p:cNvSpPr/>
          <p:nvPr/>
        </p:nvSpPr>
        <p:spPr>
          <a:xfrm>
            <a:off x="523951" y="1011966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60" name="Shape 336"/>
          <p:cNvSpPr/>
          <p:nvPr/>
        </p:nvSpPr>
        <p:spPr>
          <a:xfrm>
            <a:off x="280721" y="1038118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61" name="Shape 337"/>
          <p:cNvSpPr/>
          <p:nvPr/>
        </p:nvSpPr>
        <p:spPr>
          <a:xfrm>
            <a:off x="523951" y="1038118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62" name="Shape 338"/>
          <p:cNvSpPr/>
          <p:nvPr/>
        </p:nvSpPr>
        <p:spPr>
          <a:xfrm>
            <a:off x="347472" y="10119665"/>
            <a:ext cx="244145" cy="395935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63" name="Shape 339"/>
          <p:cNvSpPr/>
          <p:nvPr/>
        </p:nvSpPr>
        <p:spPr>
          <a:xfrm>
            <a:off x="280721" y="10186416"/>
            <a:ext cx="377647" cy="26243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64" name="Text 340"/>
          <p:cNvSpPr/>
          <p:nvPr/>
        </p:nvSpPr>
        <p:spPr>
          <a:xfrm>
            <a:off x="280721" y="10119665"/>
            <a:ext cx="37764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</a:t>
            </a:r>
            <a:endParaRPr lang="en-US" sz="2080" dirty="0"/>
          </a:p>
        </p:txBody>
      </p:sp>
      <p:sp>
        <p:nvSpPr>
          <p:cNvPr id="365" name="Text 341"/>
          <p:cNvSpPr/>
          <p:nvPr/>
        </p:nvSpPr>
        <p:spPr>
          <a:xfrm>
            <a:off x="792785" y="10119665"/>
            <a:ext cx="3547872" cy="395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보증부대출의 기여도</a:t>
            </a:r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(7점 척도, 상위 3개 항목)</a:t>
            </a:r>
            <a:endParaRPr lang="en-US" sz="1600" dirty="0"/>
          </a:p>
        </p:txBody>
      </p:sp>
      <p:sp>
        <p:nvSpPr>
          <p:cNvPr id="366" name="Text 342"/>
          <p:cNvSpPr/>
          <p:nvPr/>
        </p:nvSpPr>
        <p:spPr>
          <a:xfrm>
            <a:off x="377647" y="10558577"/>
            <a:ext cx="414497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금융거래와 경영개선 측면 모두에서 높은 기여도를 보이고 있습니다.</a:t>
            </a:r>
            <a:endParaRPr lang="en-US" sz="1150" dirty="0"/>
          </a:p>
        </p:txBody>
      </p:sp>
      <p:sp>
        <p:nvSpPr>
          <p:cNvPr id="367" name="Shape 343"/>
          <p:cNvSpPr/>
          <p:nvPr/>
        </p:nvSpPr>
        <p:spPr>
          <a:xfrm>
            <a:off x="274320" y="109362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68" name="Shape 344"/>
          <p:cNvSpPr/>
          <p:nvPr/>
        </p:nvSpPr>
        <p:spPr>
          <a:xfrm>
            <a:off x="2048256" y="109362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69" name="Shape 345"/>
          <p:cNvSpPr/>
          <p:nvPr/>
        </p:nvSpPr>
        <p:spPr>
          <a:xfrm>
            <a:off x="274320" y="12643409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70" name="Shape 346"/>
          <p:cNvSpPr/>
          <p:nvPr/>
        </p:nvSpPr>
        <p:spPr>
          <a:xfrm>
            <a:off x="2048256" y="12643409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71" name="Shape 347"/>
          <p:cNvSpPr/>
          <p:nvPr/>
        </p:nvSpPr>
        <p:spPr>
          <a:xfrm>
            <a:off x="372161" y="10936224"/>
            <a:ext cx="1773936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72" name="Shape 348"/>
          <p:cNvSpPr/>
          <p:nvPr/>
        </p:nvSpPr>
        <p:spPr>
          <a:xfrm>
            <a:off x="274320" y="11034065"/>
            <a:ext cx="1968703" cy="170718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73" name="Shape 349"/>
          <p:cNvSpPr/>
          <p:nvPr/>
        </p:nvSpPr>
        <p:spPr>
          <a:xfrm>
            <a:off x="372161" y="10945368"/>
            <a:ext cx="1773936" cy="18836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4" name="Shape 350"/>
          <p:cNvSpPr/>
          <p:nvPr/>
        </p:nvSpPr>
        <p:spPr>
          <a:xfrm>
            <a:off x="283464" y="11034065"/>
            <a:ext cx="1950415" cy="17071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5" name="Shape 351"/>
          <p:cNvSpPr/>
          <p:nvPr/>
        </p:nvSpPr>
        <p:spPr>
          <a:xfrm>
            <a:off x="274320" y="109362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76" name="Shape 352"/>
          <p:cNvSpPr/>
          <p:nvPr/>
        </p:nvSpPr>
        <p:spPr>
          <a:xfrm>
            <a:off x="2048256" y="109362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77" name="Shape 353"/>
          <p:cNvSpPr/>
          <p:nvPr/>
        </p:nvSpPr>
        <p:spPr>
          <a:xfrm>
            <a:off x="274320" y="1109441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78" name="Shape 354"/>
          <p:cNvSpPr/>
          <p:nvPr/>
        </p:nvSpPr>
        <p:spPr>
          <a:xfrm>
            <a:off x="2048256" y="1109441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79" name="Shape 355"/>
          <p:cNvSpPr/>
          <p:nvPr/>
        </p:nvSpPr>
        <p:spPr>
          <a:xfrm>
            <a:off x="372161" y="10936224"/>
            <a:ext cx="1773936" cy="353873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380" name="Shape 356"/>
          <p:cNvSpPr/>
          <p:nvPr/>
        </p:nvSpPr>
        <p:spPr>
          <a:xfrm>
            <a:off x="274320" y="11034065"/>
            <a:ext cx="1968703" cy="158191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381" name="Shape 357"/>
          <p:cNvSpPr/>
          <p:nvPr/>
        </p:nvSpPr>
        <p:spPr>
          <a:xfrm>
            <a:off x="274320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82" name="Shape 358"/>
          <p:cNvSpPr/>
          <p:nvPr/>
        </p:nvSpPr>
        <p:spPr>
          <a:xfrm>
            <a:off x="2060143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83" name="Shape 359"/>
          <p:cNvSpPr/>
          <p:nvPr/>
        </p:nvSpPr>
        <p:spPr>
          <a:xfrm>
            <a:off x="274320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84" name="Shape 360"/>
          <p:cNvSpPr/>
          <p:nvPr/>
        </p:nvSpPr>
        <p:spPr>
          <a:xfrm>
            <a:off x="2060143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85" name="Shape 361"/>
          <p:cNvSpPr/>
          <p:nvPr/>
        </p:nvSpPr>
        <p:spPr>
          <a:xfrm>
            <a:off x="365760" y="11107217"/>
            <a:ext cx="1785823" cy="18288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386" name="Shape 362"/>
          <p:cNvSpPr/>
          <p:nvPr/>
        </p:nvSpPr>
        <p:spPr>
          <a:xfrm>
            <a:off x="274320" y="11198657"/>
            <a:ext cx="1968703" cy="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387" name="Text 363"/>
          <p:cNvSpPr/>
          <p:nvPr/>
        </p:nvSpPr>
        <p:spPr>
          <a:xfrm>
            <a:off x="274320" y="10936224"/>
            <a:ext cx="1968703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금융거래 측면 TOP3</a:t>
            </a:r>
            <a:endParaRPr lang="en-US" sz="1520" dirty="0"/>
          </a:p>
        </p:txBody>
      </p:sp>
      <p:pic>
        <p:nvPicPr>
          <p:cNvPr id="388" name="Image 16" descr="g03-fa1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3873" y="11399825"/>
            <a:ext cx="377647" cy="390449"/>
          </a:xfrm>
          <a:prstGeom prst="rect">
            <a:avLst/>
          </a:prstGeom>
        </p:spPr>
      </p:pic>
      <p:sp>
        <p:nvSpPr>
          <p:cNvPr id="389" name="Text 364"/>
          <p:cNvSpPr/>
          <p:nvPr/>
        </p:nvSpPr>
        <p:spPr>
          <a:xfrm>
            <a:off x="834847" y="11436401"/>
            <a:ext cx="871423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담보 문제 해결</a:t>
            </a:r>
            <a:endParaRPr lang="en-US" sz="1040" dirty="0"/>
          </a:p>
        </p:txBody>
      </p:sp>
      <p:sp>
        <p:nvSpPr>
          <p:cNvPr id="390" name="Text 365"/>
          <p:cNvSpPr/>
          <p:nvPr/>
        </p:nvSpPr>
        <p:spPr>
          <a:xfrm>
            <a:off x="1664665" y="11246409"/>
            <a:ext cx="61493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5.02</a:t>
            </a:r>
            <a:endParaRPr lang="en-US" sz="2000" dirty="0"/>
          </a:p>
        </p:txBody>
      </p:sp>
      <p:pic>
        <p:nvPicPr>
          <p:cNvPr id="391" name="Image 17" descr="g03-fa2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53873" y="11857025"/>
            <a:ext cx="377647" cy="390449"/>
          </a:xfrm>
          <a:prstGeom prst="rect">
            <a:avLst/>
          </a:prstGeom>
        </p:spPr>
      </p:pic>
      <p:sp>
        <p:nvSpPr>
          <p:cNvPr id="392" name="Text 366"/>
          <p:cNvSpPr/>
          <p:nvPr/>
        </p:nvSpPr>
        <p:spPr>
          <a:xfrm>
            <a:off x="834847" y="11893601"/>
            <a:ext cx="871423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금융비용 절감</a:t>
            </a:r>
            <a:endParaRPr lang="en-US" sz="1100" dirty="0"/>
          </a:p>
        </p:txBody>
      </p:sp>
      <p:sp>
        <p:nvSpPr>
          <p:cNvPr id="393" name="Text 367"/>
          <p:cNvSpPr/>
          <p:nvPr/>
        </p:nvSpPr>
        <p:spPr>
          <a:xfrm>
            <a:off x="1664665" y="11703609"/>
            <a:ext cx="61493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4.98</a:t>
            </a:r>
            <a:endParaRPr lang="en-US" sz="2000" dirty="0"/>
          </a:p>
        </p:txBody>
      </p:sp>
      <p:pic>
        <p:nvPicPr>
          <p:cNvPr id="394" name="Image 18" descr="g03-fa3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53873" y="12314225"/>
            <a:ext cx="377647" cy="390449"/>
          </a:xfrm>
          <a:prstGeom prst="rect">
            <a:avLst/>
          </a:prstGeom>
        </p:spPr>
      </p:pic>
      <p:sp>
        <p:nvSpPr>
          <p:cNvPr id="395" name="Text 368"/>
          <p:cNvSpPr/>
          <p:nvPr/>
        </p:nvSpPr>
        <p:spPr>
          <a:xfrm>
            <a:off x="834847" y="12350801"/>
            <a:ext cx="871423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대출심사 간소화</a:t>
            </a:r>
            <a:endParaRPr lang="en-US" sz="1000" dirty="0"/>
          </a:p>
        </p:txBody>
      </p:sp>
      <p:sp>
        <p:nvSpPr>
          <p:cNvPr id="396" name="Text 369"/>
          <p:cNvSpPr/>
          <p:nvPr/>
        </p:nvSpPr>
        <p:spPr>
          <a:xfrm>
            <a:off x="1664665" y="12160809"/>
            <a:ext cx="61493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4.94</a:t>
            </a:r>
            <a:endParaRPr lang="en-US" sz="2000" dirty="0"/>
          </a:p>
        </p:txBody>
      </p:sp>
      <p:sp>
        <p:nvSpPr>
          <p:cNvPr id="397" name="Shape 370"/>
          <p:cNvSpPr/>
          <p:nvPr/>
        </p:nvSpPr>
        <p:spPr>
          <a:xfrm>
            <a:off x="2316175" y="109362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98" name="Shape 371"/>
          <p:cNvSpPr/>
          <p:nvPr/>
        </p:nvSpPr>
        <p:spPr>
          <a:xfrm>
            <a:off x="4242816" y="10936224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399" name="Shape 372"/>
          <p:cNvSpPr/>
          <p:nvPr/>
        </p:nvSpPr>
        <p:spPr>
          <a:xfrm>
            <a:off x="2316175" y="12643409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00" name="Shape 373"/>
          <p:cNvSpPr/>
          <p:nvPr/>
        </p:nvSpPr>
        <p:spPr>
          <a:xfrm>
            <a:off x="4242816" y="12643409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01" name="Shape 374"/>
          <p:cNvSpPr/>
          <p:nvPr/>
        </p:nvSpPr>
        <p:spPr>
          <a:xfrm>
            <a:off x="2414016" y="10936224"/>
            <a:ext cx="1926641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02" name="Shape 375"/>
          <p:cNvSpPr/>
          <p:nvPr/>
        </p:nvSpPr>
        <p:spPr>
          <a:xfrm>
            <a:off x="2316175" y="11034065"/>
            <a:ext cx="2121408" cy="1707185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03" name="Shape 376"/>
          <p:cNvSpPr/>
          <p:nvPr/>
        </p:nvSpPr>
        <p:spPr>
          <a:xfrm>
            <a:off x="2414016" y="10945368"/>
            <a:ext cx="1926641" cy="18836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4" name="Shape 377"/>
          <p:cNvSpPr/>
          <p:nvPr/>
        </p:nvSpPr>
        <p:spPr>
          <a:xfrm>
            <a:off x="2325319" y="11034065"/>
            <a:ext cx="2103120" cy="17071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5" name="Shape 378"/>
          <p:cNvSpPr/>
          <p:nvPr/>
        </p:nvSpPr>
        <p:spPr>
          <a:xfrm>
            <a:off x="2316175" y="109362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06" name="Shape 379"/>
          <p:cNvSpPr/>
          <p:nvPr/>
        </p:nvSpPr>
        <p:spPr>
          <a:xfrm>
            <a:off x="4242816" y="10936224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07" name="Shape 380"/>
          <p:cNvSpPr/>
          <p:nvPr/>
        </p:nvSpPr>
        <p:spPr>
          <a:xfrm>
            <a:off x="2316175" y="1109441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08" name="Shape 381"/>
          <p:cNvSpPr/>
          <p:nvPr/>
        </p:nvSpPr>
        <p:spPr>
          <a:xfrm>
            <a:off x="4242816" y="11094415"/>
            <a:ext cx="194767" cy="194767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09" name="Shape 382"/>
          <p:cNvSpPr/>
          <p:nvPr/>
        </p:nvSpPr>
        <p:spPr>
          <a:xfrm>
            <a:off x="2414016" y="10936224"/>
            <a:ext cx="1926641" cy="353873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410" name="Shape 383"/>
          <p:cNvSpPr/>
          <p:nvPr/>
        </p:nvSpPr>
        <p:spPr>
          <a:xfrm>
            <a:off x="2316175" y="11034065"/>
            <a:ext cx="2121408" cy="158191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411" name="Shape 384"/>
          <p:cNvSpPr/>
          <p:nvPr/>
        </p:nvSpPr>
        <p:spPr>
          <a:xfrm>
            <a:off x="2316175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12" name="Shape 385"/>
          <p:cNvSpPr/>
          <p:nvPr/>
        </p:nvSpPr>
        <p:spPr>
          <a:xfrm>
            <a:off x="4254703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13" name="Shape 386"/>
          <p:cNvSpPr/>
          <p:nvPr/>
        </p:nvSpPr>
        <p:spPr>
          <a:xfrm>
            <a:off x="2316175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14" name="Shape 387"/>
          <p:cNvSpPr/>
          <p:nvPr/>
        </p:nvSpPr>
        <p:spPr>
          <a:xfrm>
            <a:off x="4254703" y="11107217"/>
            <a:ext cx="182880" cy="18288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15" name="Shape 388"/>
          <p:cNvSpPr/>
          <p:nvPr/>
        </p:nvSpPr>
        <p:spPr>
          <a:xfrm>
            <a:off x="2407615" y="11107217"/>
            <a:ext cx="1938528" cy="18288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416" name="Shape 389"/>
          <p:cNvSpPr/>
          <p:nvPr/>
        </p:nvSpPr>
        <p:spPr>
          <a:xfrm>
            <a:off x="2316175" y="11198657"/>
            <a:ext cx="2121408" cy="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417" name="Text 390"/>
          <p:cNvSpPr/>
          <p:nvPr/>
        </p:nvSpPr>
        <p:spPr>
          <a:xfrm>
            <a:off x="2316175" y="10936224"/>
            <a:ext cx="2121408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경영개선 측면 TOP3</a:t>
            </a:r>
            <a:endParaRPr lang="en-US" sz="1520" dirty="0"/>
          </a:p>
        </p:txBody>
      </p:sp>
      <p:pic>
        <p:nvPicPr>
          <p:cNvPr id="418" name="Image 19" descr="g03-fb1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95728" y="11399825"/>
            <a:ext cx="377647" cy="390449"/>
          </a:xfrm>
          <a:prstGeom prst="rect">
            <a:avLst/>
          </a:prstGeom>
        </p:spPr>
      </p:pic>
      <p:sp>
        <p:nvSpPr>
          <p:cNvPr id="419" name="Text 391"/>
          <p:cNvSpPr/>
          <p:nvPr/>
        </p:nvSpPr>
        <p:spPr>
          <a:xfrm>
            <a:off x="2877617" y="11436401"/>
            <a:ext cx="1024128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자금조달 편의성</a:t>
            </a:r>
            <a:endParaRPr lang="en-US" sz="1120" dirty="0"/>
          </a:p>
        </p:txBody>
      </p:sp>
      <p:sp>
        <p:nvSpPr>
          <p:cNvPr id="420" name="Text 392"/>
          <p:cNvSpPr/>
          <p:nvPr/>
        </p:nvSpPr>
        <p:spPr>
          <a:xfrm>
            <a:off x="3859225" y="11246409"/>
            <a:ext cx="61493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5.17</a:t>
            </a:r>
            <a:endParaRPr lang="en-US" sz="2000" dirty="0"/>
          </a:p>
        </p:txBody>
      </p:sp>
      <p:pic>
        <p:nvPicPr>
          <p:cNvPr id="421" name="Image 20" descr="g03-fb2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395728" y="11857025"/>
            <a:ext cx="377647" cy="390449"/>
          </a:xfrm>
          <a:prstGeom prst="rect">
            <a:avLst/>
          </a:prstGeom>
        </p:spPr>
      </p:pic>
      <p:sp>
        <p:nvSpPr>
          <p:cNvPr id="422" name="Text 393"/>
          <p:cNvSpPr/>
          <p:nvPr/>
        </p:nvSpPr>
        <p:spPr>
          <a:xfrm>
            <a:off x="2877617" y="11893601"/>
            <a:ext cx="1024128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사업에 대한 의욕</a:t>
            </a:r>
            <a:endParaRPr lang="en-US" sz="1080" dirty="0"/>
          </a:p>
        </p:txBody>
      </p:sp>
      <p:sp>
        <p:nvSpPr>
          <p:cNvPr id="423" name="Text 394"/>
          <p:cNvSpPr/>
          <p:nvPr/>
        </p:nvSpPr>
        <p:spPr>
          <a:xfrm>
            <a:off x="3859225" y="11703609"/>
            <a:ext cx="61493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4.99</a:t>
            </a:r>
            <a:endParaRPr lang="en-US" sz="2000" dirty="0"/>
          </a:p>
        </p:txBody>
      </p:sp>
      <p:pic>
        <p:nvPicPr>
          <p:cNvPr id="424" name="Image 21" descr="g03-fb3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395728" y="12314225"/>
            <a:ext cx="377647" cy="390449"/>
          </a:xfrm>
          <a:prstGeom prst="rect">
            <a:avLst/>
          </a:prstGeom>
        </p:spPr>
      </p:pic>
      <p:sp>
        <p:nvSpPr>
          <p:cNvPr id="425" name="Text 395"/>
          <p:cNvSpPr/>
          <p:nvPr/>
        </p:nvSpPr>
        <p:spPr>
          <a:xfrm>
            <a:off x="2877617" y="12350801"/>
            <a:ext cx="1024128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설비투자</a:t>
            </a:r>
            <a:endParaRPr lang="en-US" sz="1520" dirty="0"/>
          </a:p>
        </p:txBody>
      </p:sp>
      <p:sp>
        <p:nvSpPr>
          <p:cNvPr id="426" name="Text 396"/>
          <p:cNvSpPr/>
          <p:nvPr/>
        </p:nvSpPr>
        <p:spPr>
          <a:xfrm>
            <a:off x="3859225" y="12160809"/>
            <a:ext cx="61493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4.98</a:t>
            </a:r>
            <a:endParaRPr lang="en-US" sz="2000" dirty="0"/>
          </a:p>
        </p:txBody>
      </p:sp>
      <p:sp>
        <p:nvSpPr>
          <p:cNvPr id="427" name="Shape 397"/>
          <p:cNvSpPr/>
          <p:nvPr/>
        </p:nvSpPr>
        <p:spPr>
          <a:xfrm>
            <a:off x="274320" y="12911328"/>
            <a:ext cx="194767" cy="194767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428" name="Shape 398"/>
          <p:cNvSpPr/>
          <p:nvPr/>
        </p:nvSpPr>
        <p:spPr>
          <a:xfrm>
            <a:off x="4242816" y="12911328"/>
            <a:ext cx="194767" cy="194767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429" name="Shape 399"/>
          <p:cNvSpPr/>
          <p:nvPr/>
        </p:nvSpPr>
        <p:spPr>
          <a:xfrm>
            <a:off x="274320" y="13313664"/>
            <a:ext cx="194767" cy="194767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430" name="Shape 400"/>
          <p:cNvSpPr/>
          <p:nvPr/>
        </p:nvSpPr>
        <p:spPr>
          <a:xfrm>
            <a:off x="4242816" y="13313664"/>
            <a:ext cx="194767" cy="194767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431" name="Shape 401"/>
          <p:cNvSpPr/>
          <p:nvPr/>
        </p:nvSpPr>
        <p:spPr>
          <a:xfrm>
            <a:off x="372161" y="12911328"/>
            <a:ext cx="3968496" cy="597103"/>
          </a:xfrm>
          <a:prstGeom prst="rect">
            <a:avLst/>
          </a:prstGeom>
          <a:solidFill>
            <a:srgbClr val="D9E9F9"/>
          </a:solidFill>
          <a:ln/>
        </p:spPr>
      </p:sp>
      <p:sp>
        <p:nvSpPr>
          <p:cNvPr id="432" name="Shape 402"/>
          <p:cNvSpPr/>
          <p:nvPr/>
        </p:nvSpPr>
        <p:spPr>
          <a:xfrm>
            <a:off x="274320" y="13009169"/>
            <a:ext cx="4163263" cy="402336"/>
          </a:xfrm>
          <a:prstGeom prst="rect">
            <a:avLst/>
          </a:prstGeom>
          <a:solidFill>
            <a:srgbClr val="D9E9F9"/>
          </a:solidFill>
          <a:ln/>
        </p:spPr>
      </p:sp>
      <p:pic>
        <p:nvPicPr>
          <p:cNvPr id="433" name="Image 22" descr="g03-bulb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3873" y="12959791"/>
            <a:ext cx="609905" cy="560527"/>
          </a:xfrm>
          <a:prstGeom prst="rect">
            <a:avLst/>
          </a:prstGeom>
        </p:spPr>
      </p:pic>
      <p:sp>
        <p:nvSpPr>
          <p:cNvPr id="434" name="Text 403"/>
          <p:cNvSpPr/>
          <p:nvPr/>
        </p:nvSpPr>
        <p:spPr>
          <a:xfrm>
            <a:off x="1005840" y="12911328"/>
            <a:ext cx="3334817" cy="597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보증은 금융 접근성을 높이고,</a:t>
            </a:r>
            <a:endParaRPr lang="en-US" sz="152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기업의 성장 의지와 투자를 뒷받침합니다.</a:t>
            </a:r>
            <a:endParaRPr lang="en-US" sz="1520" dirty="0"/>
          </a:p>
        </p:txBody>
      </p:sp>
      <p:sp>
        <p:nvSpPr>
          <p:cNvPr id="435" name="Shape 404"/>
          <p:cNvSpPr/>
          <p:nvPr/>
        </p:nvSpPr>
        <p:spPr>
          <a:xfrm>
            <a:off x="4773168" y="1011966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436" name="Shape 405"/>
          <p:cNvSpPr/>
          <p:nvPr/>
        </p:nvSpPr>
        <p:spPr>
          <a:xfrm>
            <a:off x="8864194" y="1011966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437" name="Shape 406"/>
          <p:cNvSpPr/>
          <p:nvPr/>
        </p:nvSpPr>
        <p:spPr>
          <a:xfrm>
            <a:off x="4773168" y="1038118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438" name="Shape 407"/>
          <p:cNvSpPr/>
          <p:nvPr/>
        </p:nvSpPr>
        <p:spPr>
          <a:xfrm>
            <a:off x="8864194" y="1038118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439" name="Shape 408"/>
          <p:cNvSpPr/>
          <p:nvPr/>
        </p:nvSpPr>
        <p:spPr>
          <a:xfrm>
            <a:off x="4839919" y="10119665"/>
            <a:ext cx="4090111" cy="395935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440" name="Shape 409"/>
          <p:cNvSpPr/>
          <p:nvPr/>
        </p:nvSpPr>
        <p:spPr>
          <a:xfrm>
            <a:off x="4773168" y="10186416"/>
            <a:ext cx="4224528" cy="26243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441" name="Shape 410"/>
          <p:cNvSpPr/>
          <p:nvPr/>
        </p:nvSpPr>
        <p:spPr>
          <a:xfrm>
            <a:off x="4773168" y="1011966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42" name="Shape 411"/>
          <p:cNvSpPr/>
          <p:nvPr/>
        </p:nvSpPr>
        <p:spPr>
          <a:xfrm>
            <a:off x="5017313" y="1011966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43" name="Shape 412"/>
          <p:cNvSpPr/>
          <p:nvPr/>
        </p:nvSpPr>
        <p:spPr>
          <a:xfrm>
            <a:off x="4773168" y="1038118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44" name="Shape 413"/>
          <p:cNvSpPr/>
          <p:nvPr/>
        </p:nvSpPr>
        <p:spPr>
          <a:xfrm>
            <a:off x="5017313" y="1038118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45" name="Shape 414"/>
          <p:cNvSpPr/>
          <p:nvPr/>
        </p:nvSpPr>
        <p:spPr>
          <a:xfrm>
            <a:off x="4839919" y="10119665"/>
            <a:ext cx="244145" cy="395935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446" name="Shape 415"/>
          <p:cNvSpPr/>
          <p:nvPr/>
        </p:nvSpPr>
        <p:spPr>
          <a:xfrm>
            <a:off x="4773168" y="10186416"/>
            <a:ext cx="377647" cy="26243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447" name="Text 416"/>
          <p:cNvSpPr/>
          <p:nvPr/>
        </p:nvSpPr>
        <p:spPr>
          <a:xfrm>
            <a:off x="4773168" y="10119665"/>
            <a:ext cx="37764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</a:t>
            </a:r>
            <a:endParaRPr lang="en-US" sz="2080" dirty="0"/>
          </a:p>
        </p:txBody>
      </p:sp>
      <p:sp>
        <p:nvSpPr>
          <p:cNvPr id="448" name="Text 417"/>
          <p:cNvSpPr/>
          <p:nvPr/>
        </p:nvSpPr>
        <p:spPr>
          <a:xfrm>
            <a:off x="5285232" y="10119665"/>
            <a:ext cx="3651199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제도 평가 &amp; 정책 보완·강화 필요사항</a:t>
            </a:r>
            <a:endParaRPr lang="en-US" sz="1680" dirty="0"/>
          </a:p>
        </p:txBody>
      </p:sp>
      <p:sp>
        <p:nvSpPr>
          <p:cNvPr id="449" name="Text 418"/>
          <p:cNvSpPr/>
          <p:nvPr/>
        </p:nvSpPr>
        <p:spPr>
          <a:xfrm>
            <a:off x="4864608" y="10533888"/>
            <a:ext cx="4633265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4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금리·보증료에 대한 불만족이 가장 크며,</a:t>
            </a:r>
            <a:endParaRPr lang="en-US" sz="144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44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지원 금액 확대·금리 인하가 최우선 정책과제로 나타났습니다.</a:t>
            </a:r>
            <a:endParaRPr lang="en-US" sz="1440" dirty="0"/>
          </a:p>
        </p:txBody>
      </p:sp>
      <p:sp>
        <p:nvSpPr>
          <p:cNvPr id="450" name="Shape 419"/>
          <p:cNvSpPr/>
          <p:nvPr/>
        </p:nvSpPr>
        <p:spPr>
          <a:xfrm>
            <a:off x="4816145" y="1108252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51" name="Shape 420"/>
          <p:cNvSpPr/>
          <p:nvPr/>
        </p:nvSpPr>
        <p:spPr>
          <a:xfrm>
            <a:off x="6937553" y="1108252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52" name="Shape 421"/>
          <p:cNvSpPr/>
          <p:nvPr/>
        </p:nvSpPr>
        <p:spPr>
          <a:xfrm>
            <a:off x="4816145" y="13301777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53" name="Shape 422"/>
          <p:cNvSpPr/>
          <p:nvPr/>
        </p:nvSpPr>
        <p:spPr>
          <a:xfrm>
            <a:off x="6937553" y="13301777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54" name="Shape 423"/>
          <p:cNvSpPr/>
          <p:nvPr/>
        </p:nvSpPr>
        <p:spPr>
          <a:xfrm>
            <a:off x="4913986" y="11082528"/>
            <a:ext cx="2121408" cy="24140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55" name="Shape 424"/>
          <p:cNvSpPr/>
          <p:nvPr/>
        </p:nvSpPr>
        <p:spPr>
          <a:xfrm>
            <a:off x="4816145" y="11180369"/>
            <a:ext cx="2316175" cy="2219249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56" name="Shape 425"/>
          <p:cNvSpPr/>
          <p:nvPr/>
        </p:nvSpPr>
        <p:spPr>
          <a:xfrm>
            <a:off x="4913986" y="11091672"/>
            <a:ext cx="2121408" cy="2395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7" name="Shape 426"/>
          <p:cNvSpPr/>
          <p:nvPr/>
        </p:nvSpPr>
        <p:spPr>
          <a:xfrm>
            <a:off x="4825289" y="11180369"/>
            <a:ext cx="2297887" cy="22192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8" name="Shape 427"/>
          <p:cNvSpPr/>
          <p:nvPr/>
        </p:nvSpPr>
        <p:spPr>
          <a:xfrm>
            <a:off x="7193585" y="1108252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59" name="Shape 428"/>
          <p:cNvSpPr/>
          <p:nvPr/>
        </p:nvSpPr>
        <p:spPr>
          <a:xfrm>
            <a:off x="9339682" y="11082528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60" name="Shape 429"/>
          <p:cNvSpPr/>
          <p:nvPr/>
        </p:nvSpPr>
        <p:spPr>
          <a:xfrm>
            <a:off x="7193585" y="13301777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61" name="Shape 430"/>
          <p:cNvSpPr/>
          <p:nvPr/>
        </p:nvSpPr>
        <p:spPr>
          <a:xfrm>
            <a:off x="9339682" y="13301777"/>
            <a:ext cx="194767" cy="194767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62" name="Shape 431"/>
          <p:cNvSpPr/>
          <p:nvPr/>
        </p:nvSpPr>
        <p:spPr>
          <a:xfrm>
            <a:off x="7291426" y="11082528"/>
            <a:ext cx="2146097" cy="24140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63" name="Shape 432"/>
          <p:cNvSpPr/>
          <p:nvPr/>
        </p:nvSpPr>
        <p:spPr>
          <a:xfrm>
            <a:off x="7193585" y="11180369"/>
            <a:ext cx="2340864" cy="2219249"/>
          </a:xfrm>
          <a:prstGeom prst="rect">
            <a:avLst/>
          </a:prstGeom>
          <a:solidFill>
            <a:srgbClr val="FFFFFF"/>
          </a:solidFill>
          <a:ln w="9525">
            <a:solidFill>
              <a:srgbClr val="E3EDF7"/>
            </a:solidFill>
            <a:prstDash val="solid"/>
          </a:ln>
        </p:spPr>
      </p:sp>
      <p:sp>
        <p:nvSpPr>
          <p:cNvPr id="464" name="Shape 433"/>
          <p:cNvSpPr/>
          <p:nvPr/>
        </p:nvSpPr>
        <p:spPr>
          <a:xfrm>
            <a:off x="7291426" y="11091672"/>
            <a:ext cx="2146097" cy="2395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5" name="Shape 434"/>
          <p:cNvSpPr/>
          <p:nvPr/>
        </p:nvSpPr>
        <p:spPr>
          <a:xfrm>
            <a:off x="7202729" y="11180369"/>
            <a:ext cx="2322576" cy="22192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6" name="Text 435"/>
          <p:cNvSpPr/>
          <p:nvPr/>
        </p:nvSpPr>
        <p:spPr>
          <a:xfrm>
            <a:off x="4816145" y="11130991"/>
            <a:ext cx="231617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제도 항목별 중요도−만족도 격차</a:t>
            </a:r>
            <a:endParaRPr lang="en-US" sz="1260" dirty="0"/>
          </a:p>
        </p:txBody>
      </p:sp>
      <p:sp>
        <p:nvSpPr>
          <p:cNvPr id="467" name="Text 436"/>
          <p:cNvSpPr/>
          <p:nvPr/>
        </p:nvSpPr>
        <p:spPr>
          <a:xfrm>
            <a:off x="4816145" y="11411712"/>
            <a:ext cx="2316175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(상위 항목)</a:t>
            </a:r>
            <a:endParaRPr lang="en-US" sz="1220" dirty="0"/>
          </a:p>
        </p:txBody>
      </p:sp>
      <p:sp>
        <p:nvSpPr>
          <p:cNvPr id="468" name="Text 437"/>
          <p:cNvSpPr/>
          <p:nvPr/>
        </p:nvSpPr>
        <p:spPr>
          <a:xfrm>
            <a:off x="5389474" y="11631168"/>
            <a:ext cx="60990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중요도</a:t>
            </a:r>
            <a:endParaRPr lang="en-US" sz="1220" dirty="0"/>
          </a:p>
        </p:txBody>
      </p:sp>
      <p:sp>
        <p:nvSpPr>
          <p:cNvPr id="469" name="Text 438"/>
          <p:cNvSpPr/>
          <p:nvPr/>
        </p:nvSpPr>
        <p:spPr>
          <a:xfrm>
            <a:off x="6096305" y="11631168"/>
            <a:ext cx="60990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만족도</a:t>
            </a:r>
            <a:endParaRPr lang="en-US" sz="1220" dirty="0"/>
          </a:p>
        </p:txBody>
      </p:sp>
      <p:sp>
        <p:nvSpPr>
          <p:cNvPr id="470" name="Text 439"/>
          <p:cNvSpPr/>
          <p:nvPr/>
        </p:nvSpPr>
        <p:spPr>
          <a:xfrm>
            <a:off x="6681521" y="11631168"/>
            <a:ext cx="48737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격차</a:t>
            </a:r>
            <a:endParaRPr lang="en-US" sz="1220" dirty="0"/>
          </a:p>
        </p:txBody>
      </p:sp>
      <p:sp>
        <p:nvSpPr>
          <p:cNvPr id="471" name="Text 440"/>
          <p:cNvSpPr/>
          <p:nvPr/>
        </p:nvSpPr>
        <p:spPr>
          <a:xfrm>
            <a:off x="4852721" y="11930177"/>
            <a:ext cx="560527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금리</a:t>
            </a:r>
            <a:endParaRPr lang="en-US" sz="1170" dirty="0"/>
          </a:p>
        </p:txBody>
      </p:sp>
      <p:sp>
        <p:nvSpPr>
          <p:cNvPr id="472" name="Shape 441"/>
          <p:cNvSpPr/>
          <p:nvPr/>
        </p:nvSpPr>
        <p:spPr>
          <a:xfrm>
            <a:off x="6559906" y="11880799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73" name="Shape 442"/>
          <p:cNvSpPr/>
          <p:nvPr/>
        </p:nvSpPr>
        <p:spPr>
          <a:xfrm>
            <a:off x="6949440" y="11880799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74" name="Shape 443"/>
          <p:cNvSpPr/>
          <p:nvPr/>
        </p:nvSpPr>
        <p:spPr>
          <a:xfrm>
            <a:off x="6559906" y="12100255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75" name="Shape 444"/>
          <p:cNvSpPr/>
          <p:nvPr/>
        </p:nvSpPr>
        <p:spPr>
          <a:xfrm>
            <a:off x="6949440" y="12100255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76" name="Shape 445"/>
          <p:cNvSpPr/>
          <p:nvPr/>
        </p:nvSpPr>
        <p:spPr>
          <a:xfrm>
            <a:off x="6620256" y="11880799"/>
            <a:ext cx="390449" cy="341071"/>
          </a:xfrm>
          <a:prstGeom prst="rect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77" name="Shape 446"/>
          <p:cNvSpPr/>
          <p:nvPr/>
        </p:nvSpPr>
        <p:spPr>
          <a:xfrm>
            <a:off x="6559906" y="11942064"/>
            <a:ext cx="512064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78" name="Shape 447"/>
          <p:cNvSpPr/>
          <p:nvPr/>
        </p:nvSpPr>
        <p:spPr>
          <a:xfrm>
            <a:off x="6620256" y="11889943"/>
            <a:ext cx="390449" cy="322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9" name="Shape 448"/>
          <p:cNvSpPr/>
          <p:nvPr/>
        </p:nvSpPr>
        <p:spPr>
          <a:xfrm>
            <a:off x="6569050" y="11942064"/>
            <a:ext cx="493776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0" name="Text 449"/>
          <p:cNvSpPr/>
          <p:nvPr/>
        </p:nvSpPr>
        <p:spPr>
          <a:xfrm>
            <a:off x="6559906" y="11880799"/>
            <a:ext cx="512064" cy="341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E23B3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1.40</a:t>
            </a:r>
            <a:endParaRPr lang="en-US" sz="1630" dirty="0"/>
          </a:p>
        </p:txBody>
      </p:sp>
      <p:sp>
        <p:nvSpPr>
          <p:cNvPr id="481" name="Text 450"/>
          <p:cNvSpPr/>
          <p:nvPr/>
        </p:nvSpPr>
        <p:spPr>
          <a:xfrm>
            <a:off x="4852721" y="12344400"/>
            <a:ext cx="560527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보증료</a:t>
            </a:r>
            <a:endParaRPr lang="en-US" sz="1170" dirty="0"/>
          </a:p>
        </p:txBody>
      </p:sp>
      <p:sp>
        <p:nvSpPr>
          <p:cNvPr id="482" name="Shape 451"/>
          <p:cNvSpPr/>
          <p:nvPr/>
        </p:nvSpPr>
        <p:spPr>
          <a:xfrm>
            <a:off x="6559906" y="12295937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83" name="Shape 452"/>
          <p:cNvSpPr/>
          <p:nvPr/>
        </p:nvSpPr>
        <p:spPr>
          <a:xfrm>
            <a:off x="6949440" y="12295937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84" name="Shape 453"/>
          <p:cNvSpPr/>
          <p:nvPr/>
        </p:nvSpPr>
        <p:spPr>
          <a:xfrm>
            <a:off x="6559906" y="12515393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85" name="Shape 454"/>
          <p:cNvSpPr/>
          <p:nvPr/>
        </p:nvSpPr>
        <p:spPr>
          <a:xfrm>
            <a:off x="6949440" y="12515393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86" name="Shape 455"/>
          <p:cNvSpPr/>
          <p:nvPr/>
        </p:nvSpPr>
        <p:spPr>
          <a:xfrm>
            <a:off x="6620256" y="12295937"/>
            <a:ext cx="390449" cy="341071"/>
          </a:xfrm>
          <a:prstGeom prst="rect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87" name="Shape 456"/>
          <p:cNvSpPr/>
          <p:nvPr/>
        </p:nvSpPr>
        <p:spPr>
          <a:xfrm>
            <a:off x="6559906" y="12356287"/>
            <a:ext cx="512064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3B3B"/>
            </a:solidFill>
            <a:prstDash val="solid"/>
          </a:ln>
        </p:spPr>
      </p:sp>
      <p:sp>
        <p:nvSpPr>
          <p:cNvPr id="488" name="Shape 457"/>
          <p:cNvSpPr/>
          <p:nvPr/>
        </p:nvSpPr>
        <p:spPr>
          <a:xfrm>
            <a:off x="6620256" y="12305081"/>
            <a:ext cx="390449" cy="322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9" name="Shape 458"/>
          <p:cNvSpPr/>
          <p:nvPr/>
        </p:nvSpPr>
        <p:spPr>
          <a:xfrm>
            <a:off x="6569050" y="12356287"/>
            <a:ext cx="493776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0" name="Text 459"/>
          <p:cNvSpPr/>
          <p:nvPr/>
        </p:nvSpPr>
        <p:spPr>
          <a:xfrm>
            <a:off x="6559906" y="12295937"/>
            <a:ext cx="512064" cy="341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E23B3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1.30</a:t>
            </a:r>
            <a:endParaRPr lang="en-US" sz="1630" dirty="0"/>
          </a:p>
        </p:txBody>
      </p:sp>
      <p:sp>
        <p:nvSpPr>
          <p:cNvPr id="491" name="Text 460"/>
          <p:cNvSpPr/>
          <p:nvPr/>
        </p:nvSpPr>
        <p:spPr>
          <a:xfrm>
            <a:off x="4852721" y="12758623"/>
            <a:ext cx="560527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대출한도</a:t>
            </a:r>
            <a:endParaRPr lang="en-US" sz="1050" dirty="0"/>
          </a:p>
        </p:txBody>
      </p:sp>
      <p:sp>
        <p:nvSpPr>
          <p:cNvPr id="492" name="Shape 461"/>
          <p:cNvSpPr/>
          <p:nvPr/>
        </p:nvSpPr>
        <p:spPr>
          <a:xfrm>
            <a:off x="6559906" y="12710160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93" name="Shape 462"/>
          <p:cNvSpPr/>
          <p:nvPr/>
        </p:nvSpPr>
        <p:spPr>
          <a:xfrm>
            <a:off x="6949440" y="12710160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94" name="Shape 463"/>
          <p:cNvSpPr/>
          <p:nvPr/>
        </p:nvSpPr>
        <p:spPr>
          <a:xfrm>
            <a:off x="6559906" y="12929616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95" name="Shape 464"/>
          <p:cNvSpPr/>
          <p:nvPr/>
        </p:nvSpPr>
        <p:spPr>
          <a:xfrm>
            <a:off x="6949440" y="12929616"/>
            <a:ext cx="121615" cy="1216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96" name="Shape 465"/>
          <p:cNvSpPr/>
          <p:nvPr/>
        </p:nvSpPr>
        <p:spPr>
          <a:xfrm>
            <a:off x="6620256" y="12710160"/>
            <a:ext cx="390449" cy="341071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97" name="Shape 466"/>
          <p:cNvSpPr/>
          <p:nvPr/>
        </p:nvSpPr>
        <p:spPr>
          <a:xfrm>
            <a:off x="6559906" y="12771425"/>
            <a:ext cx="512064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98" name="Shape 467"/>
          <p:cNvSpPr/>
          <p:nvPr/>
        </p:nvSpPr>
        <p:spPr>
          <a:xfrm>
            <a:off x="6620256" y="12719304"/>
            <a:ext cx="390449" cy="322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9" name="Shape 468"/>
          <p:cNvSpPr/>
          <p:nvPr/>
        </p:nvSpPr>
        <p:spPr>
          <a:xfrm>
            <a:off x="6569050" y="12771425"/>
            <a:ext cx="493776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0" name="Text 469"/>
          <p:cNvSpPr/>
          <p:nvPr/>
        </p:nvSpPr>
        <p:spPr>
          <a:xfrm>
            <a:off x="6559906" y="12710160"/>
            <a:ext cx="512064" cy="341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1.11</a:t>
            </a:r>
            <a:endParaRPr lang="en-US" sz="1630" dirty="0"/>
          </a:p>
        </p:txBody>
      </p:sp>
      <p:graphicFrame>
        <p:nvGraphicFramePr>
          <p:cNvPr id="501" name="Chart 6" descr=""/>
          <p:cNvGraphicFramePr/>
          <p:nvPr/>
        </p:nvGraphicFramePr>
        <p:xfrm>
          <a:off x="5449824" y="11868912"/>
          <a:ext cx="1048817" cy="12435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0"/>
          </a:graphicData>
        </a:graphic>
      </p:graphicFrame>
      <p:sp>
        <p:nvSpPr>
          <p:cNvPr id="502" name="Text 470"/>
          <p:cNvSpPr/>
          <p:nvPr/>
        </p:nvSpPr>
        <p:spPr>
          <a:xfrm>
            <a:off x="4864608" y="13167360"/>
            <a:ext cx="2194560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격차 = 중요도 - 만족도</a:t>
            </a:r>
            <a:endParaRPr lang="en-US" sz="1170" dirty="0"/>
          </a:p>
        </p:txBody>
      </p:sp>
      <p:sp>
        <p:nvSpPr>
          <p:cNvPr id="503" name="Text 471"/>
          <p:cNvSpPr/>
          <p:nvPr/>
        </p:nvSpPr>
        <p:spPr>
          <a:xfrm>
            <a:off x="7193585" y="11130991"/>
            <a:ext cx="2340864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가장 필요한 보완·강화 정책</a:t>
            </a:r>
            <a:endParaRPr lang="en-US" sz="1520" dirty="0"/>
          </a:p>
        </p:txBody>
      </p:sp>
      <p:sp>
        <p:nvSpPr>
          <p:cNvPr id="504" name="Text 472"/>
          <p:cNvSpPr/>
          <p:nvPr/>
        </p:nvSpPr>
        <p:spPr>
          <a:xfrm>
            <a:off x="7193585" y="11411712"/>
            <a:ext cx="2340864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(1·2순위 합산)</a:t>
            </a:r>
            <a:endParaRPr lang="en-US" sz="1220" dirty="0"/>
          </a:p>
        </p:txBody>
      </p:sp>
      <p:sp>
        <p:nvSpPr>
          <p:cNvPr id="505" name="Shape 473"/>
          <p:cNvSpPr/>
          <p:nvPr/>
        </p:nvSpPr>
        <p:spPr>
          <a:xfrm>
            <a:off x="7230161" y="11710721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06" name="Shape 474"/>
          <p:cNvSpPr/>
          <p:nvPr/>
        </p:nvSpPr>
        <p:spPr>
          <a:xfrm>
            <a:off x="7230161" y="11710721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07" name="Shape 475"/>
          <p:cNvSpPr/>
          <p:nvPr/>
        </p:nvSpPr>
        <p:spPr>
          <a:xfrm>
            <a:off x="7230161" y="11710721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08" name="Shape 476"/>
          <p:cNvSpPr/>
          <p:nvPr/>
        </p:nvSpPr>
        <p:spPr>
          <a:xfrm>
            <a:off x="7230161" y="11710721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09" name="Shape 477"/>
          <p:cNvSpPr/>
          <p:nvPr/>
        </p:nvSpPr>
        <p:spPr>
          <a:xfrm>
            <a:off x="7321601" y="11710721"/>
            <a:ext cx="0" cy="18288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10" name="Shape 478"/>
          <p:cNvSpPr/>
          <p:nvPr/>
        </p:nvSpPr>
        <p:spPr>
          <a:xfrm>
            <a:off x="7230161" y="11802161"/>
            <a:ext cx="182880" cy="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11" name="Text 479"/>
          <p:cNvSpPr/>
          <p:nvPr/>
        </p:nvSpPr>
        <p:spPr>
          <a:xfrm>
            <a:off x="7230161" y="1171072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20" dirty="0"/>
          </a:p>
        </p:txBody>
      </p:sp>
      <p:sp>
        <p:nvSpPr>
          <p:cNvPr id="512" name="Text 480"/>
          <p:cNvSpPr/>
          <p:nvPr/>
        </p:nvSpPr>
        <p:spPr>
          <a:xfrm>
            <a:off x="7486193" y="11704320"/>
            <a:ext cx="79278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지원 금액 확대</a:t>
            </a:r>
            <a:endParaRPr lang="en-US" sz="1000" dirty="0"/>
          </a:p>
        </p:txBody>
      </p:sp>
      <p:sp>
        <p:nvSpPr>
          <p:cNvPr id="513" name="Shape 481"/>
          <p:cNvSpPr/>
          <p:nvPr/>
        </p:nvSpPr>
        <p:spPr>
          <a:xfrm>
            <a:off x="7230161" y="12006986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14" name="Shape 482"/>
          <p:cNvSpPr/>
          <p:nvPr/>
        </p:nvSpPr>
        <p:spPr>
          <a:xfrm>
            <a:off x="7230161" y="12006986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15" name="Shape 483"/>
          <p:cNvSpPr/>
          <p:nvPr/>
        </p:nvSpPr>
        <p:spPr>
          <a:xfrm>
            <a:off x="7230161" y="12006986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16" name="Shape 484"/>
          <p:cNvSpPr/>
          <p:nvPr/>
        </p:nvSpPr>
        <p:spPr>
          <a:xfrm>
            <a:off x="7230161" y="12006986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17" name="Shape 485"/>
          <p:cNvSpPr/>
          <p:nvPr/>
        </p:nvSpPr>
        <p:spPr>
          <a:xfrm>
            <a:off x="7321601" y="12006986"/>
            <a:ext cx="0" cy="18288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18" name="Shape 486"/>
          <p:cNvSpPr/>
          <p:nvPr/>
        </p:nvSpPr>
        <p:spPr>
          <a:xfrm>
            <a:off x="7230161" y="12098426"/>
            <a:ext cx="182880" cy="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19" name="Text 487"/>
          <p:cNvSpPr/>
          <p:nvPr/>
        </p:nvSpPr>
        <p:spPr>
          <a:xfrm>
            <a:off x="7230161" y="1200698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20" dirty="0"/>
          </a:p>
        </p:txBody>
      </p:sp>
      <p:sp>
        <p:nvSpPr>
          <p:cNvPr id="520" name="Text 488"/>
          <p:cNvSpPr/>
          <p:nvPr/>
        </p:nvSpPr>
        <p:spPr>
          <a:xfrm>
            <a:off x="7486193" y="12000586"/>
            <a:ext cx="79278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금리 인하</a:t>
            </a:r>
            <a:endParaRPr lang="en-US" sz="1320" dirty="0"/>
          </a:p>
        </p:txBody>
      </p:sp>
      <p:sp>
        <p:nvSpPr>
          <p:cNvPr id="521" name="Shape 489"/>
          <p:cNvSpPr/>
          <p:nvPr/>
        </p:nvSpPr>
        <p:spPr>
          <a:xfrm>
            <a:off x="7230161" y="12303252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22" name="Shape 490"/>
          <p:cNvSpPr/>
          <p:nvPr/>
        </p:nvSpPr>
        <p:spPr>
          <a:xfrm>
            <a:off x="7230161" y="12303252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23" name="Shape 491"/>
          <p:cNvSpPr/>
          <p:nvPr/>
        </p:nvSpPr>
        <p:spPr>
          <a:xfrm>
            <a:off x="7230161" y="12303252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24" name="Shape 492"/>
          <p:cNvSpPr/>
          <p:nvPr/>
        </p:nvSpPr>
        <p:spPr>
          <a:xfrm>
            <a:off x="7230161" y="12303252"/>
            <a:ext cx="182880" cy="182880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25" name="Shape 493"/>
          <p:cNvSpPr/>
          <p:nvPr/>
        </p:nvSpPr>
        <p:spPr>
          <a:xfrm>
            <a:off x="7321601" y="12303252"/>
            <a:ext cx="0" cy="18288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26" name="Shape 494"/>
          <p:cNvSpPr/>
          <p:nvPr/>
        </p:nvSpPr>
        <p:spPr>
          <a:xfrm>
            <a:off x="7230161" y="12394692"/>
            <a:ext cx="182880" cy="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27" name="Text 495"/>
          <p:cNvSpPr/>
          <p:nvPr/>
        </p:nvSpPr>
        <p:spPr>
          <a:xfrm>
            <a:off x="7230161" y="123032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20" dirty="0"/>
          </a:p>
        </p:txBody>
      </p:sp>
      <p:sp>
        <p:nvSpPr>
          <p:cNvPr id="528" name="Text 496"/>
          <p:cNvSpPr/>
          <p:nvPr/>
        </p:nvSpPr>
        <p:spPr>
          <a:xfrm>
            <a:off x="7486193" y="12296851"/>
            <a:ext cx="79278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보증료 인하</a:t>
            </a:r>
            <a:endParaRPr lang="en-US" sz="1180" dirty="0"/>
          </a:p>
        </p:txBody>
      </p:sp>
      <p:sp>
        <p:nvSpPr>
          <p:cNvPr id="529" name="Shape 497"/>
          <p:cNvSpPr/>
          <p:nvPr/>
        </p:nvSpPr>
        <p:spPr>
          <a:xfrm>
            <a:off x="7230161" y="12599518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30" name="Shape 498"/>
          <p:cNvSpPr/>
          <p:nvPr/>
        </p:nvSpPr>
        <p:spPr>
          <a:xfrm>
            <a:off x="7230161" y="12599518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31" name="Shape 499"/>
          <p:cNvSpPr/>
          <p:nvPr/>
        </p:nvSpPr>
        <p:spPr>
          <a:xfrm>
            <a:off x="7230161" y="12599518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32" name="Shape 500"/>
          <p:cNvSpPr/>
          <p:nvPr/>
        </p:nvSpPr>
        <p:spPr>
          <a:xfrm>
            <a:off x="7230161" y="12599518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33" name="Shape 501"/>
          <p:cNvSpPr/>
          <p:nvPr/>
        </p:nvSpPr>
        <p:spPr>
          <a:xfrm>
            <a:off x="7321601" y="12599518"/>
            <a:ext cx="0" cy="18288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534" name="Shape 502"/>
          <p:cNvSpPr/>
          <p:nvPr/>
        </p:nvSpPr>
        <p:spPr>
          <a:xfrm>
            <a:off x="7230161" y="12690958"/>
            <a:ext cx="182880" cy="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535" name="Text 503"/>
          <p:cNvSpPr/>
          <p:nvPr/>
        </p:nvSpPr>
        <p:spPr>
          <a:xfrm>
            <a:off x="7230161" y="1259951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020" dirty="0"/>
          </a:p>
        </p:txBody>
      </p:sp>
      <p:sp>
        <p:nvSpPr>
          <p:cNvPr id="536" name="Text 504"/>
          <p:cNvSpPr/>
          <p:nvPr/>
        </p:nvSpPr>
        <p:spPr>
          <a:xfrm>
            <a:off x="7486193" y="12593117"/>
            <a:ext cx="79278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상환기간 연장</a:t>
            </a:r>
            <a:endParaRPr lang="en-US" sz="1000" dirty="0"/>
          </a:p>
        </p:txBody>
      </p:sp>
      <p:sp>
        <p:nvSpPr>
          <p:cNvPr id="537" name="Shape 505"/>
          <p:cNvSpPr/>
          <p:nvPr/>
        </p:nvSpPr>
        <p:spPr>
          <a:xfrm>
            <a:off x="7230161" y="12895783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38" name="Shape 506"/>
          <p:cNvSpPr/>
          <p:nvPr/>
        </p:nvSpPr>
        <p:spPr>
          <a:xfrm>
            <a:off x="7230161" y="12895783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39" name="Shape 507"/>
          <p:cNvSpPr/>
          <p:nvPr/>
        </p:nvSpPr>
        <p:spPr>
          <a:xfrm>
            <a:off x="7230161" y="12895783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40" name="Shape 508"/>
          <p:cNvSpPr/>
          <p:nvPr/>
        </p:nvSpPr>
        <p:spPr>
          <a:xfrm>
            <a:off x="7230161" y="12895783"/>
            <a:ext cx="182880" cy="18288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541" name="Shape 509"/>
          <p:cNvSpPr/>
          <p:nvPr/>
        </p:nvSpPr>
        <p:spPr>
          <a:xfrm>
            <a:off x="7321601" y="12895783"/>
            <a:ext cx="0" cy="18288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542" name="Shape 510"/>
          <p:cNvSpPr/>
          <p:nvPr/>
        </p:nvSpPr>
        <p:spPr>
          <a:xfrm>
            <a:off x="7230161" y="12987223"/>
            <a:ext cx="182880" cy="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543" name="Text 511"/>
          <p:cNvSpPr/>
          <p:nvPr/>
        </p:nvSpPr>
        <p:spPr>
          <a:xfrm>
            <a:off x="7230161" y="1289578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020" dirty="0"/>
          </a:p>
        </p:txBody>
      </p:sp>
      <p:sp>
        <p:nvSpPr>
          <p:cNvPr id="544" name="Text 512"/>
          <p:cNvSpPr/>
          <p:nvPr/>
        </p:nvSpPr>
        <p:spPr>
          <a:xfrm>
            <a:off x="7486193" y="12889382"/>
            <a:ext cx="79278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320" dirty="0"/>
          </a:p>
        </p:txBody>
      </p:sp>
      <p:graphicFrame>
        <p:nvGraphicFramePr>
          <p:cNvPr id="545" name="Chart 7" descr=""/>
          <p:cNvGraphicFramePr/>
          <p:nvPr/>
        </p:nvGraphicFramePr>
        <p:xfrm>
          <a:off x="8254289" y="11644884"/>
          <a:ext cx="1292047" cy="1481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1"/>
          </a:graphicData>
        </a:graphic>
      </p:graphicFrame>
      <p:sp>
        <p:nvSpPr>
          <p:cNvPr id="546" name="Text 513"/>
          <p:cNvSpPr/>
          <p:nvPr/>
        </p:nvSpPr>
        <p:spPr>
          <a:xfrm>
            <a:off x="9066276" y="11471580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64.6</a:t>
            </a:r>
            <a:endParaRPr lang="en-US" sz="1730" dirty="0"/>
          </a:p>
        </p:txBody>
      </p:sp>
      <p:sp>
        <p:nvSpPr>
          <p:cNvPr id="547" name="Text 514"/>
          <p:cNvSpPr/>
          <p:nvPr/>
        </p:nvSpPr>
        <p:spPr>
          <a:xfrm>
            <a:off x="9503279" y="11598148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sp>
        <p:nvSpPr>
          <p:cNvPr id="548" name="Text 515"/>
          <p:cNvSpPr/>
          <p:nvPr/>
        </p:nvSpPr>
        <p:spPr>
          <a:xfrm>
            <a:off x="8921801" y="11767845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52.2</a:t>
            </a:r>
            <a:endParaRPr lang="en-US" sz="1730" dirty="0"/>
          </a:p>
        </p:txBody>
      </p:sp>
      <p:sp>
        <p:nvSpPr>
          <p:cNvPr id="549" name="Text 516"/>
          <p:cNvSpPr/>
          <p:nvPr/>
        </p:nvSpPr>
        <p:spPr>
          <a:xfrm>
            <a:off x="9358804" y="11894414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sp>
        <p:nvSpPr>
          <p:cNvPr id="550" name="Text 517"/>
          <p:cNvSpPr/>
          <p:nvPr/>
        </p:nvSpPr>
        <p:spPr>
          <a:xfrm>
            <a:off x="8647481" y="12064111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28.6</a:t>
            </a:r>
            <a:endParaRPr lang="en-US" sz="1730" dirty="0"/>
          </a:p>
        </p:txBody>
      </p:sp>
      <p:sp>
        <p:nvSpPr>
          <p:cNvPr id="551" name="Text 518"/>
          <p:cNvSpPr/>
          <p:nvPr/>
        </p:nvSpPr>
        <p:spPr>
          <a:xfrm>
            <a:off x="9084484" y="12190679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sp>
        <p:nvSpPr>
          <p:cNvPr id="552" name="Text 519"/>
          <p:cNvSpPr/>
          <p:nvPr/>
        </p:nvSpPr>
        <p:spPr>
          <a:xfrm>
            <a:off x="8553298" y="12360377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20.5</a:t>
            </a:r>
            <a:endParaRPr lang="en-US" sz="1730" dirty="0"/>
          </a:p>
        </p:txBody>
      </p:sp>
      <p:sp>
        <p:nvSpPr>
          <p:cNvPr id="553" name="Text 520"/>
          <p:cNvSpPr/>
          <p:nvPr/>
        </p:nvSpPr>
        <p:spPr>
          <a:xfrm>
            <a:off x="8990301" y="12486945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sp>
        <p:nvSpPr>
          <p:cNvPr id="554" name="Text 521"/>
          <p:cNvSpPr/>
          <p:nvPr/>
        </p:nvSpPr>
        <p:spPr>
          <a:xfrm>
            <a:off x="8356702" y="12656642"/>
            <a:ext cx="423034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3.6</a:t>
            </a:r>
            <a:endParaRPr lang="en-US" sz="1730" dirty="0"/>
          </a:p>
        </p:txBody>
      </p:sp>
      <p:sp>
        <p:nvSpPr>
          <p:cNvPr id="555" name="Text 522"/>
          <p:cNvSpPr/>
          <p:nvPr/>
        </p:nvSpPr>
        <p:spPr>
          <a:xfrm>
            <a:off x="8670008" y="12783210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sp>
        <p:nvSpPr>
          <p:cNvPr id="556" name="Text 523"/>
          <p:cNvSpPr/>
          <p:nvPr/>
        </p:nvSpPr>
        <p:spPr>
          <a:xfrm>
            <a:off x="7242048" y="13167360"/>
            <a:ext cx="2194560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복수응답 기준</a:t>
            </a:r>
            <a:endParaRPr lang="en-US" sz="1170" dirty="0"/>
          </a:p>
        </p:txBody>
      </p:sp>
      <p:sp>
        <p:nvSpPr>
          <p:cNvPr id="557" name="Shape 524"/>
          <p:cNvSpPr/>
          <p:nvPr/>
        </p:nvSpPr>
        <p:spPr>
          <a:xfrm>
            <a:off x="194767" y="13716000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58" name="Shape 525"/>
          <p:cNvSpPr/>
          <p:nvPr/>
        </p:nvSpPr>
        <p:spPr>
          <a:xfrm>
            <a:off x="9339682" y="13716000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59" name="Shape 526"/>
          <p:cNvSpPr/>
          <p:nvPr/>
        </p:nvSpPr>
        <p:spPr>
          <a:xfrm>
            <a:off x="194767" y="14307617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60" name="Shape 527"/>
          <p:cNvSpPr/>
          <p:nvPr/>
        </p:nvSpPr>
        <p:spPr>
          <a:xfrm>
            <a:off x="9339682" y="14307617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61" name="Shape 528"/>
          <p:cNvSpPr/>
          <p:nvPr/>
        </p:nvSpPr>
        <p:spPr>
          <a:xfrm>
            <a:off x="304495" y="13716000"/>
            <a:ext cx="9144000" cy="81107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562" name="Shape 529"/>
          <p:cNvSpPr/>
          <p:nvPr/>
        </p:nvSpPr>
        <p:spPr>
          <a:xfrm>
            <a:off x="194767" y="13825728"/>
            <a:ext cx="9363456" cy="591617"/>
          </a:xfrm>
          <a:prstGeom prst="rect">
            <a:avLst/>
          </a:prstGeom>
          <a:solidFill>
            <a:srgbClr val="00337F"/>
          </a:solidFill>
          <a:ln/>
        </p:spPr>
      </p:sp>
      <p:pic>
        <p:nvPicPr>
          <p:cNvPr id="563" name="Image 23" descr="g03-clipboard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8640" y="13825728"/>
            <a:ext cx="512064" cy="646481"/>
          </a:xfrm>
          <a:prstGeom prst="rect">
            <a:avLst/>
          </a:prstGeom>
        </p:spPr>
      </p:pic>
      <p:pic>
        <p:nvPicPr>
          <p:cNvPr id="564" name="Image 24" descr="g03-people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388706" y="13691311"/>
            <a:ext cx="1195121" cy="853135"/>
          </a:xfrm>
          <a:prstGeom prst="rect">
            <a:avLst/>
          </a:prstGeom>
        </p:spPr>
      </p:pic>
      <p:sp>
        <p:nvSpPr>
          <p:cNvPr id="565" name="Text 530"/>
          <p:cNvSpPr/>
          <p:nvPr/>
        </p:nvSpPr>
        <p:spPr>
          <a:xfrm>
            <a:off x="1304849" y="13813841"/>
            <a:ext cx="688909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신용보증은 기업의 든든한 버팀목!</a:t>
            </a:r>
            <a:endParaRPr lang="en-US" sz="1730" dirty="0"/>
          </a:p>
        </p:txBody>
      </p:sp>
      <p:sp>
        <p:nvSpPr>
          <p:cNvPr id="566" name="Text 531"/>
          <p:cNvSpPr/>
          <p:nvPr/>
        </p:nvSpPr>
        <p:spPr>
          <a:xfrm>
            <a:off x="1304849" y="14130223"/>
            <a:ext cx="688909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90" b="1" dirty="0">
                <a:solidFill>
                  <a:srgbClr val="FFD34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금리·보증료 부담 완화와 지원 확대를 통해 더 큰 성장과 안정이 가능합니다.</a:t>
            </a:r>
            <a:endParaRPr lang="en-US" sz="16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04-h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4" y="97841"/>
            <a:ext cx="3523183" cy="13167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" y="164592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" name="Shape 1"/>
          <p:cNvSpPr/>
          <p:nvPr/>
        </p:nvSpPr>
        <p:spPr>
          <a:xfrm>
            <a:off x="1005840" y="164592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" name="Shape 2"/>
          <p:cNvSpPr/>
          <p:nvPr/>
        </p:nvSpPr>
        <p:spPr>
          <a:xfrm>
            <a:off x="237744" y="811073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" name="Shape 3"/>
          <p:cNvSpPr/>
          <p:nvPr/>
        </p:nvSpPr>
        <p:spPr>
          <a:xfrm>
            <a:off x="1005840" y="811073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" name="Shape 4"/>
          <p:cNvSpPr/>
          <p:nvPr/>
        </p:nvSpPr>
        <p:spPr>
          <a:xfrm>
            <a:off x="372161" y="164592"/>
            <a:ext cx="768096" cy="914400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8" name="Shape 5"/>
          <p:cNvSpPr/>
          <p:nvPr/>
        </p:nvSpPr>
        <p:spPr>
          <a:xfrm>
            <a:off x="237744" y="299009"/>
            <a:ext cx="1036015" cy="64648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" y="164592"/>
            <a:ext cx="1036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5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04</a:t>
            </a:r>
            <a:endParaRPr lang="en-US" sz="4510" dirty="0"/>
          </a:p>
        </p:txBody>
      </p:sp>
      <p:sp>
        <p:nvSpPr>
          <p:cNvPr id="10" name="Text 7"/>
          <p:cNvSpPr/>
          <p:nvPr/>
        </p:nvSpPr>
        <p:spPr>
          <a:xfrm>
            <a:off x="1383487" y="158191"/>
            <a:ext cx="45107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60" b="1" dirty="0">
                <a:solidFill>
                  <a:srgbClr val="00337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디지털·AI 활용</a:t>
            </a:r>
            <a:endParaRPr lang="en-US" sz="3860" dirty="0"/>
          </a:p>
        </p:txBody>
      </p:sp>
      <p:sp>
        <p:nvSpPr>
          <p:cNvPr id="11" name="Text 8"/>
          <p:cNvSpPr/>
          <p:nvPr/>
        </p:nvSpPr>
        <p:spPr>
          <a:xfrm>
            <a:off x="1383487" y="779983"/>
            <a:ext cx="463326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1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도입은 아직 절반 수준, 활용 기업은,</a:t>
            </a:r>
            <a:endParaRPr lang="en-US" sz="151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51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비용 절감과 인력 효율화 효과를 더 크게 체감하고 있습니다.</a:t>
            </a:r>
            <a:endParaRPr lang="en-US" sz="1510" dirty="0"/>
          </a:p>
        </p:txBody>
      </p:sp>
      <p:sp>
        <p:nvSpPr>
          <p:cNvPr id="12" name="Shape 9"/>
          <p:cNvSpPr/>
          <p:nvPr/>
        </p:nvSpPr>
        <p:spPr>
          <a:xfrm>
            <a:off x="225857" y="167609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55441" y="167609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5857" y="4651553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55441" y="4651553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9359" y="1676095"/>
            <a:ext cx="3529584" cy="3243377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5857" y="1810512"/>
            <a:ext cx="3797503" cy="297454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9359" y="1685239"/>
            <a:ext cx="3529584" cy="32250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235001" y="1810512"/>
            <a:ext cx="3779215" cy="29745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359359" y="17254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1" name="Shape 18"/>
          <p:cNvSpPr/>
          <p:nvPr/>
        </p:nvSpPr>
        <p:spPr>
          <a:xfrm>
            <a:off x="2487168" y="17254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2" name="Shape 19"/>
          <p:cNvSpPr/>
          <p:nvPr/>
        </p:nvSpPr>
        <p:spPr>
          <a:xfrm>
            <a:off x="359359" y="1975104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3" name="Shape 20"/>
          <p:cNvSpPr/>
          <p:nvPr/>
        </p:nvSpPr>
        <p:spPr>
          <a:xfrm>
            <a:off x="2487168" y="1975104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4" name="Shape 21"/>
          <p:cNvSpPr/>
          <p:nvPr/>
        </p:nvSpPr>
        <p:spPr>
          <a:xfrm>
            <a:off x="427025" y="1725473"/>
            <a:ext cx="2127809" cy="38404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5" name="Shape 22"/>
          <p:cNvSpPr/>
          <p:nvPr/>
        </p:nvSpPr>
        <p:spPr>
          <a:xfrm>
            <a:off x="359359" y="1792224"/>
            <a:ext cx="2261311" cy="249631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6" name="Shape 23"/>
          <p:cNvSpPr/>
          <p:nvPr/>
        </p:nvSpPr>
        <p:spPr>
          <a:xfrm>
            <a:off x="359359" y="17254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7" name="Shape 24"/>
          <p:cNvSpPr/>
          <p:nvPr/>
        </p:nvSpPr>
        <p:spPr>
          <a:xfrm>
            <a:off x="591617" y="17254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8" name="Shape 25"/>
          <p:cNvSpPr/>
          <p:nvPr/>
        </p:nvSpPr>
        <p:spPr>
          <a:xfrm>
            <a:off x="359359" y="1975104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9" name="Shape 26"/>
          <p:cNvSpPr/>
          <p:nvPr/>
        </p:nvSpPr>
        <p:spPr>
          <a:xfrm>
            <a:off x="591617" y="1975104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0" name="Shape 27"/>
          <p:cNvSpPr/>
          <p:nvPr/>
        </p:nvSpPr>
        <p:spPr>
          <a:xfrm>
            <a:off x="427025" y="1725473"/>
            <a:ext cx="231343" cy="38404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1" name="Shape 28"/>
          <p:cNvSpPr/>
          <p:nvPr/>
        </p:nvSpPr>
        <p:spPr>
          <a:xfrm>
            <a:off x="359359" y="1792224"/>
            <a:ext cx="365760" cy="24963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2" name="Text 29"/>
          <p:cNvSpPr/>
          <p:nvPr/>
        </p:nvSpPr>
        <p:spPr>
          <a:xfrm>
            <a:off x="359359" y="172547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970" dirty="0"/>
          </a:p>
        </p:txBody>
      </p:sp>
      <p:sp>
        <p:nvSpPr>
          <p:cNvPr id="33" name="Text 30"/>
          <p:cNvSpPr/>
          <p:nvPr/>
        </p:nvSpPr>
        <p:spPr>
          <a:xfrm>
            <a:off x="847649" y="1725473"/>
            <a:ext cx="1712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9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디지털·AI 활용 여부</a:t>
            </a:r>
            <a:endParaRPr lang="en-US" sz="1490" dirty="0"/>
          </a:p>
        </p:txBody>
      </p:sp>
      <p:sp>
        <p:nvSpPr>
          <p:cNvPr id="34" name="Text 31"/>
          <p:cNvSpPr/>
          <p:nvPr/>
        </p:nvSpPr>
        <p:spPr>
          <a:xfrm>
            <a:off x="414223" y="2169871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응답 기업의 절반 이상이</a:t>
            </a:r>
            <a:endParaRPr lang="en-US" sz="157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아직 디지털·AI 기술을</a:t>
            </a:r>
            <a:endParaRPr lang="en-US" sz="157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업무에 활용하지 않고 있습니다.</a:t>
            </a:r>
            <a:endParaRPr lang="en-US" sz="157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1249985" y="3023921"/>
          <a:ext cx="17373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36" name="Image 1" descr="g04-bld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687" y="3609137"/>
            <a:ext cx="585216" cy="609905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353873" y="3364992"/>
            <a:ext cx="9144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2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활용하지</a:t>
            </a:r>
            <a:endParaRPr lang="en-US" sz="152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52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않음</a:t>
            </a:r>
            <a:endParaRPr lang="en-US" sz="1520" dirty="0"/>
          </a:p>
        </p:txBody>
      </p:sp>
      <p:sp>
        <p:nvSpPr>
          <p:cNvPr id="38" name="Text 33"/>
          <p:cNvSpPr/>
          <p:nvPr/>
        </p:nvSpPr>
        <p:spPr>
          <a:xfrm>
            <a:off x="363941" y="3561944"/>
            <a:ext cx="811964" cy="6708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8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52.2</a:t>
            </a:r>
            <a:endParaRPr lang="en-US" sz="2780" dirty="0"/>
          </a:p>
        </p:txBody>
      </p:sp>
      <p:sp>
        <p:nvSpPr>
          <p:cNvPr id="39" name="Text 34"/>
          <p:cNvSpPr/>
          <p:nvPr/>
        </p:nvSpPr>
        <p:spPr>
          <a:xfrm>
            <a:off x="1066178" y="3796106"/>
            <a:ext cx="301755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730" dirty="0"/>
          </a:p>
        </p:txBody>
      </p:sp>
      <p:sp>
        <p:nvSpPr>
          <p:cNvPr id="40" name="Text 35"/>
          <p:cNvSpPr/>
          <p:nvPr/>
        </p:nvSpPr>
        <p:spPr>
          <a:xfrm>
            <a:off x="2987345" y="3535985"/>
            <a:ext cx="975665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활용 중</a:t>
            </a:r>
            <a:endParaRPr lang="en-US" sz="1520" dirty="0"/>
          </a:p>
        </p:txBody>
      </p:sp>
      <p:sp>
        <p:nvSpPr>
          <p:cNvPr id="41" name="Text 36"/>
          <p:cNvSpPr/>
          <p:nvPr/>
        </p:nvSpPr>
        <p:spPr>
          <a:xfrm>
            <a:off x="3028046" y="3538169"/>
            <a:ext cx="811964" cy="6708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8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47.8</a:t>
            </a:r>
            <a:endParaRPr lang="en-US" sz="2780" dirty="0"/>
          </a:p>
        </p:txBody>
      </p:sp>
      <p:sp>
        <p:nvSpPr>
          <p:cNvPr id="42" name="Text 37"/>
          <p:cNvSpPr/>
          <p:nvPr/>
        </p:nvSpPr>
        <p:spPr>
          <a:xfrm>
            <a:off x="3730282" y="3772332"/>
            <a:ext cx="301755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730" dirty="0"/>
          </a:p>
        </p:txBody>
      </p:sp>
      <p:sp>
        <p:nvSpPr>
          <p:cNvPr id="43" name="Shape 38"/>
          <p:cNvSpPr/>
          <p:nvPr/>
        </p:nvSpPr>
        <p:spPr>
          <a:xfrm>
            <a:off x="4151376" y="167609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9162288" y="167609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4151376" y="4651553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162288" y="4651553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4285793" y="1676095"/>
            <a:ext cx="5010912" cy="3243377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4151376" y="1810512"/>
            <a:ext cx="5279746" cy="297454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4285793" y="1685239"/>
            <a:ext cx="5010912" cy="32250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5"/>
          <p:cNvSpPr/>
          <p:nvPr/>
        </p:nvSpPr>
        <p:spPr>
          <a:xfrm>
            <a:off x="4160520" y="1810512"/>
            <a:ext cx="5261458" cy="29745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6"/>
          <p:cNvSpPr/>
          <p:nvPr/>
        </p:nvSpPr>
        <p:spPr>
          <a:xfrm>
            <a:off x="4315968" y="17254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2" name="Shape 47"/>
          <p:cNvSpPr/>
          <p:nvPr/>
        </p:nvSpPr>
        <p:spPr>
          <a:xfrm>
            <a:off x="6279185" y="17254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3" name="Shape 48"/>
          <p:cNvSpPr/>
          <p:nvPr/>
        </p:nvSpPr>
        <p:spPr>
          <a:xfrm>
            <a:off x="4315968" y="1975104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4" name="Shape 49"/>
          <p:cNvSpPr/>
          <p:nvPr/>
        </p:nvSpPr>
        <p:spPr>
          <a:xfrm>
            <a:off x="6279185" y="1975104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5" name="Shape 50"/>
          <p:cNvSpPr/>
          <p:nvPr/>
        </p:nvSpPr>
        <p:spPr>
          <a:xfrm>
            <a:off x="4382719" y="1725473"/>
            <a:ext cx="1963217" cy="38404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6" name="Shape 51"/>
          <p:cNvSpPr/>
          <p:nvPr/>
        </p:nvSpPr>
        <p:spPr>
          <a:xfrm>
            <a:off x="4315968" y="1792224"/>
            <a:ext cx="2096719" cy="249631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7" name="Shape 52"/>
          <p:cNvSpPr/>
          <p:nvPr/>
        </p:nvSpPr>
        <p:spPr>
          <a:xfrm>
            <a:off x="4315968" y="17254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8" name="Shape 53"/>
          <p:cNvSpPr/>
          <p:nvPr/>
        </p:nvSpPr>
        <p:spPr>
          <a:xfrm>
            <a:off x="4547311" y="17254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9" name="Shape 54"/>
          <p:cNvSpPr/>
          <p:nvPr/>
        </p:nvSpPr>
        <p:spPr>
          <a:xfrm>
            <a:off x="4315968" y="1975104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0" name="Shape 55"/>
          <p:cNvSpPr/>
          <p:nvPr/>
        </p:nvSpPr>
        <p:spPr>
          <a:xfrm>
            <a:off x="4547311" y="1975104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1" name="Shape 56"/>
          <p:cNvSpPr/>
          <p:nvPr/>
        </p:nvSpPr>
        <p:spPr>
          <a:xfrm>
            <a:off x="4382719" y="1725473"/>
            <a:ext cx="231343" cy="38404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62" name="Shape 57"/>
          <p:cNvSpPr/>
          <p:nvPr/>
        </p:nvSpPr>
        <p:spPr>
          <a:xfrm>
            <a:off x="4315968" y="1792224"/>
            <a:ext cx="365760" cy="24963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63" name="Text 58"/>
          <p:cNvSpPr/>
          <p:nvPr/>
        </p:nvSpPr>
        <p:spPr>
          <a:xfrm>
            <a:off x="4315968" y="172547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970" dirty="0"/>
          </a:p>
        </p:txBody>
      </p:sp>
      <p:sp>
        <p:nvSpPr>
          <p:cNvPr id="64" name="Text 59"/>
          <p:cNvSpPr/>
          <p:nvPr/>
        </p:nvSpPr>
        <p:spPr>
          <a:xfrm>
            <a:off x="4803343" y="1725473"/>
            <a:ext cx="1548079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9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활용 분야</a:t>
            </a:r>
            <a:pPr algn="l" indent="0" marL="0">
              <a:lnSpc>
                <a:spcPct val="95000"/>
              </a:lnSpc>
              <a:buNone/>
            </a:pPr>
            <a:r>
              <a:rPr lang="en-US" sz="119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(복수응답)</a:t>
            </a:r>
            <a:endParaRPr lang="en-US" sz="1590" dirty="0"/>
          </a:p>
        </p:txBody>
      </p:sp>
      <p:sp>
        <p:nvSpPr>
          <p:cNvPr id="65" name="Text 60"/>
          <p:cNvSpPr/>
          <p:nvPr/>
        </p:nvSpPr>
        <p:spPr>
          <a:xfrm>
            <a:off x="4364431" y="2169871"/>
            <a:ext cx="4877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금융과 판매·주문 관리 분야의 활용이 가장 많습니다.</a:t>
            </a:r>
            <a:endParaRPr lang="en-US" sz="1570" dirty="0"/>
          </a:p>
        </p:txBody>
      </p:sp>
      <p:pic>
        <p:nvPicPr>
          <p:cNvPr id="66" name="Image 2" descr="g04-fld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566721"/>
            <a:ext cx="463601" cy="450799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4950562" y="2505456"/>
            <a:ext cx="1170432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</a:t>
            </a:r>
            <a:endParaRPr lang="en-US" sz="1520" dirty="0"/>
          </a:p>
        </p:txBody>
      </p:sp>
      <p:sp>
        <p:nvSpPr>
          <p:cNvPr id="68" name="Text 62"/>
          <p:cNvSpPr/>
          <p:nvPr/>
        </p:nvSpPr>
        <p:spPr>
          <a:xfrm>
            <a:off x="4950562" y="2713025"/>
            <a:ext cx="1182319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7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(간편결제·자금관리 등)</a:t>
            </a:r>
            <a:endParaRPr lang="en-US" sz="1070" dirty="0"/>
          </a:p>
        </p:txBody>
      </p:sp>
      <p:pic>
        <p:nvPicPr>
          <p:cNvPr id="69" name="Image 3" descr="g04-fld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056839"/>
            <a:ext cx="463601" cy="450799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4950562" y="2996489"/>
            <a:ext cx="1170432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판매·주문 관리</a:t>
            </a:r>
            <a:endParaRPr lang="en-US" sz="1280" dirty="0"/>
          </a:p>
        </p:txBody>
      </p:sp>
      <p:sp>
        <p:nvSpPr>
          <p:cNvPr id="71" name="Text 64"/>
          <p:cNvSpPr/>
          <p:nvPr/>
        </p:nvSpPr>
        <p:spPr>
          <a:xfrm>
            <a:off x="4950562" y="3203143"/>
            <a:ext cx="1182319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7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(POS·키오스크 등)</a:t>
            </a:r>
            <a:endParaRPr lang="en-US" sz="1070" dirty="0"/>
          </a:p>
        </p:txBody>
      </p:sp>
      <p:pic>
        <p:nvPicPr>
          <p:cNvPr id="72" name="Image 4" descr="g04-fld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547872"/>
            <a:ext cx="463601" cy="450799"/>
          </a:xfrm>
          <a:prstGeom prst="rect">
            <a:avLst/>
          </a:prstGeom>
        </p:spPr>
      </p:pic>
      <p:sp>
        <p:nvSpPr>
          <p:cNvPr id="73" name="Text 65"/>
          <p:cNvSpPr/>
          <p:nvPr/>
        </p:nvSpPr>
        <p:spPr>
          <a:xfrm>
            <a:off x="4950562" y="3486607"/>
            <a:ext cx="1170432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마케팅·고객관리</a:t>
            </a:r>
            <a:endParaRPr lang="en-US" sz="1180" dirty="0"/>
          </a:p>
        </p:txBody>
      </p:sp>
      <p:sp>
        <p:nvSpPr>
          <p:cNvPr id="74" name="Text 66"/>
          <p:cNvSpPr/>
          <p:nvPr/>
        </p:nvSpPr>
        <p:spPr>
          <a:xfrm>
            <a:off x="4950562" y="3694176"/>
            <a:ext cx="1182319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7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(SNS·CRM 등)</a:t>
            </a:r>
            <a:endParaRPr lang="en-US" sz="1070" dirty="0"/>
          </a:p>
        </p:txBody>
      </p:sp>
      <p:pic>
        <p:nvPicPr>
          <p:cNvPr id="75" name="Image 5" descr="g04-fld4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4038905"/>
            <a:ext cx="463601" cy="450799"/>
          </a:xfrm>
          <a:prstGeom prst="rect">
            <a:avLst/>
          </a:prstGeom>
        </p:spPr>
      </p:pic>
      <p:sp>
        <p:nvSpPr>
          <p:cNvPr id="76" name="Text 67"/>
          <p:cNvSpPr/>
          <p:nvPr/>
        </p:nvSpPr>
        <p:spPr>
          <a:xfrm>
            <a:off x="4950562" y="3977640"/>
            <a:ext cx="1170432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생산·공정 관리</a:t>
            </a:r>
            <a:endParaRPr lang="en-US" sz="1280" dirty="0"/>
          </a:p>
        </p:txBody>
      </p:sp>
      <p:sp>
        <p:nvSpPr>
          <p:cNvPr id="77" name="Text 68"/>
          <p:cNvSpPr/>
          <p:nvPr/>
        </p:nvSpPr>
        <p:spPr>
          <a:xfrm>
            <a:off x="4950562" y="4185209"/>
            <a:ext cx="1182319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7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(스마트 팩토리 등)</a:t>
            </a:r>
            <a:endParaRPr lang="en-US" sz="1070" dirty="0"/>
          </a:p>
        </p:txBody>
      </p:sp>
      <p:pic>
        <p:nvPicPr>
          <p:cNvPr id="78" name="Image 6" descr="g04-fld5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4529023"/>
            <a:ext cx="463601" cy="450799"/>
          </a:xfrm>
          <a:prstGeom prst="rect">
            <a:avLst/>
          </a:prstGeom>
        </p:spPr>
      </p:pic>
      <p:sp>
        <p:nvSpPr>
          <p:cNvPr id="79" name="Text 69"/>
          <p:cNvSpPr/>
          <p:nvPr/>
        </p:nvSpPr>
        <p:spPr>
          <a:xfrm>
            <a:off x="4950562" y="4565599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520" dirty="0"/>
          </a:p>
        </p:txBody>
      </p:sp>
      <p:graphicFrame>
        <p:nvGraphicFramePr>
          <p:cNvPr id="80" name="Chart 1" descr=""/>
          <p:cNvGraphicFramePr/>
          <p:nvPr/>
        </p:nvGraphicFramePr>
        <p:xfrm>
          <a:off x="6120994" y="2500884"/>
          <a:ext cx="3170225" cy="245333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81" name="Shape 70"/>
          <p:cNvSpPr/>
          <p:nvPr/>
        </p:nvSpPr>
        <p:spPr>
          <a:xfrm>
            <a:off x="219456" y="518739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2" name="Shape 71"/>
          <p:cNvSpPr/>
          <p:nvPr/>
        </p:nvSpPr>
        <p:spPr>
          <a:xfrm>
            <a:off x="3023921" y="518739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3" name="Shape 72"/>
          <p:cNvSpPr/>
          <p:nvPr/>
        </p:nvSpPr>
        <p:spPr>
          <a:xfrm>
            <a:off x="219456" y="819302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4" name="Shape 73"/>
          <p:cNvSpPr/>
          <p:nvPr/>
        </p:nvSpPr>
        <p:spPr>
          <a:xfrm>
            <a:off x="3023921" y="819302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5" name="Shape 74"/>
          <p:cNvSpPr/>
          <p:nvPr/>
        </p:nvSpPr>
        <p:spPr>
          <a:xfrm>
            <a:off x="353873" y="5187391"/>
            <a:ext cx="2804465" cy="3273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6" name="Shape 75"/>
          <p:cNvSpPr/>
          <p:nvPr/>
        </p:nvSpPr>
        <p:spPr>
          <a:xfrm>
            <a:off x="219456" y="5321808"/>
            <a:ext cx="3072384" cy="300563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7" name="Shape 76"/>
          <p:cNvSpPr/>
          <p:nvPr/>
        </p:nvSpPr>
        <p:spPr>
          <a:xfrm>
            <a:off x="353873" y="5196535"/>
            <a:ext cx="2804465" cy="3255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Shape 77"/>
          <p:cNvSpPr/>
          <p:nvPr/>
        </p:nvSpPr>
        <p:spPr>
          <a:xfrm>
            <a:off x="228600" y="5321808"/>
            <a:ext cx="3054096" cy="30056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Shape 78"/>
          <p:cNvSpPr/>
          <p:nvPr/>
        </p:nvSpPr>
        <p:spPr>
          <a:xfrm>
            <a:off x="3401568" y="518739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0" name="Shape 79"/>
          <p:cNvSpPr/>
          <p:nvPr/>
        </p:nvSpPr>
        <p:spPr>
          <a:xfrm>
            <a:off x="6011266" y="518739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1" name="Shape 80"/>
          <p:cNvSpPr/>
          <p:nvPr/>
        </p:nvSpPr>
        <p:spPr>
          <a:xfrm>
            <a:off x="3401568" y="819302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2" name="Shape 81"/>
          <p:cNvSpPr/>
          <p:nvPr/>
        </p:nvSpPr>
        <p:spPr>
          <a:xfrm>
            <a:off x="6011266" y="819302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3" name="Shape 82"/>
          <p:cNvSpPr/>
          <p:nvPr/>
        </p:nvSpPr>
        <p:spPr>
          <a:xfrm>
            <a:off x="3535985" y="5187391"/>
            <a:ext cx="2608783" cy="3273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4" name="Shape 83"/>
          <p:cNvSpPr/>
          <p:nvPr/>
        </p:nvSpPr>
        <p:spPr>
          <a:xfrm>
            <a:off x="3401568" y="5321808"/>
            <a:ext cx="2877617" cy="300563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5" name="Shape 84"/>
          <p:cNvSpPr/>
          <p:nvPr/>
        </p:nvSpPr>
        <p:spPr>
          <a:xfrm>
            <a:off x="3535985" y="5196535"/>
            <a:ext cx="2608783" cy="3255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Shape 85"/>
          <p:cNvSpPr/>
          <p:nvPr/>
        </p:nvSpPr>
        <p:spPr>
          <a:xfrm>
            <a:off x="3410712" y="5321808"/>
            <a:ext cx="2859329" cy="30056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hape 86"/>
          <p:cNvSpPr/>
          <p:nvPr/>
        </p:nvSpPr>
        <p:spPr>
          <a:xfrm>
            <a:off x="6382512" y="518739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8" name="Shape 87"/>
          <p:cNvSpPr/>
          <p:nvPr/>
        </p:nvSpPr>
        <p:spPr>
          <a:xfrm>
            <a:off x="9162288" y="518739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9" name="Shape 88"/>
          <p:cNvSpPr/>
          <p:nvPr/>
        </p:nvSpPr>
        <p:spPr>
          <a:xfrm>
            <a:off x="6382512" y="819302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0" name="Shape 89"/>
          <p:cNvSpPr/>
          <p:nvPr/>
        </p:nvSpPr>
        <p:spPr>
          <a:xfrm>
            <a:off x="9162288" y="819302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1" name="Shape 90"/>
          <p:cNvSpPr/>
          <p:nvPr/>
        </p:nvSpPr>
        <p:spPr>
          <a:xfrm>
            <a:off x="6516929" y="5187391"/>
            <a:ext cx="2779776" cy="3273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2" name="Shape 91"/>
          <p:cNvSpPr/>
          <p:nvPr/>
        </p:nvSpPr>
        <p:spPr>
          <a:xfrm>
            <a:off x="6382512" y="5321808"/>
            <a:ext cx="3047695" cy="300563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3" name="Shape 92"/>
          <p:cNvSpPr/>
          <p:nvPr/>
        </p:nvSpPr>
        <p:spPr>
          <a:xfrm>
            <a:off x="6516929" y="5196535"/>
            <a:ext cx="2779776" cy="3255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Shape 93"/>
          <p:cNvSpPr/>
          <p:nvPr/>
        </p:nvSpPr>
        <p:spPr>
          <a:xfrm>
            <a:off x="6391656" y="5321808"/>
            <a:ext cx="3029407" cy="30056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Shape 94"/>
          <p:cNvSpPr/>
          <p:nvPr/>
        </p:nvSpPr>
        <p:spPr>
          <a:xfrm>
            <a:off x="347472" y="5218481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06" name="Shape 95"/>
          <p:cNvSpPr/>
          <p:nvPr/>
        </p:nvSpPr>
        <p:spPr>
          <a:xfrm>
            <a:off x="2566721" y="5218481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07" name="Shape 96"/>
          <p:cNvSpPr/>
          <p:nvPr/>
        </p:nvSpPr>
        <p:spPr>
          <a:xfrm>
            <a:off x="347472" y="5468112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08" name="Shape 97"/>
          <p:cNvSpPr/>
          <p:nvPr/>
        </p:nvSpPr>
        <p:spPr>
          <a:xfrm>
            <a:off x="2566721" y="5468112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09" name="Shape 98"/>
          <p:cNvSpPr/>
          <p:nvPr/>
        </p:nvSpPr>
        <p:spPr>
          <a:xfrm>
            <a:off x="414223" y="5218481"/>
            <a:ext cx="2219249" cy="38404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10" name="Shape 99"/>
          <p:cNvSpPr/>
          <p:nvPr/>
        </p:nvSpPr>
        <p:spPr>
          <a:xfrm>
            <a:off x="347472" y="5285232"/>
            <a:ext cx="2352751" cy="249631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11" name="Shape 100"/>
          <p:cNvSpPr/>
          <p:nvPr/>
        </p:nvSpPr>
        <p:spPr>
          <a:xfrm>
            <a:off x="347472" y="5218481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2" name="Shape 101"/>
          <p:cNvSpPr/>
          <p:nvPr/>
        </p:nvSpPr>
        <p:spPr>
          <a:xfrm>
            <a:off x="578815" y="5218481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3" name="Shape 102"/>
          <p:cNvSpPr/>
          <p:nvPr/>
        </p:nvSpPr>
        <p:spPr>
          <a:xfrm>
            <a:off x="347472" y="5468112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4" name="Shape 103"/>
          <p:cNvSpPr/>
          <p:nvPr/>
        </p:nvSpPr>
        <p:spPr>
          <a:xfrm>
            <a:off x="578815" y="5468112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5" name="Shape 104"/>
          <p:cNvSpPr/>
          <p:nvPr/>
        </p:nvSpPr>
        <p:spPr>
          <a:xfrm>
            <a:off x="414223" y="5218481"/>
            <a:ext cx="231343" cy="38404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16" name="Shape 105"/>
          <p:cNvSpPr/>
          <p:nvPr/>
        </p:nvSpPr>
        <p:spPr>
          <a:xfrm>
            <a:off x="347472" y="5285232"/>
            <a:ext cx="365760" cy="24963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17" name="Text 106"/>
          <p:cNvSpPr/>
          <p:nvPr/>
        </p:nvSpPr>
        <p:spPr>
          <a:xfrm>
            <a:off x="347472" y="5218481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970" dirty="0"/>
          </a:p>
        </p:txBody>
      </p:sp>
      <p:sp>
        <p:nvSpPr>
          <p:cNvPr id="118" name="Text 107"/>
          <p:cNvSpPr/>
          <p:nvPr/>
        </p:nvSpPr>
        <p:spPr>
          <a:xfrm>
            <a:off x="834847" y="5218481"/>
            <a:ext cx="1804111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도입 효과</a:t>
            </a:r>
            <a:pPr algn="l" indent="0" marL="0">
              <a:lnSpc>
                <a:spcPct val="95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(7점 척도 평균)</a:t>
            </a:r>
            <a:endParaRPr lang="en-US" sz="1510" dirty="0"/>
          </a:p>
        </p:txBody>
      </p:sp>
      <p:sp>
        <p:nvSpPr>
          <p:cNvPr id="119" name="Shape 108"/>
          <p:cNvSpPr/>
          <p:nvPr/>
        </p:nvSpPr>
        <p:spPr>
          <a:xfrm>
            <a:off x="3523183" y="5236769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20" name="Shape 109"/>
          <p:cNvSpPr/>
          <p:nvPr/>
        </p:nvSpPr>
        <p:spPr>
          <a:xfrm>
            <a:off x="6035040" y="5236769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21" name="Shape 110"/>
          <p:cNvSpPr/>
          <p:nvPr/>
        </p:nvSpPr>
        <p:spPr>
          <a:xfrm>
            <a:off x="3523183" y="5486400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22" name="Shape 111"/>
          <p:cNvSpPr/>
          <p:nvPr/>
        </p:nvSpPr>
        <p:spPr>
          <a:xfrm>
            <a:off x="6035040" y="5486400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23" name="Shape 112"/>
          <p:cNvSpPr/>
          <p:nvPr/>
        </p:nvSpPr>
        <p:spPr>
          <a:xfrm>
            <a:off x="3590849" y="5236769"/>
            <a:ext cx="2511857" cy="38404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24" name="Shape 113"/>
          <p:cNvSpPr/>
          <p:nvPr/>
        </p:nvSpPr>
        <p:spPr>
          <a:xfrm>
            <a:off x="3523183" y="5303520"/>
            <a:ext cx="2645359" cy="249631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25" name="Shape 114"/>
          <p:cNvSpPr/>
          <p:nvPr/>
        </p:nvSpPr>
        <p:spPr>
          <a:xfrm>
            <a:off x="3523183" y="5236769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26" name="Shape 115"/>
          <p:cNvSpPr/>
          <p:nvPr/>
        </p:nvSpPr>
        <p:spPr>
          <a:xfrm>
            <a:off x="3755441" y="5236769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27" name="Shape 116"/>
          <p:cNvSpPr/>
          <p:nvPr/>
        </p:nvSpPr>
        <p:spPr>
          <a:xfrm>
            <a:off x="3523183" y="5486400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28" name="Shape 117"/>
          <p:cNvSpPr/>
          <p:nvPr/>
        </p:nvSpPr>
        <p:spPr>
          <a:xfrm>
            <a:off x="3755441" y="5486400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29" name="Shape 118"/>
          <p:cNvSpPr/>
          <p:nvPr/>
        </p:nvSpPr>
        <p:spPr>
          <a:xfrm>
            <a:off x="3590849" y="5236769"/>
            <a:ext cx="231343" cy="38404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30" name="Shape 119"/>
          <p:cNvSpPr/>
          <p:nvPr/>
        </p:nvSpPr>
        <p:spPr>
          <a:xfrm>
            <a:off x="3523183" y="5303520"/>
            <a:ext cx="365760" cy="24963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31" name="Text 120"/>
          <p:cNvSpPr/>
          <p:nvPr/>
        </p:nvSpPr>
        <p:spPr>
          <a:xfrm>
            <a:off x="3523183" y="5236769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970" dirty="0"/>
          </a:p>
        </p:txBody>
      </p:sp>
      <p:sp>
        <p:nvSpPr>
          <p:cNvPr id="132" name="Text 121"/>
          <p:cNvSpPr/>
          <p:nvPr/>
        </p:nvSpPr>
        <p:spPr>
          <a:xfrm>
            <a:off x="4011473" y="5236769"/>
            <a:ext cx="2096719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9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도입의 가장 큰 어려움</a:t>
            </a:r>
            <a:pPr algn="l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(1순위)</a:t>
            </a:r>
            <a:endParaRPr lang="en-US" sz="1390" dirty="0"/>
          </a:p>
        </p:txBody>
      </p:sp>
      <p:sp>
        <p:nvSpPr>
          <p:cNvPr id="133" name="Shape 122"/>
          <p:cNvSpPr/>
          <p:nvPr/>
        </p:nvSpPr>
        <p:spPr>
          <a:xfrm>
            <a:off x="6468466" y="5236769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34" name="Shape 123"/>
          <p:cNvSpPr/>
          <p:nvPr/>
        </p:nvSpPr>
        <p:spPr>
          <a:xfrm>
            <a:off x="9156802" y="5236769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35" name="Shape 124"/>
          <p:cNvSpPr/>
          <p:nvPr/>
        </p:nvSpPr>
        <p:spPr>
          <a:xfrm>
            <a:off x="6468466" y="5486400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36" name="Shape 125"/>
          <p:cNvSpPr/>
          <p:nvPr/>
        </p:nvSpPr>
        <p:spPr>
          <a:xfrm>
            <a:off x="9156802" y="5486400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37" name="Shape 126"/>
          <p:cNvSpPr/>
          <p:nvPr/>
        </p:nvSpPr>
        <p:spPr>
          <a:xfrm>
            <a:off x="6535217" y="5236769"/>
            <a:ext cx="2688336" cy="38404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38" name="Shape 127"/>
          <p:cNvSpPr/>
          <p:nvPr/>
        </p:nvSpPr>
        <p:spPr>
          <a:xfrm>
            <a:off x="6468466" y="5303520"/>
            <a:ext cx="2822753" cy="249631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39" name="Shape 128"/>
          <p:cNvSpPr/>
          <p:nvPr/>
        </p:nvSpPr>
        <p:spPr>
          <a:xfrm>
            <a:off x="6468466" y="5236769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0" name="Shape 129"/>
          <p:cNvSpPr/>
          <p:nvPr/>
        </p:nvSpPr>
        <p:spPr>
          <a:xfrm>
            <a:off x="6699809" y="5236769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1" name="Shape 130"/>
          <p:cNvSpPr/>
          <p:nvPr/>
        </p:nvSpPr>
        <p:spPr>
          <a:xfrm>
            <a:off x="6468466" y="5486400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2" name="Shape 131"/>
          <p:cNvSpPr/>
          <p:nvPr/>
        </p:nvSpPr>
        <p:spPr>
          <a:xfrm>
            <a:off x="6699809" y="5486400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3" name="Shape 132"/>
          <p:cNvSpPr/>
          <p:nvPr/>
        </p:nvSpPr>
        <p:spPr>
          <a:xfrm>
            <a:off x="6535217" y="5236769"/>
            <a:ext cx="231343" cy="38404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44" name="Shape 133"/>
          <p:cNvSpPr/>
          <p:nvPr/>
        </p:nvSpPr>
        <p:spPr>
          <a:xfrm>
            <a:off x="6468466" y="5303520"/>
            <a:ext cx="365760" cy="24963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45" name="Text 134"/>
          <p:cNvSpPr/>
          <p:nvPr/>
        </p:nvSpPr>
        <p:spPr>
          <a:xfrm>
            <a:off x="6468466" y="5236769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970" dirty="0"/>
          </a:p>
        </p:txBody>
      </p:sp>
      <p:sp>
        <p:nvSpPr>
          <p:cNvPr id="146" name="Text 135"/>
          <p:cNvSpPr/>
          <p:nvPr/>
        </p:nvSpPr>
        <p:spPr>
          <a:xfrm>
            <a:off x="6955841" y="5236769"/>
            <a:ext cx="2274113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가장 필요한 지원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(1·2순위 합산)</a:t>
            </a:r>
            <a:endParaRPr lang="en-US" sz="1470" dirty="0"/>
          </a:p>
        </p:txBody>
      </p:sp>
      <p:sp>
        <p:nvSpPr>
          <p:cNvPr id="147" name="Text 136"/>
          <p:cNvSpPr/>
          <p:nvPr/>
        </p:nvSpPr>
        <p:spPr>
          <a:xfrm>
            <a:off x="402336" y="5669280"/>
            <a:ext cx="2804465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6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 확대보다는 비용 절감과</a:t>
            </a:r>
            <a:endParaRPr lang="en-US" sz="136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36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인력 효율화 효과를 더 크게 체감합니다.</a:t>
            </a:r>
            <a:endParaRPr lang="en-US" sz="1360" dirty="0"/>
          </a:p>
        </p:txBody>
      </p:sp>
      <p:sp>
        <p:nvSpPr>
          <p:cNvPr id="148" name="Text 137"/>
          <p:cNvSpPr/>
          <p:nvPr/>
        </p:nvSpPr>
        <p:spPr>
          <a:xfrm>
            <a:off x="3584448" y="5687568"/>
            <a:ext cx="2560320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기술에 대한 정보 부족이</a:t>
            </a:r>
            <a:endParaRPr lang="en-US" sz="14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가장 큰 어려움으로 나타났습니다.</a:t>
            </a:r>
            <a:endParaRPr lang="en-US" sz="1420" dirty="0"/>
          </a:p>
        </p:txBody>
      </p:sp>
      <p:sp>
        <p:nvSpPr>
          <p:cNvPr id="149" name="Text 138"/>
          <p:cNvSpPr/>
          <p:nvPr/>
        </p:nvSpPr>
        <p:spPr>
          <a:xfrm>
            <a:off x="6528816" y="5687568"/>
            <a:ext cx="2743200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정보·교육 격차 해소를 위한</a:t>
            </a:r>
            <a:endParaRPr lang="en-US" sz="14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지원 수요가 가장 높습니다.</a:t>
            </a:r>
            <a:endParaRPr lang="en-US" sz="1420" dirty="0"/>
          </a:p>
        </p:txBody>
      </p:sp>
      <p:pic>
        <p:nvPicPr>
          <p:cNvPr id="150" name="Image 7" descr="g04-eff1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184" y="6279185"/>
            <a:ext cx="523951" cy="365760"/>
          </a:xfrm>
          <a:prstGeom prst="rect">
            <a:avLst/>
          </a:prstGeom>
        </p:spPr>
      </p:pic>
      <p:sp>
        <p:nvSpPr>
          <p:cNvPr id="151" name="Text 139"/>
          <p:cNvSpPr/>
          <p:nvPr/>
        </p:nvSpPr>
        <p:spPr>
          <a:xfrm>
            <a:off x="950976" y="6315761"/>
            <a:ext cx="15243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인력 대체·절감</a:t>
            </a:r>
            <a:endParaRPr lang="en-US" sz="1370" dirty="0"/>
          </a:p>
        </p:txBody>
      </p:sp>
      <p:sp>
        <p:nvSpPr>
          <p:cNvPr id="152" name="Text 140"/>
          <p:cNvSpPr/>
          <p:nvPr/>
        </p:nvSpPr>
        <p:spPr>
          <a:xfrm>
            <a:off x="2512800" y="6108319"/>
            <a:ext cx="607356" cy="475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5.06</a:t>
            </a:r>
            <a:endParaRPr lang="en-US" sz="1970" dirty="0"/>
          </a:p>
        </p:txBody>
      </p:sp>
      <p:sp>
        <p:nvSpPr>
          <p:cNvPr id="153" name="Text 141"/>
          <p:cNvSpPr/>
          <p:nvPr/>
        </p:nvSpPr>
        <p:spPr>
          <a:xfrm>
            <a:off x="3010428" y="6275578"/>
            <a:ext cx="244836" cy="29438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1220" dirty="0"/>
          </a:p>
        </p:txBody>
      </p:sp>
      <p:sp>
        <p:nvSpPr>
          <p:cNvPr id="154" name="Shape 142"/>
          <p:cNvSpPr/>
          <p:nvPr/>
        </p:nvSpPr>
        <p:spPr>
          <a:xfrm>
            <a:off x="341071" y="6693408"/>
            <a:ext cx="2804465" cy="0"/>
          </a:xfrm>
          <a:prstGeom prst="line">
            <a:avLst/>
          </a:prstGeom>
          <a:noFill/>
          <a:ln w="9525">
            <a:solidFill>
              <a:srgbClr val="EEF3F9"/>
            </a:solidFill>
            <a:prstDash val="solid"/>
          </a:ln>
        </p:spPr>
      </p:sp>
      <p:pic>
        <p:nvPicPr>
          <p:cNvPr id="155" name="Image 8" descr="g04-eff2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184" y="6743700"/>
            <a:ext cx="523951" cy="365760"/>
          </a:xfrm>
          <a:prstGeom prst="rect">
            <a:avLst/>
          </a:prstGeom>
        </p:spPr>
      </p:pic>
      <p:sp>
        <p:nvSpPr>
          <p:cNvPr id="156" name="Text 143"/>
          <p:cNvSpPr/>
          <p:nvPr/>
        </p:nvSpPr>
        <p:spPr>
          <a:xfrm>
            <a:off x="950976" y="6780276"/>
            <a:ext cx="15243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비용 절감</a:t>
            </a:r>
            <a:endParaRPr lang="en-US" sz="1370" dirty="0"/>
          </a:p>
        </p:txBody>
      </p:sp>
      <p:sp>
        <p:nvSpPr>
          <p:cNvPr id="157" name="Text 144"/>
          <p:cNvSpPr/>
          <p:nvPr/>
        </p:nvSpPr>
        <p:spPr>
          <a:xfrm>
            <a:off x="2512800" y="6572834"/>
            <a:ext cx="607356" cy="475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5.01</a:t>
            </a:r>
            <a:endParaRPr lang="en-US" sz="1970" dirty="0"/>
          </a:p>
        </p:txBody>
      </p:sp>
      <p:sp>
        <p:nvSpPr>
          <p:cNvPr id="158" name="Text 145"/>
          <p:cNvSpPr/>
          <p:nvPr/>
        </p:nvSpPr>
        <p:spPr>
          <a:xfrm>
            <a:off x="3010428" y="6740093"/>
            <a:ext cx="244836" cy="29438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1220" dirty="0"/>
          </a:p>
        </p:txBody>
      </p:sp>
      <p:sp>
        <p:nvSpPr>
          <p:cNvPr id="159" name="Shape 146"/>
          <p:cNvSpPr/>
          <p:nvPr/>
        </p:nvSpPr>
        <p:spPr>
          <a:xfrm>
            <a:off x="341071" y="7158838"/>
            <a:ext cx="2804465" cy="0"/>
          </a:xfrm>
          <a:prstGeom prst="line">
            <a:avLst/>
          </a:prstGeom>
          <a:noFill/>
          <a:ln w="9525">
            <a:solidFill>
              <a:srgbClr val="EEF3F9"/>
            </a:solidFill>
            <a:prstDash val="solid"/>
          </a:ln>
        </p:spPr>
      </p:sp>
      <p:pic>
        <p:nvPicPr>
          <p:cNvPr id="160" name="Image 9" descr="g04-eff3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184" y="7209130"/>
            <a:ext cx="523951" cy="365760"/>
          </a:xfrm>
          <a:prstGeom prst="rect">
            <a:avLst/>
          </a:prstGeom>
        </p:spPr>
      </p:pic>
      <p:sp>
        <p:nvSpPr>
          <p:cNvPr id="161" name="Text 147"/>
          <p:cNvSpPr/>
          <p:nvPr/>
        </p:nvSpPr>
        <p:spPr>
          <a:xfrm>
            <a:off x="950976" y="7245706"/>
            <a:ext cx="15243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생산성·업무효율 향상</a:t>
            </a:r>
            <a:endParaRPr lang="en-US" sz="1210" dirty="0"/>
          </a:p>
        </p:txBody>
      </p:sp>
      <p:sp>
        <p:nvSpPr>
          <p:cNvPr id="162" name="Text 148"/>
          <p:cNvSpPr/>
          <p:nvPr/>
        </p:nvSpPr>
        <p:spPr>
          <a:xfrm>
            <a:off x="2512800" y="7038264"/>
            <a:ext cx="607356" cy="475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4.91</a:t>
            </a:r>
            <a:endParaRPr lang="en-US" sz="1970" dirty="0"/>
          </a:p>
        </p:txBody>
      </p:sp>
      <p:sp>
        <p:nvSpPr>
          <p:cNvPr id="163" name="Text 149"/>
          <p:cNvSpPr/>
          <p:nvPr/>
        </p:nvSpPr>
        <p:spPr>
          <a:xfrm>
            <a:off x="3010428" y="7205523"/>
            <a:ext cx="244836" cy="29438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1220" dirty="0"/>
          </a:p>
        </p:txBody>
      </p:sp>
      <p:sp>
        <p:nvSpPr>
          <p:cNvPr id="164" name="Shape 150"/>
          <p:cNvSpPr/>
          <p:nvPr/>
        </p:nvSpPr>
        <p:spPr>
          <a:xfrm>
            <a:off x="341071" y="7623353"/>
            <a:ext cx="2804465" cy="0"/>
          </a:xfrm>
          <a:prstGeom prst="line">
            <a:avLst/>
          </a:prstGeom>
          <a:noFill/>
          <a:ln w="9525">
            <a:solidFill>
              <a:srgbClr val="EEF3F9"/>
            </a:solidFill>
            <a:prstDash val="solid"/>
          </a:ln>
        </p:spPr>
      </p:sp>
      <p:pic>
        <p:nvPicPr>
          <p:cNvPr id="165" name="Image 10" descr="g04-eff4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9184" y="7674559"/>
            <a:ext cx="523951" cy="365760"/>
          </a:xfrm>
          <a:prstGeom prst="rect">
            <a:avLst/>
          </a:prstGeom>
        </p:spPr>
      </p:pic>
      <p:sp>
        <p:nvSpPr>
          <p:cNvPr id="166" name="Text 151"/>
          <p:cNvSpPr/>
          <p:nvPr/>
        </p:nvSpPr>
        <p:spPr>
          <a:xfrm>
            <a:off x="950976" y="7711135"/>
            <a:ext cx="15243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매출·판매량 증가</a:t>
            </a:r>
            <a:endParaRPr lang="en-US" sz="1370" dirty="0"/>
          </a:p>
        </p:txBody>
      </p:sp>
      <p:sp>
        <p:nvSpPr>
          <p:cNvPr id="167" name="Text 152"/>
          <p:cNvSpPr/>
          <p:nvPr/>
        </p:nvSpPr>
        <p:spPr>
          <a:xfrm>
            <a:off x="2512800" y="7503693"/>
            <a:ext cx="607356" cy="475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4.73</a:t>
            </a:r>
            <a:endParaRPr lang="en-US" sz="1970" dirty="0"/>
          </a:p>
        </p:txBody>
      </p:sp>
      <p:sp>
        <p:nvSpPr>
          <p:cNvPr id="168" name="Text 153"/>
          <p:cNvSpPr/>
          <p:nvPr/>
        </p:nvSpPr>
        <p:spPr>
          <a:xfrm>
            <a:off x="3010428" y="7670952"/>
            <a:ext cx="244836" cy="29438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1220" dirty="0"/>
          </a:p>
        </p:txBody>
      </p:sp>
      <p:sp>
        <p:nvSpPr>
          <p:cNvPr id="169" name="Shape 154"/>
          <p:cNvSpPr/>
          <p:nvPr/>
        </p:nvSpPr>
        <p:spPr>
          <a:xfrm>
            <a:off x="377647" y="8193024"/>
            <a:ext cx="2755087" cy="0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170" name="Shape 155"/>
          <p:cNvSpPr/>
          <p:nvPr/>
        </p:nvSpPr>
        <p:spPr>
          <a:xfrm>
            <a:off x="377647" y="8156448"/>
            <a:ext cx="0" cy="73152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-48463" y="8217713"/>
            <a:ext cx="853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220" dirty="0"/>
          </a:p>
        </p:txBody>
      </p:sp>
      <p:sp>
        <p:nvSpPr>
          <p:cNvPr id="172" name="Text 157"/>
          <p:cNvSpPr/>
          <p:nvPr/>
        </p:nvSpPr>
        <p:spPr>
          <a:xfrm>
            <a:off x="304495" y="8375904"/>
            <a:ext cx="1097280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(전혀 효과 없음)</a:t>
            </a:r>
            <a:endParaRPr lang="en-US" sz="1020" dirty="0"/>
          </a:p>
        </p:txBody>
      </p:sp>
      <p:sp>
        <p:nvSpPr>
          <p:cNvPr id="173" name="Shape 158"/>
          <p:cNvSpPr/>
          <p:nvPr/>
        </p:nvSpPr>
        <p:spPr>
          <a:xfrm>
            <a:off x="1755648" y="8156448"/>
            <a:ext cx="0" cy="73152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174" name="Text 159"/>
          <p:cNvSpPr/>
          <p:nvPr/>
        </p:nvSpPr>
        <p:spPr>
          <a:xfrm>
            <a:off x="1328623" y="8217713"/>
            <a:ext cx="853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220" dirty="0"/>
          </a:p>
        </p:txBody>
      </p:sp>
      <p:sp>
        <p:nvSpPr>
          <p:cNvPr id="175" name="Text 160"/>
          <p:cNvSpPr/>
          <p:nvPr/>
        </p:nvSpPr>
        <p:spPr>
          <a:xfrm>
            <a:off x="1207008" y="8375904"/>
            <a:ext cx="1097280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(보통)</a:t>
            </a:r>
            <a:endParaRPr lang="en-US" sz="1020" dirty="0"/>
          </a:p>
        </p:txBody>
      </p:sp>
      <p:sp>
        <p:nvSpPr>
          <p:cNvPr id="176" name="Shape 161"/>
          <p:cNvSpPr/>
          <p:nvPr/>
        </p:nvSpPr>
        <p:spPr>
          <a:xfrm>
            <a:off x="3133649" y="8156448"/>
            <a:ext cx="0" cy="73152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177" name="Text 162"/>
          <p:cNvSpPr/>
          <p:nvPr/>
        </p:nvSpPr>
        <p:spPr>
          <a:xfrm>
            <a:off x="2706624" y="8217713"/>
            <a:ext cx="853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</a:t>
            </a:r>
            <a:endParaRPr lang="en-US" sz="1220" dirty="0"/>
          </a:p>
        </p:txBody>
      </p:sp>
      <p:sp>
        <p:nvSpPr>
          <p:cNvPr id="178" name="Text 163"/>
          <p:cNvSpPr/>
          <p:nvPr/>
        </p:nvSpPr>
        <p:spPr>
          <a:xfrm>
            <a:off x="2585009" y="8375904"/>
            <a:ext cx="1097280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(매우 큰 효과)</a:t>
            </a:r>
            <a:endParaRPr lang="en-US" sz="1020" dirty="0"/>
          </a:p>
        </p:txBody>
      </p:sp>
      <p:pic>
        <p:nvPicPr>
          <p:cNvPr id="179" name="Image 11" descr="g04-dif1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86607" y="6327648"/>
            <a:ext cx="438912" cy="377647"/>
          </a:xfrm>
          <a:prstGeom prst="rect">
            <a:avLst/>
          </a:prstGeom>
        </p:spPr>
      </p:pic>
      <p:sp>
        <p:nvSpPr>
          <p:cNvPr id="180" name="Text 164"/>
          <p:cNvSpPr/>
          <p:nvPr/>
        </p:nvSpPr>
        <p:spPr>
          <a:xfrm>
            <a:off x="3986784" y="6352337"/>
            <a:ext cx="14877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기술에 대한 정보 부족</a:t>
            </a:r>
            <a:endParaRPr lang="en-US" sz="1230" dirty="0"/>
          </a:p>
        </p:txBody>
      </p:sp>
      <p:sp>
        <p:nvSpPr>
          <p:cNvPr id="181" name="Text 165"/>
          <p:cNvSpPr/>
          <p:nvPr/>
        </p:nvSpPr>
        <p:spPr>
          <a:xfrm>
            <a:off x="5603696" y="6198235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37.3</a:t>
            </a:r>
            <a:endParaRPr lang="en-US" sz="1730" dirty="0"/>
          </a:p>
        </p:txBody>
      </p:sp>
      <p:sp>
        <p:nvSpPr>
          <p:cNvPr id="182" name="Text 166"/>
          <p:cNvSpPr/>
          <p:nvPr/>
        </p:nvSpPr>
        <p:spPr>
          <a:xfrm>
            <a:off x="6040699" y="6324803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pic>
        <p:nvPicPr>
          <p:cNvPr id="183" name="Image 12" descr="g04-dif2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86607" y="6745529"/>
            <a:ext cx="438912" cy="377647"/>
          </a:xfrm>
          <a:prstGeom prst="rect">
            <a:avLst/>
          </a:prstGeom>
        </p:spPr>
      </p:pic>
      <p:sp>
        <p:nvSpPr>
          <p:cNvPr id="184" name="Text 167"/>
          <p:cNvSpPr/>
          <p:nvPr/>
        </p:nvSpPr>
        <p:spPr>
          <a:xfrm>
            <a:off x="3986784" y="6769303"/>
            <a:ext cx="14877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도입 비용 부담</a:t>
            </a:r>
            <a:endParaRPr lang="en-US" sz="1370" dirty="0"/>
          </a:p>
        </p:txBody>
      </p:sp>
      <p:sp>
        <p:nvSpPr>
          <p:cNvPr id="185" name="Text 168"/>
          <p:cNvSpPr/>
          <p:nvPr/>
        </p:nvSpPr>
        <p:spPr>
          <a:xfrm>
            <a:off x="5603696" y="6616116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22.6</a:t>
            </a:r>
            <a:endParaRPr lang="en-US" sz="1730" dirty="0"/>
          </a:p>
        </p:txBody>
      </p:sp>
      <p:sp>
        <p:nvSpPr>
          <p:cNvPr id="186" name="Text 169"/>
          <p:cNvSpPr/>
          <p:nvPr/>
        </p:nvSpPr>
        <p:spPr>
          <a:xfrm>
            <a:off x="6040699" y="6742684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pic>
        <p:nvPicPr>
          <p:cNvPr id="187" name="Image 13" descr="g04-dif3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86607" y="7162495"/>
            <a:ext cx="438912" cy="377647"/>
          </a:xfrm>
          <a:prstGeom prst="rect">
            <a:avLst/>
          </a:prstGeom>
        </p:spPr>
      </p:pic>
      <p:sp>
        <p:nvSpPr>
          <p:cNvPr id="188" name="Text 170"/>
          <p:cNvSpPr/>
          <p:nvPr/>
        </p:nvSpPr>
        <p:spPr>
          <a:xfrm>
            <a:off x="3986784" y="7187184"/>
            <a:ext cx="14877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전문 인력·기술 부족</a:t>
            </a:r>
            <a:endParaRPr lang="en-US" sz="1270" dirty="0"/>
          </a:p>
        </p:txBody>
      </p:sp>
      <p:sp>
        <p:nvSpPr>
          <p:cNvPr id="189" name="Text 171"/>
          <p:cNvSpPr/>
          <p:nvPr/>
        </p:nvSpPr>
        <p:spPr>
          <a:xfrm>
            <a:off x="5603696" y="7033082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14.8</a:t>
            </a:r>
            <a:endParaRPr lang="en-US" sz="1730" dirty="0"/>
          </a:p>
        </p:txBody>
      </p:sp>
      <p:sp>
        <p:nvSpPr>
          <p:cNvPr id="190" name="Text 172"/>
          <p:cNvSpPr/>
          <p:nvPr/>
        </p:nvSpPr>
        <p:spPr>
          <a:xfrm>
            <a:off x="6040699" y="7160565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pic>
        <p:nvPicPr>
          <p:cNvPr id="191" name="Image 14" descr="g04-dif4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86607" y="7580376"/>
            <a:ext cx="438912" cy="377647"/>
          </a:xfrm>
          <a:prstGeom prst="rect">
            <a:avLst/>
          </a:prstGeom>
        </p:spPr>
      </p:pic>
      <p:sp>
        <p:nvSpPr>
          <p:cNvPr id="192" name="Text 173"/>
          <p:cNvSpPr/>
          <p:nvPr/>
        </p:nvSpPr>
        <p:spPr>
          <a:xfrm>
            <a:off x="3986784" y="7605065"/>
            <a:ext cx="14877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기존 업무와의 연계 어려움</a:t>
            </a:r>
            <a:endParaRPr lang="en-US" sz="1030" dirty="0"/>
          </a:p>
        </p:txBody>
      </p:sp>
      <p:sp>
        <p:nvSpPr>
          <p:cNvPr id="193" name="Text 174"/>
          <p:cNvSpPr/>
          <p:nvPr/>
        </p:nvSpPr>
        <p:spPr>
          <a:xfrm>
            <a:off x="5603696" y="7450963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11.2</a:t>
            </a:r>
            <a:endParaRPr lang="en-US" sz="1730" dirty="0"/>
          </a:p>
        </p:txBody>
      </p:sp>
      <p:sp>
        <p:nvSpPr>
          <p:cNvPr id="194" name="Text 175"/>
          <p:cNvSpPr/>
          <p:nvPr/>
        </p:nvSpPr>
        <p:spPr>
          <a:xfrm>
            <a:off x="6040699" y="7577531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pic>
        <p:nvPicPr>
          <p:cNvPr id="195" name="Image 15" descr="g04-dif5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86607" y="7998257"/>
            <a:ext cx="438912" cy="377647"/>
          </a:xfrm>
          <a:prstGeom prst="rect">
            <a:avLst/>
          </a:prstGeom>
        </p:spPr>
      </p:pic>
      <p:sp>
        <p:nvSpPr>
          <p:cNvPr id="196" name="Text 176"/>
          <p:cNvSpPr/>
          <p:nvPr/>
        </p:nvSpPr>
        <p:spPr>
          <a:xfrm>
            <a:off x="3986784" y="8022031"/>
            <a:ext cx="14877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370" dirty="0"/>
          </a:p>
        </p:txBody>
      </p:sp>
      <p:sp>
        <p:nvSpPr>
          <p:cNvPr id="197" name="Text 177"/>
          <p:cNvSpPr/>
          <p:nvPr/>
        </p:nvSpPr>
        <p:spPr>
          <a:xfrm>
            <a:off x="5603696" y="7868844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14.1</a:t>
            </a:r>
            <a:endParaRPr lang="en-US" sz="1730" dirty="0"/>
          </a:p>
        </p:txBody>
      </p:sp>
      <p:sp>
        <p:nvSpPr>
          <p:cNvPr id="198" name="Text 178"/>
          <p:cNvSpPr/>
          <p:nvPr/>
        </p:nvSpPr>
        <p:spPr>
          <a:xfrm>
            <a:off x="6040699" y="7995412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pic>
        <p:nvPicPr>
          <p:cNvPr id="199" name="Image 16" descr="g04-sup1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3952" y="6376111"/>
            <a:ext cx="450799" cy="377647"/>
          </a:xfrm>
          <a:prstGeom prst="rect">
            <a:avLst/>
          </a:prstGeom>
        </p:spPr>
      </p:pic>
      <p:sp>
        <p:nvSpPr>
          <p:cNvPr id="200" name="Text 179"/>
          <p:cNvSpPr/>
          <p:nvPr/>
        </p:nvSpPr>
        <p:spPr>
          <a:xfrm>
            <a:off x="6998818" y="6407201"/>
            <a:ext cx="1072591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디지털 기술교육</a:t>
            </a:r>
            <a:endParaRPr lang="en-US" sz="1180" dirty="0"/>
          </a:p>
        </p:txBody>
      </p:sp>
      <p:pic>
        <p:nvPicPr>
          <p:cNvPr id="201" name="Image 17" descr="g04-sup2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3952" y="6789420"/>
            <a:ext cx="450799" cy="377647"/>
          </a:xfrm>
          <a:prstGeom prst="rect">
            <a:avLst/>
          </a:prstGeom>
        </p:spPr>
      </p:pic>
      <p:sp>
        <p:nvSpPr>
          <p:cNvPr id="202" name="Text 180"/>
          <p:cNvSpPr/>
          <p:nvPr/>
        </p:nvSpPr>
        <p:spPr>
          <a:xfrm>
            <a:off x="6998818" y="6820510"/>
            <a:ext cx="1072591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도입 비용 지원</a:t>
            </a:r>
            <a:endParaRPr lang="en-US" sz="1300" dirty="0"/>
          </a:p>
        </p:txBody>
      </p:sp>
      <p:pic>
        <p:nvPicPr>
          <p:cNvPr id="203" name="Image 18" descr="g04-sup3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3952" y="7202729"/>
            <a:ext cx="450799" cy="377647"/>
          </a:xfrm>
          <a:prstGeom prst="rect">
            <a:avLst/>
          </a:prstGeom>
        </p:spPr>
      </p:pic>
      <p:sp>
        <p:nvSpPr>
          <p:cNvPr id="204" name="Text 181"/>
          <p:cNvSpPr/>
          <p:nvPr/>
        </p:nvSpPr>
        <p:spPr>
          <a:xfrm>
            <a:off x="6998818" y="7233818"/>
            <a:ext cx="1072591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전문가 컨설팅 지원</a:t>
            </a:r>
            <a:endParaRPr lang="en-US" sz="1000" dirty="0"/>
          </a:p>
        </p:txBody>
      </p:sp>
      <p:pic>
        <p:nvPicPr>
          <p:cNvPr id="205" name="Image 19" descr="g04-sup4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3952" y="7616038"/>
            <a:ext cx="450799" cy="377647"/>
          </a:xfrm>
          <a:prstGeom prst="rect">
            <a:avLst/>
          </a:prstGeom>
        </p:spPr>
      </p:pic>
      <p:sp>
        <p:nvSpPr>
          <p:cNvPr id="206" name="Text 182"/>
          <p:cNvSpPr/>
          <p:nvPr/>
        </p:nvSpPr>
        <p:spPr>
          <a:xfrm>
            <a:off x="6998818" y="7647127"/>
            <a:ext cx="1072591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시스템·장비 지원</a:t>
            </a:r>
            <a:endParaRPr lang="en-US" sz="1040" dirty="0"/>
          </a:p>
        </p:txBody>
      </p:sp>
      <p:pic>
        <p:nvPicPr>
          <p:cNvPr id="207" name="Image 20" descr="g04-sup5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3952" y="8029346"/>
            <a:ext cx="450799" cy="377647"/>
          </a:xfrm>
          <a:prstGeom prst="rect">
            <a:avLst/>
          </a:prstGeom>
        </p:spPr>
      </p:pic>
      <p:sp>
        <p:nvSpPr>
          <p:cNvPr id="208" name="Text 183"/>
          <p:cNvSpPr/>
          <p:nvPr/>
        </p:nvSpPr>
        <p:spPr>
          <a:xfrm>
            <a:off x="6998818" y="8060436"/>
            <a:ext cx="1072591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320" dirty="0"/>
          </a:p>
        </p:txBody>
      </p:sp>
      <p:graphicFrame>
        <p:nvGraphicFramePr>
          <p:cNvPr id="209" name="Chart 2" descr=""/>
          <p:cNvGraphicFramePr/>
          <p:nvPr/>
        </p:nvGraphicFramePr>
        <p:xfrm>
          <a:off x="8059522" y="6319418"/>
          <a:ext cx="1316736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4"/>
          </a:graphicData>
        </a:graphic>
      </p:graphicFrame>
      <p:sp>
        <p:nvSpPr>
          <p:cNvPr id="210" name="Text 184"/>
          <p:cNvSpPr/>
          <p:nvPr/>
        </p:nvSpPr>
        <p:spPr>
          <a:xfrm>
            <a:off x="8863279" y="6241237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35.4</a:t>
            </a:r>
            <a:endParaRPr lang="en-US" sz="1620" dirty="0"/>
          </a:p>
        </p:txBody>
      </p:sp>
      <p:sp>
        <p:nvSpPr>
          <p:cNvPr id="211" name="Text 185"/>
          <p:cNvSpPr/>
          <p:nvPr/>
        </p:nvSpPr>
        <p:spPr>
          <a:xfrm>
            <a:off x="9272496" y="6356655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12" name="Text 186"/>
          <p:cNvSpPr/>
          <p:nvPr/>
        </p:nvSpPr>
        <p:spPr>
          <a:xfrm>
            <a:off x="8631022" y="6654546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24.5</a:t>
            </a:r>
            <a:endParaRPr lang="en-US" sz="1620" dirty="0"/>
          </a:p>
        </p:txBody>
      </p:sp>
      <p:sp>
        <p:nvSpPr>
          <p:cNvPr id="213" name="Text 187"/>
          <p:cNvSpPr/>
          <p:nvPr/>
        </p:nvSpPr>
        <p:spPr>
          <a:xfrm>
            <a:off x="9040238" y="676996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14" name="Text 188"/>
          <p:cNvSpPr/>
          <p:nvPr/>
        </p:nvSpPr>
        <p:spPr>
          <a:xfrm>
            <a:off x="8483803" y="7067855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17.6</a:t>
            </a:r>
            <a:endParaRPr lang="en-US" sz="1620" dirty="0"/>
          </a:p>
        </p:txBody>
      </p:sp>
      <p:sp>
        <p:nvSpPr>
          <p:cNvPr id="215" name="Text 189"/>
          <p:cNvSpPr/>
          <p:nvPr/>
        </p:nvSpPr>
        <p:spPr>
          <a:xfrm>
            <a:off x="8893020" y="7183272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16" name="Text 190"/>
          <p:cNvSpPr/>
          <p:nvPr/>
        </p:nvSpPr>
        <p:spPr>
          <a:xfrm>
            <a:off x="8370418" y="7481164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12.3</a:t>
            </a:r>
            <a:endParaRPr lang="en-US" sz="1620" dirty="0"/>
          </a:p>
        </p:txBody>
      </p:sp>
      <p:sp>
        <p:nvSpPr>
          <p:cNvPr id="217" name="Text 191"/>
          <p:cNvSpPr/>
          <p:nvPr/>
        </p:nvSpPr>
        <p:spPr>
          <a:xfrm>
            <a:off x="8779634" y="7596581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18" name="Text 192"/>
          <p:cNvSpPr/>
          <p:nvPr/>
        </p:nvSpPr>
        <p:spPr>
          <a:xfrm>
            <a:off x="8325612" y="7894472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10.2</a:t>
            </a:r>
            <a:endParaRPr lang="en-US" sz="1620" dirty="0"/>
          </a:p>
        </p:txBody>
      </p:sp>
      <p:sp>
        <p:nvSpPr>
          <p:cNvPr id="219" name="Text 193"/>
          <p:cNvSpPr/>
          <p:nvPr/>
        </p:nvSpPr>
        <p:spPr>
          <a:xfrm>
            <a:off x="8734829" y="8009890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pic>
        <p:nvPicPr>
          <p:cNvPr id="220" name="Image 21" descr="g04-people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20256" y="8753551"/>
            <a:ext cx="2914193" cy="1170432"/>
          </a:xfrm>
          <a:prstGeom prst="rect">
            <a:avLst/>
          </a:prstGeom>
        </p:spPr>
      </p:pic>
      <p:sp>
        <p:nvSpPr>
          <p:cNvPr id="221" name="Shape 194"/>
          <p:cNvSpPr/>
          <p:nvPr/>
        </p:nvSpPr>
        <p:spPr>
          <a:xfrm>
            <a:off x="304495" y="8863279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22" name="Shape 195"/>
          <p:cNvSpPr/>
          <p:nvPr/>
        </p:nvSpPr>
        <p:spPr>
          <a:xfrm>
            <a:off x="1024128" y="8863279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23" name="Shape 196"/>
          <p:cNvSpPr/>
          <p:nvPr/>
        </p:nvSpPr>
        <p:spPr>
          <a:xfrm>
            <a:off x="304495" y="9466783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24" name="Shape 197"/>
          <p:cNvSpPr/>
          <p:nvPr/>
        </p:nvSpPr>
        <p:spPr>
          <a:xfrm>
            <a:off x="1024128" y="9466783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25" name="Shape 198"/>
          <p:cNvSpPr/>
          <p:nvPr/>
        </p:nvSpPr>
        <p:spPr>
          <a:xfrm>
            <a:off x="438912" y="8863279"/>
            <a:ext cx="719633" cy="87142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26" name="Shape 199"/>
          <p:cNvSpPr/>
          <p:nvPr/>
        </p:nvSpPr>
        <p:spPr>
          <a:xfrm>
            <a:off x="304495" y="8997696"/>
            <a:ext cx="987552" cy="603504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27" name="Text 200"/>
          <p:cNvSpPr/>
          <p:nvPr/>
        </p:nvSpPr>
        <p:spPr>
          <a:xfrm>
            <a:off x="304495" y="8863279"/>
            <a:ext cx="987552" cy="871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2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05</a:t>
            </a:r>
            <a:endParaRPr lang="en-US" sz="4280" dirty="0"/>
          </a:p>
        </p:txBody>
      </p:sp>
      <p:sp>
        <p:nvSpPr>
          <p:cNvPr id="228" name="Text 201"/>
          <p:cNvSpPr/>
          <p:nvPr/>
        </p:nvSpPr>
        <p:spPr>
          <a:xfrm>
            <a:off x="1414577" y="8826703"/>
            <a:ext cx="4267505" cy="560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60" b="1" dirty="0">
                <a:solidFill>
                  <a:srgbClr val="00337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사업의 미래</a:t>
            </a:r>
            <a:endParaRPr lang="en-US" sz="3660" dirty="0"/>
          </a:p>
        </p:txBody>
      </p:sp>
      <p:sp>
        <p:nvSpPr>
          <p:cNvPr id="229" name="Text 202"/>
          <p:cNvSpPr/>
          <p:nvPr/>
        </p:nvSpPr>
        <p:spPr>
          <a:xfrm>
            <a:off x="1414577" y="9411919"/>
            <a:ext cx="5060290" cy="5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37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약 90% 기업이 가업승계를 준비하지 않고 있으며,</a:t>
            </a:r>
            <a:endParaRPr lang="en-US" sz="137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37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노후 준비는 국민연금·개인연금·저축 중심으로 이루어지고 있습니다.</a:t>
            </a:r>
            <a:endParaRPr lang="en-US" sz="1370" dirty="0"/>
          </a:p>
        </p:txBody>
      </p:sp>
      <p:sp>
        <p:nvSpPr>
          <p:cNvPr id="230" name="Shape 203"/>
          <p:cNvSpPr/>
          <p:nvPr/>
        </p:nvSpPr>
        <p:spPr>
          <a:xfrm>
            <a:off x="213055" y="1021110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31" name="Shape 204"/>
          <p:cNvSpPr/>
          <p:nvPr/>
        </p:nvSpPr>
        <p:spPr>
          <a:xfrm>
            <a:off x="2694737" y="1021110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32" name="Shape 205"/>
          <p:cNvSpPr/>
          <p:nvPr/>
        </p:nvSpPr>
        <p:spPr>
          <a:xfrm>
            <a:off x="213055" y="132889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33" name="Shape 206"/>
          <p:cNvSpPr/>
          <p:nvPr/>
        </p:nvSpPr>
        <p:spPr>
          <a:xfrm>
            <a:off x="2694737" y="132889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34" name="Shape 207"/>
          <p:cNvSpPr/>
          <p:nvPr/>
        </p:nvSpPr>
        <p:spPr>
          <a:xfrm>
            <a:off x="347472" y="10211105"/>
            <a:ext cx="2480767" cy="33467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35" name="Shape 208"/>
          <p:cNvSpPr/>
          <p:nvPr/>
        </p:nvSpPr>
        <p:spPr>
          <a:xfrm>
            <a:off x="213055" y="10344607"/>
            <a:ext cx="2749601" cy="3078785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36" name="Shape 209"/>
          <p:cNvSpPr/>
          <p:nvPr/>
        </p:nvSpPr>
        <p:spPr>
          <a:xfrm>
            <a:off x="347472" y="10220249"/>
            <a:ext cx="2480767" cy="3328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7" name="Shape 210"/>
          <p:cNvSpPr/>
          <p:nvPr/>
        </p:nvSpPr>
        <p:spPr>
          <a:xfrm>
            <a:off x="222199" y="10344607"/>
            <a:ext cx="2731313" cy="30787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8" name="Shape 211"/>
          <p:cNvSpPr/>
          <p:nvPr/>
        </p:nvSpPr>
        <p:spPr>
          <a:xfrm>
            <a:off x="341071" y="101800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39" name="Shape 212"/>
          <p:cNvSpPr/>
          <p:nvPr/>
        </p:nvSpPr>
        <p:spPr>
          <a:xfrm>
            <a:off x="2274113" y="101800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40" name="Shape 213"/>
          <p:cNvSpPr/>
          <p:nvPr/>
        </p:nvSpPr>
        <p:spPr>
          <a:xfrm>
            <a:off x="341071" y="104122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41" name="Shape 214"/>
          <p:cNvSpPr/>
          <p:nvPr/>
        </p:nvSpPr>
        <p:spPr>
          <a:xfrm>
            <a:off x="2274113" y="104122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42" name="Shape 215"/>
          <p:cNvSpPr/>
          <p:nvPr/>
        </p:nvSpPr>
        <p:spPr>
          <a:xfrm>
            <a:off x="408737" y="10180015"/>
            <a:ext cx="1932127" cy="36576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43" name="Shape 216"/>
          <p:cNvSpPr/>
          <p:nvPr/>
        </p:nvSpPr>
        <p:spPr>
          <a:xfrm>
            <a:off x="341071" y="10247681"/>
            <a:ext cx="2066544" cy="23134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44" name="Shape 217"/>
          <p:cNvSpPr/>
          <p:nvPr/>
        </p:nvSpPr>
        <p:spPr>
          <a:xfrm>
            <a:off x="341071" y="101800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45" name="Shape 218"/>
          <p:cNvSpPr/>
          <p:nvPr/>
        </p:nvSpPr>
        <p:spPr>
          <a:xfrm>
            <a:off x="573329" y="101800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46" name="Shape 219"/>
          <p:cNvSpPr/>
          <p:nvPr/>
        </p:nvSpPr>
        <p:spPr>
          <a:xfrm>
            <a:off x="341071" y="104122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47" name="Shape 220"/>
          <p:cNvSpPr/>
          <p:nvPr/>
        </p:nvSpPr>
        <p:spPr>
          <a:xfrm>
            <a:off x="573329" y="104122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48" name="Shape 221"/>
          <p:cNvSpPr/>
          <p:nvPr/>
        </p:nvSpPr>
        <p:spPr>
          <a:xfrm>
            <a:off x="408737" y="10180015"/>
            <a:ext cx="231343" cy="365760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49" name="Shape 222"/>
          <p:cNvSpPr/>
          <p:nvPr/>
        </p:nvSpPr>
        <p:spPr>
          <a:xfrm>
            <a:off x="341071" y="10247681"/>
            <a:ext cx="365760" cy="23134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50" name="Text 223"/>
          <p:cNvSpPr/>
          <p:nvPr/>
        </p:nvSpPr>
        <p:spPr>
          <a:xfrm>
            <a:off x="341071" y="1018001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970" dirty="0"/>
          </a:p>
        </p:txBody>
      </p:sp>
      <p:sp>
        <p:nvSpPr>
          <p:cNvPr id="251" name="Text 224"/>
          <p:cNvSpPr/>
          <p:nvPr/>
        </p:nvSpPr>
        <p:spPr>
          <a:xfrm>
            <a:off x="829361" y="10180015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가업승계 준비 단계</a:t>
            </a:r>
            <a:endParaRPr lang="en-US" sz="1450" dirty="0"/>
          </a:p>
        </p:txBody>
      </p:sp>
      <p:sp>
        <p:nvSpPr>
          <p:cNvPr id="252" name="Text 225"/>
          <p:cNvSpPr/>
          <p:nvPr/>
        </p:nvSpPr>
        <p:spPr>
          <a:xfrm>
            <a:off x="365760" y="10618927"/>
            <a:ext cx="24387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6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약 90%가 승계를 사실상 준비하지</a:t>
            </a:r>
            <a:endParaRPr lang="en-US" sz="136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36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않고 있습니다.</a:t>
            </a:r>
            <a:endParaRPr lang="en-US" sz="1360" dirty="0"/>
          </a:p>
        </p:txBody>
      </p:sp>
      <p:graphicFrame>
        <p:nvGraphicFramePr>
          <p:cNvPr id="253" name="Chart 3" descr=""/>
          <p:cNvGraphicFramePr/>
          <p:nvPr/>
        </p:nvGraphicFramePr>
        <p:xfrm>
          <a:off x="1024128" y="11521440"/>
          <a:ext cx="1451153" cy="145115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6"/>
          </a:graphicData>
        </a:graphic>
      </p:graphicFrame>
      <p:pic>
        <p:nvPicPr>
          <p:cNvPr id="254" name="Image 22" descr="g04-succ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81328" y="11978640"/>
            <a:ext cx="536753" cy="536753"/>
          </a:xfrm>
          <a:prstGeom prst="rect">
            <a:avLst/>
          </a:prstGeom>
        </p:spPr>
      </p:pic>
      <p:sp>
        <p:nvSpPr>
          <p:cNvPr id="255" name="Text 226"/>
          <p:cNvSpPr/>
          <p:nvPr/>
        </p:nvSpPr>
        <p:spPr>
          <a:xfrm>
            <a:off x="731520" y="10972800"/>
            <a:ext cx="1828800" cy="341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승계 대상자 확정,</a:t>
            </a:r>
            <a:endParaRPr lang="en-US" sz="117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1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경영 참여 중</a:t>
            </a:r>
            <a:endParaRPr lang="en-US" sz="1170" dirty="0"/>
          </a:p>
        </p:txBody>
      </p:sp>
      <p:sp>
        <p:nvSpPr>
          <p:cNvPr id="256" name="Text 227"/>
          <p:cNvSpPr/>
          <p:nvPr/>
        </p:nvSpPr>
        <p:spPr>
          <a:xfrm>
            <a:off x="1474754" y="11257636"/>
            <a:ext cx="403113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6.2</a:t>
            </a:r>
            <a:endParaRPr lang="en-US" sz="1620" dirty="0"/>
          </a:p>
        </p:txBody>
      </p:sp>
      <p:sp>
        <p:nvSpPr>
          <p:cNvPr id="257" name="Text 228"/>
          <p:cNvSpPr/>
          <p:nvPr/>
        </p:nvSpPr>
        <p:spPr>
          <a:xfrm>
            <a:off x="1768140" y="11373968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58" name="Text 229"/>
          <p:cNvSpPr/>
          <p:nvPr/>
        </p:nvSpPr>
        <p:spPr>
          <a:xfrm>
            <a:off x="244145" y="11448390"/>
            <a:ext cx="635142" cy="50190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21.7</a:t>
            </a:r>
            <a:endParaRPr lang="en-US" sz="2080" dirty="0"/>
          </a:p>
        </p:txBody>
      </p:sp>
      <p:sp>
        <p:nvSpPr>
          <p:cNvPr id="259" name="Text 230"/>
          <p:cNvSpPr/>
          <p:nvPr/>
        </p:nvSpPr>
        <p:spPr>
          <a:xfrm>
            <a:off x="769559" y="11602085"/>
            <a:ext cx="264015" cy="33540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9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390" dirty="0"/>
          </a:p>
        </p:txBody>
      </p:sp>
      <p:sp>
        <p:nvSpPr>
          <p:cNvPr id="260" name="Text 231"/>
          <p:cNvSpPr/>
          <p:nvPr/>
        </p:nvSpPr>
        <p:spPr>
          <a:xfrm>
            <a:off x="244145" y="11972239"/>
            <a:ext cx="853135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2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아직 고려</a:t>
            </a:r>
            <a:endParaRPr lang="en-US" sz="132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32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하지 않음</a:t>
            </a:r>
            <a:endParaRPr lang="en-US" sz="1320" dirty="0"/>
          </a:p>
        </p:txBody>
      </p:sp>
      <p:sp>
        <p:nvSpPr>
          <p:cNvPr id="261" name="Text 232"/>
          <p:cNvSpPr/>
          <p:nvPr/>
        </p:nvSpPr>
        <p:spPr>
          <a:xfrm>
            <a:off x="1528382" y="12484024"/>
            <a:ext cx="870063" cy="726313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1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68.3</a:t>
            </a:r>
            <a:endParaRPr lang="en-US" sz="3010" dirty="0"/>
          </a:p>
        </p:txBody>
      </p:sp>
      <p:sp>
        <p:nvSpPr>
          <p:cNvPr id="262" name="Text 233"/>
          <p:cNvSpPr/>
          <p:nvPr/>
        </p:nvSpPr>
        <p:spPr>
          <a:xfrm>
            <a:off x="2288717" y="12742901"/>
            <a:ext cx="315074" cy="44640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850" dirty="0"/>
          </a:p>
        </p:txBody>
      </p:sp>
      <p:sp>
        <p:nvSpPr>
          <p:cNvPr id="263" name="Text 234"/>
          <p:cNvSpPr/>
          <p:nvPr/>
        </p:nvSpPr>
        <p:spPr>
          <a:xfrm>
            <a:off x="1218895" y="13203936"/>
            <a:ext cx="158465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승계 의향 없음</a:t>
            </a:r>
            <a:endParaRPr lang="en-US" sz="122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(폐업·매각 등 검토)</a:t>
            </a:r>
            <a:endParaRPr lang="en-US" sz="1220" dirty="0"/>
          </a:p>
        </p:txBody>
      </p:sp>
      <p:sp>
        <p:nvSpPr>
          <p:cNvPr id="264" name="Shape 235"/>
          <p:cNvSpPr/>
          <p:nvPr/>
        </p:nvSpPr>
        <p:spPr>
          <a:xfrm>
            <a:off x="3078785" y="1021110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65" name="Shape 236"/>
          <p:cNvSpPr/>
          <p:nvPr/>
        </p:nvSpPr>
        <p:spPr>
          <a:xfrm>
            <a:off x="6011266" y="1021110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66" name="Shape 237"/>
          <p:cNvSpPr/>
          <p:nvPr/>
        </p:nvSpPr>
        <p:spPr>
          <a:xfrm>
            <a:off x="3078785" y="132889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67" name="Shape 238"/>
          <p:cNvSpPr/>
          <p:nvPr/>
        </p:nvSpPr>
        <p:spPr>
          <a:xfrm>
            <a:off x="6011266" y="132889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68" name="Shape 239"/>
          <p:cNvSpPr/>
          <p:nvPr/>
        </p:nvSpPr>
        <p:spPr>
          <a:xfrm>
            <a:off x="3212287" y="10211105"/>
            <a:ext cx="2932481" cy="33467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69" name="Shape 240"/>
          <p:cNvSpPr/>
          <p:nvPr/>
        </p:nvSpPr>
        <p:spPr>
          <a:xfrm>
            <a:off x="3078785" y="10344607"/>
            <a:ext cx="3200400" cy="3078785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70" name="Shape 241"/>
          <p:cNvSpPr/>
          <p:nvPr/>
        </p:nvSpPr>
        <p:spPr>
          <a:xfrm>
            <a:off x="3212287" y="10220249"/>
            <a:ext cx="2932481" cy="3328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1" name="Shape 242"/>
          <p:cNvSpPr/>
          <p:nvPr/>
        </p:nvSpPr>
        <p:spPr>
          <a:xfrm>
            <a:off x="3087929" y="10344607"/>
            <a:ext cx="3182112" cy="30787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2" name="Shape 243"/>
          <p:cNvSpPr/>
          <p:nvPr/>
        </p:nvSpPr>
        <p:spPr>
          <a:xfrm>
            <a:off x="3212287" y="101800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73" name="Shape 244"/>
          <p:cNvSpPr/>
          <p:nvPr/>
        </p:nvSpPr>
        <p:spPr>
          <a:xfrm>
            <a:off x="6126480" y="101800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74" name="Shape 245"/>
          <p:cNvSpPr/>
          <p:nvPr/>
        </p:nvSpPr>
        <p:spPr>
          <a:xfrm>
            <a:off x="3212287" y="104122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75" name="Shape 246"/>
          <p:cNvSpPr/>
          <p:nvPr/>
        </p:nvSpPr>
        <p:spPr>
          <a:xfrm>
            <a:off x="6126480" y="104122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76" name="Shape 247"/>
          <p:cNvSpPr/>
          <p:nvPr/>
        </p:nvSpPr>
        <p:spPr>
          <a:xfrm>
            <a:off x="3279953" y="10180015"/>
            <a:ext cx="2914193" cy="36576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77" name="Shape 248"/>
          <p:cNvSpPr/>
          <p:nvPr/>
        </p:nvSpPr>
        <p:spPr>
          <a:xfrm>
            <a:off x="3212287" y="10247681"/>
            <a:ext cx="3047695" cy="23134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78" name="Shape 249"/>
          <p:cNvSpPr/>
          <p:nvPr/>
        </p:nvSpPr>
        <p:spPr>
          <a:xfrm>
            <a:off x="3212287" y="101800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79" name="Shape 250"/>
          <p:cNvSpPr/>
          <p:nvPr/>
        </p:nvSpPr>
        <p:spPr>
          <a:xfrm>
            <a:off x="3444545" y="101800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80" name="Shape 251"/>
          <p:cNvSpPr/>
          <p:nvPr/>
        </p:nvSpPr>
        <p:spPr>
          <a:xfrm>
            <a:off x="3212287" y="104122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81" name="Shape 252"/>
          <p:cNvSpPr/>
          <p:nvPr/>
        </p:nvSpPr>
        <p:spPr>
          <a:xfrm>
            <a:off x="3444545" y="104122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82" name="Shape 253"/>
          <p:cNvSpPr/>
          <p:nvPr/>
        </p:nvSpPr>
        <p:spPr>
          <a:xfrm>
            <a:off x="3279953" y="10180015"/>
            <a:ext cx="231343" cy="365760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83" name="Shape 254"/>
          <p:cNvSpPr/>
          <p:nvPr/>
        </p:nvSpPr>
        <p:spPr>
          <a:xfrm>
            <a:off x="3212287" y="10247681"/>
            <a:ext cx="365760" cy="23134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84" name="Text 255"/>
          <p:cNvSpPr/>
          <p:nvPr/>
        </p:nvSpPr>
        <p:spPr>
          <a:xfrm>
            <a:off x="3212287" y="1018001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970" dirty="0"/>
          </a:p>
        </p:txBody>
      </p:sp>
      <p:sp>
        <p:nvSpPr>
          <p:cNvPr id="285" name="Text 256"/>
          <p:cNvSpPr/>
          <p:nvPr/>
        </p:nvSpPr>
        <p:spPr>
          <a:xfrm>
            <a:off x="3700577" y="10180015"/>
            <a:ext cx="2499055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가업승계 활성화를 위한 지원</a:t>
            </a:r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(1·2순위 합산)</a:t>
            </a:r>
            <a:endParaRPr lang="en-US" sz="1110" dirty="0"/>
          </a:p>
        </p:txBody>
      </p:sp>
      <p:sp>
        <p:nvSpPr>
          <p:cNvPr id="286" name="Text 257"/>
          <p:cNvSpPr/>
          <p:nvPr/>
        </p:nvSpPr>
        <p:spPr>
          <a:xfrm>
            <a:off x="3255264" y="10618927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세금 부담 완화에 대한 지원 요구가</a:t>
            </a:r>
            <a:endParaRPr lang="en-US" sz="14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가장 높습니다.</a:t>
            </a:r>
            <a:endParaRPr lang="en-US" sz="1420" dirty="0"/>
          </a:p>
        </p:txBody>
      </p:sp>
      <p:pic>
        <p:nvPicPr>
          <p:cNvPr id="287" name="Image 23" descr="g04-med1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206801" y="11107217"/>
            <a:ext cx="341071" cy="463601"/>
          </a:xfrm>
          <a:prstGeom prst="rect">
            <a:avLst/>
          </a:prstGeom>
        </p:spPr>
      </p:pic>
      <p:sp>
        <p:nvSpPr>
          <p:cNvPr id="288" name="Text 258"/>
          <p:cNvSpPr/>
          <p:nvPr/>
        </p:nvSpPr>
        <p:spPr>
          <a:xfrm>
            <a:off x="3632911" y="11185855"/>
            <a:ext cx="1182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세금 부담 완화</a:t>
            </a:r>
            <a:endParaRPr lang="en-US" sz="1270" dirty="0"/>
          </a:p>
        </p:txBody>
      </p:sp>
      <p:pic>
        <p:nvPicPr>
          <p:cNvPr id="289" name="Image 24" descr="g04-med2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206801" y="11587277"/>
            <a:ext cx="341071" cy="463601"/>
          </a:xfrm>
          <a:prstGeom prst="rect">
            <a:avLst/>
          </a:prstGeom>
        </p:spPr>
      </p:pic>
      <p:sp>
        <p:nvSpPr>
          <p:cNvPr id="290" name="Text 259"/>
          <p:cNvSpPr/>
          <p:nvPr/>
        </p:nvSpPr>
        <p:spPr>
          <a:xfrm>
            <a:off x="3632911" y="11666830"/>
            <a:ext cx="1182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후계자 양성</a:t>
            </a:r>
            <a:endParaRPr lang="en-US" sz="12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교육·컨설팅</a:t>
            </a:r>
            <a:endParaRPr lang="en-US" sz="1270" dirty="0"/>
          </a:p>
        </p:txBody>
      </p:sp>
      <p:pic>
        <p:nvPicPr>
          <p:cNvPr id="291" name="Image 25" descr="g04-med3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06801" y="12067337"/>
            <a:ext cx="341071" cy="463601"/>
          </a:xfrm>
          <a:prstGeom prst="rect">
            <a:avLst/>
          </a:prstGeom>
        </p:spPr>
      </p:pic>
      <p:sp>
        <p:nvSpPr>
          <p:cNvPr id="292" name="Text 260"/>
          <p:cNvSpPr/>
          <p:nvPr/>
        </p:nvSpPr>
        <p:spPr>
          <a:xfrm>
            <a:off x="3632911" y="12146890"/>
            <a:ext cx="1182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사업 재편·다각화</a:t>
            </a:r>
            <a:endParaRPr lang="en-US" sz="12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지원</a:t>
            </a:r>
            <a:endParaRPr lang="en-US" sz="1210" dirty="0"/>
          </a:p>
        </p:txBody>
      </p:sp>
      <p:pic>
        <p:nvPicPr>
          <p:cNvPr id="293" name="Image 26" descr="g04-med4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06801" y="12548311"/>
            <a:ext cx="341071" cy="463601"/>
          </a:xfrm>
          <a:prstGeom prst="rect">
            <a:avLst/>
          </a:prstGeom>
        </p:spPr>
      </p:pic>
      <p:sp>
        <p:nvSpPr>
          <p:cNvPr id="294" name="Text 261"/>
          <p:cNvSpPr/>
          <p:nvPr/>
        </p:nvSpPr>
        <p:spPr>
          <a:xfrm>
            <a:off x="3632911" y="12626950"/>
            <a:ext cx="1182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승계 자금 지원</a:t>
            </a:r>
            <a:endParaRPr lang="en-US" sz="1270" dirty="0"/>
          </a:p>
        </p:txBody>
      </p:sp>
      <p:pic>
        <p:nvPicPr>
          <p:cNvPr id="295" name="Image 27" descr="g04-med5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206801" y="13028371"/>
            <a:ext cx="341071" cy="463601"/>
          </a:xfrm>
          <a:prstGeom prst="rect">
            <a:avLst/>
          </a:prstGeom>
        </p:spPr>
      </p:pic>
      <p:sp>
        <p:nvSpPr>
          <p:cNvPr id="296" name="Text 262"/>
          <p:cNvSpPr/>
          <p:nvPr/>
        </p:nvSpPr>
        <p:spPr>
          <a:xfrm>
            <a:off x="3632911" y="13107924"/>
            <a:ext cx="1182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법·제도 개선</a:t>
            </a:r>
            <a:endParaRPr lang="en-US" sz="1270" dirty="0"/>
          </a:p>
        </p:txBody>
      </p:sp>
      <p:graphicFrame>
        <p:nvGraphicFramePr>
          <p:cNvPr id="297" name="Chart 4" descr=""/>
          <p:cNvGraphicFramePr/>
          <p:nvPr/>
        </p:nvGraphicFramePr>
        <p:xfrm>
          <a:off x="4809744" y="11101730"/>
          <a:ext cx="1378001" cy="2402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3"/>
          </a:graphicData>
        </a:graphic>
      </p:graphicFrame>
      <p:sp>
        <p:nvSpPr>
          <p:cNvPr id="298" name="Text 263"/>
          <p:cNvSpPr/>
          <p:nvPr/>
        </p:nvSpPr>
        <p:spPr>
          <a:xfrm>
            <a:off x="5699455" y="11056468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62.7</a:t>
            </a:r>
            <a:endParaRPr lang="en-US" sz="1620" dirty="0"/>
          </a:p>
        </p:txBody>
      </p:sp>
      <p:sp>
        <p:nvSpPr>
          <p:cNvPr id="299" name="Text 264"/>
          <p:cNvSpPr/>
          <p:nvPr/>
        </p:nvSpPr>
        <p:spPr>
          <a:xfrm>
            <a:off x="6108672" y="11172800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00" name="Text 265"/>
          <p:cNvSpPr/>
          <p:nvPr/>
        </p:nvSpPr>
        <p:spPr>
          <a:xfrm>
            <a:off x="5359298" y="11537442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37.3</a:t>
            </a:r>
            <a:endParaRPr lang="en-US" sz="1620" dirty="0"/>
          </a:p>
        </p:txBody>
      </p:sp>
      <p:sp>
        <p:nvSpPr>
          <p:cNvPr id="301" name="Text 266"/>
          <p:cNvSpPr/>
          <p:nvPr/>
        </p:nvSpPr>
        <p:spPr>
          <a:xfrm>
            <a:off x="5768515" y="11652860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02" name="Text 267"/>
          <p:cNvSpPr/>
          <p:nvPr/>
        </p:nvSpPr>
        <p:spPr>
          <a:xfrm>
            <a:off x="5291633" y="12017502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32.3</a:t>
            </a:r>
            <a:endParaRPr lang="en-US" sz="1620" dirty="0"/>
          </a:p>
        </p:txBody>
      </p:sp>
      <p:sp>
        <p:nvSpPr>
          <p:cNvPr id="303" name="Text 268"/>
          <p:cNvSpPr/>
          <p:nvPr/>
        </p:nvSpPr>
        <p:spPr>
          <a:xfrm>
            <a:off x="5700850" y="12132920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04" name="Text 269"/>
          <p:cNvSpPr/>
          <p:nvPr/>
        </p:nvSpPr>
        <p:spPr>
          <a:xfrm>
            <a:off x="5132527" y="12497562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20.4</a:t>
            </a:r>
            <a:endParaRPr lang="en-US" sz="1620" dirty="0"/>
          </a:p>
        </p:txBody>
      </p:sp>
      <p:sp>
        <p:nvSpPr>
          <p:cNvPr id="305" name="Text 270"/>
          <p:cNvSpPr/>
          <p:nvPr/>
        </p:nvSpPr>
        <p:spPr>
          <a:xfrm>
            <a:off x="5541744" y="1261389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06" name="Text 271"/>
          <p:cNvSpPr/>
          <p:nvPr/>
        </p:nvSpPr>
        <p:spPr>
          <a:xfrm>
            <a:off x="5081321" y="12978536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16.6</a:t>
            </a:r>
            <a:endParaRPr lang="en-US" sz="1620" dirty="0"/>
          </a:p>
        </p:txBody>
      </p:sp>
      <p:sp>
        <p:nvSpPr>
          <p:cNvPr id="307" name="Text 272"/>
          <p:cNvSpPr/>
          <p:nvPr/>
        </p:nvSpPr>
        <p:spPr>
          <a:xfrm>
            <a:off x="5490538" y="1309395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08" name="Shape 273"/>
          <p:cNvSpPr/>
          <p:nvPr/>
        </p:nvSpPr>
        <p:spPr>
          <a:xfrm>
            <a:off x="6382512" y="1021110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09" name="Shape 274"/>
          <p:cNvSpPr/>
          <p:nvPr/>
        </p:nvSpPr>
        <p:spPr>
          <a:xfrm>
            <a:off x="9162288" y="1021110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10" name="Shape 275"/>
          <p:cNvSpPr/>
          <p:nvPr/>
        </p:nvSpPr>
        <p:spPr>
          <a:xfrm>
            <a:off x="6382512" y="132889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11" name="Shape 276"/>
          <p:cNvSpPr/>
          <p:nvPr/>
        </p:nvSpPr>
        <p:spPr>
          <a:xfrm>
            <a:off x="9162288" y="132889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12" name="Shape 277"/>
          <p:cNvSpPr/>
          <p:nvPr/>
        </p:nvSpPr>
        <p:spPr>
          <a:xfrm>
            <a:off x="6516929" y="10211105"/>
            <a:ext cx="2779776" cy="33467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13" name="Shape 278"/>
          <p:cNvSpPr/>
          <p:nvPr/>
        </p:nvSpPr>
        <p:spPr>
          <a:xfrm>
            <a:off x="6382512" y="10344607"/>
            <a:ext cx="3047695" cy="3078785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14" name="Shape 279"/>
          <p:cNvSpPr/>
          <p:nvPr/>
        </p:nvSpPr>
        <p:spPr>
          <a:xfrm>
            <a:off x="6516929" y="10220249"/>
            <a:ext cx="2779776" cy="3328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5" name="Shape 280"/>
          <p:cNvSpPr/>
          <p:nvPr/>
        </p:nvSpPr>
        <p:spPr>
          <a:xfrm>
            <a:off x="6391656" y="10344607"/>
            <a:ext cx="3029407" cy="30787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6" name="Shape 281"/>
          <p:cNvSpPr/>
          <p:nvPr/>
        </p:nvSpPr>
        <p:spPr>
          <a:xfrm>
            <a:off x="6473952" y="101800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17" name="Shape 282"/>
          <p:cNvSpPr/>
          <p:nvPr/>
        </p:nvSpPr>
        <p:spPr>
          <a:xfrm>
            <a:off x="8083296" y="101800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18" name="Shape 283"/>
          <p:cNvSpPr/>
          <p:nvPr/>
        </p:nvSpPr>
        <p:spPr>
          <a:xfrm>
            <a:off x="6473952" y="104122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19" name="Shape 284"/>
          <p:cNvSpPr/>
          <p:nvPr/>
        </p:nvSpPr>
        <p:spPr>
          <a:xfrm>
            <a:off x="8083296" y="104122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20" name="Shape 285"/>
          <p:cNvSpPr/>
          <p:nvPr/>
        </p:nvSpPr>
        <p:spPr>
          <a:xfrm>
            <a:off x="6541618" y="10180015"/>
            <a:ext cx="1609344" cy="36576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321" name="Shape 286"/>
          <p:cNvSpPr/>
          <p:nvPr/>
        </p:nvSpPr>
        <p:spPr>
          <a:xfrm>
            <a:off x="6473952" y="10247681"/>
            <a:ext cx="1743761" cy="23134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322" name="Shape 287"/>
          <p:cNvSpPr/>
          <p:nvPr/>
        </p:nvSpPr>
        <p:spPr>
          <a:xfrm>
            <a:off x="6473952" y="101800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23" name="Shape 288"/>
          <p:cNvSpPr/>
          <p:nvPr/>
        </p:nvSpPr>
        <p:spPr>
          <a:xfrm>
            <a:off x="6706210" y="101800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24" name="Shape 289"/>
          <p:cNvSpPr/>
          <p:nvPr/>
        </p:nvSpPr>
        <p:spPr>
          <a:xfrm>
            <a:off x="6473952" y="104122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25" name="Shape 290"/>
          <p:cNvSpPr/>
          <p:nvPr/>
        </p:nvSpPr>
        <p:spPr>
          <a:xfrm>
            <a:off x="6706210" y="104122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26" name="Shape 291"/>
          <p:cNvSpPr/>
          <p:nvPr/>
        </p:nvSpPr>
        <p:spPr>
          <a:xfrm>
            <a:off x="6541618" y="10180015"/>
            <a:ext cx="231343" cy="365760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27" name="Shape 292"/>
          <p:cNvSpPr/>
          <p:nvPr/>
        </p:nvSpPr>
        <p:spPr>
          <a:xfrm>
            <a:off x="6473952" y="10247681"/>
            <a:ext cx="365760" cy="23134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28" name="Text 293"/>
          <p:cNvSpPr/>
          <p:nvPr/>
        </p:nvSpPr>
        <p:spPr>
          <a:xfrm>
            <a:off x="6473952" y="1018001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970" dirty="0"/>
          </a:p>
        </p:txBody>
      </p:sp>
      <p:sp>
        <p:nvSpPr>
          <p:cNvPr id="329" name="Text 294"/>
          <p:cNvSpPr/>
          <p:nvPr/>
        </p:nvSpPr>
        <p:spPr>
          <a:xfrm>
            <a:off x="6962242" y="10180015"/>
            <a:ext cx="11951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노후 생활 준비</a:t>
            </a:r>
            <a:endParaRPr lang="en-US" sz="1470" dirty="0"/>
          </a:p>
        </p:txBody>
      </p:sp>
      <p:sp>
        <p:nvSpPr>
          <p:cNvPr id="330" name="Text 295"/>
          <p:cNvSpPr/>
          <p:nvPr/>
        </p:nvSpPr>
        <p:spPr>
          <a:xfrm>
            <a:off x="6473952" y="10570464"/>
            <a:ext cx="2914193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71.4%가 노후 생활을 준비하고 있으며,</a:t>
            </a:r>
            <a:endParaRPr lang="en-US" sz="122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국민연금·개인연금·저축 활용이 높습니다.</a:t>
            </a:r>
            <a:endParaRPr lang="en-US" sz="1220" dirty="0"/>
          </a:p>
        </p:txBody>
      </p:sp>
      <p:graphicFrame>
        <p:nvGraphicFramePr>
          <p:cNvPr id="331" name="Chart 5" descr=""/>
          <p:cNvGraphicFramePr/>
          <p:nvPr/>
        </p:nvGraphicFramePr>
        <p:xfrm>
          <a:off x="6644945" y="10972800"/>
          <a:ext cx="1072591" cy="107259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4"/>
          </a:graphicData>
        </a:graphic>
      </p:graphicFrame>
      <p:pic>
        <p:nvPicPr>
          <p:cNvPr id="332" name="Image 28" descr="g04-couple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998818" y="11313871"/>
            <a:ext cx="377647" cy="377647"/>
          </a:xfrm>
          <a:prstGeom prst="rect">
            <a:avLst/>
          </a:prstGeom>
        </p:spPr>
      </p:pic>
      <p:sp>
        <p:nvSpPr>
          <p:cNvPr id="333" name="Text 296"/>
          <p:cNvSpPr/>
          <p:nvPr/>
        </p:nvSpPr>
        <p:spPr>
          <a:xfrm>
            <a:off x="7840066" y="11021263"/>
            <a:ext cx="1548079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준비하고 있음</a:t>
            </a:r>
            <a:endParaRPr lang="en-US" sz="1320" dirty="0"/>
          </a:p>
        </p:txBody>
      </p:sp>
      <p:sp>
        <p:nvSpPr>
          <p:cNvPr id="334" name="Text 297"/>
          <p:cNvSpPr/>
          <p:nvPr/>
        </p:nvSpPr>
        <p:spPr>
          <a:xfrm>
            <a:off x="8203391" y="10991748"/>
            <a:ext cx="751340" cy="61290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54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71.4</a:t>
            </a:r>
            <a:endParaRPr lang="en-US" sz="2540" dirty="0"/>
          </a:p>
        </p:txBody>
      </p:sp>
      <p:sp>
        <p:nvSpPr>
          <p:cNvPr id="335" name="Text 298"/>
          <p:cNvSpPr/>
          <p:nvPr/>
        </p:nvSpPr>
        <p:spPr>
          <a:xfrm>
            <a:off x="8845003" y="11197285"/>
            <a:ext cx="2895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620" dirty="0"/>
          </a:p>
        </p:txBody>
      </p:sp>
      <p:sp>
        <p:nvSpPr>
          <p:cNvPr id="336" name="Shape 299"/>
          <p:cNvSpPr/>
          <p:nvPr/>
        </p:nvSpPr>
        <p:spPr>
          <a:xfrm>
            <a:off x="7900416" y="11667744"/>
            <a:ext cx="1451153" cy="0"/>
          </a:xfrm>
          <a:prstGeom prst="line">
            <a:avLst/>
          </a:prstGeom>
          <a:noFill/>
          <a:ln w="9525">
            <a:solidFill>
              <a:srgbClr val="DDE5EE"/>
            </a:solidFill>
            <a:prstDash val="solid"/>
          </a:ln>
        </p:spPr>
      </p:sp>
      <p:sp>
        <p:nvSpPr>
          <p:cNvPr id="337" name="Text 300"/>
          <p:cNvSpPr/>
          <p:nvPr/>
        </p:nvSpPr>
        <p:spPr>
          <a:xfrm>
            <a:off x="7840066" y="11692433"/>
            <a:ext cx="1548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7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준비하고 있지 않음</a:t>
            </a:r>
            <a:endParaRPr lang="en-US" sz="1170" dirty="0"/>
          </a:p>
        </p:txBody>
      </p:sp>
      <p:sp>
        <p:nvSpPr>
          <p:cNvPr id="338" name="Text 301"/>
          <p:cNvSpPr/>
          <p:nvPr/>
        </p:nvSpPr>
        <p:spPr>
          <a:xfrm>
            <a:off x="8313294" y="11670309"/>
            <a:ext cx="577044" cy="44640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28.6</a:t>
            </a:r>
            <a:endParaRPr lang="en-US" sz="1850" dirty="0"/>
          </a:p>
        </p:txBody>
      </p:sp>
      <p:sp>
        <p:nvSpPr>
          <p:cNvPr id="339" name="Text 302"/>
          <p:cNvSpPr/>
          <p:nvPr/>
        </p:nvSpPr>
        <p:spPr>
          <a:xfrm>
            <a:off x="8780609" y="11812854"/>
            <a:ext cx="244036" cy="291973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210" dirty="0"/>
          </a:p>
        </p:txBody>
      </p:sp>
      <p:sp>
        <p:nvSpPr>
          <p:cNvPr id="340" name="Shape 303"/>
          <p:cNvSpPr/>
          <p:nvPr/>
        </p:nvSpPr>
        <p:spPr>
          <a:xfrm>
            <a:off x="6473952" y="12155119"/>
            <a:ext cx="194767" cy="194767"/>
          </a:xfrm>
          <a:prstGeom prst="ellipse">
            <a:avLst/>
          </a:prstGeom>
          <a:solidFill>
            <a:srgbClr val="EDF4FC"/>
          </a:solidFill>
          <a:ln/>
        </p:spPr>
      </p:sp>
      <p:sp>
        <p:nvSpPr>
          <p:cNvPr id="341" name="Shape 304"/>
          <p:cNvSpPr/>
          <p:nvPr/>
        </p:nvSpPr>
        <p:spPr>
          <a:xfrm>
            <a:off x="9144000" y="12155119"/>
            <a:ext cx="194767" cy="194767"/>
          </a:xfrm>
          <a:prstGeom prst="ellipse">
            <a:avLst/>
          </a:prstGeom>
          <a:solidFill>
            <a:srgbClr val="EDF4FC"/>
          </a:solidFill>
          <a:ln/>
        </p:spPr>
      </p:sp>
      <p:sp>
        <p:nvSpPr>
          <p:cNvPr id="342" name="Shape 305"/>
          <p:cNvSpPr/>
          <p:nvPr/>
        </p:nvSpPr>
        <p:spPr>
          <a:xfrm>
            <a:off x="6473952" y="13338353"/>
            <a:ext cx="194767" cy="194767"/>
          </a:xfrm>
          <a:prstGeom prst="ellipse">
            <a:avLst/>
          </a:prstGeom>
          <a:solidFill>
            <a:srgbClr val="EDF4FC"/>
          </a:solidFill>
          <a:ln/>
        </p:spPr>
      </p:sp>
      <p:sp>
        <p:nvSpPr>
          <p:cNvPr id="343" name="Shape 306"/>
          <p:cNvSpPr/>
          <p:nvPr/>
        </p:nvSpPr>
        <p:spPr>
          <a:xfrm>
            <a:off x="9144000" y="13338353"/>
            <a:ext cx="194767" cy="194767"/>
          </a:xfrm>
          <a:prstGeom prst="ellipse">
            <a:avLst/>
          </a:prstGeom>
          <a:solidFill>
            <a:srgbClr val="EDF4FC"/>
          </a:solidFill>
          <a:ln/>
        </p:spPr>
      </p:sp>
      <p:sp>
        <p:nvSpPr>
          <p:cNvPr id="344" name="Shape 307"/>
          <p:cNvSpPr/>
          <p:nvPr/>
        </p:nvSpPr>
        <p:spPr>
          <a:xfrm>
            <a:off x="6571793" y="12155119"/>
            <a:ext cx="2670048" cy="1378001"/>
          </a:xfrm>
          <a:prstGeom prst="rect">
            <a:avLst/>
          </a:prstGeom>
          <a:solidFill>
            <a:srgbClr val="EDF4FC"/>
          </a:solidFill>
          <a:ln/>
        </p:spPr>
      </p:sp>
      <p:sp>
        <p:nvSpPr>
          <p:cNvPr id="345" name="Shape 308"/>
          <p:cNvSpPr/>
          <p:nvPr/>
        </p:nvSpPr>
        <p:spPr>
          <a:xfrm>
            <a:off x="6473952" y="12252960"/>
            <a:ext cx="2864815" cy="1182319"/>
          </a:xfrm>
          <a:prstGeom prst="rect">
            <a:avLst/>
          </a:prstGeom>
          <a:solidFill>
            <a:srgbClr val="EDF4FC"/>
          </a:solidFill>
          <a:ln/>
        </p:spPr>
      </p:sp>
      <p:sp>
        <p:nvSpPr>
          <p:cNvPr id="346" name="Text 309"/>
          <p:cNvSpPr/>
          <p:nvPr/>
        </p:nvSpPr>
        <p:spPr>
          <a:xfrm>
            <a:off x="6473952" y="12191695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노후 생활 준비 방법</a:t>
            </a:r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(복수응답)</a:t>
            </a:r>
            <a:endParaRPr lang="en-US" sz="1200" dirty="0"/>
          </a:p>
        </p:txBody>
      </p:sp>
      <p:pic>
        <p:nvPicPr>
          <p:cNvPr id="347" name="Image 29" descr="g04-old1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535217" y="12423953"/>
            <a:ext cx="267919" cy="244145"/>
          </a:xfrm>
          <a:prstGeom prst="rect">
            <a:avLst/>
          </a:prstGeom>
        </p:spPr>
      </p:pic>
      <p:sp>
        <p:nvSpPr>
          <p:cNvPr id="348" name="Text 310"/>
          <p:cNvSpPr/>
          <p:nvPr/>
        </p:nvSpPr>
        <p:spPr>
          <a:xfrm>
            <a:off x="6827825" y="12423953"/>
            <a:ext cx="816559" cy="24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국민연금</a:t>
            </a:r>
            <a:endParaRPr lang="en-US" sz="1170" dirty="0"/>
          </a:p>
        </p:txBody>
      </p:sp>
      <p:pic>
        <p:nvPicPr>
          <p:cNvPr id="349" name="Image 30" descr="g04-old2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535217" y="12658954"/>
            <a:ext cx="267919" cy="244145"/>
          </a:xfrm>
          <a:prstGeom prst="rect">
            <a:avLst/>
          </a:prstGeom>
        </p:spPr>
      </p:pic>
      <p:sp>
        <p:nvSpPr>
          <p:cNvPr id="350" name="Text 311"/>
          <p:cNvSpPr/>
          <p:nvPr/>
        </p:nvSpPr>
        <p:spPr>
          <a:xfrm>
            <a:off x="6827825" y="12658954"/>
            <a:ext cx="816559" cy="24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보험·개인연금</a:t>
            </a:r>
            <a:endParaRPr lang="en-US" sz="1000" dirty="0"/>
          </a:p>
        </p:txBody>
      </p:sp>
      <p:pic>
        <p:nvPicPr>
          <p:cNvPr id="351" name="Image 31" descr="g04-old3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535217" y="12893954"/>
            <a:ext cx="267919" cy="244145"/>
          </a:xfrm>
          <a:prstGeom prst="rect">
            <a:avLst/>
          </a:prstGeom>
        </p:spPr>
      </p:pic>
      <p:sp>
        <p:nvSpPr>
          <p:cNvPr id="352" name="Text 312"/>
          <p:cNvSpPr/>
          <p:nvPr/>
        </p:nvSpPr>
        <p:spPr>
          <a:xfrm>
            <a:off x="6827825" y="12893954"/>
            <a:ext cx="816559" cy="24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저축·이자소득</a:t>
            </a:r>
            <a:endParaRPr lang="en-US" sz="1000" dirty="0"/>
          </a:p>
        </p:txBody>
      </p:sp>
      <p:pic>
        <p:nvPicPr>
          <p:cNvPr id="353" name="Image 32" descr="g04-old4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535217" y="13129870"/>
            <a:ext cx="267919" cy="244145"/>
          </a:xfrm>
          <a:prstGeom prst="rect">
            <a:avLst/>
          </a:prstGeom>
        </p:spPr>
      </p:pic>
      <p:sp>
        <p:nvSpPr>
          <p:cNvPr id="354" name="Text 313"/>
          <p:cNvSpPr/>
          <p:nvPr/>
        </p:nvSpPr>
        <p:spPr>
          <a:xfrm>
            <a:off x="6827825" y="13129870"/>
            <a:ext cx="816559" cy="24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부동산 임대소득</a:t>
            </a:r>
            <a:endParaRPr lang="en-US" sz="1000" dirty="0"/>
          </a:p>
        </p:txBody>
      </p:sp>
      <p:pic>
        <p:nvPicPr>
          <p:cNvPr id="355" name="Image 33" descr="g04-old5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535217" y="13364870"/>
            <a:ext cx="267919" cy="244145"/>
          </a:xfrm>
          <a:prstGeom prst="rect">
            <a:avLst/>
          </a:prstGeom>
        </p:spPr>
      </p:pic>
      <p:sp>
        <p:nvSpPr>
          <p:cNvPr id="356" name="Text 314"/>
          <p:cNvSpPr/>
          <p:nvPr/>
        </p:nvSpPr>
        <p:spPr>
          <a:xfrm>
            <a:off x="6827825" y="13364870"/>
            <a:ext cx="816559" cy="24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170" dirty="0"/>
          </a:p>
        </p:txBody>
      </p:sp>
      <p:graphicFrame>
        <p:nvGraphicFramePr>
          <p:cNvPr id="357" name="Chart 6" descr=""/>
          <p:cNvGraphicFramePr/>
          <p:nvPr/>
        </p:nvGraphicFramePr>
        <p:xfrm>
          <a:off x="7644384" y="12415723"/>
          <a:ext cx="1634033" cy="117683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1"/>
          </a:graphicData>
        </a:graphic>
      </p:graphicFrame>
      <p:sp>
        <p:nvSpPr>
          <p:cNvPr id="358" name="Text 315"/>
          <p:cNvSpPr/>
          <p:nvPr/>
        </p:nvSpPr>
        <p:spPr>
          <a:xfrm>
            <a:off x="8664854" y="12284227"/>
            <a:ext cx="460846" cy="33540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80.9</a:t>
            </a:r>
            <a:endParaRPr lang="en-US" sz="1390" dirty="0"/>
          </a:p>
        </p:txBody>
      </p:sp>
      <p:sp>
        <p:nvSpPr>
          <p:cNvPr id="359" name="Text 316"/>
          <p:cNvSpPr/>
          <p:nvPr/>
        </p:nvSpPr>
        <p:spPr>
          <a:xfrm>
            <a:off x="9015973" y="12371019"/>
            <a:ext cx="22072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000" dirty="0"/>
          </a:p>
        </p:txBody>
      </p:sp>
      <p:sp>
        <p:nvSpPr>
          <p:cNvPr id="360" name="Text 317"/>
          <p:cNvSpPr/>
          <p:nvPr/>
        </p:nvSpPr>
        <p:spPr>
          <a:xfrm>
            <a:off x="8413394" y="12520143"/>
            <a:ext cx="460846" cy="33540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60.0</a:t>
            </a:r>
            <a:endParaRPr lang="en-US" sz="1390" dirty="0"/>
          </a:p>
        </p:txBody>
      </p:sp>
      <p:sp>
        <p:nvSpPr>
          <p:cNvPr id="361" name="Text 318"/>
          <p:cNvSpPr/>
          <p:nvPr/>
        </p:nvSpPr>
        <p:spPr>
          <a:xfrm>
            <a:off x="8764513" y="12606934"/>
            <a:ext cx="22072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000" dirty="0"/>
          </a:p>
        </p:txBody>
      </p:sp>
      <p:sp>
        <p:nvSpPr>
          <p:cNvPr id="362" name="Text 319"/>
          <p:cNvSpPr/>
          <p:nvPr/>
        </p:nvSpPr>
        <p:spPr>
          <a:xfrm>
            <a:off x="8278063" y="12755143"/>
            <a:ext cx="460846" cy="33540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48.7</a:t>
            </a:r>
            <a:endParaRPr lang="en-US" sz="1390" dirty="0"/>
          </a:p>
        </p:txBody>
      </p:sp>
      <p:sp>
        <p:nvSpPr>
          <p:cNvPr id="363" name="Text 320"/>
          <p:cNvSpPr/>
          <p:nvPr/>
        </p:nvSpPr>
        <p:spPr>
          <a:xfrm>
            <a:off x="8629181" y="12841935"/>
            <a:ext cx="22072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000" dirty="0"/>
          </a:p>
        </p:txBody>
      </p:sp>
      <p:sp>
        <p:nvSpPr>
          <p:cNvPr id="364" name="Text 321"/>
          <p:cNvSpPr/>
          <p:nvPr/>
        </p:nvSpPr>
        <p:spPr>
          <a:xfrm>
            <a:off x="7996428" y="12990144"/>
            <a:ext cx="460846" cy="33540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25.2</a:t>
            </a:r>
            <a:endParaRPr lang="en-US" sz="1390" dirty="0"/>
          </a:p>
        </p:txBody>
      </p:sp>
      <p:sp>
        <p:nvSpPr>
          <p:cNvPr id="365" name="Text 322"/>
          <p:cNvSpPr/>
          <p:nvPr/>
        </p:nvSpPr>
        <p:spPr>
          <a:xfrm>
            <a:off x="8347546" y="13076936"/>
            <a:ext cx="22072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000" dirty="0"/>
          </a:p>
        </p:txBody>
      </p:sp>
      <p:sp>
        <p:nvSpPr>
          <p:cNvPr id="366" name="Text 323"/>
          <p:cNvSpPr/>
          <p:nvPr/>
        </p:nvSpPr>
        <p:spPr>
          <a:xfrm>
            <a:off x="7742225" y="13226059"/>
            <a:ext cx="361460" cy="33540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4.1</a:t>
            </a:r>
            <a:endParaRPr lang="en-US" sz="1390" dirty="0"/>
          </a:p>
        </p:txBody>
      </p:sp>
      <p:sp>
        <p:nvSpPr>
          <p:cNvPr id="367" name="Text 324"/>
          <p:cNvSpPr/>
          <p:nvPr/>
        </p:nvSpPr>
        <p:spPr>
          <a:xfrm>
            <a:off x="7993957" y="13312851"/>
            <a:ext cx="22072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000" dirty="0"/>
          </a:p>
        </p:txBody>
      </p:sp>
      <p:sp>
        <p:nvSpPr>
          <p:cNvPr id="368" name="Shape 325"/>
          <p:cNvSpPr/>
          <p:nvPr/>
        </p:nvSpPr>
        <p:spPr>
          <a:xfrm>
            <a:off x="219456" y="13777265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69" name="Shape 326"/>
          <p:cNvSpPr/>
          <p:nvPr/>
        </p:nvSpPr>
        <p:spPr>
          <a:xfrm>
            <a:off x="9303106" y="13777265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70" name="Shape 327"/>
          <p:cNvSpPr/>
          <p:nvPr/>
        </p:nvSpPr>
        <p:spPr>
          <a:xfrm>
            <a:off x="219456" y="14307617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71" name="Shape 328"/>
          <p:cNvSpPr/>
          <p:nvPr/>
        </p:nvSpPr>
        <p:spPr>
          <a:xfrm>
            <a:off x="9303106" y="14307617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72" name="Shape 329"/>
          <p:cNvSpPr/>
          <p:nvPr/>
        </p:nvSpPr>
        <p:spPr>
          <a:xfrm>
            <a:off x="329184" y="13777265"/>
            <a:ext cx="9083650" cy="74980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73" name="Shape 330"/>
          <p:cNvSpPr/>
          <p:nvPr/>
        </p:nvSpPr>
        <p:spPr>
          <a:xfrm>
            <a:off x="219456" y="13886993"/>
            <a:ext cx="9303106" cy="530352"/>
          </a:xfrm>
          <a:prstGeom prst="rect">
            <a:avLst/>
          </a:prstGeom>
          <a:solidFill>
            <a:srgbClr val="00337F"/>
          </a:solidFill>
          <a:ln/>
        </p:spPr>
      </p:sp>
      <p:pic>
        <p:nvPicPr>
          <p:cNvPr id="374" name="Image 34" descr="g04-clipboard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21792" y="13837615"/>
            <a:ext cx="487375" cy="658368"/>
          </a:xfrm>
          <a:prstGeom prst="rect">
            <a:avLst/>
          </a:prstGeom>
        </p:spPr>
      </p:pic>
      <p:sp>
        <p:nvSpPr>
          <p:cNvPr id="375" name="Text 331"/>
          <p:cNvSpPr/>
          <p:nvPr/>
        </p:nvSpPr>
        <p:spPr>
          <a:xfrm>
            <a:off x="1401775" y="13850417"/>
            <a:ext cx="75593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디지털 전환 촉진과 가업승계·노후 준비 지원을 통해</a:t>
            </a:r>
            <a:endParaRPr lang="en-US" sz="1630" dirty="0"/>
          </a:p>
        </p:txBody>
      </p:sp>
      <p:sp>
        <p:nvSpPr>
          <p:cNvPr id="376" name="Text 332"/>
          <p:cNvSpPr/>
          <p:nvPr/>
        </p:nvSpPr>
        <p:spPr>
          <a:xfrm>
            <a:off x="1401775" y="14143025"/>
            <a:ext cx="755934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FFD34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기업의 지속가능한 성장과 안정적인 미래 설계를 함께 만들어가야 합니다.</a:t>
            </a:r>
            <a:endParaRPr lang="en-US" sz="1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소상공인 실태조사 인포그래픽</dc:title>
  <dc:subject>PptxGenJS Presentation</dc:subject>
  <dc:creator>케이스탯리서치</dc:creator>
  <cp:lastModifiedBy>케이스탯리서치</cp:lastModifiedBy>
  <cp:revision>1</cp:revision>
  <dcterms:created xsi:type="dcterms:W3CDTF">2026-08-27T01:50:10Z</dcterms:created>
  <dcterms:modified xsi:type="dcterms:W3CDTF">2026-08-27T01:50:10Z</dcterms:modified>
</cp:coreProperties>
</file>
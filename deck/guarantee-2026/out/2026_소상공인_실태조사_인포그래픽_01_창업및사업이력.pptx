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753905" cy="14630400"/>
  <p:notesSz cx="14630400" cy="97539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2회 이상 사업체 운영 경험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5D9E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2회 이상 운영</c:v>
                </c:pt>
                <c:pt idx="1">
                  <c:v>1회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41</c:v>
                </c:pt>
                <c:pt idx="1">
                  <c:v>59</c:v>
                </c:pt>
              </c:numCache>
            </c:numRef>
          </c:val>
        </c:ser>
        <c:firstSliceAng val="0"/>
        <c:holeSize val="52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image" Target="../media/image-1-10.png"/><Relationship Id="rId12" Type="http://schemas.openxmlformats.org/officeDocument/2006/relationships/image" Target="../media/image-1-11.png"/><Relationship Id="rId13" Type="http://schemas.openxmlformats.org/officeDocument/2006/relationships/image" Target="../media/image-1-12.png"/><Relationship Id="rId14" Type="http://schemas.openxmlformats.org/officeDocument/2006/relationships/image" Target="../media/image-1-13.png"/><Relationship Id="rId15" Type="http://schemas.openxmlformats.org/officeDocument/2006/relationships/image" Target="../media/image-1-14.png"/><Relationship Id="rId16" Type="http://schemas.openxmlformats.org/officeDocument/2006/relationships/image" Target="../media/image-1-15.png"/><Relationship Id="rId17" Type="http://schemas.openxmlformats.org/officeDocument/2006/relationships/image" Target="../media/image-1-16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01-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44145"/>
            <a:ext cx="3279953" cy="1694383"/>
          </a:xfrm>
          <a:prstGeom prst="rect">
            <a:avLst/>
          </a:prstGeom>
        </p:spPr>
      </p:pic>
      <p:pic>
        <p:nvPicPr>
          <p:cNvPr id="3" name="Image 1" descr="g01-hero-cl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1499616"/>
            <a:ext cx="523951" cy="43891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9009" y="21305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" name="Shape 1"/>
          <p:cNvSpPr/>
          <p:nvPr/>
        </p:nvSpPr>
        <p:spPr>
          <a:xfrm>
            <a:off x="1121969" y="21305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" name="Shape 2"/>
          <p:cNvSpPr/>
          <p:nvPr/>
        </p:nvSpPr>
        <p:spPr>
          <a:xfrm>
            <a:off x="299009" y="957377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" name="Shape 3"/>
          <p:cNvSpPr/>
          <p:nvPr/>
        </p:nvSpPr>
        <p:spPr>
          <a:xfrm>
            <a:off x="1121969" y="957377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8" name="Shape 4"/>
          <p:cNvSpPr/>
          <p:nvPr/>
        </p:nvSpPr>
        <p:spPr>
          <a:xfrm>
            <a:off x="432511" y="213055"/>
            <a:ext cx="822960" cy="101224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9" name="Shape 5"/>
          <p:cNvSpPr/>
          <p:nvPr/>
        </p:nvSpPr>
        <p:spPr>
          <a:xfrm>
            <a:off x="299009" y="347472"/>
            <a:ext cx="1090879" cy="743407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0" name="Text 6"/>
          <p:cNvSpPr/>
          <p:nvPr/>
        </p:nvSpPr>
        <p:spPr>
          <a:xfrm>
            <a:off x="299009" y="213055"/>
            <a:ext cx="1090879" cy="1012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5030" dirty="0"/>
          </a:p>
        </p:txBody>
      </p:sp>
      <p:sp>
        <p:nvSpPr>
          <p:cNvPr id="11" name="Text 7"/>
          <p:cNvSpPr/>
          <p:nvPr/>
        </p:nvSpPr>
        <p:spPr>
          <a:xfrm>
            <a:off x="1670609" y="317297"/>
            <a:ext cx="426750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17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 및 사업 이력</a:t>
            </a:r>
            <a:endParaRPr lang="en-US" sz="4170" dirty="0"/>
          </a:p>
        </p:txBody>
      </p:sp>
      <p:sp>
        <p:nvSpPr>
          <p:cNvPr id="12" name="Text 8"/>
          <p:cNvSpPr/>
          <p:nvPr/>
        </p:nvSpPr>
        <p:spPr>
          <a:xfrm>
            <a:off x="1670609" y="993953"/>
            <a:ext cx="463326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4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경험을 바탕으로 다시 도전하는 기업이 많습니다</a:t>
            </a:r>
            <a:endParaRPr lang="en-US" sz="1840" dirty="0"/>
          </a:p>
        </p:txBody>
      </p:sp>
      <p:sp>
        <p:nvSpPr>
          <p:cNvPr id="13" name="Shape 9"/>
          <p:cNvSpPr/>
          <p:nvPr/>
        </p:nvSpPr>
        <p:spPr>
          <a:xfrm>
            <a:off x="286207" y="1956816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125712" y="1956816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86207" y="4462272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25712" y="4462272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5313" y="1956816"/>
            <a:ext cx="8839505" cy="282275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86207" y="2115007"/>
            <a:ext cx="9156802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5313" y="1965960"/>
            <a:ext cx="8839505" cy="28044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295351" y="2115007"/>
            <a:ext cx="9138514" cy="2505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481889" y="215798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2" name="Shape 18"/>
          <p:cNvSpPr/>
          <p:nvPr/>
        </p:nvSpPr>
        <p:spPr>
          <a:xfrm>
            <a:off x="3431743" y="215798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3" name="Shape 19"/>
          <p:cNvSpPr/>
          <p:nvPr/>
        </p:nvSpPr>
        <p:spPr>
          <a:xfrm>
            <a:off x="481889" y="2499055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" name="Shape 20"/>
          <p:cNvSpPr/>
          <p:nvPr/>
        </p:nvSpPr>
        <p:spPr>
          <a:xfrm>
            <a:off x="3431743" y="2499055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" name="Shape 21"/>
          <p:cNvSpPr/>
          <p:nvPr/>
        </p:nvSpPr>
        <p:spPr>
          <a:xfrm>
            <a:off x="555041" y="2157984"/>
            <a:ext cx="2950769" cy="487375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6" name="Shape 22"/>
          <p:cNvSpPr/>
          <p:nvPr/>
        </p:nvSpPr>
        <p:spPr>
          <a:xfrm>
            <a:off x="481889" y="2231136"/>
            <a:ext cx="3097073" cy="34107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7" name="Shape 23"/>
          <p:cNvSpPr/>
          <p:nvPr/>
        </p:nvSpPr>
        <p:spPr>
          <a:xfrm>
            <a:off x="481889" y="215798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" name="Shape 24"/>
          <p:cNvSpPr/>
          <p:nvPr/>
        </p:nvSpPr>
        <p:spPr>
          <a:xfrm>
            <a:off x="786384" y="215798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9" name="Shape 25"/>
          <p:cNvSpPr/>
          <p:nvPr/>
        </p:nvSpPr>
        <p:spPr>
          <a:xfrm>
            <a:off x="481889" y="2499055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0" name="Shape 26"/>
          <p:cNvSpPr/>
          <p:nvPr/>
        </p:nvSpPr>
        <p:spPr>
          <a:xfrm>
            <a:off x="786384" y="2499055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1" name="Shape 27"/>
          <p:cNvSpPr/>
          <p:nvPr/>
        </p:nvSpPr>
        <p:spPr>
          <a:xfrm>
            <a:off x="555041" y="2157984"/>
            <a:ext cx="304495" cy="487375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" name="Shape 28"/>
          <p:cNvSpPr/>
          <p:nvPr/>
        </p:nvSpPr>
        <p:spPr>
          <a:xfrm>
            <a:off x="481889" y="2231136"/>
            <a:ext cx="450799" cy="34107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3" name="Text 29"/>
          <p:cNvSpPr/>
          <p:nvPr/>
        </p:nvSpPr>
        <p:spPr>
          <a:xfrm>
            <a:off x="481889" y="2157984"/>
            <a:ext cx="450799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2310" dirty="0"/>
          </a:p>
        </p:txBody>
      </p:sp>
      <p:sp>
        <p:nvSpPr>
          <p:cNvPr id="34" name="Text 30"/>
          <p:cNvSpPr/>
          <p:nvPr/>
        </p:nvSpPr>
        <p:spPr>
          <a:xfrm>
            <a:off x="1103681" y="2157984"/>
            <a:ext cx="2414016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어떤 사람들이 창업했을까?</a:t>
            </a:r>
            <a:endParaRPr lang="en-US" sz="1630" dirty="0"/>
          </a:p>
        </p:txBody>
      </p:sp>
      <p:sp>
        <p:nvSpPr>
          <p:cNvPr id="35" name="Text 31"/>
          <p:cNvSpPr/>
          <p:nvPr/>
        </p:nvSpPr>
        <p:spPr>
          <a:xfrm>
            <a:off x="3797503" y="2243023"/>
            <a:ext cx="548640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응답 기업의 절반 이상은 창업 직전에도 이미 사업체 대표였습니다.</a:t>
            </a:r>
            <a:endParaRPr lang="en-US" sz="1570" dirty="0"/>
          </a:p>
        </p:txBody>
      </p:sp>
      <p:sp>
        <p:nvSpPr>
          <p:cNvPr id="36" name="Shape 32"/>
          <p:cNvSpPr/>
          <p:nvPr/>
        </p:nvSpPr>
        <p:spPr>
          <a:xfrm>
            <a:off x="3541471" y="2841041"/>
            <a:ext cx="0" cy="1524305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516929" y="2841041"/>
            <a:ext cx="0" cy="1524305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pic>
        <p:nvPicPr>
          <p:cNvPr id="38" name="Image 2" descr="g01-bo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5" y="2804465"/>
            <a:ext cx="1371600" cy="157276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901952" y="2629560"/>
            <a:ext cx="1206025" cy="10472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56.5</a:t>
            </a:r>
            <a:endParaRPr lang="en-US" sz="4340" dirty="0"/>
          </a:p>
        </p:txBody>
      </p:sp>
      <p:sp>
        <p:nvSpPr>
          <p:cNvPr id="40" name="Text 35"/>
          <p:cNvSpPr/>
          <p:nvPr/>
        </p:nvSpPr>
        <p:spPr>
          <a:xfrm>
            <a:off x="2998249" y="3003855"/>
            <a:ext cx="404983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660" dirty="0"/>
          </a:p>
        </p:txBody>
      </p:sp>
      <p:sp>
        <p:nvSpPr>
          <p:cNvPr id="41" name="Text 36"/>
          <p:cNvSpPr/>
          <p:nvPr/>
        </p:nvSpPr>
        <p:spPr>
          <a:xfrm>
            <a:off x="1913839" y="3694176"/>
            <a:ext cx="1634033" cy="683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 직전에도</a:t>
            </a:r>
            <a:endParaRPr lang="en-US" sz="173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사업체 대표</a:t>
            </a:r>
            <a:endParaRPr lang="en-US" sz="1730" dirty="0"/>
          </a:p>
        </p:txBody>
      </p:sp>
      <p:pic>
        <p:nvPicPr>
          <p:cNvPr id="42" name="Image 3" descr="g01-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137" y="2950769"/>
            <a:ext cx="1353312" cy="1438351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42002" y="2653335"/>
            <a:ext cx="1206025" cy="10472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37.3</a:t>
            </a:r>
            <a:endParaRPr lang="en-US" sz="4340" dirty="0"/>
          </a:p>
        </p:txBody>
      </p:sp>
      <p:sp>
        <p:nvSpPr>
          <p:cNvPr id="44" name="Text 38"/>
          <p:cNvSpPr/>
          <p:nvPr/>
        </p:nvSpPr>
        <p:spPr>
          <a:xfrm>
            <a:off x="6138299" y="3028544"/>
            <a:ext cx="404983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660" dirty="0"/>
          </a:p>
        </p:txBody>
      </p:sp>
      <p:sp>
        <p:nvSpPr>
          <p:cNvPr id="45" name="Text 39"/>
          <p:cNvSpPr/>
          <p:nvPr/>
        </p:nvSpPr>
        <p:spPr>
          <a:xfrm>
            <a:off x="5047488" y="3730752"/>
            <a:ext cx="1634033" cy="683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임금근로자</a:t>
            </a:r>
            <a:endParaRPr lang="en-US" sz="173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출신</a:t>
            </a:r>
            <a:endParaRPr lang="en-US" sz="1730" dirty="0"/>
          </a:p>
        </p:txBody>
      </p:sp>
      <p:pic>
        <p:nvPicPr>
          <p:cNvPr id="46" name="Image 4" descr="g01-stud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937967"/>
            <a:ext cx="1145743" cy="1451153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961681" y="2653335"/>
            <a:ext cx="895711" cy="10472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5.6</a:t>
            </a:r>
            <a:endParaRPr lang="en-US" sz="4340" dirty="0"/>
          </a:p>
        </p:txBody>
      </p:sp>
      <p:sp>
        <p:nvSpPr>
          <p:cNvPr id="48" name="Text 41"/>
          <p:cNvSpPr/>
          <p:nvPr/>
        </p:nvSpPr>
        <p:spPr>
          <a:xfrm>
            <a:off x="8747663" y="3028544"/>
            <a:ext cx="404983" cy="64185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660" dirty="0"/>
          </a:p>
        </p:txBody>
      </p:sp>
      <p:sp>
        <p:nvSpPr>
          <p:cNvPr id="49" name="Text 42"/>
          <p:cNvSpPr/>
          <p:nvPr/>
        </p:nvSpPr>
        <p:spPr>
          <a:xfrm>
            <a:off x="7669073" y="3712464"/>
            <a:ext cx="1634033" cy="683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학생·전업주부 등</a:t>
            </a:r>
            <a:endParaRPr lang="en-US" sz="173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무직 상태</a:t>
            </a:r>
            <a:endParaRPr lang="en-US" sz="1730" dirty="0"/>
          </a:p>
        </p:txBody>
      </p:sp>
      <p:sp>
        <p:nvSpPr>
          <p:cNvPr id="50" name="Shape 43"/>
          <p:cNvSpPr/>
          <p:nvPr/>
        </p:nvSpPr>
        <p:spPr>
          <a:xfrm>
            <a:off x="286207" y="500451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9125712" y="500451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286207" y="8442655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9125712" y="8442655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445313" y="5004511"/>
            <a:ext cx="8839505" cy="375544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286207" y="5163617"/>
            <a:ext cx="9156802" cy="34381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45313" y="5013655"/>
            <a:ext cx="8839505" cy="37371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0"/>
          <p:cNvSpPr/>
          <p:nvPr/>
        </p:nvSpPr>
        <p:spPr>
          <a:xfrm>
            <a:off x="295351" y="5163617"/>
            <a:ext cx="9138514" cy="3438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1"/>
          <p:cNvSpPr/>
          <p:nvPr/>
        </p:nvSpPr>
        <p:spPr>
          <a:xfrm>
            <a:off x="475488" y="517550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9" name="Shape 52"/>
          <p:cNvSpPr/>
          <p:nvPr/>
        </p:nvSpPr>
        <p:spPr>
          <a:xfrm>
            <a:off x="3773729" y="517550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0" name="Shape 53"/>
          <p:cNvSpPr/>
          <p:nvPr/>
        </p:nvSpPr>
        <p:spPr>
          <a:xfrm>
            <a:off x="475488" y="5522976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1" name="Shape 54"/>
          <p:cNvSpPr/>
          <p:nvPr/>
        </p:nvSpPr>
        <p:spPr>
          <a:xfrm>
            <a:off x="3773729" y="5522976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62" name="Shape 55"/>
          <p:cNvSpPr/>
          <p:nvPr/>
        </p:nvSpPr>
        <p:spPr>
          <a:xfrm>
            <a:off x="548640" y="5175504"/>
            <a:ext cx="3298241" cy="493776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63" name="Shape 56"/>
          <p:cNvSpPr/>
          <p:nvPr/>
        </p:nvSpPr>
        <p:spPr>
          <a:xfrm>
            <a:off x="475488" y="5248656"/>
            <a:ext cx="3444545" cy="347472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64" name="Shape 57"/>
          <p:cNvSpPr/>
          <p:nvPr/>
        </p:nvSpPr>
        <p:spPr>
          <a:xfrm>
            <a:off x="475488" y="517550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5" name="Shape 58"/>
          <p:cNvSpPr/>
          <p:nvPr/>
        </p:nvSpPr>
        <p:spPr>
          <a:xfrm>
            <a:off x="779983" y="517550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6" name="Shape 59"/>
          <p:cNvSpPr/>
          <p:nvPr/>
        </p:nvSpPr>
        <p:spPr>
          <a:xfrm>
            <a:off x="475488" y="5522976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7" name="Shape 60"/>
          <p:cNvSpPr/>
          <p:nvPr/>
        </p:nvSpPr>
        <p:spPr>
          <a:xfrm>
            <a:off x="779983" y="5522976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8" name="Shape 61"/>
          <p:cNvSpPr/>
          <p:nvPr/>
        </p:nvSpPr>
        <p:spPr>
          <a:xfrm>
            <a:off x="548640" y="5175504"/>
            <a:ext cx="304495" cy="493776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69" name="Shape 62"/>
          <p:cNvSpPr/>
          <p:nvPr/>
        </p:nvSpPr>
        <p:spPr>
          <a:xfrm>
            <a:off x="475488" y="5248656"/>
            <a:ext cx="450799" cy="347472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70" name="Text 63"/>
          <p:cNvSpPr/>
          <p:nvPr/>
        </p:nvSpPr>
        <p:spPr>
          <a:xfrm>
            <a:off x="475488" y="5175504"/>
            <a:ext cx="4507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2370" dirty="0"/>
          </a:p>
        </p:txBody>
      </p:sp>
      <p:sp>
        <p:nvSpPr>
          <p:cNvPr id="71" name="Text 64"/>
          <p:cNvSpPr/>
          <p:nvPr/>
        </p:nvSpPr>
        <p:spPr>
          <a:xfrm>
            <a:off x="1097280" y="5175504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한 번의 창업으로 끝나지 않았다</a:t>
            </a:r>
            <a:endParaRPr lang="en-US" sz="1630" dirty="0"/>
          </a:p>
        </p:txBody>
      </p:sp>
      <p:sp>
        <p:nvSpPr>
          <p:cNvPr id="72" name="Text 65"/>
          <p:cNvSpPr/>
          <p:nvPr/>
        </p:nvSpPr>
        <p:spPr>
          <a:xfrm>
            <a:off x="4144975" y="5260543"/>
            <a:ext cx="518190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여러 번의 도전 경험을 가진 재창업 기업 비중이 높습니다.</a:t>
            </a:r>
            <a:endParaRPr lang="en-US" sz="1570" dirty="0"/>
          </a:p>
        </p:txBody>
      </p:sp>
      <p:sp>
        <p:nvSpPr>
          <p:cNvPr id="73" name="Shape 66"/>
          <p:cNvSpPr/>
          <p:nvPr/>
        </p:nvSpPr>
        <p:spPr>
          <a:xfrm>
            <a:off x="4102913" y="5864047"/>
            <a:ext cx="0" cy="2560320"/>
          </a:xfrm>
          <a:prstGeom prst="line">
            <a:avLst/>
          </a:prstGeom>
          <a:noFill/>
          <a:ln w="12700">
            <a:solidFill>
              <a:srgbClr val="CEDCEA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603504" y="5864047"/>
            <a:ext cx="341345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전체 사업체 운영 횟수</a:t>
            </a:r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(현 사업체 포함)</a:t>
            </a:r>
            <a:endParaRPr lang="en-US" sz="1200" dirty="0"/>
          </a:p>
        </p:txBody>
      </p:sp>
      <p:pic>
        <p:nvPicPr>
          <p:cNvPr id="75" name="Image 5" descr="g01-build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3" y="6558991"/>
            <a:ext cx="1341425" cy="1694383"/>
          </a:xfrm>
          <a:prstGeom prst="rect">
            <a:avLst/>
          </a:prstGeom>
        </p:spPr>
      </p:pic>
      <p:sp>
        <p:nvSpPr>
          <p:cNvPr id="76" name="Text 68"/>
          <p:cNvSpPr/>
          <p:nvPr/>
        </p:nvSpPr>
        <p:spPr>
          <a:xfrm>
            <a:off x="2499055" y="6864401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평균</a:t>
            </a:r>
            <a:endParaRPr lang="en-US" sz="1880" dirty="0"/>
          </a:p>
        </p:txBody>
      </p:sp>
      <p:sp>
        <p:nvSpPr>
          <p:cNvPr id="77" name="Text 69"/>
          <p:cNvSpPr/>
          <p:nvPr/>
        </p:nvSpPr>
        <p:spPr>
          <a:xfrm>
            <a:off x="2450592" y="6773545"/>
            <a:ext cx="1020671" cy="121373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0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1.7</a:t>
            </a:r>
            <a:endParaRPr lang="en-US" sz="5030" dirty="0"/>
          </a:p>
        </p:txBody>
      </p:sp>
      <p:sp>
        <p:nvSpPr>
          <p:cNvPr id="78" name="Text 70"/>
          <p:cNvSpPr/>
          <p:nvPr/>
        </p:nvSpPr>
        <p:spPr>
          <a:xfrm>
            <a:off x="3361535" y="7136689"/>
            <a:ext cx="486258" cy="82042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회</a:t>
            </a:r>
            <a:endParaRPr lang="en-US" sz="3400" dirty="0"/>
          </a:p>
        </p:txBody>
      </p:sp>
      <p:sp>
        <p:nvSpPr>
          <p:cNvPr id="79" name="Text 71"/>
          <p:cNvSpPr/>
          <p:nvPr/>
        </p:nvSpPr>
        <p:spPr>
          <a:xfrm>
            <a:off x="5047488" y="5827471"/>
            <a:ext cx="377921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2회 이상 사업체 운영 경험</a:t>
            </a:r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(재창업)</a:t>
            </a:r>
            <a:endParaRPr lang="en-US" sz="1200" dirty="0"/>
          </a:p>
        </p:txBody>
      </p:sp>
      <p:graphicFrame>
        <p:nvGraphicFramePr>
          <p:cNvPr id="80" name="Chart 0" descr=""/>
          <p:cNvGraphicFramePr/>
          <p:nvPr/>
        </p:nvGraphicFramePr>
        <p:xfrm>
          <a:off x="4474159" y="6284671"/>
          <a:ext cx="2352751" cy="23527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pic>
        <p:nvPicPr>
          <p:cNvPr id="81" name="Image 6" descr="g01-sho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232" y="7095744"/>
            <a:ext cx="731520" cy="731520"/>
          </a:xfrm>
          <a:prstGeom prst="rect">
            <a:avLst/>
          </a:prstGeom>
        </p:spPr>
      </p:pic>
      <p:sp>
        <p:nvSpPr>
          <p:cNvPr id="82" name="Text 72"/>
          <p:cNvSpPr/>
          <p:nvPr/>
        </p:nvSpPr>
        <p:spPr>
          <a:xfrm>
            <a:off x="7205472" y="6182690"/>
            <a:ext cx="1365165" cy="11992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41.0</a:t>
            </a:r>
            <a:endParaRPr lang="en-US" sz="4970" dirty="0"/>
          </a:p>
        </p:txBody>
      </p:sp>
      <p:sp>
        <p:nvSpPr>
          <p:cNvPr id="83" name="Text 73"/>
          <p:cNvSpPr/>
          <p:nvPr/>
        </p:nvSpPr>
        <p:spPr>
          <a:xfrm>
            <a:off x="8460909" y="6670904"/>
            <a:ext cx="418302" cy="6708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2780" dirty="0"/>
          </a:p>
        </p:txBody>
      </p:sp>
      <p:sp>
        <p:nvSpPr>
          <p:cNvPr id="84" name="Text 74"/>
          <p:cNvSpPr/>
          <p:nvPr/>
        </p:nvSpPr>
        <p:spPr>
          <a:xfrm>
            <a:off x="7211873" y="7400239"/>
            <a:ext cx="2072945" cy="683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7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응답 기업이</a:t>
            </a:r>
            <a:endParaRPr lang="en-US" sz="178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7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2회 이상 운영 경험</a:t>
            </a:r>
            <a:endParaRPr lang="en-US" sz="1780" dirty="0"/>
          </a:p>
        </p:txBody>
      </p:sp>
      <p:sp>
        <p:nvSpPr>
          <p:cNvPr id="85" name="Shape 75"/>
          <p:cNvSpPr/>
          <p:nvPr/>
        </p:nvSpPr>
        <p:spPr>
          <a:xfrm>
            <a:off x="286207" y="8954719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6" name="Shape 76"/>
          <p:cNvSpPr/>
          <p:nvPr/>
        </p:nvSpPr>
        <p:spPr>
          <a:xfrm>
            <a:off x="9125712" y="8954719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286207" y="14051585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9125712" y="14051585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445313" y="8954719"/>
            <a:ext cx="8839505" cy="5413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0" name="Shape 80"/>
          <p:cNvSpPr/>
          <p:nvPr/>
        </p:nvSpPr>
        <p:spPr>
          <a:xfrm>
            <a:off x="286207" y="9113825"/>
            <a:ext cx="9156802" cy="509595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1" name="Shape 81"/>
          <p:cNvSpPr/>
          <p:nvPr/>
        </p:nvSpPr>
        <p:spPr>
          <a:xfrm>
            <a:off x="445313" y="8963863"/>
            <a:ext cx="8839505" cy="5394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82"/>
          <p:cNvSpPr/>
          <p:nvPr/>
        </p:nvSpPr>
        <p:spPr>
          <a:xfrm>
            <a:off x="295351" y="9113825"/>
            <a:ext cx="9138514" cy="5095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83"/>
          <p:cNvSpPr/>
          <p:nvPr/>
        </p:nvSpPr>
        <p:spPr>
          <a:xfrm>
            <a:off x="463601" y="9132113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94" name="Shape 84"/>
          <p:cNvSpPr/>
          <p:nvPr/>
        </p:nvSpPr>
        <p:spPr>
          <a:xfrm>
            <a:off x="4626864" y="9132113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95" name="Shape 85"/>
          <p:cNvSpPr/>
          <p:nvPr/>
        </p:nvSpPr>
        <p:spPr>
          <a:xfrm>
            <a:off x="463601" y="9448495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96" name="Shape 86"/>
          <p:cNvSpPr/>
          <p:nvPr/>
        </p:nvSpPr>
        <p:spPr>
          <a:xfrm>
            <a:off x="4626864" y="9448495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97" name="Shape 87"/>
          <p:cNvSpPr/>
          <p:nvPr/>
        </p:nvSpPr>
        <p:spPr>
          <a:xfrm>
            <a:off x="536753" y="9132113"/>
            <a:ext cx="4163263" cy="46360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98" name="Shape 88"/>
          <p:cNvSpPr/>
          <p:nvPr/>
        </p:nvSpPr>
        <p:spPr>
          <a:xfrm>
            <a:off x="463601" y="9205265"/>
            <a:ext cx="4309567" cy="317297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99" name="Shape 89"/>
          <p:cNvSpPr/>
          <p:nvPr/>
        </p:nvSpPr>
        <p:spPr>
          <a:xfrm>
            <a:off x="463601" y="9132113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00" name="Shape 90"/>
          <p:cNvSpPr/>
          <p:nvPr/>
        </p:nvSpPr>
        <p:spPr>
          <a:xfrm>
            <a:off x="768096" y="9132113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01" name="Shape 91"/>
          <p:cNvSpPr/>
          <p:nvPr/>
        </p:nvSpPr>
        <p:spPr>
          <a:xfrm>
            <a:off x="463601" y="9448495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02" name="Shape 92"/>
          <p:cNvSpPr/>
          <p:nvPr/>
        </p:nvSpPr>
        <p:spPr>
          <a:xfrm>
            <a:off x="768096" y="9448495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03" name="Shape 93"/>
          <p:cNvSpPr/>
          <p:nvPr/>
        </p:nvSpPr>
        <p:spPr>
          <a:xfrm>
            <a:off x="536753" y="9132113"/>
            <a:ext cx="304495" cy="46360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04" name="Shape 94"/>
          <p:cNvSpPr/>
          <p:nvPr/>
        </p:nvSpPr>
        <p:spPr>
          <a:xfrm>
            <a:off x="463601" y="9205265"/>
            <a:ext cx="450799" cy="317297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05" name="Text 95"/>
          <p:cNvSpPr/>
          <p:nvPr/>
        </p:nvSpPr>
        <p:spPr>
          <a:xfrm>
            <a:off x="463601" y="9132113"/>
            <a:ext cx="450799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2310" dirty="0"/>
          </a:p>
        </p:txBody>
      </p:sp>
      <p:sp>
        <p:nvSpPr>
          <p:cNvPr id="106" name="Text 96"/>
          <p:cNvSpPr/>
          <p:nvPr/>
        </p:nvSpPr>
        <p:spPr>
          <a:xfrm>
            <a:off x="1085393" y="9132113"/>
            <a:ext cx="362742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창업(인수 포함)을 위해 얼마나 준비했을까?</a:t>
            </a:r>
            <a:endParaRPr lang="en-US" sz="1470" dirty="0"/>
          </a:p>
        </p:txBody>
      </p:sp>
      <p:sp>
        <p:nvSpPr>
          <p:cNvPr id="107" name="Text 97"/>
          <p:cNvSpPr/>
          <p:nvPr/>
        </p:nvSpPr>
        <p:spPr>
          <a:xfrm>
            <a:off x="4987138" y="9217152"/>
            <a:ext cx="42675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준비기간과 창업자금 모두 기업 간 편차가 큰 편입니다.</a:t>
            </a:r>
            <a:endParaRPr lang="en-US" sz="1570" dirty="0"/>
          </a:p>
        </p:txBody>
      </p:sp>
      <p:sp>
        <p:nvSpPr>
          <p:cNvPr id="108" name="Shape 98"/>
          <p:cNvSpPr/>
          <p:nvPr/>
        </p:nvSpPr>
        <p:spPr>
          <a:xfrm>
            <a:off x="463601" y="9808769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9" name="Shape 99"/>
          <p:cNvSpPr/>
          <p:nvPr/>
        </p:nvSpPr>
        <p:spPr>
          <a:xfrm>
            <a:off x="4413809" y="9808769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0" name="Shape 100"/>
          <p:cNvSpPr/>
          <p:nvPr/>
        </p:nvSpPr>
        <p:spPr>
          <a:xfrm>
            <a:off x="463601" y="12746736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1" name="Shape 101"/>
          <p:cNvSpPr/>
          <p:nvPr/>
        </p:nvSpPr>
        <p:spPr>
          <a:xfrm>
            <a:off x="4413809" y="12746736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2" name="Shape 102"/>
          <p:cNvSpPr/>
          <p:nvPr/>
        </p:nvSpPr>
        <p:spPr>
          <a:xfrm>
            <a:off x="585216" y="9808769"/>
            <a:ext cx="3950208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3" name="Shape 103"/>
          <p:cNvSpPr/>
          <p:nvPr/>
        </p:nvSpPr>
        <p:spPr>
          <a:xfrm>
            <a:off x="463601" y="9930384"/>
            <a:ext cx="4194353" cy="293796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14" name="Shape 104"/>
          <p:cNvSpPr/>
          <p:nvPr/>
        </p:nvSpPr>
        <p:spPr>
          <a:xfrm>
            <a:off x="585216" y="9817913"/>
            <a:ext cx="3950208" cy="3163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hape 105"/>
          <p:cNvSpPr/>
          <p:nvPr/>
        </p:nvSpPr>
        <p:spPr>
          <a:xfrm>
            <a:off x="472745" y="9930384"/>
            <a:ext cx="4176065" cy="29379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6" name="Image 7" descr="g01-cal-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9850831"/>
            <a:ext cx="487375" cy="414223"/>
          </a:xfrm>
          <a:prstGeom prst="rect">
            <a:avLst/>
          </a:prstGeom>
        </p:spPr>
      </p:pic>
      <p:sp>
        <p:nvSpPr>
          <p:cNvPr id="117" name="Text 106"/>
          <p:cNvSpPr/>
          <p:nvPr/>
        </p:nvSpPr>
        <p:spPr>
          <a:xfrm>
            <a:off x="1328623" y="9875520"/>
            <a:ext cx="32068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창업(인수 포함) 준비기간</a:t>
            </a:r>
            <a:endParaRPr lang="en-US" sz="1200" dirty="0"/>
          </a:p>
        </p:txBody>
      </p:sp>
      <p:sp>
        <p:nvSpPr>
          <p:cNvPr id="118" name="Shape 107"/>
          <p:cNvSpPr/>
          <p:nvPr/>
        </p:nvSpPr>
        <p:spPr>
          <a:xfrm>
            <a:off x="2585009" y="10399471"/>
            <a:ext cx="0" cy="1463040"/>
          </a:xfrm>
          <a:prstGeom prst="line">
            <a:avLst/>
          </a:prstGeom>
          <a:noFill/>
          <a:ln w="12700">
            <a:solidFill>
              <a:srgbClr val="D6E4F1"/>
            </a:solidFill>
            <a:prstDash val="solid"/>
          </a:ln>
        </p:spPr>
      </p:sp>
      <p:sp>
        <p:nvSpPr>
          <p:cNvPr id="119" name="Text 108"/>
          <p:cNvSpPr/>
          <p:nvPr/>
        </p:nvSpPr>
        <p:spPr>
          <a:xfrm>
            <a:off x="609905" y="10448849"/>
            <a:ext cx="18288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평균</a:t>
            </a:r>
            <a:endParaRPr lang="en-US" sz="1680" dirty="0"/>
          </a:p>
        </p:txBody>
      </p:sp>
      <p:sp>
        <p:nvSpPr>
          <p:cNvPr id="120" name="Text 109"/>
          <p:cNvSpPr/>
          <p:nvPr/>
        </p:nvSpPr>
        <p:spPr>
          <a:xfrm>
            <a:off x="924339" y="10371074"/>
            <a:ext cx="801538" cy="92176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6.3</a:t>
            </a:r>
            <a:endParaRPr lang="en-US" sz="3820" dirty="0"/>
          </a:p>
        </p:txBody>
      </p:sp>
      <p:sp>
        <p:nvSpPr>
          <p:cNvPr id="121" name="Text 110"/>
          <p:cNvSpPr/>
          <p:nvPr/>
        </p:nvSpPr>
        <p:spPr>
          <a:xfrm>
            <a:off x="1616149" y="10711917"/>
            <a:ext cx="616936" cy="55257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개월</a:t>
            </a:r>
            <a:endParaRPr lang="en-US" sz="2290" dirty="0"/>
          </a:p>
        </p:txBody>
      </p:sp>
      <p:pic>
        <p:nvPicPr>
          <p:cNvPr id="122" name="Image 8" descr="g01-cal5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11375136"/>
            <a:ext cx="1913839" cy="548640"/>
          </a:xfrm>
          <a:prstGeom prst="rect">
            <a:avLst/>
          </a:prstGeom>
        </p:spPr>
      </p:pic>
      <p:sp>
        <p:nvSpPr>
          <p:cNvPr id="123" name="Text 111"/>
          <p:cNvSpPr/>
          <p:nvPr/>
        </p:nvSpPr>
        <p:spPr>
          <a:xfrm>
            <a:off x="2706624" y="10448849"/>
            <a:ext cx="18288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중앙값</a:t>
            </a:r>
            <a:endParaRPr lang="en-US" sz="1680" dirty="0"/>
          </a:p>
        </p:txBody>
      </p:sp>
      <p:sp>
        <p:nvSpPr>
          <p:cNvPr id="124" name="Text 112"/>
          <p:cNvSpPr/>
          <p:nvPr/>
        </p:nvSpPr>
        <p:spPr>
          <a:xfrm>
            <a:off x="3231311" y="10371074"/>
            <a:ext cx="382862" cy="92176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3820" dirty="0"/>
          </a:p>
        </p:txBody>
      </p:sp>
      <p:sp>
        <p:nvSpPr>
          <p:cNvPr id="125" name="Text 113"/>
          <p:cNvSpPr/>
          <p:nvPr/>
        </p:nvSpPr>
        <p:spPr>
          <a:xfrm>
            <a:off x="3504444" y="10711917"/>
            <a:ext cx="616936" cy="55257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개월</a:t>
            </a:r>
            <a:endParaRPr lang="en-US" sz="2290" dirty="0"/>
          </a:p>
        </p:txBody>
      </p:sp>
      <p:pic>
        <p:nvPicPr>
          <p:cNvPr id="126" name="Image 9" descr="g01-cal3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9504" y="11375136"/>
            <a:ext cx="1463040" cy="560527"/>
          </a:xfrm>
          <a:prstGeom prst="rect">
            <a:avLst/>
          </a:prstGeom>
        </p:spPr>
      </p:pic>
      <p:sp>
        <p:nvSpPr>
          <p:cNvPr id="127" name="Shape 114"/>
          <p:cNvSpPr/>
          <p:nvPr/>
        </p:nvSpPr>
        <p:spPr>
          <a:xfrm>
            <a:off x="761695" y="12209983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28" name="Shape 115"/>
          <p:cNvSpPr/>
          <p:nvPr/>
        </p:nvSpPr>
        <p:spPr>
          <a:xfrm>
            <a:off x="4139489" y="12209983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29" name="Shape 116"/>
          <p:cNvSpPr/>
          <p:nvPr/>
        </p:nvSpPr>
        <p:spPr>
          <a:xfrm>
            <a:off x="761695" y="12625121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30" name="Shape 117"/>
          <p:cNvSpPr/>
          <p:nvPr/>
        </p:nvSpPr>
        <p:spPr>
          <a:xfrm>
            <a:off x="4139489" y="12625121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31" name="Shape 118"/>
          <p:cNvSpPr/>
          <p:nvPr/>
        </p:nvSpPr>
        <p:spPr>
          <a:xfrm>
            <a:off x="871423" y="12209983"/>
            <a:ext cx="3376879" cy="633679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132" name="Shape 119"/>
          <p:cNvSpPr/>
          <p:nvPr/>
        </p:nvSpPr>
        <p:spPr>
          <a:xfrm>
            <a:off x="761695" y="12319711"/>
            <a:ext cx="3596335" cy="414223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133" name="Image 10" descr="g01-bulb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831" y="12167921"/>
            <a:ext cx="548640" cy="731520"/>
          </a:xfrm>
          <a:prstGeom prst="rect">
            <a:avLst/>
          </a:prstGeom>
        </p:spPr>
      </p:pic>
      <p:sp>
        <p:nvSpPr>
          <p:cNvPr id="134" name="Text 120"/>
          <p:cNvSpPr/>
          <p:nvPr/>
        </p:nvSpPr>
        <p:spPr>
          <a:xfrm>
            <a:off x="1481328" y="12209983"/>
            <a:ext cx="277977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일부 장기 준비 사례가 평균을</a:t>
            </a:r>
            <a:endParaRPr lang="en-US" sz="17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끌어올린 형태입니다.</a:t>
            </a:r>
            <a:endParaRPr lang="en-US" sz="1730" dirty="0"/>
          </a:p>
        </p:txBody>
      </p:sp>
      <p:sp>
        <p:nvSpPr>
          <p:cNvPr id="135" name="Shape 121"/>
          <p:cNvSpPr/>
          <p:nvPr/>
        </p:nvSpPr>
        <p:spPr>
          <a:xfrm>
            <a:off x="4779569" y="9808769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6" name="Shape 122"/>
          <p:cNvSpPr/>
          <p:nvPr/>
        </p:nvSpPr>
        <p:spPr>
          <a:xfrm>
            <a:off x="9010498" y="9808769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7" name="Shape 123"/>
          <p:cNvSpPr/>
          <p:nvPr/>
        </p:nvSpPr>
        <p:spPr>
          <a:xfrm>
            <a:off x="4779569" y="12746736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8" name="Shape 124"/>
          <p:cNvSpPr/>
          <p:nvPr/>
        </p:nvSpPr>
        <p:spPr>
          <a:xfrm>
            <a:off x="9010498" y="12746736"/>
            <a:ext cx="244145" cy="24414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9" name="Shape 125"/>
          <p:cNvSpPr/>
          <p:nvPr/>
        </p:nvSpPr>
        <p:spPr>
          <a:xfrm>
            <a:off x="4901184" y="9808769"/>
            <a:ext cx="4230929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0" name="Shape 126"/>
          <p:cNvSpPr/>
          <p:nvPr/>
        </p:nvSpPr>
        <p:spPr>
          <a:xfrm>
            <a:off x="4779569" y="9930384"/>
            <a:ext cx="4474159" cy="293796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1" name="Shape 127"/>
          <p:cNvSpPr/>
          <p:nvPr/>
        </p:nvSpPr>
        <p:spPr>
          <a:xfrm>
            <a:off x="4901184" y="9817913"/>
            <a:ext cx="4230929" cy="3163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28"/>
          <p:cNvSpPr/>
          <p:nvPr/>
        </p:nvSpPr>
        <p:spPr>
          <a:xfrm>
            <a:off x="4788713" y="9930384"/>
            <a:ext cx="4455871" cy="29379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3" name="Image 11" descr="g01-money-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7138" y="9827057"/>
            <a:ext cx="475488" cy="475488"/>
          </a:xfrm>
          <a:prstGeom prst="rect">
            <a:avLst/>
          </a:prstGeom>
        </p:spPr>
      </p:pic>
      <p:sp>
        <p:nvSpPr>
          <p:cNvPr id="144" name="Text 129"/>
          <p:cNvSpPr/>
          <p:nvPr/>
        </p:nvSpPr>
        <p:spPr>
          <a:xfrm>
            <a:off x="5584241" y="987552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창업자금 총액</a:t>
            </a:r>
            <a:pPr algn="l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(인수비용 포함)</a:t>
            </a:r>
            <a:endParaRPr lang="en-US" sz="1200" dirty="0"/>
          </a:p>
        </p:txBody>
      </p:sp>
      <p:sp>
        <p:nvSpPr>
          <p:cNvPr id="145" name="Shape 130"/>
          <p:cNvSpPr/>
          <p:nvPr/>
        </p:nvSpPr>
        <p:spPr>
          <a:xfrm>
            <a:off x="7040880" y="10399471"/>
            <a:ext cx="0" cy="1463040"/>
          </a:xfrm>
          <a:prstGeom prst="line">
            <a:avLst/>
          </a:prstGeom>
          <a:noFill/>
          <a:ln w="12700">
            <a:solidFill>
              <a:srgbClr val="D6E4F1"/>
            </a:solidFill>
            <a:prstDash val="solid"/>
          </a:ln>
        </p:spPr>
      </p:sp>
      <p:sp>
        <p:nvSpPr>
          <p:cNvPr id="146" name="Text 131"/>
          <p:cNvSpPr/>
          <p:nvPr/>
        </p:nvSpPr>
        <p:spPr>
          <a:xfrm>
            <a:off x="5042002" y="10448849"/>
            <a:ext cx="18288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평균</a:t>
            </a:r>
            <a:endParaRPr lang="en-US" sz="1680" dirty="0"/>
          </a:p>
        </p:txBody>
      </p:sp>
      <p:sp>
        <p:nvSpPr>
          <p:cNvPr id="147" name="Text 132"/>
          <p:cNvSpPr/>
          <p:nvPr/>
        </p:nvSpPr>
        <p:spPr>
          <a:xfrm>
            <a:off x="4919966" y="10621112"/>
            <a:ext cx="1796296" cy="6708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1억 3,703</a:t>
            </a:r>
            <a:endParaRPr lang="en-US" sz="2780" dirty="0"/>
          </a:p>
        </p:txBody>
      </p:sp>
      <p:sp>
        <p:nvSpPr>
          <p:cNvPr id="148" name="Text 133"/>
          <p:cNvSpPr/>
          <p:nvPr/>
        </p:nvSpPr>
        <p:spPr>
          <a:xfrm>
            <a:off x="6606534" y="10852861"/>
            <a:ext cx="495117" cy="41986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만원</a:t>
            </a:r>
            <a:endParaRPr lang="en-US" sz="1740" dirty="0"/>
          </a:p>
        </p:txBody>
      </p:sp>
      <p:pic>
        <p:nvPicPr>
          <p:cNvPr id="149" name="Image 12" descr="g01-cash-bi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3792" y="11253521"/>
            <a:ext cx="1524305" cy="950976"/>
          </a:xfrm>
          <a:prstGeom prst="rect">
            <a:avLst/>
          </a:prstGeom>
        </p:spPr>
      </p:pic>
      <p:sp>
        <p:nvSpPr>
          <p:cNvPr id="150" name="Text 134"/>
          <p:cNvSpPr/>
          <p:nvPr/>
        </p:nvSpPr>
        <p:spPr>
          <a:xfrm>
            <a:off x="7242048" y="10448849"/>
            <a:ext cx="18288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중앙값</a:t>
            </a:r>
            <a:endParaRPr lang="en-US" sz="1680" dirty="0"/>
          </a:p>
        </p:txBody>
      </p:sp>
      <p:sp>
        <p:nvSpPr>
          <p:cNvPr id="151" name="Text 135"/>
          <p:cNvSpPr/>
          <p:nvPr/>
        </p:nvSpPr>
        <p:spPr>
          <a:xfrm>
            <a:off x="7284263" y="10389362"/>
            <a:ext cx="1347805" cy="92176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7,000</a:t>
            </a:r>
            <a:endParaRPr lang="en-US" sz="3820" dirty="0"/>
          </a:p>
        </p:txBody>
      </p:sp>
      <p:sp>
        <p:nvSpPr>
          <p:cNvPr id="152" name="Text 136"/>
          <p:cNvSpPr/>
          <p:nvPr/>
        </p:nvSpPr>
        <p:spPr>
          <a:xfrm>
            <a:off x="8522340" y="10730205"/>
            <a:ext cx="616936" cy="55257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만원</a:t>
            </a:r>
            <a:endParaRPr lang="en-US" sz="2290" dirty="0"/>
          </a:p>
        </p:txBody>
      </p:sp>
      <p:pic>
        <p:nvPicPr>
          <p:cNvPr id="153" name="Image 13" descr="g01-cash-small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0" y="11363249"/>
            <a:ext cx="1316736" cy="743407"/>
          </a:xfrm>
          <a:prstGeom prst="rect">
            <a:avLst/>
          </a:prstGeom>
        </p:spPr>
      </p:pic>
      <p:sp>
        <p:nvSpPr>
          <p:cNvPr id="154" name="Shape 137"/>
          <p:cNvSpPr/>
          <p:nvPr/>
        </p:nvSpPr>
        <p:spPr>
          <a:xfrm>
            <a:off x="4980737" y="12191695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55" name="Shape 138"/>
          <p:cNvSpPr/>
          <p:nvPr/>
        </p:nvSpPr>
        <p:spPr>
          <a:xfrm>
            <a:off x="8784641" y="12191695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56" name="Shape 139"/>
          <p:cNvSpPr/>
          <p:nvPr/>
        </p:nvSpPr>
        <p:spPr>
          <a:xfrm>
            <a:off x="4980737" y="1261872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57" name="Shape 140"/>
          <p:cNvSpPr/>
          <p:nvPr/>
        </p:nvSpPr>
        <p:spPr>
          <a:xfrm>
            <a:off x="8784641" y="1261872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58" name="Shape 141"/>
          <p:cNvSpPr/>
          <p:nvPr/>
        </p:nvSpPr>
        <p:spPr>
          <a:xfrm>
            <a:off x="5090465" y="12191695"/>
            <a:ext cx="3803904" cy="646481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159" name="Shape 142"/>
          <p:cNvSpPr/>
          <p:nvPr/>
        </p:nvSpPr>
        <p:spPr>
          <a:xfrm>
            <a:off x="4980737" y="12301423"/>
            <a:ext cx="4023360" cy="427025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160" name="Image 14" descr="g01-barchart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62449" y="12167921"/>
            <a:ext cx="560527" cy="731520"/>
          </a:xfrm>
          <a:prstGeom prst="rect">
            <a:avLst/>
          </a:prstGeom>
        </p:spPr>
      </p:pic>
      <p:sp>
        <p:nvSpPr>
          <p:cNvPr id="161" name="Text 143"/>
          <p:cNvSpPr/>
          <p:nvPr/>
        </p:nvSpPr>
        <p:spPr>
          <a:xfrm>
            <a:off x="5700370" y="12191695"/>
            <a:ext cx="3206801" cy="6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 간 자금 규모 편차가</a:t>
            </a:r>
            <a:endParaRPr lang="en-US" sz="17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큰 것으로 나타났습니다.</a:t>
            </a:r>
            <a:endParaRPr lang="en-US" sz="1730" dirty="0"/>
          </a:p>
        </p:txBody>
      </p:sp>
      <p:sp>
        <p:nvSpPr>
          <p:cNvPr id="162" name="Shape 144"/>
          <p:cNvSpPr/>
          <p:nvPr/>
        </p:nvSpPr>
        <p:spPr>
          <a:xfrm>
            <a:off x="463601" y="13155473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3" name="Shape 145"/>
          <p:cNvSpPr/>
          <p:nvPr/>
        </p:nvSpPr>
        <p:spPr>
          <a:xfrm>
            <a:off x="9028786" y="13155473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4" name="Shape 146"/>
          <p:cNvSpPr/>
          <p:nvPr/>
        </p:nvSpPr>
        <p:spPr>
          <a:xfrm>
            <a:off x="463601" y="13941857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5" name="Shape 147"/>
          <p:cNvSpPr/>
          <p:nvPr/>
        </p:nvSpPr>
        <p:spPr>
          <a:xfrm>
            <a:off x="9028786" y="13941857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6" name="Shape 148"/>
          <p:cNvSpPr/>
          <p:nvPr/>
        </p:nvSpPr>
        <p:spPr>
          <a:xfrm>
            <a:off x="585216" y="13155473"/>
            <a:ext cx="8565185" cy="1030529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67" name="Shape 149"/>
          <p:cNvSpPr/>
          <p:nvPr/>
        </p:nvSpPr>
        <p:spPr>
          <a:xfrm>
            <a:off x="463601" y="13277088"/>
            <a:ext cx="8809330" cy="786384"/>
          </a:xfrm>
          <a:prstGeom prst="rect">
            <a:avLst/>
          </a:prstGeom>
          <a:solidFill>
            <a:srgbClr val="00337F"/>
          </a:solidFill>
          <a:ln/>
        </p:spPr>
      </p:sp>
      <p:pic>
        <p:nvPicPr>
          <p:cNvPr id="168" name="Image 15" descr="g01-clipboard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135" y="13277088"/>
            <a:ext cx="706831" cy="804672"/>
          </a:xfrm>
          <a:prstGeom prst="rect">
            <a:avLst/>
          </a:prstGeom>
        </p:spPr>
      </p:pic>
      <p:sp>
        <p:nvSpPr>
          <p:cNvPr id="169" name="Text 150"/>
          <p:cNvSpPr/>
          <p:nvPr/>
        </p:nvSpPr>
        <p:spPr>
          <a:xfrm>
            <a:off x="1828800" y="13301777"/>
            <a:ext cx="65717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경험 있는 창업자들이 여러 번의 도전을 통해 사업을 이어가고 있으며,</a:t>
            </a:r>
            <a:endParaRPr lang="en-US" sz="1780" dirty="0"/>
          </a:p>
        </p:txBody>
      </p:sp>
      <p:sp>
        <p:nvSpPr>
          <p:cNvPr id="170" name="Text 151"/>
          <p:cNvSpPr/>
          <p:nvPr/>
        </p:nvSpPr>
        <p:spPr>
          <a:xfrm>
            <a:off x="1828800" y="13654735"/>
            <a:ext cx="6571793" cy="353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6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다양한 규모의 자금과 준비과정</a:t>
            </a:r>
            <a:pPr algn="ctr" indent="0" marL="0">
              <a:lnSpc>
                <a:spcPct val="95000"/>
              </a:lnSpc>
              <a:buNone/>
            </a:pPr>
            <a:r>
              <a:rPr lang="en-US" sz="16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을 거쳐 </a:t>
            </a:r>
            <a:pPr algn="ctr" indent="0" marL="0">
              <a:lnSpc>
                <a:spcPct val="95000"/>
              </a:lnSpc>
              <a:buNone/>
            </a:pPr>
            <a:r>
              <a:rPr lang="en-US" sz="166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새로운 성장</a:t>
            </a:r>
            <a:pPr algn="ctr" indent="0" marL="0">
              <a:lnSpc>
                <a:spcPct val="95000"/>
              </a:lnSpc>
              <a:buNone/>
            </a:pPr>
            <a:r>
              <a:rPr lang="en-US" sz="16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을 만들어가고 있습니다.</a:t>
            </a:r>
            <a:endParaRPr lang="en-US" sz="1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소상공인 실태조사 인포그래픽</dc:title>
  <dc:subject>PptxGenJS Presentation</dc:subject>
  <dc:creator>케이스탯리서치</dc:creator>
  <cp:lastModifiedBy>케이스탯리서치</cp:lastModifiedBy>
  <cp:revision>1</cp:revision>
  <dcterms:created xsi:type="dcterms:W3CDTF">2026-08-26T09:00:25Z</dcterms:created>
  <dcterms:modified xsi:type="dcterms:W3CDTF">2026-08-26T09:00:25Z</dcterms:modified>
</cp:coreProperties>
</file>
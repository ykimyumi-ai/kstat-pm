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결과를 2027년 승인통계로 연결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56327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79476" y="536753"/>
            <a:ext cx="589330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수치와 산출물이 이어지는 하나의 실행 흐름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0626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23299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0626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23299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877824"/>
            <a:ext cx="8133588" cy="73334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0626" y="956462"/>
            <a:ext cx="828995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884225"/>
            <a:ext cx="8133588" cy="720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7026" y="956462"/>
            <a:ext cx="8277149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578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868314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1191463" y="877824"/>
            <a:ext cx="7688275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판별조사를 통해 연동 적용대상을 확보하고, 올해 확인한 내용을 바탕으로 2027년 승인통계로 연계</a:t>
            </a:r>
            <a:endParaRPr lang="en-US" sz="146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결과와 내년 승인이 하나의 흐름으로 이어지도록 추진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261518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294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8" name="Shape 16"/>
          <p:cNvSpPr/>
          <p:nvPr/>
        </p:nvSpPr>
        <p:spPr>
          <a:xfrm>
            <a:off x="261518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0294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754734"/>
            <a:ext cx="6207862" cy="333756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1" name="Shape 19"/>
          <p:cNvSpPr/>
          <p:nvPr/>
        </p:nvSpPr>
        <p:spPr>
          <a:xfrm>
            <a:off x="261518" y="1807769"/>
            <a:ext cx="6313018" cy="229514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2" name="Text 20"/>
          <p:cNvSpPr/>
          <p:nvPr/>
        </p:nvSpPr>
        <p:spPr>
          <a:xfrm>
            <a:off x="261518" y="1754734"/>
            <a:ext cx="631301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 판별조사 · 본조사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>
            <a:off x="661385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968532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5" name="Shape 23"/>
          <p:cNvSpPr/>
          <p:nvPr/>
        </p:nvSpPr>
        <p:spPr>
          <a:xfrm>
            <a:off x="661385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8532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7" name="Shape 25"/>
          <p:cNvSpPr/>
          <p:nvPr/>
        </p:nvSpPr>
        <p:spPr>
          <a:xfrm>
            <a:off x="6665976" y="1754734"/>
            <a:ext cx="3071470" cy="327355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8" name="Shape 26"/>
          <p:cNvSpPr/>
          <p:nvPr/>
        </p:nvSpPr>
        <p:spPr>
          <a:xfrm>
            <a:off x="6613855" y="1807769"/>
            <a:ext cx="3175711" cy="222199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9" name="Text 27"/>
          <p:cNvSpPr/>
          <p:nvPr/>
        </p:nvSpPr>
        <p:spPr>
          <a:xfrm>
            <a:off x="6613855" y="1754734"/>
            <a:ext cx="317571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9B743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 · 신청</a:t>
            </a:r>
            <a:endParaRPr lang="en-US" sz="1460" dirty="0"/>
          </a:p>
        </p:txBody>
      </p:sp>
      <p:sp>
        <p:nvSpPr>
          <p:cNvPr id="30" name="Shape 28"/>
          <p:cNvSpPr/>
          <p:nvPr/>
        </p:nvSpPr>
        <p:spPr>
          <a:xfrm>
            <a:off x="261518" y="2678278"/>
            <a:ext cx="6391656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85278" y="2678278"/>
            <a:ext cx="2363724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7059168" y="2678278"/>
            <a:ext cx="425196" cy="314554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53174" y="2599639"/>
            <a:ext cx="811987" cy="78638"/>
          </a:xfrm>
          <a:prstGeom prst="line">
            <a:avLst/>
          </a:prstGeom>
          <a:noFill/>
          <a:ln w="25400">
            <a:solidFill>
              <a:srgbClr val="9B743C"/>
            </a:solidFill>
            <a:prstDash val="dash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38621" y="2108606"/>
            <a:ext cx="130942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결과가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내년 승인 근거로 전환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661111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18388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266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39" name="Shape 37"/>
          <p:cNvSpPr/>
          <p:nvPr/>
        </p:nvSpPr>
        <p:spPr>
          <a:xfrm>
            <a:off x="818388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-32918" y="2802636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SBR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-32918" y="3025750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7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670" dirty="0"/>
          </a:p>
        </p:txBody>
      </p:sp>
      <p:sp>
        <p:nvSpPr>
          <p:cNvPr id="42" name="Shape 40"/>
          <p:cNvSpPr/>
          <p:nvPr/>
        </p:nvSpPr>
        <p:spPr>
          <a:xfrm>
            <a:off x="32735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43" name="Text 41"/>
          <p:cNvSpPr/>
          <p:nvPr/>
        </p:nvSpPr>
        <p:spPr>
          <a:xfrm>
            <a:off x="-329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출발 명부</a:t>
            </a:r>
            <a:endParaRPr lang="en-US" sz="1090" dirty="0"/>
          </a:p>
        </p:txBody>
      </p:sp>
      <p:sp>
        <p:nvSpPr>
          <p:cNvPr id="44" name="Shape 42"/>
          <p:cNvSpPr/>
          <p:nvPr/>
        </p:nvSpPr>
        <p:spPr>
          <a:xfrm rot="5400000">
            <a:off x="198424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8424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141525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5805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48" name="Shape 46"/>
          <p:cNvSpPr/>
          <p:nvPr/>
        </p:nvSpPr>
        <p:spPr>
          <a:xfrm>
            <a:off x="2141525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9021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자사 DB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290218" y="295351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4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630만</a:t>
            </a:r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</a:t>
            </a:r>
            <a:endParaRPr lang="en-US" sz="2140" dirty="0"/>
          </a:p>
        </p:txBody>
      </p:sp>
      <p:sp>
        <p:nvSpPr>
          <p:cNvPr id="51" name="Shape 49"/>
          <p:cNvSpPr/>
          <p:nvPr/>
        </p:nvSpPr>
        <p:spPr>
          <a:xfrm>
            <a:off x="165049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52" name="Text 50"/>
          <p:cNvSpPr/>
          <p:nvPr/>
        </p:nvSpPr>
        <p:spPr>
          <a:xfrm>
            <a:off x="12902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현행화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 연락처 확보</a:t>
            </a:r>
            <a:endParaRPr lang="en-US" sz="1090" dirty="0"/>
          </a:p>
        </p:txBody>
      </p:sp>
      <p:sp>
        <p:nvSpPr>
          <p:cNvPr id="53" name="Shape 51"/>
          <p:cNvSpPr/>
          <p:nvPr/>
        </p:nvSpPr>
        <p:spPr>
          <a:xfrm rot="5400000">
            <a:off x="3313786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3786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471062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2442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1062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9756" y="292059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판별조사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97911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0" name="Text 58"/>
          <p:cNvSpPr/>
          <p:nvPr/>
        </p:nvSpPr>
        <p:spPr>
          <a:xfrm>
            <a:off x="2619756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확인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담당자 이메일 확보</a:t>
            </a:r>
            <a:endParaRPr lang="en-US" sz="1090" dirty="0"/>
          </a:p>
        </p:txBody>
      </p:sp>
      <p:sp>
        <p:nvSpPr>
          <p:cNvPr id="61" name="Shape 59"/>
          <p:cNvSpPr/>
          <p:nvPr/>
        </p:nvSpPr>
        <p:spPr>
          <a:xfrm rot="5400000">
            <a:off x="4649724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49724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807001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0366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7001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955694" y="290779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720" dirty="0"/>
          </a:p>
        </p:txBody>
      </p:sp>
      <p:sp>
        <p:nvSpPr>
          <p:cNvPr id="67" name="Shape 65"/>
          <p:cNvSpPr/>
          <p:nvPr/>
        </p:nvSpPr>
        <p:spPr>
          <a:xfrm>
            <a:off x="4315054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8" name="Text 66"/>
          <p:cNvSpPr/>
          <p:nvPr/>
        </p:nvSpPr>
        <p:spPr>
          <a:xfrm>
            <a:off x="3955694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명부 구축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 rot="5400000">
            <a:off x="5932627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32627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08990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4418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73" name="Shape 71"/>
          <p:cNvSpPr/>
          <p:nvPr/>
        </p:nvSpPr>
        <p:spPr>
          <a:xfrm>
            <a:off x="608990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238598" y="2809037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5238598" y="301203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3,000+</a:t>
            </a:r>
            <a:endParaRPr lang="en-US" sz="1930" dirty="0"/>
          </a:p>
        </p:txBody>
      </p:sp>
      <p:sp>
        <p:nvSpPr>
          <p:cNvPr id="76" name="Shape 74"/>
          <p:cNvSpPr/>
          <p:nvPr/>
        </p:nvSpPr>
        <p:spPr>
          <a:xfrm>
            <a:off x="5598871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7" name="Text 75"/>
          <p:cNvSpPr/>
          <p:nvPr/>
        </p:nvSpPr>
        <p:spPr>
          <a:xfrm>
            <a:off x="523859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표본설계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 목표 관리</a:t>
            </a:r>
            <a:endParaRPr lang="en-US" sz="1090" dirty="0"/>
          </a:p>
        </p:txBody>
      </p:sp>
      <p:sp>
        <p:nvSpPr>
          <p:cNvPr id="78" name="Shape 76"/>
          <p:cNvSpPr/>
          <p:nvPr/>
        </p:nvSpPr>
        <p:spPr>
          <a:xfrm rot="5400000">
            <a:off x="775319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88642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319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886429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06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91047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6475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82" name="Shape 80"/>
          <p:cNvSpPr/>
          <p:nvPr/>
        </p:nvSpPr>
        <p:spPr>
          <a:xfrm>
            <a:off x="791047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05916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6요소 +</a:t>
            </a:r>
            <a:endParaRPr lang="en-US" sz="1460" dirty="0"/>
          </a:p>
        </p:txBody>
      </p:sp>
      <p:sp>
        <p:nvSpPr>
          <p:cNvPr id="84" name="Text 82"/>
          <p:cNvSpPr/>
          <p:nvPr/>
        </p:nvSpPr>
        <p:spPr>
          <a:xfrm>
            <a:off x="7059168" y="3038551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핵심지표 4종</a:t>
            </a:r>
            <a:endParaRPr lang="en-US" sz="1460" dirty="0"/>
          </a:p>
        </p:txBody>
      </p:sp>
      <p:sp>
        <p:nvSpPr>
          <p:cNvPr id="85" name="Shape 83"/>
          <p:cNvSpPr/>
          <p:nvPr/>
        </p:nvSpPr>
        <p:spPr>
          <a:xfrm>
            <a:off x="741944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6" name="Text 84"/>
          <p:cNvSpPr/>
          <p:nvPr/>
        </p:nvSpPr>
        <p:spPr>
          <a:xfrm>
            <a:off x="705916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 · 기술문서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산출기준 확정</a:t>
            </a:r>
            <a:endParaRPr lang="en-US" sz="1090" dirty="0"/>
          </a:p>
        </p:txBody>
      </p:sp>
      <p:sp>
        <p:nvSpPr>
          <p:cNvPr id="87" name="Shape 85"/>
          <p:cNvSpPr/>
          <p:nvPr/>
        </p:nvSpPr>
        <p:spPr>
          <a:xfrm rot="5400000">
            <a:off x="9056218" y="2213762"/>
            <a:ext cx="314554" cy="314554"/>
          </a:xfrm>
          <a:prstGeom prst="hexagon">
            <a:avLst/>
          </a:prstGeom>
          <a:solidFill>
            <a:srgbClr val="2E323C"/>
          </a:solidFill>
          <a:ln w="22225">
            <a:solidFill>
              <a:srgbClr val="2E32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621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07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921349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6777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91" name="Shape 89"/>
          <p:cNvSpPr/>
          <p:nvPr/>
        </p:nvSpPr>
        <p:spPr>
          <a:xfrm>
            <a:off x="921349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362188" y="27898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</a:t>
            </a:r>
            <a:endParaRPr lang="en-US" sz="1410" dirty="0"/>
          </a:p>
        </p:txBody>
      </p:sp>
      <p:sp>
        <p:nvSpPr>
          <p:cNvPr id="93" name="Text 91"/>
          <p:cNvSpPr/>
          <p:nvPr/>
        </p:nvSpPr>
        <p:spPr>
          <a:xfrm>
            <a:off x="8362188" y="304495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872246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3"/>
          <p:cNvSpPr/>
          <p:nvPr/>
        </p:nvSpPr>
        <p:spPr>
          <a:xfrm>
            <a:off x="836218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국가승인통계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기반 완성</a:t>
            </a:r>
            <a:endParaRPr lang="en-US" sz="1090" dirty="0"/>
          </a:p>
        </p:txBody>
      </p:sp>
      <p:sp>
        <p:nvSpPr>
          <p:cNvPr id="96" name="Shape 94"/>
          <p:cNvSpPr/>
          <p:nvPr/>
        </p:nvSpPr>
        <p:spPr>
          <a:xfrm>
            <a:off x="229514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7" name="Shape 95"/>
          <p:cNvSpPr/>
          <p:nvPr/>
        </p:nvSpPr>
        <p:spPr>
          <a:xfrm>
            <a:off x="419709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8" name="Shape 96"/>
          <p:cNvSpPr/>
          <p:nvPr/>
        </p:nvSpPr>
        <p:spPr>
          <a:xfrm>
            <a:off x="229514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9" name="Shape 97"/>
          <p:cNvSpPr/>
          <p:nvPr/>
        </p:nvSpPr>
        <p:spPr>
          <a:xfrm>
            <a:off x="419709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308153" y="4197096"/>
            <a:ext cx="3968496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1" name="Shape 99"/>
          <p:cNvSpPr/>
          <p:nvPr/>
        </p:nvSpPr>
        <p:spPr>
          <a:xfrm>
            <a:off x="229514" y="4275734"/>
            <a:ext cx="4125773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63270" y="4105656"/>
            <a:ext cx="1826971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38912" y="4230014"/>
            <a:ext cx="207568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8912" y="4105656"/>
            <a:ext cx="207568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판별조사가 필요한 이유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514600" y="4223614"/>
            <a:ext cx="1839773" cy="10058"/>
          </a:xfrm>
          <a:prstGeom prst="rect">
            <a:avLst/>
          </a:prstGeom>
          <a:solidFill>
            <a:srgbClr val="0A2A6B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93192" y="4557370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1" name="Text 109"/>
          <p:cNvSpPr/>
          <p:nvPr/>
        </p:nvSpPr>
        <p:spPr>
          <a:xfrm>
            <a:off x="530352" y="4478731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적용대상의 전국 모수가 공표된 바 없음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93192" y="4871923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3" name="Text 111"/>
          <p:cNvSpPr/>
          <p:nvPr/>
        </p:nvSpPr>
        <p:spPr>
          <a:xfrm>
            <a:off x="530352" y="4793285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명부는 이메일이 없고 전화번호도 절반 이상 부재 · 결번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93192" y="5186477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5" name="Text 113"/>
          <p:cNvSpPr/>
          <p:nvPr/>
        </p:nvSpPr>
        <p:spPr>
          <a:xfrm>
            <a:off x="530352" y="5107838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요건은 거래 단위 정보이므로 재무자료만으로 확인 불가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61680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69812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61680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69812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695444" y="4197096"/>
            <a:ext cx="5081321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616806" y="4275734"/>
            <a:ext cx="5238598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950562" y="4105656"/>
            <a:ext cx="1932127" cy="248717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826203" y="4230014"/>
            <a:ext cx="2180844" cy="0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26203" y="4105656"/>
            <a:ext cx="218084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준비에서 확정할 사항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7007047" y="4223614"/>
            <a:ext cx="2848356" cy="10058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68926" y="4557370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6884" y="4478731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 · 방법 · 모집단 · 표본설계 · 소요예산 · 추진일정의 6요소 로드맵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668926" y="4871923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86884" y="4793285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통계법 시행규칙 제12조 첨부서류를 과업 기간 중 사전 작성</a:t>
            </a:r>
            <a:endParaRPr lang="en-US" sz="1160" dirty="0"/>
          </a:p>
        </p:txBody>
      </p:sp>
      <p:sp>
        <p:nvSpPr>
          <p:cNvPr id="134" name="Shape 132"/>
          <p:cNvSpPr/>
          <p:nvPr/>
        </p:nvSpPr>
        <p:spPr>
          <a:xfrm>
            <a:off x="4668926" y="5186477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5" name="Text 133"/>
          <p:cNvSpPr/>
          <p:nvPr/>
        </p:nvSpPr>
        <p:spPr>
          <a:xfrm>
            <a:off x="4786884" y="5107838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 승인 이후에도 사용하도록 설계</a:t>
            </a:r>
            <a:endParaRPr lang="en-US" sz="1040" dirty="0"/>
          </a:p>
        </p:txBody>
      </p:sp>
      <p:pic>
        <p:nvPicPr>
          <p:cNvPr id="136" name="Image 0" descr="/home/user/kstat-pm/deck/namp-2026/assets/s17-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546" y="4374490"/>
            <a:ext cx="1518818" cy="1191463"/>
          </a:xfrm>
          <a:prstGeom prst="rect">
            <a:avLst/>
          </a:prstGeom>
        </p:spPr>
      </p:pic>
      <p:sp>
        <p:nvSpPr>
          <p:cNvPr id="137" name="Shape 134"/>
          <p:cNvSpPr/>
          <p:nvPr/>
        </p:nvSpPr>
        <p:spPr>
          <a:xfrm>
            <a:off x="15727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61308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5727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61308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1" name="Shape 138"/>
          <p:cNvSpPr/>
          <p:nvPr/>
        </p:nvSpPr>
        <p:spPr>
          <a:xfrm>
            <a:off x="288036" y="5716829"/>
            <a:ext cx="9455810" cy="792785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2" name="Shape 139"/>
          <p:cNvSpPr/>
          <p:nvPr/>
        </p:nvSpPr>
        <p:spPr>
          <a:xfrm>
            <a:off x="157277" y="5847588"/>
            <a:ext cx="9718243" cy="530352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3" name="Text 140"/>
          <p:cNvSpPr/>
          <p:nvPr/>
        </p:nvSpPr>
        <p:spPr>
          <a:xfrm>
            <a:off x="393192" y="5801868"/>
            <a:ext cx="924641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조사로 모집단과 산출기준을 확정하고,  이를 2027년 승인 신청의 근거로 연결</a:t>
            </a:r>
            <a:endParaRPr lang="en-US" sz="1350" dirty="0"/>
          </a:p>
        </p:txBody>
      </p:sp>
      <p:sp>
        <p:nvSpPr>
          <p:cNvPr id="144" name="Text 141"/>
          <p:cNvSpPr/>
          <p:nvPr/>
        </p:nvSpPr>
        <p:spPr>
          <a:xfrm>
            <a:off x="393192" y="6110021"/>
            <a:ext cx="9246413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70" b="1" dirty="0">
                <a:solidFill>
                  <a:srgbClr val="FFD87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→ 명부 구축 → 본조사 → 승인 준비를 하나의 실행 체계로 추진</a:t>
            </a:r>
            <a:endParaRPr lang="en-US" sz="1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2026-08-11T10:44:50Z</dcterms:created>
  <dcterms:modified xsi:type="dcterms:W3CDTF">2026-08-11T10:44:50Z</dcterms:modified>
</cp:coreProperties>
</file>
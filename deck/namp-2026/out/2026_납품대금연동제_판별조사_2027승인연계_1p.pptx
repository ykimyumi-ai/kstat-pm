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98" y="91440"/>
            <a:ext cx="8513064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판별조사 결과를 2027년 승인통계로 연결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 flipH="1">
            <a:off x="196596" y="563270"/>
            <a:ext cx="78638" cy="196596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79476" y="536753"/>
            <a:ext cx="589330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수치와 산출물이 이어지는 하나의 실행 흐름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0626" y="877824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23299" y="877824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0626" y="145389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23299" y="145389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877824"/>
            <a:ext cx="8133588" cy="73334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0626" y="956462"/>
            <a:ext cx="828995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884225"/>
            <a:ext cx="8133588" cy="7205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7026" y="956462"/>
            <a:ext cx="8277149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5782" y="903427"/>
            <a:ext cx="393192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9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90" dirty="0"/>
          </a:p>
        </p:txBody>
      </p:sp>
      <p:sp>
        <p:nvSpPr>
          <p:cNvPr id="14" name="Text 12"/>
          <p:cNvSpPr/>
          <p:nvPr/>
        </p:nvSpPr>
        <p:spPr>
          <a:xfrm>
            <a:off x="8683142" y="903427"/>
            <a:ext cx="393192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9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90" dirty="0"/>
          </a:p>
        </p:txBody>
      </p:sp>
      <p:sp>
        <p:nvSpPr>
          <p:cNvPr id="15" name="Text 13"/>
          <p:cNvSpPr/>
          <p:nvPr/>
        </p:nvSpPr>
        <p:spPr>
          <a:xfrm>
            <a:off x="1191463" y="877824"/>
            <a:ext cx="7688275" cy="733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판별조사를 통해 연동 적용대상을 확보하고, 올해 확인한 내용을 바탕으로 2027년 승인통계로 연계</a:t>
            </a:r>
            <a:endParaRPr lang="en-US" sz="146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올해 조사 결과와 내년 승인이 하나의 흐름으로 이어지도록 추진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261518" y="1754734"/>
            <a:ext cx="105156" cy="105156"/>
          </a:xfrm>
          <a:prstGeom prst="ellipse">
            <a:avLst/>
          </a:prstGeom>
          <a:solidFill>
            <a:srgbClr val="E9EC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0294" y="1754734"/>
            <a:ext cx="105156" cy="105156"/>
          </a:xfrm>
          <a:prstGeom prst="ellipse">
            <a:avLst/>
          </a:prstGeom>
          <a:solidFill>
            <a:srgbClr val="E9ECF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1518" y="1984248"/>
            <a:ext cx="105156" cy="105156"/>
          </a:xfrm>
          <a:prstGeom prst="ellipse">
            <a:avLst/>
          </a:prstGeom>
          <a:solidFill>
            <a:srgbClr val="E9EC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0294" y="1984248"/>
            <a:ext cx="105156" cy="105156"/>
          </a:xfrm>
          <a:prstGeom prst="ellipse">
            <a:avLst/>
          </a:prstGeom>
          <a:solidFill>
            <a:srgbClr val="E9EC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1754734"/>
            <a:ext cx="6207862" cy="333756"/>
          </a:xfrm>
          <a:prstGeom prst="rect">
            <a:avLst/>
          </a:prstGeom>
          <a:solidFill>
            <a:srgbClr val="E9ECF4"/>
          </a:solidFill>
          <a:ln/>
        </p:spPr>
      </p:sp>
      <p:sp>
        <p:nvSpPr>
          <p:cNvPr id="21" name="Shape 19"/>
          <p:cNvSpPr/>
          <p:nvPr/>
        </p:nvSpPr>
        <p:spPr>
          <a:xfrm>
            <a:off x="261518" y="1807769"/>
            <a:ext cx="6313018" cy="229514"/>
          </a:xfrm>
          <a:prstGeom prst="rect">
            <a:avLst/>
          </a:prstGeom>
          <a:solidFill>
            <a:srgbClr val="E9ECF4"/>
          </a:solidFill>
          <a:ln/>
        </p:spPr>
      </p:sp>
      <p:sp>
        <p:nvSpPr>
          <p:cNvPr id="22" name="Text 20"/>
          <p:cNvSpPr/>
          <p:nvPr/>
        </p:nvSpPr>
        <p:spPr>
          <a:xfrm>
            <a:off x="261518" y="1754734"/>
            <a:ext cx="63130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2026 판별조사 · 본조사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6613855" y="1754734"/>
            <a:ext cx="105156" cy="105156"/>
          </a:xfrm>
          <a:prstGeom prst="ellipse">
            <a:avLst/>
          </a:prstGeom>
          <a:solidFill>
            <a:srgbClr val="F3ED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685325" y="1754734"/>
            <a:ext cx="105156" cy="105156"/>
          </a:xfrm>
          <a:prstGeom prst="ellipse">
            <a:avLst/>
          </a:prstGeom>
          <a:solidFill>
            <a:srgbClr val="F3ED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3855" y="1977847"/>
            <a:ext cx="105156" cy="105156"/>
          </a:xfrm>
          <a:prstGeom prst="ellipse">
            <a:avLst/>
          </a:prstGeom>
          <a:solidFill>
            <a:srgbClr val="F3EDE5"/>
          </a:solidFill>
          <a:ln/>
        </p:spPr>
      </p:sp>
      <p:sp>
        <p:nvSpPr>
          <p:cNvPr id="26" name="Shape 24"/>
          <p:cNvSpPr/>
          <p:nvPr/>
        </p:nvSpPr>
        <p:spPr>
          <a:xfrm>
            <a:off x="9685325" y="1977847"/>
            <a:ext cx="105156" cy="105156"/>
          </a:xfrm>
          <a:prstGeom prst="ellipse">
            <a:avLst/>
          </a:prstGeom>
          <a:solidFill>
            <a:srgbClr val="F3ED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5976" y="1754734"/>
            <a:ext cx="3071470" cy="327355"/>
          </a:xfrm>
          <a:prstGeom prst="rect">
            <a:avLst/>
          </a:prstGeom>
          <a:solidFill>
            <a:srgbClr val="F3ED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613855" y="1807769"/>
            <a:ext cx="3175711" cy="222199"/>
          </a:xfrm>
          <a:prstGeom prst="rect">
            <a:avLst/>
          </a:prstGeom>
          <a:solidFill>
            <a:srgbClr val="F3EDE5"/>
          </a:solidFill>
          <a:ln/>
        </p:spPr>
      </p:sp>
      <p:sp>
        <p:nvSpPr>
          <p:cNvPr id="29" name="Text 27"/>
          <p:cNvSpPr/>
          <p:nvPr/>
        </p:nvSpPr>
        <p:spPr>
          <a:xfrm>
            <a:off x="6613855" y="1754734"/>
            <a:ext cx="3175711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9B743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준비 · 신청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261518" y="2678278"/>
            <a:ext cx="6391656" cy="0"/>
          </a:xfrm>
          <a:prstGeom prst="line">
            <a:avLst/>
          </a:prstGeom>
          <a:noFill/>
          <a:ln w="28575">
            <a:solidFill>
              <a:srgbClr val="1233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85278" y="2678278"/>
            <a:ext cx="2363724" cy="0"/>
          </a:xfrm>
          <a:prstGeom prst="line">
            <a:avLst/>
          </a:prstGeom>
          <a:noFill/>
          <a:ln w="28575">
            <a:solidFill>
              <a:srgbClr val="1233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7059168" y="2678278"/>
            <a:ext cx="425196" cy="314554"/>
          </a:xfrm>
          <a:prstGeom prst="line">
            <a:avLst/>
          </a:prstGeom>
          <a:noFill/>
          <a:ln w="28575">
            <a:solidFill>
              <a:srgbClr val="1233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53174" y="2599639"/>
            <a:ext cx="811987" cy="78638"/>
          </a:xfrm>
          <a:prstGeom prst="line">
            <a:avLst/>
          </a:prstGeom>
          <a:noFill/>
          <a:ln w="25400">
            <a:solidFill>
              <a:srgbClr val="9B743C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338621" y="2108606"/>
            <a:ext cx="1309421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6A2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올해 조사 결과가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6A2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내년 승인 근거로 전환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661111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A1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1B5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39" name="Shape 37"/>
          <p:cNvSpPr/>
          <p:nvPr/>
        </p:nvSpPr>
        <p:spPr>
          <a:xfrm>
            <a:off x="818388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-32918" y="2802636"/>
            <a:ext cx="170261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SBR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-32918" y="3025750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7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4~5만</a:t>
            </a:r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개사</a:t>
            </a:r>
            <a:endParaRPr lang="en-US" sz="1670" dirty="0"/>
          </a:p>
        </p:txBody>
      </p:sp>
      <p:sp>
        <p:nvSpPr>
          <p:cNvPr id="42" name="Shape 40"/>
          <p:cNvSpPr/>
          <p:nvPr/>
        </p:nvSpPr>
        <p:spPr>
          <a:xfrm>
            <a:off x="327355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43" name="Text 41"/>
          <p:cNvSpPr/>
          <p:nvPr/>
        </p:nvSpPr>
        <p:spPr>
          <a:xfrm>
            <a:off x="-32918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판별조사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출발 명부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 rot="5400000">
            <a:off x="1984248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A1B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4248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1B5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141525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95805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48" name="Shape 46"/>
          <p:cNvSpPr/>
          <p:nvPr/>
        </p:nvSpPr>
        <p:spPr>
          <a:xfrm>
            <a:off x="2141525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90218" y="2783434"/>
            <a:ext cx="170261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자사 DB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290218" y="2953512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4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630만</a:t>
            </a:r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</a:t>
            </a:r>
            <a:endParaRPr lang="en-US" sz="2140" dirty="0"/>
          </a:p>
        </p:txBody>
      </p:sp>
      <p:sp>
        <p:nvSpPr>
          <p:cNvPr id="51" name="Shape 49"/>
          <p:cNvSpPr/>
          <p:nvPr/>
        </p:nvSpPr>
        <p:spPr>
          <a:xfrm>
            <a:off x="1650492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52" name="Text 50"/>
          <p:cNvSpPr/>
          <p:nvPr/>
        </p:nvSpPr>
        <p:spPr>
          <a:xfrm>
            <a:off x="1290218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전화번호 현행화 ·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유효 연락처 확보</a:t>
            </a:r>
            <a:endParaRPr lang="en-US" sz="1090" dirty="0"/>
          </a:p>
        </p:txBody>
      </p:sp>
      <p:sp>
        <p:nvSpPr>
          <p:cNvPr id="53" name="Shape 51"/>
          <p:cNvSpPr/>
          <p:nvPr/>
        </p:nvSpPr>
        <p:spPr>
          <a:xfrm rot="5400000">
            <a:off x="3313786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A1B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3786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1B5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471062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24428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57" name="Shape 55"/>
          <p:cNvSpPr/>
          <p:nvPr/>
        </p:nvSpPr>
        <p:spPr>
          <a:xfrm>
            <a:off x="3471062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19756" y="2920594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CATI 판별조사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979115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60" name="Text 58"/>
          <p:cNvSpPr/>
          <p:nvPr/>
        </p:nvSpPr>
        <p:spPr>
          <a:xfrm>
            <a:off x="2619756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적용대상 확인 ·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담당자 이메일 확보</a:t>
            </a:r>
            <a:endParaRPr lang="en-US" sz="1090" dirty="0"/>
          </a:p>
        </p:txBody>
      </p:sp>
      <p:sp>
        <p:nvSpPr>
          <p:cNvPr id="61" name="Shape 59"/>
          <p:cNvSpPr/>
          <p:nvPr/>
        </p:nvSpPr>
        <p:spPr>
          <a:xfrm rot="5400000">
            <a:off x="4649724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A1B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49724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1B5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807001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0366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65" name="Shape 63"/>
          <p:cNvSpPr/>
          <p:nvPr/>
        </p:nvSpPr>
        <p:spPr>
          <a:xfrm>
            <a:off x="4807001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55694" y="2907792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2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3,750</a:t>
            </a:r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개사</a:t>
            </a:r>
            <a:endParaRPr lang="en-US" sz="1720" dirty="0"/>
          </a:p>
        </p:txBody>
      </p:sp>
      <p:sp>
        <p:nvSpPr>
          <p:cNvPr id="67" name="Shape 65"/>
          <p:cNvSpPr/>
          <p:nvPr/>
        </p:nvSpPr>
        <p:spPr>
          <a:xfrm>
            <a:off x="4315054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68" name="Text 66"/>
          <p:cNvSpPr/>
          <p:nvPr/>
        </p:nvSpPr>
        <p:spPr>
          <a:xfrm>
            <a:off x="3955694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적용대상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명부 구축</a:t>
            </a:r>
            <a:endParaRPr lang="en-US" sz="1090" dirty="0"/>
          </a:p>
        </p:txBody>
      </p:sp>
      <p:sp>
        <p:nvSpPr>
          <p:cNvPr id="69" name="Shape 67"/>
          <p:cNvSpPr/>
          <p:nvPr/>
        </p:nvSpPr>
        <p:spPr>
          <a:xfrm rot="5400000">
            <a:off x="5932627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A1B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32627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A1B5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05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089904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44184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73" name="Shape 71"/>
          <p:cNvSpPr/>
          <p:nvPr/>
        </p:nvSpPr>
        <p:spPr>
          <a:xfrm>
            <a:off x="6089904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38598" y="2809037"/>
            <a:ext cx="170261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유효표본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238598" y="3012034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30" b="1" dirty="0">
                <a:solidFill>
                  <a:srgbClr val="08297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3,000+</a:t>
            </a:r>
            <a:endParaRPr lang="en-US" sz="1930" dirty="0"/>
          </a:p>
        </p:txBody>
      </p:sp>
      <p:sp>
        <p:nvSpPr>
          <p:cNvPr id="76" name="Shape 74"/>
          <p:cNvSpPr/>
          <p:nvPr/>
        </p:nvSpPr>
        <p:spPr>
          <a:xfrm>
            <a:off x="5598871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77" name="Text 75"/>
          <p:cNvSpPr/>
          <p:nvPr/>
        </p:nvSpPr>
        <p:spPr>
          <a:xfrm>
            <a:off x="5238598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본조사 표본설계 ·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응답률 목표 관리</a:t>
            </a:r>
            <a:endParaRPr lang="en-US" sz="1090" dirty="0"/>
          </a:p>
        </p:txBody>
      </p:sp>
      <p:sp>
        <p:nvSpPr>
          <p:cNvPr id="78" name="Shape 76"/>
          <p:cNvSpPr/>
          <p:nvPr/>
        </p:nvSpPr>
        <p:spPr>
          <a:xfrm rot="5400000">
            <a:off x="7753198" y="2213762"/>
            <a:ext cx="314554" cy="314554"/>
          </a:xfrm>
          <a:prstGeom prst="hexagon">
            <a:avLst/>
          </a:prstGeom>
          <a:solidFill>
            <a:srgbClr val="FFFFFF"/>
          </a:solidFill>
          <a:ln w="22225">
            <a:solidFill>
              <a:srgbClr val="88642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53198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86429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06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7910474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4754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82" name="Shape 80"/>
          <p:cNvSpPr/>
          <p:nvPr/>
        </p:nvSpPr>
        <p:spPr>
          <a:xfrm>
            <a:off x="7910474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59168" y="2783434"/>
            <a:ext cx="170261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865A1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6요소 +</a:t>
            </a:r>
            <a:endParaRPr lang="en-US" sz="1460" dirty="0"/>
          </a:p>
        </p:txBody>
      </p:sp>
      <p:sp>
        <p:nvSpPr>
          <p:cNvPr id="84" name="Text 82"/>
          <p:cNvSpPr/>
          <p:nvPr/>
        </p:nvSpPr>
        <p:spPr>
          <a:xfrm>
            <a:off x="7059168" y="3038551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865A1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핵심지표 4종</a:t>
            </a:r>
            <a:endParaRPr lang="en-US" sz="1460" dirty="0"/>
          </a:p>
        </p:txBody>
      </p:sp>
      <p:sp>
        <p:nvSpPr>
          <p:cNvPr id="85" name="Shape 83"/>
          <p:cNvSpPr/>
          <p:nvPr/>
        </p:nvSpPr>
        <p:spPr>
          <a:xfrm>
            <a:off x="7419442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86" name="Text 84"/>
          <p:cNvSpPr/>
          <p:nvPr/>
        </p:nvSpPr>
        <p:spPr>
          <a:xfrm>
            <a:off x="7059168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연간 로드맵 · 기술문서 ·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산출기준 확정</a:t>
            </a:r>
            <a:endParaRPr lang="en-US" sz="1090" dirty="0"/>
          </a:p>
        </p:txBody>
      </p:sp>
      <p:sp>
        <p:nvSpPr>
          <p:cNvPr id="87" name="Shape 85"/>
          <p:cNvSpPr/>
          <p:nvPr/>
        </p:nvSpPr>
        <p:spPr>
          <a:xfrm rot="5400000">
            <a:off x="9056218" y="2213762"/>
            <a:ext cx="314554" cy="314554"/>
          </a:xfrm>
          <a:prstGeom prst="hexagon">
            <a:avLst/>
          </a:prstGeom>
          <a:solidFill>
            <a:srgbClr val="2E323C"/>
          </a:solidFill>
          <a:ln w="22225">
            <a:solidFill>
              <a:srgbClr val="2E323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56218" y="2213762"/>
            <a:ext cx="3145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07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9213494" y="2527402"/>
            <a:ext cx="0" cy="150876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67774" y="2632558"/>
            <a:ext cx="91440" cy="91440"/>
          </a:xfrm>
          <a:prstGeom prst="ellipse">
            <a:avLst/>
          </a:prstGeom>
          <a:solidFill>
            <a:srgbClr val="12336B"/>
          </a:solidFill>
          <a:ln/>
        </p:spPr>
      </p:sp>
      <p:sp>
        <p:nvSpPr>
          <p:cNvPr id="91" name="Shape 89"/>
          <p:cNvSpPr/>
          <p:nvPr/>
        </p:nvSpPr>
        <p:spPr>
          <a:xfrm>
            <a:off x="9213494" y="2678278"/>
            <a:ext cx="0" cy="144475"/>
          </a:xfrm>
          <a:prstGeom prst="line">
            <a:avLst/>
          </a:prstGeom>
          <a:noFill/>
          <a:ln w="19050">
            <a:solidFill>
              <a:srgbClr val="1233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62188" y="2789834"/>
            <a:ext cx="170261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242A35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2027</a:t>
            </a:r>
            <a:endParaRPr lang="en-US" sz="1410" dirty="0"/>
          </a:p>
        </p:txBody>
      </p:sp>
      <p:sp>
        <p:nvSpPr>
          <p:cNvPr id="93" name="Text 91"/>
          <p:cNvSpPr/>
          <p:nvPr/>
        </p:nvSpPr>
        <p:spPr>
          <a:xfrm>
            <a:off x="8362188" y="3044952"/>
            <a:ext cx="17026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242A35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신청</a:t>
            </a:r>
            <a:endParaRPr lang="en-US" sz="1460" dirty="0"/>
          </a:p>
        </p:txBody>
      </p:sp>
      <p:sp>
        <p:nvSpPr>
          <p:cNvPr id="94" name="Shape 92"/>
          <p:cNvSpPr/>
          <p:nvPr/>
        </p:nvSpPr>
        <p:spPr>
          <a:xfrm>
            <a:off x="8722462" y="3424428"/>
            <a:ext cx="982066" cy="10058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95" name="Text 93"/>
          <p:cNvSpPr/>
          <p:nvPr/>
        </p:nvSpPr>
        <p:spPr>
          <a:xfrm>
            <a:off x="8362188" y="3496666"/>
            <a:ext cx="170261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국가승인통계</a:t>
            </a:r>
            <a:endParaRPr lang="en-US" sz="109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편입 기반 완성</a:t>
            </a:r>
            <a:endParaRPr lang="en-US" sz="1090" dirty="0"/>
          </a:p>
        </p:txBody>
      </p:sp>
      <p:sp>
        <p:nvSpPr>
          <p:cNvPr id="96" name="Shape 94"/>
          <p:cNvSpPr/>
          <p:nvPr/>
        </p:nvSpPr>
        <p:spPr>
          <a:xfrm>
            <a:off x="229514" y="4197096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97" name="Shape 95"/>
          <p:cNvSpPr/>
          <p:nvPr/>
        </p:nvSpPr>
        <p:spPr>
          <a:xfrm>
            <a:off x="4197096" y="4197096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98" name="Shape 96"/>
          <p:cNvSpPr/>
          <p:nvPr/>
        </p:nvSpPr>
        <p:spPr>
          <a:xfrm>
            <a:off x="229514" y="5389474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99" name="Shape 97"/>
          <p:cNvSpPr/>
          <p:nvPr/>
        </p:nvSpPr>
        <p:spPr>
          <a:xfrm>
            <a:off x="4197096" y="5389474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100" name="Shape 98"/>
          <p:cNvSpPr/>
          <p:nvPr/>
        </p:nvSpPr>
        <p:spPr>
          <a:xfrm>
            <a:off x="308153" y="4197096"/>
            <a:ext cx="3968496" cy="13487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1" name="Shape 99"/>
          <p:cNvSpPr/>
          <p:nvPr/>
        </p:nvSpPr>
        <p:spPr>
          <a:xfrm>
            <a:off x="229514" y="4275734"/>
            <a:ext cx="4125773" cy="11914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38912" y="4105656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265883" y="4105656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38912" y="4105656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265883" y="4105656"/>
            <a:ext cx="248717" cy="248717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63270" y="4105656"/>
            <a:ext cx="1826971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38912" y="4230014"/>
            <a:ext cx="2075688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8" name="Text 106"/>
          <p:cNvSpPr/>
          <p:nvPr/>
        </p:nvSpPr>
        <p:spPr>
          <a:xfrm>
            <a:off x="438912" y="4105656"/>
            <a:ext cx="207568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판별조사가 필요한 이유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2514600" y="4223614"/>
            <a:ext cx="1839773" cy="10058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93192" y="4557370"/>
            <a:ext cx="58522" cy="58522"/>
          </a:xfrm>
          <a:prstGeom prst="ellipse">
            <a:avLst/>
          </a:prstGeom>
          <a:solidFill>
            <a:srgbClr val="0A2A6B"/>
          </a:solidFill>
          <a:ln/>
        </p:spPr>
      </p:sp>
      <p:sp>
        <p:nvSpPr>
          <p:cNvPr id="111" name="Text 109"/>
          <p:cNvSpPr/>
          <p:nvPr/>
        </p:nvSpPr>
        <p:spPr>
          <a:xfrm>
            <a:off x="530352" y="4478731"/>
            <a:ext cx="38633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적용대상의 전국 모수가 공표된 바 없음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93192" y="4871923"/>
            <a:ext cx="58522" cy="58522"/>
          </a:xfrm>
          <a:prstGeom prst="ellipse">
            <a:avLst/>
          </a:prstGeom>
          <a:solidFill>
            <a:srgbClr val="0A2A6B"/>
          </a:solidFill>
          <a:ln/>
        </p:spPr>
      </p:sp>
      <p:sp>
        <p:nvSpPr>
          <p:cNvPr id="113" name="Text 111"/>
          <p:cNvSpPr/>
          <p:nvPr/>
        </p:nvSpPr>
        <p:spPr>
          <a:xfrm>
            <a:off x="530352" y="4793285"/>
            <a:ext cx="38633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명부는 이메일이 없고 전화번호도 절반 이상 부재 · 결번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393192" y="5186477"/>
            <a:ext cx="58522" cy="58522"/>
          </a:xfrm>
          <a:prstGeom prst="ellipse">
            <a:avLst/>
          </a:prstGeom>
          <a:solidFill>
            <a:srgbClr val="0A2A6B"/>
          </a:solidFill>
          <a:ln/>
        </p:spPr>
      </p:sp>
      <p:sp>
        <p:nvSpPr>
          <p:cNvPr id="115" name="Text 113"/>
          <p:cNvSpPr/>
          <p:nvPr/>
        </p:nvSpPr>
        <p:spPr>
          <a:xfrm>
            <a:off x="530352" y="5107838"/>
            <a:ext cx="38633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요건은 거래 단위 정보이므로 재무자료만으로 확인 불가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16806" y="4197096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698126" y="4197096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616806" y="5389474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698126" y="5389474"/>
            <a:ext cx="157277" cy="157277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695444" y="4197096"/>
            <a:ext cx="5081321" cy="13487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616806" y="4275734"/>
            <a:ext cx="5238598" cy="11914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826203" y="4105656"/>
            <a:ext cx="248717" cy="248717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758330" y="4105656"/>
            <a:ext cx="248717" cy="248717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826203" y="4105656"/>
            <a:ext cx="248717" cy="248717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758330" y="4105656"/>
            <a:ext cx="248717" cy="248717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950562" y="4105656"/>
            <a:ext cx="1932127" cy="248717"/>
          </a:xfrm>
          <a:prstGeom prst="rect">
            <a:avLst/>
          </a:prstGeom>
          <a:solidFill>
            <a:srgbClr val="8A6A3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826203" y="4230014"/>
            <a:ext cx="2180844" cy="0"/>
          </a:xfrm>
          <a:prstGeom prst="rect">
            <a:avLst/>
          </a:prstGeom>
          <a:solidFill>
            <a:srgbClr val="8A6A34"/>
          </a:solidFill>
          <a:ln/>
        </p:spPr>
      </p:sp>
      <p:sp>
        <p:nvSpPr>
          <p:cNvPr id="128" name="Text 126"/>
          <p:cNvSpPr/>
          <p:nvPr/>
        </p:nvSpPr>
        <p:spPr>
          <a:xfrm>
            <a:off x="4826203" y="4105656"/>
            <a:ext cx="218084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승인 준비에서 확정할 사항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7007047" y="4223614"/>
            <a:ext cx="2848356" cy="10058"/>
          </a:xfrm>
          <a:prstGeom prst="rect">
            <a:avLst/>
          </a:prstGeom>
          <a:solidFill>
            <a:srgbClr val="8A6A34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668926" y="4557370"/>
            <a:ext cx="58522" cy="58522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31" name="Text 129"/>
          <p:cNvSpPr/>
          <p:nvPr/>
        </p:nvSpPr>
        <p:spPr>
          <a:xfrm>
            <a:off x="4786884" y="4478731"/>
            <a:ext cx="369326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조사대상 · 방법 · 모집단 · 표본설계 · 소요예산 · 추진일정의 6요소 로드맵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4668926" y="4871923"/>
            <a:ext cx="58522" cy="58522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33" name="Text 131"/>
          <p:cNvSpPr/>
          <p:nvPr/>
        </p:nvSpPr>
        <p:spPr>
          <a:xfrm>
            <a:off x="4786884" y="4793285"/>
            <a:ext cx="369326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통계법 시행규칙 제12조 첨부서류를 과업 기간 중 사전 작성</a:t>
            </a:r>
            <a:endParaRPr lang="en-US" sz="1160" dirty="0"/>
          </a:p>
        </p:txBody>
      </p:sp>
      <p:sp>
        <p:nvSpPr>
          <p:cNvPr id="134" name="Shape 132"/>
          <p:cNvSpPr/>
          <p:nvPr/>
        </p:nvSpPr>
        <p:spPr>
          <a:xfrm>
            <a:off x="4668926" y="5186477"/>
            <a:ext cx="58522" cy="58522"/>
          </a:xfrm>
          <a:prstGeom prst="ellipse">
            <a:avLst/>
          </a:prstGeom>
          <a:solidFill>
            <a:srgbClr val="8A6A34"/>
          </a:solidFill>
          <a:ln/>
        </p:spPr>
      </p:sp>
      <p:sp>
        <p:nvSpPr>
          <p:cNvPr id="135" name="Text 133"/>
          <p:cNvSpPr/>
          <p:nvPr/>
        </p:nvSpPr>
        <p:spPr>
          <a:xfrm>
            <a:off x="4786884" y="5107838"/>
            <a:ext cx="369326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도입률 · 이행률 · 회피율 · 반영률을 승인 이후에도 사용하도록 설계</a:t>
            </a:r>
            <a:endParaRPr lang="en-US" sz="1040" dirty="0"/>
          </a:p>
        </p:txBody>
      </p:sp>
      <p:pic>
        <p:nvPicPr>
          <p:cNvPr id="136" name="Image 0" descr="s17-ga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546" y="4374490"/>
            <a:ext cx="1518818" cy="1191463"/>
          </a:xfrm>
          <a:prstGeom prst="rect">
            <a:avLst/>
          </a:prstGeom>
        </p:spPr>
      </p:pic>
      <p:sp>
        <p:nvSpPr>
          <p:cNvPr id="137" name="Shape 134"/>
          <p:cNvSpPr/>
          <p:nvPr/>
        </p:nvSpPr>
        <p:spPr>
          <a:xfrm>
            <a:off x="157277" y="5716829"/>
            <a:ext cx="261518" cy="261518"/>
          </a:xfrm>
          <a:prstGeom prst="ellipse">
            <a:avLst/>
          </a:prstGeom>
          <a:solidFill>
            <a:srgbClr val="33353D"/>
          </a:solidFill>
          <a:ln/>
        </p:spPr>
      </p:sp>
      <p:sp>
        <p:nvSpPr>
          <p:cNvPr id="138" name="Shape 135"/>
          <p:cNvSpPr/>
          <p:nvPr/>
        </p:nvSpPr>
        <p:spPr>
          <a:xfrm>
            <a:off x="9613087" y="5716829"/>
            <a:ext cx="261518" cy="261518"/>
          </a:xfrm>
          <a:prstGeom prst="ellipse">
            <a:avLst/>
          </a:prstGeom>
          <a:solidFill>
            <a:srgbClr val="33353D"/>
          </a:solidFill>
          <a:ln/>
        </p:spPr>
      </p:sp>
      <p:sp>
        <p:nvSpPr>
          <p:cNvPr id="139" name="Shape 136"/>
          <p:cNvSpPr/>
          <p:nvPr/>
        </p:nvSpPr>
        <p:spPr>
          <a:xfrm>
            <a:off x="157277" y="6247181"/>
            <a:ext cx="261518" cy="261518"/>
          </a:xfrm>
          <a:prstGeom prst="ellipse">
            <a:avLst/>
          </a:prstGeom>
          <a:solidFill>
            <a:srgbClr val="33353D"/>
          </a:solidFill>
          <a:ln/>
        </p:spPr>
      </p:sp>
      <p:sp>
        <p:nvSpPr>
          <p:cNvPr id="140" name="Shape 137"/>
          <p:cNvSpPr/>
          <p:nvPr/>
        </p:nvSpPr>
        <p:spPr>
          <a:xfrm>
            <a:off x="9613087" y="6247181"/>
            <a:ext cx="261518" cy="261518"/>
          </a:xfrm>
          <a:prstGeom prst="ellipse">
            <a:avLst/>
          </a:prstGeom>
          <a:solidFill>
            <a:srgbClr val="33353D"/>
          </a:solidFill>
          <a:ln/>
        </p:spPr>
      </p:sp>
      <p:sp>
        <p:nvSpPr>
          <p:cNvPr id="141" name="Shape 138"/>
          <p:cNvSpPr/>
          <p:nvPr/>
        </p:nvSpPr>
        <p:spPr>
          <a:xfrm>
            <a:off x="288036" y="5716829"/>
            <a:ext cx="9455810" cy="792785"/>
          </a:xfrm>
          <a:prstGeom prst="rect">
            <a:avLst/>
          </a:prstGeom>
          <a:solidFill>
            <a:srgbClr val="33353D"/>
          </a:solidFill>
          <a:ln/>
        </p:spPr>
      </p:sp>
      <p:sp>
        <p:nvSpPr>
          <p:cNvPr id="142" name="Shape 139"/>
          <p:cNvSpPr/>
          <p:nvPr/>
        </p:nvSpPr>
        <p:spPr>
          <a:xfrm>
            <a:off x="157277" y="5847588"/>
            <a:ext cx="9718243" cy="530352"/>
          </a:xfrm>
          <a:prstGeom prst="rect">
            <a:avLst/>
          </a:prstGeom>
          <a:solidFill>
            <a:srgbClr val="33353D"/>
          </a:solidFill>
          <a:ln/>
        </p:spPr>
      </p:sp>
      <p:sp>
        <p:nvSpPr>
          <p:cNvPr id="143" name="Text 140"/>
          <p:cNvSpPr/>
          <p:nvPr/>
        </p:nvSpPr>
        <p:spPr>
          <a:xfrm>
            <a:off x="393192" y="5801868"/>
            <a:ext cx="924641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올해 조사로 모집단과 산출기준을 확정하고,  이를 2027년 승인 신청의 근거로 연결</a:t>
            </a:r>
            <a:endParaRPr lang="en-US" sz="1350" dirty="0"/>
          </a:p>
        </p:txBody>
      </p:sp>
      <p:sp>
        <p:nvSpPr>
          <p:cNvPr id="144" name="Text 141"/>
          <p:cNvSpPr/>
          <p:nvPr/>
        </p:nvSpPr>
        <p:spPr>
          <a:xfrm>
            <a:off x="393192" y="6110021"/>
            <a:ext cx="9246413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70" b="1" dirty="0">
                <a:solidFill>
                  <a:srgbClr val="FFD87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→ 명부 구축 → 본조사 → 승인 준비를 하나의 실행 체계로 추진</a:t>
            </a:r>
            <a:endParaRPr lang="en-US" sz="1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2026-08-12T01:48:12Z</dcterms:created>
  <dcterms:modified xsi:type="dcterms:W3CDTF">2026-08-12T01:48:12Z</dcterms:modified>
</cp:coreProperties>
</file>
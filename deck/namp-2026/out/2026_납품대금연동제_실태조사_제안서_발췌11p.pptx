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0058400" cy="6705570"/>
  <p:notesSz cx="670557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596" y="65837"/>
            <a:ext cx="6548018" cy="44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회수 목표선과 자동 발동 관리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 flipH="1">
            <a:off x="222199" y="602590"/>
            <a:ext cx="78638" cy="196596"/>
          </a:xfrm>
          <a:prstGeom prst="parallelogram">
            <a:avLst/>
          </a:prstGeom>
          <a:solidFill>
            <a:srgbClr val="606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333756" y="602590"/>
            <a:ext cx="78638" cy="196596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5" name="Text 3"/>
          <p:cNvSpPr/>
          <p:nvPr/>
        </p:nvSpPr>
        <p:spPr>
          <a:xfrm>
            <a:off x="445313" y="576072"/>
            <a:ext cx="58933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주차별 회수 목표와 미달 대응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851306" y="903427"/>
            <a:ext cx="26518" cy="405994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7" name="Shape 5"/>
          <p:cNvSpPr/>
          <p:nvPr/>
        </p:nvSpPr>
        <p:spPr>
          <a:xfrm>
            <a:off x="851306" y="903427"/>
            <a:ext cx="113386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851306" y="1283818"/>
            <a:ext cx="113386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9272930" y="903427"/>
            <a:ext cx="26518" cy="405994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9185148" y="903427"/>
            <a:ext cx="113386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Shape 9"/>
          <p:cNvSpPr/>
          <p:nvPr/>
        </p:nvSpPr>
        <p:spPr>
          <a:xfrm>
            <a:off x="9185148" y="1283818"/>
            <a:ext cx="113386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902" y="917143"/>
            <a:ext cx="39319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265" dirty="0"/>
          </a:p>
        </p:txBody>
      </p:sp>
      <p:sp>
        <p:nvSpPr>
          <p:cNvPr id="13" name="Text 11"/>
          <p:cNvSpPr/>
          <p:nvPr/>
        </p:nvSpPr>
        <p:spPr>
          <a:xfrm>
            <a:off x="8709660" y="917143"/>
            <a:ext cx="39319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265" dirty="0"/>
          </a:p>
        </p:txBody>
      </p:sp>
      <p:sp>
        <p:nvSpPr>
          <p:cNvPr id="14" name="Text 12"/>
          <p:cNvSpPr/>
          <p:nvPr/>
        </p:nvSpPr>
        <p:spPr>
          <a:xfrm>
            <a:off x="1427378" y="903427"/>
            <a:ext cx="7295083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주차별 회수 목표선을 수치로 확정하고, 미달 구간에서 </a:t>
            </a:r>
            <a:pPr algn="ctr" indent="0" marL="0">
              <a:lnSpc>
                <a:spcPct val="115000"/>
              </a:lnSpc>
              <a:buNone/>
            </a:pPr>
            <a:r>
              <a:rPr lang="en-US" sz="149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자동 발동되는 조치와 재원</a:t>
            </a:r>
            <a:pPr algn="ctr" indent="0" marL="0">
              <a:lnSpc>
                <a:spcPct val="115000"/>
              </a:lnSpc>
              <a:buNone/>
            </a:pPr>
            <a:r>
              <a:rPr lang="en-US" sz="14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을 사전 배정</a:t>
            </a:r>
            <a:endParaRPr lang="en-US" sz="1490" dirty="0"/>
          </a:p>
        </p:txBody>
      </p:sp>
      <p:sp>
        <p:nvSpPr>
          <p:cNvPr id="15" name="Shape 13"/>
          <p:cNvSpPr/>
          <p:nvPr/>
        </p:nvSpPr>
        <p:spPr>
          <a:xfrm>
            <a:off x="215798" y="1479499"/>
            <a:ext cx="9625889" cy="2357323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275234" y="1408176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7" name="Shape 15"/>
          <p:cNvSpPr/>
          <p:nvPr/>
        </p:nvSpPr>
        <p:spPr>
          <a:xfrm>
            <a:off x="2311603" y="1408176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234" y="1408176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9" name="Shape 17"/>
          <p:cNvSpPr/>
          <p:nvPr/>
        </p:nvSpPr>
        <p:spPr>
          <a:xfrm>
            <a:off x="2311603" y="1408176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0" name="Shape 18"/>
          <p:cNvSpPr/>
          <p:nvPr/>
        </p:nvSpPr>
        <p:spPr>
          <a:xfrm>
            <a:off x="422453" y="1408176"/>
            <a:ext cx="2036369" cy="29443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1" name="Shape 19"/>
          <p:cNvSpPr/>
          <p:nvPr/>
        </p:nvSpPr>
        <p:spPr>
          <a:xfrm>
            <a:off x="275234" y="1555394"/>
            <a:ext cx="2330806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2" name="Text 20"/>
          <p:cNvSpPr/>
          <p:nvPr/>
        </p:nvSpPr>
        <p:spPr>
          <a:xfrm>
            <a:off x="275234" y="1408176"/>
            <a:ext cx="2330806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달성률별 자동 발동 체계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2511" y="1754734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4" name="Shape 22"/>
          <p:cNvSpPr/>
          <p:nvPr/>
        </p:nvSpPr>
        <p:spPr>
          <a:xfrm>
            <a:off x="2253082" y="1754734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5" name="Shape 23"/>
          <p:cNvSpPr/>
          <p:nvPr/>
        </p:nvSpPr>
        <p:spPr>
          <a:xfrm>
            <a:off x="432511" y="1820570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6" name="Shape 24"/>
          <p:cNvSpPr/>
          <p:nvPr/>
        </p:nvSpPr>
        <p:spPr>
          <a:xfrm>
            <a:off x="2253082" y="1820570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7" name="Shape 25"/>
          <p:cNvSpPr/>
          <p:nvPr/>
        </p:nvSpPr>
        <p:spPr>
          <a:xfrm>
            <a:off x="589788" y="1754734"/>
            <a:ext cx="1820570" cy="379476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8" name="Shape 26"/>
          <p:cNvSpPr/>
          <p:nvPr/>
        </p:nvSpPr>
        <p:spPr>
          <a:xfrm>
            <a:off x="432511" y="1912010"/>
            <a:ext cx="2135124" cy="6583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9" name="Text 27"/>
          <p:cNvSpPr/>
          <p:nvPr/>
        </p:nvSpPr>
        <p:spPr>
          <a:xfrm>
            <a:off x="432511" y="1754734"/>
            <a:ext cx="213512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90% 미만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659075" y="1754734"/>
            <a:ext cx="454456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미응답 독려 강화(문자·메일 재안내 2회 추가), 응답지원 창구 운영시간 연장</a:t>
            </a:r>
            <a:endParaRPr lang="en-US" sz="1090" dirty="0"/>
          </a:p>
        </p:txBody>
      </p:sp>
      <p:sp>
        <p:nvSpPr>
          <p:cNvPr id="31" name="Shape 29"/>
          <p:cNvSpPr/>
          <p:nvPr/>
        </p:nvSpPr>
        <p:spPr>
          <a:xfrm>
            <a:off x="7216445" y="1807769"/>
            <a:ext cx="10058" cy="275234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40803" y="1847088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3" name="Shape 31"/>
          <p:cNvSpPr/>
          <p:nvPr/>
        </p:nvSpPr>
        <p:spPr>
          <a:xfrm>
            <a:off x="7622438" y="1847088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4" name="Shape 32"/>
          <p:cNvSpPr/>
          <p:nvPr/>
        </p:nvSpPr>
        <p:spPr>
          <a:xfrm>
            <a:off x="7340803" y="1847088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5" name="Shape 33"/>
          <p:cNvSpPr/>
          <p:nvPr/>
        </p:nvSpPr>
        <p:spPr>
          <a:xfrm>
            <a:off x="7622438" y="1847088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6" name="Shape 34"/>
          <p:cNvSpPr/>
          <p:nvPr/>
        </p:nvSpPr>
        <p:spPr>
          <a:xfrm>
            <a:off x="7438644" y="1847088"/>
            <a:ext cx="281635" cy="196596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37" name="Shape 35"/>
          <p:cNvSpPr/>
          <p:nvPr/>
        </p:nvSpPr>
        <p:spPr>
          <a:xfrm>
            <a:off x="7340803" y="1944929"/>
            <a:ext cx="478231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38" name="Text 36"/>
          <p:cNvSpPr/>
          <p:nvPr/>
        </p:nvSpPr>
        <p:spPr>
          <a:xfrm>
            <a:off x="7340803" y="1847088"/>
            <a:ext cx="478231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보고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7923276" y="1754734"/>
            <a:ext cx="193852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주간 조사진행 현황에 기재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2511" y="2154326"/>
            <a:ext cx="9298534" cy="1005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41" name="Shape 39"/>
          <p:cNvSpPr/>
          <p:nvPr/>
        </p:nvSpPr>
        <p:spPr>
          <a:xfrm>
            <a:off x="432511" y="2180844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2" name="Shape 40"/>
          <p:cNvSpPr/>
          <p:nvPr/>
        </p:nvSpPr>
        <p:spPr>
          <a:xfrm>
            <a:off x="2253082" y="2180844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3" name="Shape 41"/>
          <p:cNvSpPr/>
          <p:nvPr/>
        </p:nvSpPr>
        <p:spPr>
          <a:xfrm>
            <a:off x="432511" y="2245766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4" name="Shape 42"/>
          <p:cNvSpPr/>
          <p:nvPr/>
        </p:nvSpPr>
        <p:spPr>
          <a:xfrm>
            <a:off x="2253082" y="2245766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5" name="Shape 43"/>
          <p:cNvSpPr/>
          <p:nvPr/>
        </p:nvSpPr>
        <p:spPr>
          <a:xfrm>
            <a:off x="589788" y="2180844"/>
            <a:ext cx="1820570" cy="379476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46" name="Shape 44"/>
          <p:cNvSpPr/>
          <p:nvPr/>
        </p:nvSpPr>
        <p:spPr>
          <a:xfrm>
            <a:off x="432511" y="2338121"/>
            <a:ext cx="2135124" cy="6583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47" name="Text 45"/>
          <p:cNvSpPr/>
          <p:nvPr/>
        </p:nvSpPr>
        <p:spPr>
          <a:xfrm>
            <a:off x="432511" y="2180844"/>
            <a:ext cx="213512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80% 미만 2주 연속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2659075" y="2180844"/>
            <a:ext cx="454456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발송 추가 + 온라인 미응답 기업 CATI 전환, 조사원 1.2배 증원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216445" y="2232965"/>
            <a:ext cx="10058" cy="275234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50" name="Shape 48"/>
          <p:cNvSpPr/>
          <p:nvPr/>
        </p:nvSpPr>
        <p:spPr>
          <a:xfrm>
            <a:off x="7340803" y="2272284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1" name="Shape 49"/>
          <p:cNvSpPr/>
          <p:nvPr/>
        </p:nvSpPr>
        <p:spPr>
          <a:xfrm>
            <a:off x="7622438" y="2272284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2" name="Shape 50"/>
          <p:cNvSpPr/>
          <p:nvPr/>
        </p:nvSpPr>
        <p:spPr>
          <a:xfrm>
            <a:off x="7340803" y="2272284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3" name="Shape 51"/>
          <p:cNvSpPr/>
          <p:nvPr/>
        </p:nvSpPr>
        <p:spPr>
          <a:xfrm>
            <a:off x="7622438" y="2272284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4" name="Shape 52"/>
          <p:cNvSpPr/>
          <p:nvPr/>
        </p:nvSpPr>
        <p:spPr>
          <a:xfrm>
            <a:off x="7438644" y="2272284"/>
            <a:ext cx="281635" cy="196596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55" name="Shape 53"/>
          <p:cNvSpPr/>
          <p:nvPr/>
        </p:nvSpPr>
        <p:spPr>
          <a:xfrm>
            <a:off x="7340803" y="2370125"/>
            <a:ext cx="478231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56" name="Text 54"/>
          <p:cNvSpPr/>
          <p:nvPr/>
        </p:nvSpPr>
        <p:spPr>
          <a:xfrm>
            <a:off x="7340803" y="2272284"/>
            <a:ext cx="478231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보고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7923276" y="2180844"/>
            <a:ext cx="193852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즉시 보고 및 대응 협의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32511" y="2580437"/>
            <a:ext cx="9298534" cy="1005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59" name="Shape 57"/>
          <p:cNvSpPr/>
          <p:nvPr/>
        </p:nvSpPr>
        <p:spPr>
          <a:xfrm>
            <a:off x="432511" y="2606040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0" name="Shape 58"/>
          <p:cNvSpPr/>
          <p:nvPr/>
        </p:nvSpPr>
        <p:spPr>
          <a:xfrm>
            <a:off x="2253082" y="2606040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1" name="Shape 59"/>
          <p:cNvSpPr/>
          <p:nvPr/>
        </p:nvSpPr>
        <p:spPr>
          <a:xfrm>
            <a:off x="432511" y="2736799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2" name="Shape 60"/>
          <p:cNvSpPr/>
          <p:nvPr/>
        </p:nvSpPr>
        <p:spPr>
          <a:xfrm>
            <a:off x="2253082" y="2736799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3" name="Shape 61"/>
          <p:cNvSpPr/>
          <p:nvPr/>
        </p:nvSpPr>
        <p:spPr>
          <a:xfrm>
            <a:off x="589788" y="2606040"/>
            <a:ext cx="1820570" cy="445313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64" name="Shape 62"/>
          <p:cNvSpPr/>
          <p:nvPr/>
        </p:nvSpPr>
        <p:spPr>
          <a:xfrm>
            <a:off x="432511" y="2763317"/>
            <a:ext cx="2135124" cy="130759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65" name="Text 63"/>
          <p:cNvSpPr/>
          <p:nvPr/>
        </p:nvSpPr>
        <p:spPr>
          <a:xfrm>
            <a:off x="432511" y="2606040"/>
            <a:ext cx="2135124" cy="44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70% 미만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2659075" y="2606040"/>
            <a:ext cx="4544568" cy="44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예비표본 투입, 회수 취약 셀 답례(‘모름’·구간 응답 포함)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단가 상향(차등 재원 5,000천원 내)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7216445" y="2659075"/>
            <a:ext cx="10058" cy="340157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68" name="Shape 66"/>
          <p:cNvSpPr/>
          <p:nvPr/>
        </p:nvSpPr>
        <p:spPr>
          <a:xfrm>
            <a:off x="7340803" y="2730398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9" name="Shape 67"/>
          <p:cNvSpPr/>
          <p:nvPr/>
        </p:nvSpPr>
        <p:spPr>
          <a:xfrm>
            <a:off x="7622438" y="2730398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0" name="Shape 68"/>
          <p:cNvSpPr/>
          <p:nvPr/>
        </p:nvSpPr>
        <p:spPr>
          <a:xfrm>
            <a:off x="7340803" y="2730398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1" name="Shape 69"/>
          <p:cNvSpPr/>
          <p:nvPr/>
        </p:nvSpPr>
        <p:spPr>
          <a:xfrm>
            <a:off x="7622438" y="2730398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2" name="Shape 70"/>
          <p:cNvSpPr/>
          <p:nvPr/>
        </p:nvSpPr>
        <p:spPr>
          <a:xfrm>
            <a:off x="7438644" y="2730398"/>
            <a:ext cx="281635" cy="196596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73" name="Shape 71"/>
          <p:cNvSpPr/>
          <p:nvPr/>
        </p:nvSpPr>
        <p:spPr>
          <a:xfrm>
            <a:off x="7340803" y="2829154"/>
            <a:ext cx="478231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74" name="Text 72"/>
          <p:cNvSpPr/>
          <p:nvPr/>
        </p:nvSpPr>
        <p:spPr>
          <a:xfrm>
            <a:off x="7340803" y="2730398"/>
            <a:ext cx="478231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보고</a:t>
            </a:r>
            <a:endParaRPr lang="en-US" sz="1040" dirty="0"/>
          </a:p>
        </p:txBody>
      </p:sp>
      <p:sp>
        <p:nvSpPr>
          <p:cNvPr id="75" name="Text 73"/>
          <p:cNvSpPr/>
          <p:nvPr/>
        </p:nvSpPr>
        <p:spPr>
          <a:xfrm>
            <a:off x="7923276" y="2606040"/>
            <a:ext cx="1938528" cy="44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즉시 보고 + 대책회의 요청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432511" y="3071470"/>
            <a:ext cx="9298534" cy="1005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77" name="Shape 75"/>
          <p:cNvSpPr/>
          <p:nvPr/>
        </p:nvSpPr>
        <p:spPr>
          <a:xfrm>
            <a:off x="432511" y="3077870"/>
            <a:ext cx="314554" cy="31455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8" name="Shape 76"/>
          <p:cNvSpPr/>
          <p:nvPr/>
        </p:nvSpPr>
        <p:spPr>
          <a:xfrm>
            <a:off x="2253082" y="3077870"/>
            <a:ext cx="314554" cy="31455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9" name="Shape 77"/>
          <p:cNvSpPr/>
          <p:nvPr/>
        </p:nvSpPr>
        <p:spPr>
          <a:xfrm>
            <a:off x="432511" y="3392424"/>
            <a:ext cx="314554" cy="31455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0" name="Shape 78"/>
          <p:cNvSpPr/>
          <p:nvPr/>
        </p:nvSpPr>
        <p:spPr>
          <a:xfrm>
            <a:off x="2253082" y="3392424"/>
            <a:ext cx="314554" cy="31455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1" name="Shape 79"/>
          <p:cNvSpPr/>
          <p:nvPr/>
        </p:nvSpPr>
        <p:spPr>
          <a:xfrm>
            <a:off x="589788" y="3077870"/>
            <a:ext cx="1820570" cy="628193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82" name="Shape 80"/>
          <p:cNvSpPr/>
          <p:nvPr/>
        </p:nvSpPr>
        <p:spPr>
          <a:xfrm>
            <a:off x="432511" y="3235147"/>
            <a:ext cx="2135124" cy="314554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83" name="Text 81"/>
          <p:cNvSpPr/>
          <p:nvPr/>
        </p:nvSpPr>
        <p:spPr>
          <a:xfrm>
            <a:off x="432511" y="3077870"/>
            <a:ext cx="2135124" cy="628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민감문항 회송률 70% 미만 또는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연동대상 확인율이 실측 전체(10.2%)를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크게 밑돌 때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659075" y="3077870"/>
            <a:ext cx="4544568" cy="628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회송률 미달은 자기기입 안내 재설계, 확인율이 실측 전체를 밑돌면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선별조사 재실시 후 발송량 재산정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7216445" y="3129991"/>
            <a:ext cx="10058" cy="523951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6" name="Shape 84"/>
          <p:cNvSpPr/>
          <p:nvPr/>
        </p:nvSpPr>
        <p:spPr>
          <a:xfrm>
            <a:off x="7340803" y="3293669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7" name="Shape 85"/>
          <p:cNvSpPr/>
          <p:nvPr/>
        </p:nvSpPr>
        <p:spPr>
          <a:xfrm>
            <a:off x="7622438" y="3293669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8" name="Shape 86"/>
          <p:cNvSpPr/>
          <p:nvPr/>
        </p:nvSpPr>
        <p:spPr>
          <a:xfrm>
            <a:off x="7340803" y="3293669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9" name="Shape 87"/>
          <p:cNvSpPr/>
          <p:nvPr/>
        </p:nvSpPr>
        <p:spPr>
          <a:xfrm>
            <a:off x="7622438" y="3293669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90" name="Shape 88"/>
          <p:cNvSpPr/>
          <p:nvPr/>
        </p:nvSpPr>
        <p:spPr>
          <a:xfrm>
            <a:off x="7438644" y="3293669"/>
            <a:ext cx="281635" cy="196596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91" name="Shape 89"/>
          <p:cNvSpPr/>
          <p:nvPr/>
        </p:nvSpPr>
        <p:spPr>
          <a:xfrm>
            <a:off x="7340803" y="3392424"/>
            <a:ext cx="478231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92" name="Text 90"/>
          <p:cNvSpPr/>
          <p:nvPr/>
        </p:nvSpPr>
        <p:spPr>
          <a:xfrm>
            <a:off x="7340803" y="3293669"/>
            <a:ext cx="478231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보고</a:t>
            </a:r>
            <a:endParaRPr lang="en-US" sz="1040" dirty="0"/>
          </a:p>
        </p:txBody>
      </p:sp>
      <p:sp>
        <p:nvSpPr>
          <p:cNvPr id="93" name="Text 91"/>
          <p:cNvSpPr/>
          <p:nvPr/>
        </p:nvSpPr>
        <p:spPr>
          <a:xfrm>
            <a:off x="7923276" y="3077870"/>
            <a:ext cx="1938528" cy="628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착수보고 기준 변경 협의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215798" y="3994099"/>
            <a:ext cx="9625889" cy="1093622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95" name="Shape 93"/>
          <p:cNvSpPr/>
          <p:nvPr/>
        </p:nvSpPr>
        <p:spPr>
          <a:xfrm>
            <a:off x="275234" y="3929177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6" name="Shape 94"/>
          <p:cNvSpPr/>
          <p:nvPr/>
        </p:nvSpPr>
        <p:spPr>
          <a:xfrm>
            <a:off x="2330806" y="3929177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7" name="Shape 95"/>
          <p:cNvSpPr/>
          <p:nvPr/>
        </p:nvSpPr>
        <p:spPr>
          <a:xfrm>
            <a:off x="275234" y="3929177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8" name="Shape 96"/>
          <p:cNvSpPr/>
          <p:nvPr/>
        </p:nvSpPr>
        <p:spPr>
          <a:xfrm>
            <a:off x="2330806" y="3929177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9" name="Shape 97"/>
          <p:cNvSpPr/>
          <p:nvPr/>
        </p:nvSpPr>
        <p:spPr>
          <a:xfrm>
            <a:off x="416052" y="3929177"/>
            <a:ext cx="2056486" cy="28163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00" name="Shape 98"/>
          <p:cNvSpPr/>
          <p:nvPr/>
        </p:nvSpPr>
        <p:spPr>
          <a:xfrm>
            <a:off x="275234" y="4069994"/>
            <a:ext cx="2338121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01" name="Text 99"/>
          <p:cNvSpPr/>
          <p:nvPr/>
        </p:nvSpPr>
        <p:spPr>
          <a:xfrm>
            <a:off x="275234" y="3929177"/>
            <a:ext cx="2338121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본조사 8주 누적 목표</a:t>
            </a:r>
            <a:endParaRPr lang="en-US" sz="1350" dirty="0"/>
          </a:p>
        </p:txBody>
      </p:sp>
      <p:sp>
        <p:nvSpPr>
          <p:cNvPr id="102" name="Shape 100"/>
          <p:cNvSpPr/>
          <p:nvPr/>
        </p:nvSpPr>
        <p:spPr>
          <a:xfrm>
            <a:off x="867766" y="4423867"/>
            <a:ext cx="6790334" cy="1280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59866" y="4322369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4" name="Text 102"/>
          <p:cNvSpPr/>
          <p:nvPr/>
        </p:nvSpPr>
        <p:spPr>
          <a:xfrm>
            <a:off x="759866" y="4322369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800454" y="4322369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6" name="Text 104"/>
          <p:cNvSpPr/>
          <p:nvPr/>
        </p:nvSpPr>
        <p:spPr>
          <a:xfrm>
            <a:off x="1800454" y="4322369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2841955" y="4322369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8" name="Text 106"/>
          <p:cNvSpPr/>
          <p:nvPr/>
        </p:nvSpPr>
        <p:spPr>
          <a:xfrm>
            <a:off x="2841955" y="4322369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3850538" y="4322369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0" name="Text 108"/>
          <p:cNvSpPr/>
          <p:nvPr/>
        </p:nvSpPr>
        <p:spPr>
          <a:xfrm>
            <a:off x="3850538" y="4322369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799686" y="4322369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2" name="Text 110"/>
          <p:cNvSpPr/>
          <p:nvPr/>
        </p:nvSpPr>
        <p:spPr>
          <a:xfrm>
            <a:off x="4799686" y="4322369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5768950" y="4322369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4" name="Text 112"/>
          <p:cNvSpPr/>
          <p:nvPr/>
        </p:nvSpPr>
        <p:spPr>
          <a:xfrm>
            <a:off x="5768950" y="4322369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6705295" y="4322369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6" name="Text 114"/>
          <p:cNvSpPr/>
          <p:nvPr/>
        </p:nvSpPr>
        <p:spPr>
          <a:xfrm>
            <a:off x="6705295" y="4322369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7550201" y="4322369"/>
            <a:ext cx="215798" cy="2157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18" name="Text 116"/>
          <p:cNvSpPr/>
          <p:nvPr/>
        </p:nvSpPr>
        <p:spPr>
          <a:xfrm>
            <a:off x="7550201" y="4322369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8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310896" y="4583887"/>
            <a:ext cx="111282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10%</a:t>
            </a:r>
            <a:endParaRPr lang="en-US" sz="1350" dirty="0"/>
          </a:p>
        </p:txBody>
      </p:sp>
      <p:sp>
        <p:nvSpPr>
          <p:cNvPr id="120" name="Text 118"/>
          <p:cNvSpPr/>
          <p:nvPr/>
        </p:nvSpPr>
        <p:spPr>
          <a:xfrm>
            <a:off x="310896" y="4819802"/>
            <a:ext cx="1112825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300개사</a:t>
            </a:r>
            <a:endParaRPr lang="en-US" sz="1040" dirty="0"/>
          </a:p>
        </p:txBody>
      </p:sp>
      <p:sp>
        <p:nvSpPr>
          <p:cNvPr id="121" name="Shape 119"/>
          <p:cNvSpPr/>
          <p:nvPr/>
        </p:nvSpPr>
        <p:spPr>
          <a:xfrm>
            <a:off x="1388059" y="4583887"/>
            <a:ext cx="10058" cy="39319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2" name="Text 120"/>
          <p:cNvSpPr/>
          <p:nvPr/>
        </p:nvSpPr>
        <p:spPr>
          <a:xfrm>
            <a:off x="1352398" y="4583887"/>
            <a:ext cx="111282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25%</a:t>
            </a:r>
            <a:endParaRPr lang="en-US" sz="1350" dirty="0"/>
          </a:p>
        </p:txBody>
      </p:sp>
      <p:sp>
        <p:nvSpPr>
          <p:cNvPr id="123" name="Text 121"/>
          <p:cNvSpPr/>
          <p:nvPr/>
        </p:nvSpPr>
        <p:spPr>
          <a:xfrm>
            <a:off x="1352398" y="4819802"/>
            <a:ext cx="1112825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750개사</a:t>
            </a:r>
            <a:endParaRPr lang="en-US" sz="1040" dirty="0"/>
          </a:p>
        </p:txBody>
      </p:sp>
      <p:sp>
        <p:nvSpPr>
          <p:cNvPr id="124" name="Shape 122"/>
          <p:cNvSpPr/>
          <p:nvPr/>
        </p:nvSpPr>
        <p:spPr>
          <a:xfrm>
            <a:off x="2429561" y="4583887"/>
            <a:ext cx="10058" cy="39319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5" name="Text 123"/>
          <p:cNvSpPr/>
          <p:nvPr/>
        </p:nvSpPr>
        <p:spPr>
          <a:xfrm>
            <a:off x="2393899" y="4583887"/>
            <a:ext cx="111282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42%</a:t>
            </a:r>
            <a:endParaRPr lang="en-US" sz="1350" dirty="0"/>
          </a:p>
        </p:txBody>
      </p:sp>
      <p:sp>
        <p:nvSpPr>
          <p:cNvPr id="126" name="Text 124"/>
          <p:cNvSpPr/>
          <p:nvPr/>
        </p:nvSpPr>
        <p:spPr>
          <a:xfrm>
            <a:off x="2393899" y="4819802"/>
            <a:ext cx="1112825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1,260개사</a:t>
            </a:r>
            <a:endParaRPr lang="en-US" sz="1040" dirty="0"/>
          </a:p>
        </p:txBody>
      </p:sp>
      <p:sp>
        <p:nvSpPr>
          <p:cNvPr id="127" name="Shape 125"/>
          <p:cNvSpPr/>
          <p:nvPr/>
        </p:nvSpPr>
        <p:spPr>
          <a:xfrm>
            <a:off x="3454603" y="4583887"/>
            <a:ext cx="10058" cy="39319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8" name="Text 126"/>
          <p:cNvSpPr/>
          <p:nvPr/>
        </p:nvSpPr>
        <p:spPr>
          <a:xfrm>
            <a:off x="3401568" y="4583887"/>
            <a:ext cx="111282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58%</a:t>
            </a:r>
            <a:endParaRPr lang="en-US" sz="1350" dirty="0"/>
          </a:p>
        </p:txBody>
      </p:sp>
      <p:sp>
        <p:nvSpPr>
          <p:cNvPr id="129" name="Text 127"/>
          <p:cNvSpPr/>
          <p:nvPr/>
        </p:nvSpPr>
        <p:spPr>
          <a:xfrm>
            <a:off x="3401568" y="4819802"/>
            <a:ext cx="1112825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1,740개사</a:t>
            </a:r>
            <a:endParaRPr lang="en-US" sz="1040" dirty="0"/>
          </a:p>
        </p:txBody>
      </p:sp>
      <p:sp>
        <p:nvSpPr>
          <p:cNvPr id="130" name="Shape 128"/>
          <p:cNvSpPr/>
          <p:nvPr/>
        </p:nvSpPr>
        <p:spPr>
          <a:xfrm>
            <a:off x="4433011" y="4583887"/>
            <a:ext cx="10058" cy="39319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31" name="Text 129"/>
          <p:cNvSpPr/>
          <p:nvPr/>
        </p:nvSpPr>
        <p:spPr>
          <a:xfrm>
            <a:off x="4351630" y="4583887"/>
            <a:ext cx="111282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72%</a:t>
            </a:r>
            <a:endParaRPr lang="en-US" sz="1350" dirty="0"/>
          </a:p>
        </p:txBody>
      </p:sp>
      <p:sp>
        <p:nvSpPr>
          <p:cNvPr id="132" name="Text 130"/>
          <p:cNvSpPr/>
          <p:nvPr/>
        </p:nvSpPr>
        <p:spPr>
          <a:xfrm>
            <a:off x="4351630" y="4819802"/>
            <a:ext cx="1112825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2,160개사</a:t>
            </a:r>
            <a:endParaRPr lang="en-US" sz="1040" dirty="0"/>
          </a:p>
        </p:txBody>
      </p:sp>
      <p:sp>
        <p:nvSpPr>
          <p:cNvPr id="133" name="Shape 131"/>
          <p:cNvSpPr/>
          <p:nvPr/>
        </p:nvSpPr>
        <p:spPr>
          <a:xfrm>
            <a:off x="5392217" y="4583887"/>
            <a:ext cx="10058" cy="39319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34" name="Text 132"/>
          <p:cNvSpPr/>
          <p:nvPr/>
        </p:nvSpPr>
        <p:spPr>
          <a:xfrm>
            <a:off x="5320894" y="4583887"/>
            <a:ext cx="111282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84%</a:t>
            </a:r>
            <a:endParaRPr lang="en-US" sz="1350" dirty="0"/>
          </a:p>
        </p:txBody>
      </p:sp>
      <p:sp>
        <p:nvSpPr>
          <p:cNvPr id="135" name="Text 133"/>
          <p:cNvSpPr/>
          <p:nvPr/>
        </p:nvSpPr>
        <p:spPr>
          <a:xfrm>
            <a:off x="5320894" y="4819802"/>
            <a:ext cx="1112825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2,520개사</a:t>
            </a:r>
            <a:endParaRPr lang="en-US" sz="1040" dirty="0"/>
          </a:p>
        </p:txBody>
      </p:sp>
      <p:sp>
        <p:nvSpPr>
          <p:cNvPr id="136" name="Shape 134"/>
          <p:cNvSpPr/>
          <p:nvPr/>
        </p:nvSpPr>
        <p:spPr>
          <a:xfrm>
            <a:off x="6345022" y="4583887"/>
            <a:ext cx="10058" cy="39319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37" name="Text 135"/>
          <p:cNvSpPr/>
          <p:nvPr/>
        </p:nvSpPr>
        <p:spPr>
          <a:xfrm>
            <a:off x="6257239" y="4583887"/>
            <a:ext cx="111282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93%</a:t>
            </a:r>
            <a:endParaRPr lang="en-US" sz="1350" dirty="0"/>
          </a:p>
        </p:txBody>
      </p:sp>
      <p:sp>
        <p:nvSpPr>
          <p:cNvPr id="138" name="Text 136"/>
          <p:cNvSpPr/>
          <p:nvPr/>
        </p:nvSpPr>
        <p:spPr>
          <a:xfrm>
            <a:off x="6257239" y="4819802"/>
            <a:ext cx="1112825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2,790개사</a:t>
            </a:r>
            <a:endParaRPr lang="en-US" sz="1040" dirty="0"/>
          </a:p>
        </p:txBody>
      </p:sp>
      <p:sp>
        <p:nvSpPr>
          <p:cNvPr id="139" name="Shape 137"/>
          <p:cNvSpPr/>
          <p:nvPr/>
        </p:nvSpPr>
        <p:spPr>
          <a:xfrm>
            <a:off x="7235647" y="4583887"/>
            <a:ext cx="10058" cy="39319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40" name="Text 138"/>
          <p:cNvSpPr/>
          <p:nvPr/>
        </p:nvSpPr>
        <p:spPr>
          <a:xfrm>
            <a:off x="7102145" y="4583887"/>
            <a:ext cx="111282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100%</a:t>
            </a:r>
            <a:endParaRPr lang="en-US" sz="1350" dirty="0"/>
          </a:p>
        </p:txBody>
      </p:sp>
      <p:sp>
        <p:nvSpPr>
          <p:cNvPr id="141" name="Text 139"/>
          <p:cNvSpPr/>
          <p:nvPr/>
        </p:nvSpPr>
        <p:spPr>
          <a:xfrm>
            <a:off x="7102145" y="4819802"/>
            <a:ext cx="1112825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3,000개사</a:t>
            </a:r>
            <a:endParaRPr lang="en-US" sz="1040" dirty="0"/>
          </a:p>
        </p:txBody>
      </p:sp>
      <p:sp>
        <p:nvSpPr>
          <p:cNvPr id="142" name="Shape 140"/>
          <p:cNvSpPr/>
          <p:nvPr/>
        </p:nvSpPr>
        <p:spPr>
          <a:xfrm>
            <a:off x="8074152" y="4714646"/>
            <a:ext cx="242316" cy="24231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580169" y="4714646"/>
            <a:ext cx="242316" cy="24231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44" name="Shape 142"/>
          <p:cNvSpPr/>
          <p:nvPr/>
        </p:nvSpPr>
        <p:spPr>
          <a:xfrm>
            <a:off x="8074152" y="4714646"/>
            <a:ext cx="242316" cy="24231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45" name="Shape 143"/>
          <p:cNvSpPr/>
          <p:nvPr/>
        </p:nvSpPr>
        <p:spPr>
          <a:xfrm>
            <a:off x="9580169" y="4714646"/>
            <a:ext cx="242316" cy="24231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46" name="Shape 144"/>
          <p:cNvSpPr/>
          <p:nvPr/>
        </p:nvSpPr>
        <p:spPr>
          <a:xfrm>
            <a:off x="8195767" y="4714646"/>
            <a:ext cx="1506017" cy="242316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47" name="Shape 145"/>
          <p:cNvSpPr/>
          <p:nvPr/>
        </p:nvSpPr>
        <p:spPr>
          <a:xfrm>
            <a:off x="8074152" y="4836262"/>
            <a:ext cx="1748333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48" name="Text 146"/>
          <p:cNvSpPr/>
          <p:nvPr/>
        </p:nvSpPr>
        <p:spPr>
          <a:xfrm>
            <a:off x="8074152" y="4714646"/>
            <a:ext cx="1748333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5·59쪽 D+5~12주와 동일 기준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209398" y="5258714"/>
            <a:ext cx="9633204" cy="995782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50" name="Shape 148"/>
          <p:cNvSpPr/>
          <p:nvPr/>
        </p:nvSpPr>
        <p:spPr>
          <a:xfrm>
            <a:off x="275234" y="5186477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957730" y="5186477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52" name="Shape 150"/>
          <p:cNvSpPr/>
          <p:nvPr/>
        </p:nvSpPr>
        <p:spPr>
          <a:xfrm>
            <a:off x="275234" y="5186477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957730" y="5186477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54" name="Shape 152"/>
          <p:cNvSpPr/>
          <p:nvPr/>
        </p:nvSpPr>
        <p:spPr>
          <a:xfrm>
            <a:off x="416052" y="5186477"/>
            <a:ext cx="1682496" cy="28163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55" name="Shape 153"/>
          <p:cNvSpPr/>
          <p:nvPr/>
        </p:nvSpPr>
        <p:spPr>
          <a:xfrm>
            <a:off x="275234" y="5327294"/>
            <a:ext cx="1964131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56" name="Text 154"/>
          <p:cNvSpPr/>
          <p:nvPr/>
        </p:nvSpPr>
        <p:spPr>
          <a:xfrm>
            <a:off x="275234" y="5186477"/>
            <a:ext cx="1964131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운영·보고 원칙</a:t>
            </a:r>
            <a:endParaRPr lang="en-US" sz="1350" dirty="0"/>
          </a:p>
        </p:txBody>
      </p:sp>
      <p:sp>
        <p:nvSpPr>
          <p:cNvPr id="157" name="Shape 155"/>
          <p:cNvSpPr/>
          <p:nvPr/>
        </p:nvSpPr>
        <p:spPr>
          <a:xfrm>
            <a:off x="300838" y="5579669"/>
            <a:ext cx="209398" cy="20939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58" name="Text 156"/>
          <p:cNvSpPr/>
          <p:nvPr/>
        </p:nvSpPr>
        <p:spPr>
          <a:xfrm>
            <a:off x="300838" y="5579669"/>
            <a:ext cx="2093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159" name="Text 157"/>
          <p:cNvSpPr/>
          <p:nvPr/>
        </p:nvSpPr>
        <p:spPr>
          <a:xfrm>
            <a:off x="589788" y="5540350"/>
            <a:ext cx="289407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발동 기준 충족 시 필요한 추가 접촉·독려 재원은</a:t>
            </a:r>
            <a:endParaRPr lang="en-US" sz="10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회수 예비비로 별도 편성하며, 미사용분은 발주기관과</a:t>
            </a:r>
            <a:endParaRPr lang="en-US" sz="10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협의해 추가 분석에 전용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3326587" y="5533034"/>
            <a:ext cx="10058" cy="62179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61" name="Shape 159"/>
          <p:cNvSpPr/>
          <p:nvPr/>
        </p:nvSpPr>
        <p:spPr>
          <a:xfrm>
            <a:off x="3457346" y="5579669"/>
            <a:ext cx="209398" cy="20939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62" name="Text 160"/>
          <p:cNvSpPr/>
          <p:nvPr/>
        </p:nvSpPr>
        <p:spPr>
          <a:xfrm>
            <a:off x="3457346" y="5579669"/>
            <a:ext cx="2093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163" name="Text 161"/>
          <p:cNvSpPr/>
          <p:nvPr/>
        </p:nvSpPr>
        <p:spPr>
          <a:xfrm>
            <a:off x="3745382" y="5540350"/>
            <a:ext cx="289407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회수 목표선·발동 기준은 착수보고회에서 공유하고</a:t>
            </a:r>
            <a:endParaRPr lang="en-US" sz="104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주차별 달성 여부를 주간 현황에 보고</a:t>
            </a:r>
            <a:endParaRPr lang="en-US" sz="1040" dirty="0"/>
          </a:p>
        </p:txBody>
      </p:sp>
      <p:sp>
        <p:nvSpPr>
          <p:cNvPr id="164" name="Shape 162"/>
          <p:cNvSpPr/>
          <p:nvPr/>
        </p:nvSpPr>
        <p:spPr>
          <a:xfrm>
            <a:off x="6483096" y="5533034"/>
            <a:ext cx="10058" cy="62179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65" name="Shape 163"/>
          <p:cNvSpPr/>
          <p:nvPr/>
        </p:nvSpPr>
        <p:spPr>
          <a:xfrm>
            <a:off x="6613855" y="5579669"/>
            <a:ext cx="209398" cy="20939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66" name="Text 164"/>
          <p:cNvSpPr/>
          <p:nvPr/>
        </p:nvSpPr>
        <p:spPr>
          <a:xfrm>
            <a:off x="6613855" y="5579669"/>
            <a:ext cx="2093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167" name="Text 165"/>
          <p:cNvSpPr/>
          <p:nvPr/>
        </p:nvSpPr>
        <p:spPr>
          <a:xfrm>
            <a:off x="6901891" y="5540350"/>
            <a:ext cx="289407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회수 목표선 미달이 3주 연속되면 유효표본 목표 또는</a:t>
            </a:r>
            <a:endParaRPr lang="en-US" sz="102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 기간의 조정을 발주기관과 협의</a:t>
            </a:r>
            <a:endParaRPr lang="en-US" sz="1020" dirty="0"/>
          </a:p>
        </p:txBody>
      </p:sp>
      <p:sp>
        <p:nvSpPr>
          <p:cNvPr id="168" name="Text 166"/>
          <p:cNvSpPr/>
          <p:nvPr/>
        </p:nvSpPr>
        <p:spPr>
          <a:xfrm>
            <a:off x="222199" y="6338621"/>
            <a:ext cx="949513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주차별 목표는 본조사 8주(D+5~12주) 운영 기준이며, 계약일 확정 후 착수보고서에서 재산정</a:t>
            </a:r>
            <a:endParaRPr lang="en-US" sz="10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398" y="52121"/>
            <a:ext cx="654801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조사원 선발 및 교육</a:t>
            </a:r>
            <a:endParaRPr lang="en-US" sz="2810" dirty="0"/>
          </a:p>
        </p:txBody>
      </p:sp>
      <p:sp>
        <p:nvSpPr>
          <p:cNvPr id="3" name="Shape 1"/>
          <p:cNvSpPr/>
          <p:nvPr/>
        </p:nvSpPr>
        <p:spPr>
          <a:xfrm flipH="1">
            <a:off x="248717" y="746150"/>
            <a:ext cx="85039" cy="215798"/>
          </a:xfrm>
          <a:prstGeom prst="parallelogram">
            <a:avLst/>
          </a:prstGeom>
          <a:solidFill>
            <a:srgbClr val="606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366674" y="746150"/>
            <a:ext cx="85039" cy="215798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5" name="Text 3"/>
          <p:cNvSpPr/>
          <p:nvPr/>
        </p:nvSpPr>
        <p:spPr>
          <a:xfrm>
            <a:off x="497434" y="720547"/>
            <a:ext cx="5893308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조사원 투입 규모와 운영 조직</a:t>
            </a:r>
            <a:endParaRPr lang="en-US" sz="1720" dirty="0"/>
          </a:p>
        </p:txBody>
      </p:sp>
      <p:sp>
        <p:nvSpPr>
          <p:cNvPr id="6" name="Shape 4"/>
          <p:cNvSpPr/>
          <p:nvPr/>
        </p:nvSpPr>
        <p:spPr>
          <a:xfrm>
            <a:off x="576072" y="1060704"/>
            <a:ext cx="26518" cy="68122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" y="1060704"/>
            <a:ext cx="170078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576072" y="1715414"/>
            <a:ext cx="170078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9455810" y="1060704"/>
            <a:ext cx="26518" cy="68122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9312250" y="1060704"/>
            <a:ext cx="170078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Shape 9"/>
          <p:cNvSpPr/>
          <p:nvPr/>
        </p:nvSpPr>
        <p:spPr>
          <a:xfrm>
            <a:off x="9312250" y="1715414"/>
            <a:ext cx="170078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" y="1073506"/>
            <a:ext cx="393192" cy="40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265" dirty="0"/>
          </a:p>
        </p:txBody>
      </p:sp>
      <p:sp>
        <p:nvSpPr>
          <p:cNvPr id="13" name="Text 11"/>
          <p:cNvSpPr/>
          <p:nvPr/>
        </p:nvSpPr>
        <p:spPr>
          <a:xfrm>
            <a:off x="8892540" y="1073506"/>
            <a:ext cx="393192" cy="40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265" dirty="0"/>
          </a:p>
        </p:txBody>
      </p:sp>
      <p:sp>
        <p:nvSpPr>
          <p:cNvPr id="14" name="Text 12"/>
          <p:cNvSpPr/>
          <p:nvPr/>
        </p:nvSpPr>
        <p:spPr>
          <a:xfrm>
            <a:off x="1152144" y="1060704"/>
            <a:ext cx="7753198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규모가 큰 기업일수록 일반적인 대표전화 접촉이 어렵기 때문에,</a:t>
            </a:r>
            <a:endParaRPr lang="en-US" sz="151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업종·매출액 규모별 전담 조사원과 예비조사원을 배치해 이탈 위험을 예방</a:t>
            </a:r>
            <a:endParaRPr lang="en-US" sz="1510" dirty="0"/>
          </a:p>
        </p:txBody>
      </p:sp>
      <p:sp>
        <p:nvSpPr>
          <p:cNvPr id="15" name="Shape 13"/>
          <p:cNvSpPr/>
          <p:nvPr/>
        </p:nvSpPr>
        <p:spPr>
          <a:xfrm>
            <a:off x="242316" y="2245766"/>
            <a:ext cx="3883457" cy="3247949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242316" y="1885493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1219" y="1885493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8" name="Shape 16"/>
          <p:cNvSpPr/>
          <p:nvPr/>
        </p:nvSpPr>
        <p:spPr>
          <a:xfrm>
            <a:off x="242316" y="1918411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9" name="Shape 17"/>
          <p:cNvSpPr/>
          <p:nvPr/>
        </p:nvSpPr>
        <p:spPr>
          <a:xfrm>
            <a:off x="3811219" y="1918411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0" name="Shape 18"/>
          <p:cNvSpPr/>
          <p:nvPr/>
        </p:nvSpPr>
        <p:spPr>
          <a:xfrm>
            <a:off x="399593" y="1885493"/>
            <a:ext cx="3568903" cy="347472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1" name="Shape 19"/>
          <p:cNvSpPr/>
          <p:nvPr/>
        </p:nvSpPr>
        <p:spPr>
          <a:xfrm>
            <a:off x="242316" y="2042770"/>
            <a:ext cx="3883457" cy="3291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2" name="Text 20"/>
          <p:cNvSpPr/>
          <p:nvPr/>
        </p:nvSpPr>
        <p:spPr>
          <a:xfrm>
            <a:off x="242316" y="1885493"/>
            <a:ext cx="38834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투입 설계 기준</a:t>
            </a:r>
            <a:endParaRPr lang="en-US" sz="1560" dirty="0"/>
          </a:p>
        </p:txBody>
      </p:sp>
      <p:sp>
        <p:nvSpPr>
          <p:cNvPr id="23" name="Shape 21"/>
          <p:cNvSpPr/>
          <p:nvPr/>
        </p:nvSpPr>
        <p:spPr>
          <a:xfrm>
            <a:off x="360274" y="2475281"/>
            <a:ext cx="3647542" cy="628193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033" y="2638958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3" y="2638958"/>
            <a:ext cx="294437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7707" y="2475281"/>
            <a:ext cx="3117190" cy="628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온라인 자기기입 중심: 조사원은 판별조사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접촉·미응답 독려·전화조사(CATI)·현장 보완에 집중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0274" y="3274466"/>
            <a:ext cx="3647542" cy="628193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033" y="3438144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9" name="Text 27"/>
          <p:cNvSpPr/>
          <p:nvPr/>
        </p:nvSpPr>
        <p:spPr>
          <a:xfrm>
            <a:off x="491033" y="3438144"/>
            <a:ext cx="294437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57707" y="3274466"/>
            <a:ext cx="3117190" cy="628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유효표본 3,000개사와 업종 5구분 × 규모 2구분,</a:t>
            </a:r>
            <a:endParaRPr lang="en-US" sz="11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10개 관리 단위 물량에 비례해 배치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360274" y="4080053"/>
            <a:ext cx="3647542" cy="628193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033" y="4243730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3" name="Text 31"/>
          <p:cNvSpPr/>
          <p:nvPr/>
        </p:nvSpPr>
        <p:spPr>
          <a:xfrm>
            <a:off x="491033" y="4243730"/>
            <a:ext cx="294437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57707" y="4080053"/>
            <a:ext cx="3117190" cy="628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접촉이 어려운 총에는 경험 조사원을 우선 배치하고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예비조사원으로 이탈에 대비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53873" y="5009083"/>
            <a:ext cx="314554" cy="31455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6" name="Shape 34"/>
          <p:cNvSpPr/>
          <p:nvPr/>
        </p:nvSpPr>
        <p:spPr>
          <a:xfrm>
            <a:off x="3674059" y="5009083"/>
            <a:ext cx="314554" cy="31455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7" name="Shape 35"/>
          <p:cNvSpPr/>
          <p:nvPr/>
        </p:nvSpPr>
        <p:spPr>
          <a:xfrm>
            <a:off x="353873" y="5022799"/>
            <a:ext cx="314554" cy="31455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8" name="Shape 36"/>
          <p:cNvSpPr/>
          <p:nvPr/>
        </p:nvSpPr>
        <p:spPr>
          <a:xfrm>
            <a:off x="3674059" y="5022799"/>
            <a:ext cx="314554" cy="31455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9" name="Shape 37"/>
          <p:cNvSpPr/>
          <p:nvPr/>
        </p:nvSpPr>
        <p:spPr>
          <a:xfrm>
            <a:off x="511150" y="5009083"/>
            <a:ext cx="3320186" cy="327355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0" name="Shape 38"/>
          <p:cNvSpPr/>
          <p:nvPr/>
        </p:nvSpPr>
        <p:spPr>
          <a:xfrm>
            <a:off x="353873" y="5166360"/>
            <a:ext cx="3634740" cy="12802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1" name="Text 39"/>
          <p:cNvSpPr/>
          <p:nvPr/>
        </p:nvSpPr>
        <p:spPr>
          <a:xfrm>
            <a:off x="353873" y="5009083"/>
            <a:ext cx="3634740" cy="327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예비조사원 10% 확보</a:t>
            </a:r>
            <a:endParaRPr lang="en-US" sz="1460" dirty="0"/>
          </a:p>
        </p:txBody>
      </p:sp>
      <p:sp>
        <p:nvSpPr>
          <p:cNvPr id="42" name="Shape 40"/>
          <p:cNvSpPr/>
          <p:nvPr/>
        </p:nvSpPr>
        <p:spPr>
          <a:xfrm>
            <a:off x="4275734" y="2239366"/>
            <a:ext cx="5540350" cy="325435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3" name="Shape 41"/>
          <p:cNvSpPr/>
          <p:nvPr/>
        </p:nvSpPr>
        <p:spPr>
          <a:xfrm>
            <a:off x="4275734" y="1892808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4" name="Shape 42"/>
          <p:cNvSpPr/>
          <p:nvPr/>
        </p:nvSpPr>
        <p:spPr>
          <a:xfrm>
            <a:off x="9501530" y="1892808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5" name="Shape 43"/>
          <p:cNvSpPr/>
          <p:nvPr/>
        </p:nvSpPr>
        <p:spPr>
          <a:xfrm>
            <a:off x="4275734" y="1918411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6" name="Shape 44"/>
          <p:cNvSpPr/>
          <p:nvPr/>
        </p:nvSpPr>
        <p:spPr>
          <a:xfrm>
            <a:off x="9501530" y="1918411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7" name="Shape 45"/>
          <p:cNvSpPr/>
          <p:nvPr/>
        </p:nvSpPr>
        <p:spPr>
          <a:xfrm>
            <a:off x="4433011" y="1892808"/>
            <a:ext cx="5225796" cy="34015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48" name="Shape 46"/>
          <p:cNvSpPr/>
          <p:nvPr/>
        </p:nvSpPr>
        <p:spPr>
          <a:xfrm>
            <a:off x="4275734" y="2050085"/>
            <a:ext cx="5540350" cy="2651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49" name="Text 47"/>
          <p:cNvSpPr/>
          <p:nvPr/>
        </p:nvSpPr>
        <p:spPr>
          <a:xfrm>
            <a:off x="4275734" y="1892808"/>
            <a:ext cx="554035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역할별 운영 조직</a:t>
            </a:r>
            <a:endParaRPr lang="en-US" sz="1560" dirty="0"/>
          </a:p>
        </p:txBody>
      </p:sp>
      <p:sp>
        <p:nvSpPr>
          <p:cNvPr id="50" name="Shape 48"/>
          <p:cNvSpPr/>
          <p:nvPr/>
        </p:nvSpPr>
        <p:spPr>
          <a:xfrm>
            <a:off x="4401007" y="2370125"/>
            <a:ext cx="5317236" cy="41239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36008" y="2409444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2" name="Shape 50"/>
          <p:cNvSpPr/>
          <p:nvPr/>
        </p:nvSpPr>
        <p:spPr>
          <a:xfrm>
            <a:off x="5965546" y="2409444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3" name="Shape 51"/>
          <p:cNvSpPr/>
          <p:nvPr/>
        </p:nvSpPr>
        <p:spPr>
          <a:xfrm>
            <a:off x="4636008" y="2429561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4" name="Shape 52"/>
          <p:cNvSpPr/>
          <p:nvPr/>
        </p:nvSpPr>
        <p:spPr>
          <a:xfrm>
            <a:off x="5965546" y="2429561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5" name="Shape 53"/>
          <p:cNvSpPr/>
          <p:nvPr/>
        </p:nvSpPr>
        <p:spPr>
          <a:xfrm>
            <a:off x="4793285" y="2409444"/>
            <a:ext cx="1329538" cy="333756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56" name="Shape 54"/>
          <p:cNvSpPr/>
          <p:nvPr/>
        </p:nvSpPr>
        <p:spPr>
          <a:xfrm>
            <a:off x="4636008" y="2566721"/>
            <a:ext cx="1644091" cy="19202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57" name="Text 55"/>
          <p:cNvSpPr/>
          <p:nvPr/>
        </p:nvSpPr>
        <p:spPr>
          <a:xfrm>
            <a:off x="4636008" y="2409444"/>
            <a:ext cx="164409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총괄 슈퍼바이저(SV)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417259" y="2409444"/>
            <a:ext cx="330007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지역별 조사 총괄·품질 관리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401007" y="2901391"/>
            <a:ext cx="5317236" cy="94274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36008" y="2939796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1" name="Shape 59"/>
          <p:cNvSpPr/>
          <p:nvPr/>
        </p:nvSpPr>
        <p:spPr>
          <a:xfrm>
            <a:off x="5965546" y="2939796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2" name="Shape 60"/>
          <p:cNvSpPr/>
          <p:nvPr/>
        </p:nvSpPr>
        <p:spPr>
          <a:xfrm>
            <a:off x="4636008" y="3490265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3" name="Shape 61"/>
          <p:cNvSpPr/>
          <p:nvPr/>
        </p:nvSpPr>
        <p:spPr>
          <a:xfrm>
            <a:off x="5965546" y="3490265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4" name="Shape 62"/>
          <p:cNvSpPr/>
          <p:nvPr/>
        </p:nvSpPr>
        <p:spPr>
          <a:xfrm>
            <a:off x="4793285" y="2939796"/>
            <a:ext cx="1329538" cy="86410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65" name="Shape 63"/>
          <p:cNvSpPr/>
          <p:nvPr/>
        </p:nvSpPr>
        <p:spPr>
          <a:xfrm>
            <a:off x="4636008" y="3097073"/>
            <a:ext cx="1644091" cy="550469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66" name="Text 64"/>
          <p:cNvSpPr/>
          <p:nvPr/>
        </p:nvSpPr>
        <p:spPr>
          <a:xfrm>
            <a:off x="4636008" y="2939796"/>
            <a:ext cx="1644091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판별조사팀(전화)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6417259" y="2947111"/>
            <a:ext cx="330007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수탁거래 여부·원재료 비중·연동제 도입 여부 확인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→ 연동대상 후보 축소 → 담당자 연락처 확보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→ 판별 4문항 자기기입 링크 안내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417259" y="3510382"/>
            <a:ext cx="330007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거래금액 1억원·대금지급 90일 요건은 자기기입 문항에서 확정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401007" y="3968496"/>
            <a:ext cx="5317236" cy="40599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36008" y="4007815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1" name="Shape 69"/>
          <p:cNvSpPr/>
          <p:nvPr/>
        </p:nvSpPr>
        <p:spPr>
          <a:xfrm>
            <a:off x="5965546" y="4007815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2" name="Shape 70"/>
          <p:cNvSpPr/>
          <p:nvPr/>
        </p:nvSpPr>
        <p:spPr>
          <a:xfrm>
            <a:off x="4636008" y="4020617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3" name="Shape 71"/>
          <p:cNvSpPr/>
          <p:nvPr/>
        </p:nvSpPr>
        <p:spPr>
          <a:xfrm>
            <a:off x="5965546" y="4020617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4" name="Shape 72"/>
          <p:cNvSpPr/>
          <p:nvPr/>
        </p:nvSpPr>
        <p:spPr>
          <a:xfrm>
            <a:off x="4793285" y="4007815"/>
            <a:ext cx="1329538" cy="32735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75" name="Shape 73"/>
          <p:cNvSpPr/>
          <p:nvPr/>
        </p:nvSpPr>
        <p:spPr>
          <a:xfrm>
            <a:off x="4636008" y="4165092"/>
            <a:ext cx="1644091" cy="12802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76" name="Text 74"/>
          <p:cNvSpPr/>
          <p:nvPr/>
        </p:nvSpPr>
        <p:spPr>
          <a:xfrm>
            <a:off x="4636008" y="4007815"/>
            <a:ext cx="1644091" cy="327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온라인 독려·응답지원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417259" y="4007815"/>
            <a:ext cx="3300070" cy="327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자기기입 안내·독려·응답 오류 실시간 지원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4401007" y="4439412"/>
            <a:ext cx="5317236" cy="418795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36008" y="4478731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0" name="Shape 78"/>
          <p:cNvSpPr/>
          <p:nvPr/>
        </p:nvSpPr>
        <p:spPr>
          <a:xfrm>
            <a:off x="5965546" y="4478731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1" name="Shape 79"/>
          <p:cNvSpPr/>
          <p:nvPr/>
        </p:nvSpPr>
        <p:spPr>
          <a:xfrm>
            <a:off x="4636008" y="4505249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2" name="Shape 80"/>
          <p:cNvSpPr/>
          <p:nvPr/>
        </p:nvSpPr>
        <p:spPr>
          <a:xfrm>
            <a:off x="5965546" y="4505249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3" name="Shape 81"/>
          <p:cNvSpPr/>
          <p:nvPr/>
        </p:nvSpPr>
        <p:spPr>
          <a:xfrm>
            <a:off x="4793285" y="4478731"/>
            <a:ext cx="1329538" cy="34015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84" name="Shape 82"/>
          <p:cNvSpPr/>
          <p:nvPr/>
        </p:nvSpPr>
        <p:spPr>
          <a:xfrm>
            <a:off x="4636008" y="4636008"/>
            <a:ext cx="1644091" cy="2651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85" name="Text 83"/>
          <p:cNvSpPr/>
          <p:nvPr/>
        </p:nvSpPr>
        <p:spPr>
          <a:xfrm>
            <a:off x="4636008" y="4478731"/>
            <a:ext cx="1644091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CATI 조사팀</a:t>
            </a:r>
            <a:endParaRPr lang="en-US" sz="1250" dirty="0"/>
          </a:p>
        </p:txBody>
      </p:sp>
      <p:sp>
        <p:nvSpPr>
          <p:cNvPr id="86" name="Text 84"/>
          <p:cNvSpPr/>
          <p:nvPr/>
        </p:nvSpPr>
        <p:spPr>
          <a:xfrm>
            <a:off x="6417259" y="4478731"/>
            <a:ext cx="330007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온라인 미응답 기업 전화 병행 조사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4401007" y="4931359"/>
            <a:ext cx="5317236" cy="418795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636008" y="4970678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9" name="Shape 87"/>
          <p:cNvSpPr/>
          <p:nvPr/>
        </p:nvSpPr>
        <p:spPr>
          <a:xfrm>
            <a:off x="5965546" y="4970678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0" name="Shape 88"/>
          <p:cNvSpPr/>
          <p:nvPr/>
        </p:nvSpPr>
        <p:spPr>
          <a:xfrm>
            <a:off x="4636008" y="4996282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1" name="Shape 89"/>
          <p:cNvSpPr/>
          <p:nvPr/>
        </p:nvSpPr>
        <p:spPr>
          <a:xfrm>
            <a:off x="5965546" y="4996282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2" name="Shape 90"/>
          <p:cNvSpPr/>
          <p:nvPr/>
        </p:nvSpPr>
        <p:spPr>
          <a:xfrm>
            <a:off x="4793285" y="4970678"/>
            <a:ext cx="1329538" cy="34015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93" name="Shape 91"/>
          <p:cNvSpPr/>
          <p:nvPr/>
        </p:nvSpPr>
        <p:spPr>
          <a:xfrm>
            <a:off x="4636008" y="5127041"/>
            <a:ext cx="1644091" cy="2651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94" name="Text 92"/>
          <p:cNvSpPr/>
          <p:nvPr/>
        </p:nvSpPr>
        <p:spPr>
          <a:xfrm>
            <a:off x="4636008" y="4970678"/>
            <a:ext cx="1644091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검증·에디팅팀</a:t>
            </a:r>
            <a:endParaRPr lang="en-US" sz="1250" dirty="0"/>
          </a:p>
        </p:txBody>
      </p:sp>
      <p:sp>
        <p:nvSpPr>
          <p:cNvPr id="95" name="Text 93"/>
          <p:cNvSpPr/>
          <p:nvPr/>
        </p:nvSpPr>
        <p:spPr>
          <a:xfrm>
            <a:off x="6417259" y="4970678"/>
            <a:ext cx="330007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회수자료 검증·보완 관리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4459529" y="2566721"/>
            <a:ext cx="12802" cy="258043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97" name="Shape 95"/>
          <p:cNvSpPr/>
          <p:nvPr/>
        </p:nvSpPr>
        <p:spPr>
          <a:xfrm>
            <a:off x="4420210" y="2537460"/>
            <a:ext cx="85039" cy="85039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8" name="Shape 96"/>
          <p:cNvSpPr/>
          <p:nvPr/>
        </p:nvSpPr>
        <p:spPr>
          <a:xfrm>
            <a:off x="4420210" y="3332988"/>
            <a:ext cx="85039" cy="85039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9" name="Shape 97"/>
          <p:cNvSpPr/>
          <p:nvPr/>
        </p:nvSpPr>
        <p:spPr>
          <a:xfrm>
            <a:off x="4420210" y="4132174"/>
            <a:ext cx="85039" cy="85039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0" name="Shape 98"/>
          <p:cNvSpPr/>
          <p:nvPr/>
        </p:nvSpPr>
        <p:spPr>
          <a:xfrm>
            <a:off x="4420210" y="4610405"/>
            <a:ext cx="85039" cy="85039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1" name="Shape 99"/>
          <p:cNvSpPr/>
          <p:nvPr/>
        </p:nvSpPr>
        <p:spPr>
          <a:xfrm>
            <a:off x="4420210" y="5101438"/>
            <a:ext cx="85039" cy="85039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48717" y="5723230"/>
            <a:ext cx="9560966" cy="64831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53873" y="5847588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132942" y="5847588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53873" y="5932627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32942" y="5932627"/>
            <a:ext cx="314554" cy="31455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11150" y="5847588"/>
            <a:ext cx="779069" cy="399593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353873" y="6004865"/>
            <a:ext cx="1093622" cy="85039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09" name="Text 107"/>
          <p:cNvSpPr/>
          <p:nvPr/>
        </p:nvSpPr>
        <p:spPr>
          <a:xfrm>
            <a:off x="353873" y="5847588"/>
            <a:ext cx="1093622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배치 원칙</a:t>
            </a:r>
            <a:endParaRPr lang="en-US" sz="1350" dirty="0"/>
          </a:p>
        </p:txBody>
      </p:sp>
      <p:sp>
        <p:nvSpPr>
          <p:cNvPr id="110" name="Text 108"/>
          <p:cNvSpPr/>
          <p:nvPr/>
        </p:nvSpPr>
        <p:spPr>
          <a:xfrm>
            <a:off x="1636776" y="5847588"/>
            <a:ext cx="805495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유효표본 3,000개사와 10개 관리 단위 물량에 비례 배치하고, 예비조사원 10%를 확보(세부 인원 서식2)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078" y="52121"/>
            <a:ext cx="6548018" cy="45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통계산출 및 결과 분석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 flipH="1">
            <a:off x="170078" y="681228"/>
            <a:ext cx="78638" cy="202997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4" name="Text 2"/>
          <p:cNvSpPr/>
          <p:nvPr/>
        </p:nvSpPr>
        <p:spPr>
          <a:xfrm>
            <a:off x="353873" y="654710"/>
            <a:ext cx="58933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가중치 산정과 정밀도 검증</a:t>
            </a:r>
            <a:endParaRPr lang="en-US" sz="1510" dirty="0"/>
          </a:p>
        </p:txBody>
      </p:sp>
      <p:sp>
        <p:nvSpPr>
          <p:cNvPr id="5" name="Shape 3"/>
          <p:cNvSpPr/>
          <p:nvPr/>
        </p:nvSpPr>
        <p:spPr>
          <a:xfrm>
            <a:off x="300838" y="995782"/>
            <a:ext cx="26518" cy="550469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6" name="Shape 4"/>
          <p:cNvSpPr/>
          <p:nvPr/>
        </p:nvSpPr>
        <p:spPr>
          <a:xfrm>
            <a:off x="300838" y="995782"/>
            <a:ext cx="153619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7" name="Shape 5"/>
          <p:cNvSpPr/>
          <p:nvPr/>
        </p:nvSpPr>
        <p:spPr>
          <a:xfrm>
            <a:off x="300838" y="1518818"/>
            <a:ext cx="153619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9743846" y="995782"/>
            <a:ext cx="26518" cy="550469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9615830" y="995782"/>
            <a:ext cx="153619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9615830" y="1518818"/>
            <a:ext cx="153619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4" y="1008583"/>
            <a:ext cx="393192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265" dirty="0"/>
          </a:p>
        </p:txBody>
      </p:sp>
      <p:sp>
        <p:nvSpPr>
          <p:cNvPr id="12" name="Text 10"/>
          <p:cNvSpPr/>
          <p:nvPr/>
        </p:nvSpPr>
        <p:spPr>
          <a:xfrm>
            <a:off x="9180576" y="1008583"/>
            <a:ext cx="393192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265" dirty="0"/>
          </a:p>
        </p:txBody>
      </p:sp>
      <p:sp>
        <p:nvSpPr>
          <p:cNvPr id="13" name="Text 11"/>
          <p:cNvSpPr/>
          <p:nvPr/>
        </p:nvSpPr>
        <p:spPr>
          <a:xfrm>
            <a:off x="877824" y="995782"/>
            <a:ext cx="8316468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9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설계가중부터 무응답 보정·사후층화까지 단계별로 가중치를 산정하고, 상대표준오차·설계효과로 정밀도를 정직하게 검증</a:t>
            </a:r>
            <a:endParaRPr lang="en-US" sz="1290" dirty="0"/>
          </a:p>
        </p:txBody>
      </p:sp>
      <p:sp>
        <p:nvSpPr>
          <p:cNvPr id="14" name="Shape 12"/>
          <p:cNvSpPr/>
          <p:nvPr/>
        </p:nvSpPr>
        <p:spPr>
          <a:xfrm>
            <a:off x="294437" y="1807769"/>
            <a:ext cx="9488729" cy="1280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3622" y="1689811"/>
            <a:ext cx="268834" cy="255118"/>
          </a:xfrm>
          <a:prstGeom prst="rect">
            <a:avLst/>
          </a:prstGeom>
          <a:solidFill>
            <a:srgbClr val="052A7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3622" y="1689811"/>
            <a:ext cx="268834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4437" y="2003450"/>
            <a:ext cx="1918411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설계가중</a:t>
            </a:r>
            <a:endParaRPr lang="en-US" sz="1510" dirty="0"/>
          </a:p>
        </p:txBody>
      </p:sp>
      <p:sp>
        <p:nvSpPr>
          <p:cNvPr id="18" name="Shape 16"/>
          <p:cNvSpPr/>
          <p:nvPr/>
        </p:nvSpPr>
        <p:spPr>
          <a:xfrm>
            <a:off x="294437" y="2338121"/>
            <a:ext cx="1918411" cy="182057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" y="2377440"/>
            <a:ext cx="1748333" cy="1754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w = 1/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i="1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π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aseline="-40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, 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i="1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π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aseline="-40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= n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aseline="-40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h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/ N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aseline="-40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h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(층 h 발송 추출확률)</a:t>
            </a:r>
            <a:endParaRPr lang="en-US" sz="100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연동대상 여부는 고정 속성이므로 가중치에 곱하지 않고 부분모집단 추정으로 처리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01522" y="4177894"/>
            <a:ext cx="105156" cy="105156"/>
          </a:xfrm>
          <a:prstGeom prst="downArrow">
            <a:avLst/>
          </a:prstGeom>
          <a:solidFill>
            <a:srgbClr val="606060"/>
          </a:solidFill>
          <a:ln/>
        </p:spPr>
      </p:sp>
      <p:sp>
        <p:nvSpPr>
          <p:cNvPr id="21" name="Shape 19"/>
          <p:cNvSpPr/>
          <p:nvPr/>
        </p:nvSpPr>
        <p:spPr>
          <a:xfrm>
            <a:off x="294437" y="4295851"/>
            <a:ext cx="1918411" cy="543154"/>
          </a:xfrm>
          <a:prstGeom prst="rect">
            <a:avLst/>
          </a:prstGeom>
          <a:solidFill>
            <a:srgbClr val="EFE9D8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4295851"/>
            <a:ext cx="181417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층별 추출확률 역수·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연동대상은 부분모집단 추정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3307385" y="1689811"/>
            <a:ext cx="268834" cy="255118"/>
          </a:xfrm>
          <a:prstGeom prst="rect">
            <a:avLst/>
          </a:prstGeom>
          <a:solidFill>
            <a:srgbClr val="052A77"/>
          </a:solidFill>
          <a:ln/>
        </p:spPr>
      </p:sp>
      <p:sp>
        <p:nvSpPr>
          <p:cNvPr id="24" name="Text 22"/>
          <p:cNvSpPr/>
          <p:nvPr/>
        </p:nvSpPr>
        <p:spPr>
          <a:xfrm>
            <a:off x="3307385" y="1689811"/>
            <a:ext cx="268834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448763" y="2003450"/>
            <a:ext cx="2115007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무응답 보정</a:t>
            </a:r>
            <a:endParaRPr lang="en-US" sz="1510" dirty="0"/>
          </a:p>
        </p:txBody>
      </p:sp>
      <p:sp>
        <p:nvSpPr>
          <p:cNvPr id="26" name="Shape 24"/>
          <p:cNvSpPr/>
          <p:nvPr/>
        </p:nvSpPr>
        <p:spPr>
          <a:xfrm>
            <a:off x="2448763" y="2338121"/>
            <a:ext cx="2115007" cy="182057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1118" y="2377440"/>
            <a:ext cx="1944929" cy="1754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로지스틱 회귀로 응답성향점수를 산출해 역수를 조정계수로 적용</a:t>
            </a:r>
            <a:endParaRPr lang="en-US" sz="1000" dirty="0"/>
          </a:p>
          <a:p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변수: 업종 구분, 기업규모, 재무구간(미등록 별도), 소재지, 연락처 경로, 발송 모드</a:t>
            </a:r>
            <a:endParaRPr lang="en-US" sz="100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분산팽창계수 10 초과 변수 제외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54603" y="4177894"/>
            <a:ext cx="105156" cy="105156"/>
          </a:xfrm>
          <a:prstGeom prst="downArrow">
            <a:avLst/>
          </a:prstGeom>
          <a:solidFill>
            <a:srgbClr val="606060"/>
          </a:solidFill>
          <a:ln/>
        </p:spPr>
      </p:sp>
      <p:sp>
        <p:nvSpPr>
          <p:cNvPr id="29" name="Shape 27"/>
          <p:cNvSpPr/>
          <p:nvPr/>
        </p:nvSpPr>
        <p:spPr>
          <a:xfrm>
            <a:off x="2448763" y="4295851"/>
            <a:ext cx="2115007" cy="543154"/>
          </a:xfrm>
          <a:prstGeom prst="rect">
            <a:avLst/>
          </a:prstGeom>
          <a:solidFill>
            <a:srgbClr val="EFE9D8"/>
          </a:solidFill>
          <a:ln/>
        </p:spPr>
      </p:sp>
      <p:sp>
        <p:nvSpPr>
          <p:cNvPr id="30" name="Text 28"/>
          <p:cNvSpPr/>
          <p:nvPr/>
        </p:nvSpPr>
        <p:spPr>
          <a:xfrm>
            <a:off x="2501798" y="4295851"/>
            <a:ext cx="201076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무응답 편의 보정·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조기 응답자와 후기 응답자 비교</a:t>
            </a:r>
            <a:endParaRPr lang="en-US" sz="1090" dirty="0"/>
          </a:p>
        </p:txBody>
      </p:sp>
      <p:sp>
        <p:nvSpPr>
          <p:cNvPr id="31" name="Shape 29"/>
          <p:cNvSpPr/>
          <p:nvPr/>
        </p:nvSpPr>
        <p:spPr>
          <a:xfrm>
            <a:off x="5749747" y="1689811"/>
            <a:ext cx="268834" cy="255118"/>
          </a:xfrm>
          <a:prstGeom prst="rect">
            <a:avLst/>
          </a:prstGeom>
          <a:solidFill>
            <a:srgbClr val="052A77"/>
          </a:solidFill>
          <a:ln/>
        </p:spPr>
      </p:sp>
      <p:sp>
        <p:nvSpPr>
          <p:cNvPr id="32" name="Text 30"/>
          <p:cNvSpPr/>
          <p:nvPr/>
        </p:nvSpPr>
        <p:spPr>
          <a:xfrm>
            <a:off x="5749747" y="1689811"/>
            <a:ext cx="268834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26203" y="2003450"/>
            <a:ext cx="2180844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사후층화·벤치마킹</a:t>
            </a:r>
            <a:endParaRPr lang="en-US" sz="1510" dirty="0"/>
          </a:p>
        </p:txBody>
      </p:sp>
      <p:sp>
        <p:nvSpPr>
          <p:cNvPr id="34" name="Shape 32"/>
          <p:cNvSpPr/>
          <p:nvPr/>
        </p:nvSpPr>
        <p:spPr>
          <a:xfrm>
            <a:off x="4826203" y="2338121"/>
            <a:ext cx="2180844" cy="182057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7643" y="2377440"/>
            <a:ext cx="2010766" cy="1754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모집단 N</a:t>
            </a:r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baseline="-40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h</a:t>
            </a:r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기준 사후층화·반복비례가중 (raking)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64047" y="4177894"/>
            <a:ext cx="105156" cy="105156"/>
          </a:xfrm>
          <a:prstGeom prst="downArrow">
            <a:avLst/>
          </a:prstGeom>
          <a:solidFill>
            <a:srgbClr val="606060"/>
          </a:solidFill>
          <a:ln/>
        </p:spPr>
      </p:sp>
      <p:sp>
        <p:nvSpPr>
          <p:cNvPr id="37" name="Shape 35"/>
          <p:cNvSpPr/>
          <p:nvPr/>
        </p:nvSpPr>
        <p:spPr>
          <a:xfrm>
            <a:off x="4826203" y="4295851"/>
            <a:ext cx="2180844" cy="543154"/>
          </a:xfrm>
          <a:prstGeom prst="rect">
            <a:avLst/>
          </a:prstGeom>
          <a:solidFill>
            <a:srgbClr val="EFE9D8"/>
          </a:solidFill>
          <a:ln/>
        </p:spPr>
      </p:sp>
      <p:sp>
        <p:nvSpPr>
          <p:cNvPr id="38" name="Text 36"/>
          <p:cNvSpPr/>
          <p:nvPr/>
        </p:nvSpPr>
        <p:spPr>
          <a:xfrm>
            <a:off x="4878324" y="4295851"/>
            <a:ext cx="207568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업종 구분별 D̂ₕ 를 전국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규모에 정렬하고 셀은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그 안에서 배분</a:t>
            </a:r>
            <a:endParaRPr lang="en-US" sz="1090" dirty="0"/>
          </a:p>
        </p:txBody>
      </p:sp>
      <p:sp>
        <p:nvSpPr>
          <p:cNvPr id="39" name="Shape 37"/>
          <p:cNvSpPr/>
          <p:nvPr/>
        </p:nvSpPr>
        <p:spPr>
          <a:xfrm>
            <a:off x="8388706" y="1689811"/>
            <a:ext cx="268834" cy="255118"/>
          </a:xfrm>
          <a:prstGeom prst="rect">
            <a:avLst/>
          </a:prstGeom>
          <a:solidFill>
            <a:srgbClr val="052A77"/>
          </a:solidFill>
          <a:ln/>
        </p:spPr>
      </p:sp>
      <p:sp>
        <p:nvSpPr>
          <p:cNvPr id="40" name="Text 38"/>
          <p:cNvSpPr/>
          <p:nvPr/>
        </p:nvSpPr>
        <p:spPr>
          <a:xfrm>
            <a:off x="8388706" y="1689811"/>
            <a:ext cx="268834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255764" y="2003450"/>
            <a:ext cx="2527402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정밀도 평가·항목무응답</a:t>
            </a:r>
            <a:endParaRPr lang="en-US" sz="1510" dirty="0"/>
          </a:p>
        </p:txBody>
      </p:sp>
      <p:sp>
        <p:nvSpPr>
          <p:cNvPr id="42" name="Shape 40"/>
          <p:cNvSpPr/>
          <p:nvPr/>
        </p:nvSpPr>
        <p:spPr>
          <a:xfrm>
            <a:off x="7255764" y="2338121"/>
            <a:ext cx="2527402" cy="182057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47204" y="2377440"/>
            <a:ext cx="2357323" cy="1754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deff = 1 + CV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aseline="30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(w), n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aseline="-40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eff</a:t>
            </a:r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= n / deff, RSE = SE / 추정값</a:t>
            </a:r>
            <a:endParaRPr lang="en-US" sz="1000" dirty="0"/>
          </a:p>
          <a:p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SE는 테일러 선형화, 사후층화 분산은 잭나이프 재표집으로 산출</a:t>
            </a:r>
            <a:endParaRPr lang="en-US" sz="1000" dirty="0"/>
          </a:p>
          <a:p>
            <a:pPr algn="l"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반영률은 분자·분모가 모두 유효한 기업만 산출; 매출·원가는 같은 층 안에서 핫텍 대체</a:t>
            </a:r>
            <a:endParaRPr lang="en-US" sz="100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회피 문항 무응답은 층 단위 집계, 체결여부 ‘모름’은 도입률에서 제외하고 제외율·지표별 대체율 공표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467344" y="4177894"/>
            <a:ext cx="105156" cy="105156"/>
          </a:xfrm>
          <a:prstGeom prst="downArrow">
            <a:avLst/>
          </a:prstGeom>
          <a:solidFill>
            <a:srgbClr val="606060"/>
          </a:solidFill>
          <a:ln/>
        </p:spPr>
      </p:sp>
      <p:sp>
        <p:nvSpPr>
          <p:cNvPr id="45" name="Shape 43"/>
          <p:cNvSpPr/>
          <p:nvPr/>
        </p:nvSpPr>
        <p:spPr>
          <a:xfrm>
            <a:off x="7255764" y="4295851"/>
            <a:ext cx="2527402" cy="543154"/>
          </a:xfrm>
          <a:prstGeom prst="rect">
            <a:avLst/>
          </a:prstGeom>
          <a:solidFill>
            <a:srgbClr val="EFE9D8"/>
          </a:solidFill>
          <a:ln/>
        </p:spPr>
      </p:sp>
      <p:sp>
        <p:nvSpPr>
          <p:cNvPr id="46" name="Text 44"/>
          <p:cNvSpPr/>
          <p:nvPr/>
        </p:nvSpPr>
        <p:spPr>
          <a:xfrm>
            <a:off x="7307885" y="4295851"/>
            <a:ext cx="242316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유효표본·상대표준오차 검증,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핵심 지표 항목무응답 편의 통제</a:t>
            </a:r>
            <a:endParaRPr lang="en-US" sz="1090" dirty="0"/>
          </a:p>
        </p:txBody>
      </p:sp>
      <p:sp>
        <p:nvSpPr>
          <p:cNvPr id="47" name="Shape 45"/>
          <p:cNvSpPr/>
          <p:nvPr/>
        </p:nvSpPr>
        <p:spPr>
          <a:xfrm>
            <a:off x="300838" y="5095037"/>
            <a:ext cx="9462211" cy="112014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8" name="Shape 46"/>
          <p:cNvSpPr/>
          <p:nvPr/>
        </p:nvSpPr>
        <p:spPr>
          <a:xfrm>
            <a:off x="4040734" y="4970678"/>
            <a:ext cx="248717" cy="24871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9" name="Shape 47"/>
          <p:cNvSpPr/>
          <p:nvPr/>
        </p:nvSpPr>
        <p:spPr>
          <a:xfrm>
            <a:off x="5677510" y="4970678"/>
            <a:ext cx="248717" cy="24871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0" name="Shape 48"/>
          <p:cNvSpPr/>
          <p:nvPr/>
        </p:nvSpPr>
        <p:spPr>
          <a:xfrm>
            <a:off x="4040734" y="4970678"/>
            <a:ext cx="248717" cy="24871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1" name="Shape 49"/>
          <p:cNvSpPr/>
          <p:nvPr/>
        </p:nvSpPr>
        <p:spPr>
          <a:xfrm>
            <a:off x="5677510" y="4970678"/>
            <a:ext cx="248717" cy="24871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2" name="Shape 50"/>
          <p:cNvSpPr/>
          <p:nvPr/>
        </p:nvSpPr>
        <p:spPr>
          <a:xfrm>
            <a:off x="4165092" y="4970678"/>
            <a:ext cx="1636776" cy="24871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53" name="Shape 51"/>
          <p:cNvSpPr/>
          <p:nvPr/>
        </p:nvSpPr>
        <p:spPr>
          <a:xfrm>
            <a:off x="4040734" y="5095037"/>
            <a:ext cx="1886407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54" name="Text 52"/>
          <p:cNvSpPr/>
          <p:nvPr/>
        </p:nvSpPr>
        <p:spPr>
          <a:xfrm>
            <a:off x="4040734" y="4970678"/>
            <a:ext cx="1886407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공표·정밀도 기준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432511" y="5337353"/>
            <a:ext cx="209398" cy="2093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6" name="Text 54"/>
          <p:cNvSpPr/>
          <p:nvPr/>
        </p:nvSpPr>
        <p:spPr>
          <a:xfrm>
            <a:off x="432511" y="5337353"/>
            <a:ext cx="2093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20547" y="5304434"/>
            <a:ext cx="2881274" cy="824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층 배분 치우침은 설계가중·사후층화로 보정하고,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절단 편의는 절단 전후 추정값 차이로 보고.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거래 단계별 도입률·이행률·인지도를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추가 표본 없이 교차 산출</a:t>
            </a:r>
            <a:endParaRPr lang="en-US" sz="1040" dirty="0"/>
          </a:p>
        </p:txBody>
      </p:sp>
      <p:sp>
        <p:nvSpPr>
          <p:cNvPr id="58" name="Shape 56"/>
          <p:cNvSpPr/>
          <p:nvPr/>
        </p:nvSpPr>
        <p:spPr>
          <a:xfrm>
            <a:off x="3680460" y="5271516"/>
            <a:ext cx="10058" cy="77266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59" name="Shape 57"/>
          <p:cNvSpPr/>
          <p:nvPr/>
        </p:nvSpPr>
        <p:spPr>
          <a:xfrm>
            <a:off x="3614623" y="5337353"/>
            <a:ext cx="209398" cy="2093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0" name="Text 58"/>
          <p:cNvSpPr/>
          <p:nvPr/>
        </p:nvSpPr>
        <p:spPr>
          <a:xfrm>
            <a:off x="3614623" y="5337353"/>
            <a:ext cx="2093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902659" y="5304434"/>
            <a:ext cx="3012034" cy="824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40" b="1" dirty="0">
                <a:solidFill>
                  <a:srgbClr val="13378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도입률·이행률: </a:t>
            </a:r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상대표준오차 3% 이내 설계 목표
(3,000개사·설계효과 1.5 적용 시 2.2%)
</a:t>
            </a:r>
            <a:pPr algn="l" indent="0" marL="0">
              <a:lnSpc>
                <a:spcPct val="130000"/>
              </a:lnSpc>
              <a:buNone/>
            </a:pPr>
            <a:r>
              <a:rPr lang="en-US" sz="1040" b="1" dirty="0">
                <a:solidFill>
                  <a:srgbClr val="13378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회피율·반영률: </a:t>
            </a:r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표본오차 ±2%p 이내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(같은 조건 ±1.0~1.3%p), 상대표준오차 15% 이하</a:t>
            </a:r>
            <a:endParaRPr lang="en-US" sz="1040" dirty="0"/>
          </a:p>
        </p:txBody>
      </p:sp>
      <p:sp>
        <p:nvSpPr>
          <p:cNvPr id="62" name="Shape 60"/>
          <p:cNvSpPr/>
          <p:nvPr/>
        </p:nvSpPr>
        <p:spPr>
          <a:xfrm>
            <a:off x="6993331" y="5271516"/>
            <a:ext cx="10058" cy="77266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63" name="Shape 61"/>
          <p:cNvSpPr/>
          <p:nvPr/>
        </p:nvSpPr>
        <p:spPr>
          <a:xfrm>
            <a:off x="6889090" y="5337353"/>
            <a:ext cx="209398" cy="2093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4" name="Text 62"/>
          <p:cNvSpPr/>
          <p:nvPr/>
        </p:nvSpPr>
        <p:spPr>
          <a:xfrm>
            <a:off x="6889090" y="5337353"/>
            <a:ext cx="2093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77126" y="5304434"/>
            <a:ext cx="2619756" cy="824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공표 원칙: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RSE 15% 이하 / 15~25% 사용상 주의 /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25% 초과 공표 제외 후 인접 층 통합</a:t>
            </a:r>
            <a:endParaRPr lang="en-US" sz="1040" dirty="0"/>
          </a:p>
        </p:txBody>
      </p:sp>
      <p:sp>
        <p:nvSpPr>
          <p:cNvPr id="66" name="Text 64"/>
          <p:cNvSpPr/>
          <p:nvPr/>
        </p:nvSpPr>
        <p:spPr>
          <a:xfrm>
            <a:off x="222199" y="6299302"/>
            <a:ext cx="949513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근거: 「통계승인업무 처리지침」·「표본설계 및 관리지침」 — 세부 검토기준은 승인 협의 시 현행 지침으로 확인</a:t>
            </a:r>
            <a:endParaRPr lang="en-US" sz="10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596" y="105156"/>
            <a:ext cx="4583887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2026 </a:t>
            </a:r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납품대금 연동제 실태조사 제안서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3794" y="327355"/>
            <a:ext cx="7203643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5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8. 국가승인통계 편입 로드맵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 flipH="1">
            <a:off x="235915" y="897026"/>
            <a:ext cx="78638" cy="202997"/>
          </a:xfrm>
          <a:prstGeom prst="parallelogram">
            <a:avLst/>
          </a:prstGeom>
          <a:solidFill>
            <a:srgbClr val="606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347472" y="897026"/>
            <a:ext cx="78638" cy="202997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70509"/>
            <a:ext cx="58933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승인 요건별 사전 대응</a:t>
            </a:r>
            <a:endParaRPr lang="en-US" sz="1510" dirty="0"/>
          </a:p>
        </p:txBody>
      </p:sp>
      <p:sp>
        <p:nvSpPr>
          <p:cNvPr id="7" name="Shape 5"/>
          <p:cNvSpPr/>
          <p:nvPr/>
        </p:nvSpPr>
        <p:spPr>
          <a:xfrm>
            <a:off x="366674" y="1165860"/>
            <a:ext cx="26518" cy="53675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366674" y="1165860"/>
            <a:ext cx="149962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366674" y="1676095"/>
            <a:ext cx="149962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9678924" y="1165860"/>
            <a:ext cx="26518" cy="53675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Shape 9"/>
          <p:cNvSpPr/>
          <p:nvPr/>
        </p:nvSpPr>
        <p:spPr>
          <a:xfrm>
            <a:off x="9554566" y="1165860"/>
            <a:ext cx="149962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554566" y="1676095"/>
            <a:ext cx="149962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3" name="Text 11"/>
          <p:cNvSpPr/>
          <p:nvPr/>
        </p:nvSpPr>
        <p:spPr>
          <a:xfrm>
            <a:off x="563270" y="1178662"/>
            <a:ext cx="39319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265" dirty="0"/>
          </a:p>
        </p:txBody>
      </p:sp>
      <p:sp>
        <p:nvSpPr>
          <p:cNvPr id="14" name="Text 12"/>
          <p:cNvSpPr/>
          <p:nvPr/>
        </p:nvSpPr>
        <p:spPr>
          <a:xfrm>
            <a:off x="9115654" y="1178662"/>
            <a:ext cx="39319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265" dirty="0"/>
          </a:p>
        </p:txBody>
      </p:sp>
      <p:sp>
        <p:nvSpPr>
          <p:cNvPr id="15" name="Text 13"/>
          <p:cNvSpPr/>
          <p:nvPr/>
        </p:nvSpPr>
        <p:spPr>
          <a:xfrm>
            <a:off x="942746" y="1165860"/>
            <a:ext cx="8185709" cy="536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승인 심사 요건에 로드맵을 항목별로 대응하고, 재단 DB와 성격이 다르다는 점을 제시해 사업의 정당성을 확보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694030" y="1807769"/>
            <a:ext cx="308153" cy="30815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7" name="Shape 15"/>
          <p:cNvSpPr/>
          <p:nvPr/>
        </p:nvSpPr>
        <p:spPr>
          <a:xfrm>
            <a:off x="3032150" y="1807769"/>
            <a:ext cx="308153" cy="30815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030" y="1807769"/>
            <a:ext cx="308153" cy="30815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9" name="Shape 17"/>
          <p:cNvSpPr/>
          <p:nvPr/>
        </p:nvSpPr>
        <p:spPr>
          <a:xfrm>
            <a:off x="3032150" y="1807769"/>
            <a:ext cx="308153" cy="30815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0" name="Shape 18"/>
          <p:cNvSpPr/>
          <p:nvPr/>
        </p:nvSpPr>
        <p:spPr>
          <a:xfrm>
            <a:off x="847649" y="1807769"/>
            <a:ext cx="2338121" cy="308153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030" y="1961388"/>
            <a:ext cx="2645359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2" name="Text 20"/>
          <p:cNvSpPr/>
          <p:nvPr/>
        </p:nvSpPr>
        <p:spPr>
          <a:xfrm>
            <a:off x="694030" y="1807769"/>
            <a:ext cx="2645359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승인 요건</a:t>
            </a:r>
            <a:endParaRPr lang="en-US" sz="1460" dirty="0"/>
          </a:p>
        </p:txBody>
      </p:sp>
      <p:sp>
        <p:nvSpPr>
          <p:cNvPr id="23" name="Shape 21"/>
          <p:cNvSpPr/>
          <p:nvPr/>
        </p:nvSpPr>
        <p:spPr>
          <a:xfrm rot="5400000">
            <a:off x="3418027" y="1866290"/>
            <a:ext cx="170078" cy="196596"/>
          </a:xfrm>
          <a:prstGeom prst="triangle">
            <a:avLst/>
          </a:prstGeom>
          <a:solidFill>
            <a:srgbClr val="C9CDD5"/>
          </a:solidFill>
          <a:ln/>
        </p:spPr>
      </p:sp>
      <p:sp>
        <p:nvSpPr>
          <p:cNvPr id="24" name="Shape 22"/>
          <p:cNvSpPr/>
          <p:nvPr/>
        </p:nvSpPr>
        <p:spPr>
          <a:xfrm>
            <a:off x="3752698" y="1807769"/>
            <a:ext cx="308153" cy="30815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9904" y="1807769"/>
            <a:ext cx="308153" cy="30815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6" name="Shape 24"/>
          <p:cNvSpPr/>
          <p:nvPr/>
        </p:nvSpPr>
        <p:spPr>
          <a:xfrm>
            <a:off x="3752698" y="1807769"/>
            <a:ext cx="308153" cy="30815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7" name="Shape 25"/>
          <p:cNvSpPr/>
          <p:nvPr/>
        </p:nvSpPr>
        <p:spPr>
          <a:xfrm>
            <a:off x="6089904" y="1807769"/>
            <a:ext cx="308153" cy="30815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8" name="Shape 26"/>
          <p:cNvSpPr/>
          <p:nvPr/>
        </p:nvSpPr>
        <p:spPr>
          <a:xfrm>
            <a:off x="3906317" y="1807769"/>
            <a:ext cx="2338121" cy="308153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9" name="Shape 27"/>
          <p:cNvSpPr/>
          <p:nvPr/>
        </p:nvSpPr>
        <p:spPr>
          <a:xfrm>
            <a:off x="3752698" y="1961388"/>
            <a:ext cx="2645359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30" name="Text 28"/>
          <p:cNvSpPr/>
          <p:nvPr/>
        </p:nvSpPr>
        <p:spPr>
          <a:xfrm>
            <a:off x="3752698" y="1807769"/>
            <a:ext cx="2645359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시범 산출물</a:t>
            </a:r>
            <a:endParaRPr lang="en-US" sz="1460" dirty="0"/>
          </a:p>
        </p:txBody>
      </p:sp>
      <p:sp>
        <p:nvSpPr>
          <p:cNvPr id="31" name="Shape 29"/>
          <p:cNvSpPr/>
          <p:nvPr/>
        </p:nvSpPr>
        <p:spPr>
          <a:xfrm rot="5400000">
            <a:off x="6476695" y="1866290"/>
            <a:ext cx="170078" cy="196596"/>
          </a:xfrm>
          <a:prstGeom prst="triangle">
            <a:avLst/>
          </a:prstGeom>
          <a:solidFill>
            <a:srgbClr val="C9CDD5"/>
          </a:solidFill>
          <a:ln/>
        </p:spPr>
      </p:sp>
      <p:sp>
        <p:nvSpPr>
          <p:cNvPr id="32" name="Shape 30"/>
          <p:cNvSpPr/>
          <p:nvPr/>
        </p:nvSpPr>
        <p:spPr>
          <a:xfrm>
            <a:off x="6771132" y="1807769"/>
            <a:ext cx="308153" cy="30815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3" name="Shape 31"/>
          <p:cNvSpPr/>
          <p:nvPr/>
        </p:nvSpPr>
        <p:spPr>
          <a:xfrm>
            <a:off x="9390888" y="1807769"/>
            <a:ext cx="308153" cy="30815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4" name="Shape 32"/>
          <p:cNvSpPr/>
          <p:nvPr/>
        </p:nvSpPr>
        <p:spPr>
          <a:xfrm>
            <a:off x="6771132" y="1807769"/>
            <a:ext cx="308153" cy="30815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5" name="Shape 33"/>
          <p:cNvSpPr/>
          <p:nvPr/>
        </p:nvSpPr>
        <p:spPr>
          <a:xfrm>
            <a:off x="9390888" y="1807769"/>
            <a:ext cx="308153" cy="30815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6" name="Shape 34"/>
          <p:cNvSpPr/>
          <p:nvPr/>
        </p:nvSpPr>
        <p:spPr>
          <a:xfrm>
            <a:off x="6924751" y="1807769"/>
            <a:ext cx="2619756" cy="308153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37" name="Shape 35"/>
          <p:cNvSpPr/>
          <p:nvPr/>
        </p:nvSpPr>
        <p:spPr>
          <a:xfrm>
            <a:off x="6771132" y="1961388"/>
            <a:ext cx="2926994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38" name="Text 36"/>
          <p:cNvSpPr/>
          <p:nvPr/>
        </p:nvSpPr>
        <p:spPr>
          <a:xfrm>
            <a:off x="6771132" y="1807769"/>
            <a:ext cx="2926994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본조사 보완</a:t>
            </a:r>
            <a:endParaRPr lang="en-US" sz="1460" dirty="0"/>
          </a:p>
        </p:txBody>
      </p:sp>
      <p:sp>
        <p:nvSpPr>
          <p:cNvPr id="39" name="Shape 37"/>
          <p:cNvSpPr/>
          <p:nvPr/>
        </p:nvSpPr>
        <p:spPr>
          <a:xfrm>
            <a:off x="360274" y="2193646"/>
            <a:ext cx="9337853" cy="32095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0" name="Shape 38"/>
          <p:cNvSpPr/>
          <p:nvPr/>
        </p:nvSpPr>
        <p:spPr>
          <a:xfrm>
            <a:off x="536753" y="2245766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1" name="Text 39"/>
          <p:cNvSpPr/>
          <p:nvPr/>
        </p:nvSpPr>
        <p:spPr>
          <a:xfrm>
            <a:off x="536753" y="2245766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030" y="2193646"/>
            <a:ext cx="2645359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모집단 정의·정확성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752698" y="2193646"/>
            <a:ext cx="2645359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실측 Nₕ·추정 Mₕ, CV 목표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771132" y="2193646"/>
            <a:ext cx="2926994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전국 실측 접근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360274" y="2553919"/>
            <a:ext cx="9337853" cy="32095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6" name="Shape 44"/>
          <p:cNvSpPr/>
          <p:nvPr/>
        </p:nvSpPr>
        <p:spPr>
          <a:xfrm>
            <a:off x="536753" y="2606040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7" name="Text 45"/>
          <p:cNvSpPr/>
          <p:nvPr/>
        </p:nvSpPr>
        <p:spPr>
          <a:xfrm>
            <a:off x="536753" y="2606040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4030" y="2553919"/>
            <a:ext cx="2645359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조사표 적정성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3752698" y="2553919"/>
            <a:ext cx="2645359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예비조사 확정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771132" y="2553919"/>
            <a:ext cx="2926994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4개 부문·효과성 확정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360274" y="2914193"/>
            <a:ext cx="9337853" cy="32095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2" name="Shape 50"/>
          <p:cNvSpPr/>
          <p:nvPr/>
        </p:nvSpPr>
        <p:spPr>
          <a:xfrm>
            <a:off x="536753" y="2966314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3" name="Text 51"/>
          <p:cNvSpPr/>
          <p:nvPr/>
        </p:nvSpPr>
        <p:spPr>
          <a:xfrm>
            <a:off x="536753" y="2966314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4030" y="2914193"/>
            <a:ext cx="2645359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유사·중복성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3752698" y="2914193"/>
            <a:ext cx="2645359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유사·중복 통계 검토서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6771132" y="2914193"/>
            <a:ext cx="2926994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재단 DB와 성격 구분 확정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360274" y="3287268"/>
            <a:ext cx="9337853" cy="32095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8" name="Shape 56"/>
          <p:cNvSpPr/>
          <p:nvPr/>
        </p:nvSpPr>
        <p:spPr>
          <a:xfrm>
            <a:off x="536753" y="3339389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9" name="Text 57"/>
          <p:cNvSpPr/>
          <p:nvPr/>
        </p:nvSpPr>
        <p:spPr>
          <a:xfrm>
            <a:off x="536753" y="3339389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94030" y="3287268"/>
            <a:ext cx="2645359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응답률·공표계획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3752698" y="3287268"/>
            <a:ext cx="2645359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목표 회수율 확인·공표률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6771132" y="3287268"/>
            <a:ext cx="2926994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승인 공표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275234" y="3987698"/>
            <a:ext cx="4275734" cy="1984248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64" name="Shape 62"/>
          <p:cNvSpPr/>
          <p:nvPr/>
        </p:nvSpPr>
        <p:spPr>
          <a:xfrm>
            <a:off x="268834" y="3686861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5" name="Shape 63"/>
          <p:cNvSpPr/>
          <p:nvPr/>
        </p:nvSpPr>
        <p:spPr>
          <a:xfrm>
            <a:off x="4256532" y="3686861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6" name="Shape 64"/>
          <p:cNvSpPr/>
          <p:nvPr/>
        </p:nvSpPr>
        <p:spPr>
          <a:xfrm>
            <a:off x="268834" y="3686861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7" name="Shape 65"/>
          <p:cNvSpPr/>
          <p:nvPr/>
        </p:nvSpPr>
        <p:spPr>
          <a:xfrm>
            <a:off x="4256532" y="3686861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8" name="Shape 66"/>
          <p:cNvSpPr/>
          <p:nvPr/>
        </p:nvSpPr>
        <p:spPr>
          <a:xfrm>
            <a:off x="416052" y="3686861"/>
            <a:ext cx="3987698" cy="29443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69" name="Shape 67"/>
          <p:cNvSpPr/>
          <p:nvPr/>
        </p:nvSpPr>
        <p:spPr>
          <a:xfrm>
            <a:off x="268834" y="3834079"/>
            <a:ext cx="4283050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70" name="Text 68"/>
          <p:cNvSpPr/>
          <p:nvPr/>
        </p:nvSpPr>
        <p:spPr>
          <a:xfrm>
            <a:off x="268834" y="3686861"/>
            <a:ext cx="428305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자료 성격 구분</a:t>
            </a:r>
            <a:endParaRPr lang="en-US" sz="1460" dirty="0"/>
          </a:p>
        </p:txBody>
      </p:sp>
      <p:sp>
        <p:nvSpPr>
          <p:cNvPr id="71" name="Shape 69"/>
          <p:cNvSpPr/>
          <p:nvPr/>
        </p:nvSpPr>
        <p:spPr>
          <a:xfrm>
            <a:off x="458114" y="4099255"/>
            <a:ext cx="1178662" cy="661111"/>
          </a:xfrm>
          <a:prstGeom prst="rect">
            <a:avLst/>
          </a:prstGeom>
          <a:solidFill>
            <a:srgbClr val="4E4E4E"/>
          </a:solidFill>
          <a:ln/>
        </p:spPr>
      </p:sp>
      <p:sp>
        <p:nvSpPr>
          <p:cNvPr id="72" name="Text 70"/>
          <p:cNvSpPr/>
          <p:nvPr/>
        </p:nvSpPr>
        <p:spPr>
          <a:xfrm>
            <a:off x="458114" y="4099255"/>
            <a:ext cx="1178662" cy="66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재단 연동제 DB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1689811" y="4099255"/>
            <a:ext cx="2698394" cy="6611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1781251" y="4138574"/>
            <a:ext cx="2566721" cy="58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행정·신고 기반 자기선택 자료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대표추출·발송대상 선정에는 미사용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응답 검증·산출 대조에 활용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8114" y="4898441"/>
            <a:ext cx="1178662" cy="536753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76" name="Text 74"/>
          <p:cNvSpPr/>
          <p:nvPr/>
        </p:nvSpPr>
        <p:spPr>
          <a:xfrm>
            <a:off x="458114" y="4898441"/>
            <a:ext cx="1178662" cy="536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실태조사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1689811" y="4898441"/>
            <a:ext cx="2698394" cy="536753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78" name="Text 76"/>
          <p:cNvSpPr/>
          <p:nvPr/>
        </p:nvSpPr>
        <p:spPr>
          <a:xfrm>
            <a:off x="1781251" y="4937760"/>
            <a:ext cx="2566721" cy="458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SBR 확률표본</a:t>
            </a:r>
            <a:endParaRPr lang="en-US" sz="109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미도입·회피·효과성 실측</a:t>
            </a:r>
            <a:endParaRPr lang="en-US" sz="1090" dirty="0"/>
          </a:p>
        </p:txBody>
      </p:sp>
      <p:sp>
        <p:nvSpPr>
          <p:cNvPr id="79" name="Shape 77"/>
          <p:cNvSpPr/>
          <p:nvPr/>
        </p:nvSpPr>
        <p:spPr>
          <a:xfrm>
            <a:off x="425196" y="5553151"/>
            <a:ext cx="314554" cy="31455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0" name="Shape 78"/>
          <p:cNvSpPr/>
          <p:nvPr/>
        </p:nvSpPr>
        <p:spPr>
          <a:xfrm>
            <a:off x="4105656" y="5553151"/>
            <a:ext cx="314554" cy="31455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1" name="Shape 79"/>
          <p:cNvSpPr/>
          <p:nvPr/>
        </p:nvSpPr>
        <p:spPr>
          <a:xfrm>
            <a:off x="425196" y="5565953"/>
            <a:ext cx="314554" cy="31455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2" name="Shape 80"/>
          <p:cNvSpPr/>
          <p:nvPr/>
        </p:nvSpPr>
        <p:spPr>
          <a:xfrm>
            <a:off x="4105656" y="5565953"/>
            <a:ext cx="314554" cy="31455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3" name="Shape 81"/>
          <p:cNvSpPr/>
          <p:nvPr/>
        </p:nvSpPr>
        <p:spPr>
          <a:xfrm>
            <a:off x="582473" y="5553151"/>
            <a:ext cx="3680460" cy="327355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84" name="Shape 82"/>
          <p:cNvSpPr/>
          <p:nvPr/>
        </p:nvSpPr>
        <p:spPr>
          <a:xfrm>
            <a:off x="425196" y="5710428"/>
            <a:ext cx="3994099" cy="12802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85" name="Text 83"/>
          <p:cNvSpPr/>
          <p:nvPr/>
        </p:nvSpPr>
        <p:spPr>
          <a:xfrm>
            <a:off x="425196" y="5553151"/>
            <a:ext cx="3994099" cy="327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두 자료는 대체가 아니라 상호 보완 관계</a:t>
            </a:r>
            <a:endParaRPr lang="en-US" sz="1460" dirty="0"/>
          </a:p>
        </p:txBody>
      </p:sp>
      <p:sp>
        <p:nvSpPr>
          <p:cNvPr id="86" name="Shape 84"/>
          <p:cNvSpPr/>
          <p:nvPr/>
        </p:nvSpPr>
        <p:spPr>
          <a:xfrm>
            <a:off x="4734763" y="3987698"/>
            <a:ext cx="5055718" cy="1984248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7" name="Shape 85"/>
          <p:cNvSpPr/>
          <p:nvPr/>
        </p:nvSpPr>
        <p:spPr>
          <a:xfrm>
            <a:off x="4734763" y="3686861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8" name="Shape 86"/>
          <p:cNvSpPr/>
          <p:nvPr/>
        </p:nvSpPr>
        <p:spPr>
          <a:xfrm>
            <a:off x="9495130" y="3686861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9" name="Shape 87"/>
          <p:cNvSpPr/>
          <p:nvPr/>
        </p:nvSpPr>
        <p:spPr>
          <a:xfrm>
            <a:off x="4734763" y="3686861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0" name="Shape 88"/>
          <p:cNvSpPr/>
          <p:nvPr/>
        </p:nvSpPr>
        <p:spPr>
          <a:xfrm>
            <a:off x="9495130" y="3686861"/>
            <a:ext cx="294437" cy="29443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1" name="Shape 89"/>
          <p:cNvSpPr/>
          <p:nvPr/>
        </p:nvSpPr>
        <p:spPr>
          <a:xfrm>
            <a:off x="4881982" y="3686861"/>
            <a:ext cx="4760366" cy="29443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92" name="Shape 90"/>
          <p:cNvSpPr/>
          <p:nvPr/>
        </p:nvSpPr>
        <p:spPr>
          <a:xfrm>
            <a:off x="4734763" y="3834079"/>
            <a:ext cx="5055718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93" name="Text 91"/>
          <p:cNvSpPr/>
          <p:nvPr/>
        </p:nvSpPr>
        <p:spPr>
          <a:xfrm>
            <a:off x="4734763" y="3686861"/>
            <a:ext cx="5055718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2년 편입 준비</a:t>
            </a:r>
            <a:endParaRPr lang="en-US" sz="1460" dirty="0"/>
          </a:p>
        </p:txBody>
      </p:sp>
      <p:sp>
        <p:nvSpPr>
          <p:cNvPr id="94" name="Shape 92"/>
          <p:cNvSpPr/>
          <p:nvPr/>
        </p:nvSpPr>
        <p:spPr>
          <a:xfrm>
            <a:off x="4884725" y="4092854"/>
            <a:ext cx="4760366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029200" y="4177894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6" name="Text 94"/>
          <p:cNvSpPr/>
          <p:nvPr/>
        </p:nvSpPr>
        <p:spPr>
          <a:xfrm>
            <a:off x="5029200" y="4177894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5356555" y="4092854"/>
            <a:ext cx="419069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시범조사에서 방법을 표준화</a:t>
            </a:r>
            <a:endParaRPr lang="en-US" sz="1250" dirty="0"/>
          </a:p>
        </p:txBody>
      </p:sp>
      <p:sp>
        <p:nvSpPr>
          <p:cNvPr id="98" name="Shape 96"/>
          <p:cNvSpPr/>
          <p:nvPr/>
        </p:nvSpPr>
        <p:spPr>
          <a:xfrm>
            <a:off x="4884725" y="4531766"/>
            <a:ext cx="4760366" cy="340157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029200" y="4596689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0" name="Text 98"/>
          <p:cNvSpPr/>
          <p:nvPr/>
        </p:nvSpPr>
        <p:spPr>
          <a:xfrm>
            <a:off x="5029200" y="4596689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5356555" y="4531766"/>
            <a:ext cx="4190695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고도화 단계에서 전국·30개 중분류로 확장해 승인 신청</a:t>
            </a:r>
            <a:endParaRPr lang="en-US" sz="1250" dirty="0"/>
          </a:p>
        </p:txBody>
      </p:sp>
      <p:sp>
        <p:nvSpPr>
          <p:cNvPr id="102" name="Shape 100"/>
          <p:cNvSpPr/>
          <p:nvPr/>
        </p:nvSpPr>
        <p:spPr>
          <a:xfrm>
            <a:off x="4884725" y="4924044"/>
            <a:ext cx="4760366" cy="49743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029200" y="5068519"/>
            <a:ext cx="215798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4" name="Text 102"/>
          <p:cNvSpPr/>
          <p:nvPr/>
        </p:nvSpPr>
        <p:spPr>
          <a:xfrm>
            <a:off x="5029200" y="5068519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5356555" y="4924044"/>
            <a:ext cx="4190695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연간 로드맵에 RFP 6개 요소 포함: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조사대상·조사방법·모집단·표본설계·소요예산·추진일정</a:t>
            </a:r>
            <a:endParaRPr lang="en-US" sz="1250" dirty="0"/>
          </a:p>
        </p:txBody>
      </p:sp>
      <p:sp>
        <p:nvSpPr>
          <p:cNvPr id="106" name="Shape 104"/>
          <p:cNvSpPr/>
          <p:nvPr/>
        </p:nvSpPr>
        <p:spPr>
          <a:xfrm>
            <a:off x="4884725" y="5513832"/>
            <a:ext cx="4760366" cy="360274"/>
          </a:xfrm>
          <a:prstGeom prst="rect">
            <a:avLst/>
          </a:prstGeom>
          <a:solidFill>
            <a:srgbClr val="EAF0F9"/>
          </a:solidFill>
          <a:ln/>
        </p:spPr>
      </p:sp>
      <p:sp>
        <p:nvSpPr>
          <p:cNvPr id="107" name="Text 105"/>
          <p:cNvSpPr/>
          <p:nvPr/>
        </p:nvSpPr>
        <p:spPr>
          <a:xfrm>
            <a:off x="4924044" y="5513832"/>
            <a:ext cx="4681728" cy="360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국가데이터처 협의 시 시행규칙 제12조 각 호의 8종 서류를 사전 준비</a:t>
            </a:r>
            <a:endParaRPr lang="en-US" sz="1150" dirty="0"/>
          </a:p>
        </p:txBody>
      </p:sp>
      <p:sp>
        <p:nvSpPr>
          <p:cNvPr id="108" name="Shape 106"/>
          <p:cNvSpPr/>
          <p:nvPr/>
        </p:nvSpPr>
        <p:spPr>
          <a:xfrm>
            <a:off x="281635" y="6096305"/>
            <a:ext cx="9495130" cy="347472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9" name="Shape 107"/>
          <p:cNvSpPr/>
          <p:nvPr/>
        </p:nvSpPr>
        <p:spPr>
          <a:xfrm>
            <a:off x="412394" y="6181344"/>
            <a:ext cx="39319" cy="183794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10" name="Text 108"/>
          <p:cNvSpPr/>
          <p:nvPr/>
        </p:nvSpPr>
        <p:spPr>
          <a:xfrm>
            <a:off x="550469" y="6096305"/>
            <a:ext cx="9101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53576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작성 필요성</a:t>
            </a:r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DE1E8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  |   </a:t>
            </a:r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작성 필요성은 성과지표 마련 개선 요구와 정책 성과 대시보드 수요로 설명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794" y="26518"/>
            <a:ext cx="7858354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국가승인통계 심사기준 사전 대응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 flipH="1">
            <a:off x="196596" y="602590"/>
            <a:ext cx="78638" cy="202997"/>
          </a:xfrm>
          <a:prstGeom prst="parallelogram">
            <a:avLst/>
          </a:prstGeom>
          <a:solidFill>
            <a:srgbClr val="606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308153" y="602590"/>
            <a:ext cx="78638" cy="202997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5" name="Text 3"/>
          <p:cNvSpPr/>
          <p:nvPr/>
        </p:nvSpPr>
        <p:spPr>
          <a:xfrm>
            <a:off x="445313" y="576072"/>
            <a:ext cx="58933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승인 심사표 기준을 설계에 내재화</a:t>
            </a:r>
            <a:endParaRPr lang="en-US" sz="1610" dirty="0"/>
          </a:p>
        </p:txBody>
      </p:sp>
      <p:sp>
        <p:nvSpPr>
          <p:cNvPr id="6" name="Shape 4"/>
          <p:cNvSpPr/>
          <p:nvPr/>
        </p:nvSpPr>
        <p:spPr>
          <a:xfrm>
            <a:off x="405994" y="929945"/>
            <a:ext cx="26518" cy="497434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7" name="Shape 5"/>
          <p:cNvSpPr/>
          <p:nvPr/>
        </p:nvSpPr>
        <p:spPr>
          <a:xfrm>
            <a:off x="405994" y="929945"/>
            <a:ext cx="138989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405994" y="1401775"/>
            <a:ext cx="138989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9639605" y="929945"/>
            <a:ext cx="26518" cy="497434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9526219" y="929945"/>
            <a:ext cx="138989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Shape 9"/>
          <p:cNvSpPr/>
          <p:nvPr/>
        </p:nvSpPr>
        <p:spPr>
          <a:xfrm>
            <a:off x="9526219" y="1401775"/>
            <a:ext cx="138989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" name="Text 10"/>
          <p:cNvSpPr/>
          <p:nvPr/>
        </p:nvSpPr>
        <p:spPr>
          <a:xfrm>
            <a:off x="602590" y="942746"/>
            <a:ext cx="393192" cy="29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265" dirty="0"/>
          </a:p>
        </p:txBody>
      </p:sp>
      <p:sp>
        <p:nvSpPr>
          <p:cNvPr id="13" name="Text 11"/>
          <p:cNvSpPr/>
          <p:nvPr/>
        </p:nvSpPr>
        <p:spPr>
          <a:xfrm>
            <a:off x="9076334" y="942746"/>
            <a:ext cx="393192" cy="29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265" dirty="0"/>
          </a:p>
        </p:txBody>
      </p:sp>
      <p:sp>
        <p:nvSpPr>
          <p:cNvPr id="14" name="Text 12"/>
          <p:cNvSpPr/>
          <p:nvPr/>
        </p:nvSpPr>
        <p:spPr>
          <a:xfrm>
            <a:off x="982066" y="929945"/>
            <a:ext cx="810707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「통계승인업무 처리지침」 승인 심사기준(별표)에 본 조사 설계를 미리 맞춰 편입 리스크를 줄임</a:t>
            </a:r>
            <a:endParaRPr lang="en-US" sz="1510" dirty="0"/>
          </a:p>
        </p:txBody>
      </p:sp>
      <p:sp>
        <p:nvSpPr>
          <p:cNvPr id="15" name="Shape 13"/>
          <p:cNvSpPr/>
          <p:nvPr/>
        </p:nvSpPr>
        <p:spPr>
          <a:xfrm>
            <a:off x="261518" y="1551737"/>
            <a:ext cx="261518" cy="2615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6" name="Shape 14"/>
          <p:cNvSpPr/>
          <p:nvPr/>
        </p:nvSpPr>
        <p:spPr>
          <a:xfrm>
            <a:off x="9528048" y="1551737"/>
            <a:ext cx="261518" cy="2615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7" name="Shape 15"/>
          <p:cNvSpPr/>
          <p:nvPr/>
        </p:nvSpPr>
        <p:spPr>
          <a:xfrm>
            <a:off x="261518" y="1551737"/>
            <a:ext cx="261518" cy="2615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8" name="Shape 16"/>
          <p:cNvSpPr/>
          <p:nvPr/>
        </p:nvSpPr>
        <p:spPr>
          <a:xfrm>
            <a:off x="9528048" y="1551737"/>
            <a:ext cx="261518" cy="2615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192" y="1551737"/>
            <a:ext cx="9265615" cy="26151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0" name="Shape 18"/>
          <p:cNvSpPr/>
          <p:nvPr/>
        </p:nvSpPr>
        <p:spPr>
          <a:xfrm>
            <a:off x="261518" y="1682496"/>
            <a:ext cx="9528048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1" name="Text 19"/>
          <p:cNvSpPr/>
          <p:nvPr/>
        </p:nvSpPr>
        <p:spPr>
          <a:xfrm>
            <a:off x="261518" y="1551737"/>
            <a:ext cx="9528048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4대 심사기준 대응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1518" y="1866290"/>
            <a:ext cx="9528048" cy="2999232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340157" y="2075688"/>
            <a:ext cx="353873" cy="393192"/>
          </a:xfrm>
          <a:prstGeom prst="diamond">
            <a:avLst/>
          </a:prstGeom>
          <a:solidFill>
            <a:srgbClr val="052A77"/>
          </a:solidFill>
          <a:ln/>
        </p:spPr>
      </p:sp>
      <p:sp>
        <p:nvSpPr>
          <p:cNvPr id="24" name="Text 22"/>
          <p:cNvSpPr/>
          <p:nvPr/>
        </p:nvSpPr>
        <p:spPr>
          <a:xfrm>
            <a:off x="340157" y="2075688"/>
            <a:ext cx="35387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8388" y="1951330"/>
            <a:ext cx="1741932" cy="641909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6" name="Text 24"/>
          <p:cNvSpPr/>
          <p:nvPr/>
        </p:nvSpPr>
        <p:spPr>
          <a:xfrm>
            <a:off x="844906" y="1951330"/>
            <a:ext cx="1689811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유사·중복성(별표1)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91079" y="1951330"/>
            <a:ext cx="2684678" cy="641909"/>
          </a:xfrm>
          <a:prstGeom prst="rect">
            <a:avLst/>
          </a:prstGeom>
          <a:solidFill>
            <a:srgbClr val="EFF1F4"/>
          </a:solidFill>
          <a:ln/>
        </p:spPr>
      </p:sp>
      <p:sp>
        <p:nvSpPr>
          <p:cNvPr id="28" name="Shape 26"/>
          <p:cNvSpPr/>
          <p:nvPr/>
        </p:nvSpPr>
        <p:spPr>
          <a:xfrm>
            <a:off x="3438144" y="1951330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439412" y="1951330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30" name="Shape 28"/>
          <p:cNvSpPr/>
          <p:nvPr/>
        </p:nvSpPr>
        <p:spPr>
          <a:xfrm>
            <a:off x="3438144" y="1951330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439412" y="1951330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32" name="Shape 30"/>
          <p:cNvSpPr/>
          <p:nvPr/>
        </p:nvSpPr>
        <p:spPr>
          <a:xfrm>
            <a:off x="3533242" y="1951330"/>
            <a:ext cx="1002182" cy="190195"/>
          </a:xfrm>
          <a:prstGeom prst="rect">
            <a:avLst/>
          </a:prstGeom>
          <a:solidFill>
            <a:srgbClr val="DCDFE5"/>
          </a:solidFill>
          <a:ln/>
        </p:spPr>
      </p:sp>
      <p:sp>
        <p:nvSpPr>
          <p:cNvPr id="33" name="Shape 31"/>
          <p:cNvSpPr/>
          <p:nvPr/>
        </p:nvSpPr>
        <p:spPr>
          <a:xfrm>
            <a:off x="3438144" y="2046427"/>
            <a:ext cx="1191463" cy="0"/>
          </a:xfrm>
          <a:prstGeom prst="rect">
            <a:avLst/>
          </a:prstGeom>
          <a:solidFill>
            <a:srgbClr val="DCDFE5"/>
          </a:solidFill>
          <a:ln/>
        </p:spPr>
      </p:sp>
      <p:sp>
        <p:nvSpPr>
          <p:cNvPr id="34" name="Text 32"/>
          <p:cNvSpPr/>
          <p:nvPr/>
        </p:nvSpPr>
        <p:spPr>
          <a:xfrm>
            <a:off x="3438144" y="1951330"/>
            <a:ext cx="119146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지침 요구사항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4114" y="2160727"/>
            <a:ext cx="258043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작성목적·포괄범위·분류기준·작성주기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및 조사항목 종합 검토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 rot="5400000">
            <a:off x="5487314" y="2180844"/>
            <a:ext cx="157277" cy="183794"/>
          </a:xfrm>
          <a:prstGeom prst="triangle">
            <a:avLst/>
          </a:prstGeom>
          <a:solidFill>
            <a:srgbClr val="052A77"/>
          </a:solidFill>
          <a:ln/>
        </p:spPr>
      </p:sp>
      <p:sp>
        <p:nvSpPr>
          <p:cNvPr id="37" name="Shape 35"/>
          <p:cNvSpPr/>
          <p:nvPr/>
        </p:nvSpPr>
        <p:spPr>
          <a:xfrm>
            <a:off x="5756148" y="1951330"/>
            <a:ext cx="4014216" cy="64190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26250" y="1951330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9" name="Shape 37"/>
          <p:cNvSpPr/>
          <p:nvPr/>
        </p:nvSpPr>
        <p:spPr>
          <a:xfrm>
            <a:off x="8310067" y="1951330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0" name="Shape 38"/>
          <p:cNvSpPr/>
          <p:nvPr/>
        </p:nvSpPr>
        <p:spPr>
          <a:xfrm>
            <a:off x="7026250" y="1951330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1" name="Shape 39"/>
          <p:cNvSpPr/>
          <p:nvPr/>
        </p:nvSpPr>
        <p:spPr>
          <a:xfrm>
            <a:off x="8310067" y="1951330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2" name="Shape 40"/>
          <p:cNvSpPr/>
          <p:nvPr/>
        </p:nvSpPr>
        <p:spPr>
          <a:xfrm>
            <a:off x="7121347" y="1951330"/>
            <a:ext cx="1283818" cy="190195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3" name="Shape 41"/>
          <p:cNvSpPr/>
          <p:nvPr/>
        </p:nvSpPr>
        <p:spPr>
          <a:xfrm>
            <a:off x="7026250" y="2046427"/>
            <a:ext cx="1473098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4" name="Text 42"/>
          <p:cNvSpPr/>
          <p:nvPr/>
        </p:nvSpPr>
        <p:spPr>
          <a:xfrm>
            <a:off x="7026250" y="1951330"/>
            <a:ext cx="14730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사전 대응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08269" y="2160727"/>
            <a:ext cx="39090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비교 대상은 수탁·위탁거래 정기 실태조사와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중소기업실태조사 2종</a:t>
            </a:r>
            <a:endParaRPr lang="en-US" sz="1090" dirty="0"/>
          </a:p>
        </p:txBody>
      </p:sp>
      <p:sp>
        <p:nvSpPr>
          <p:cNvPr id="46" name="Shape 44"/>
          <p:cNvSpPr/>
          <p:nvPr/>
        </p:nvSpPr>
        <p:spPr>
          <a:xfrm>
            <a:off x="340157" y="2831897"/>
            <a:ext cx="353873" cy="393192"/>
          </a:xfrm>
          <a:prstGeom prst="diamond">
            <a:avLst/>
          </a:prstGeom>
          <a:solidFill>
            <a:srgbClr val="052A77"/>
          </a:solidFill>
          <a:ln/>
        </p:spPr>
      </p:sp>
      <p:sp>
        <p:nvSpPr>
          <p:cNvPr id="47" name="Text 45"/>
          <p:cNvSpPr/>
          <p:nvPr/>
        </p:nvSpPr>
        <p:spPr>
          <a:xfrm>
            <a:off x="340157" y="2831897"/>
            <a:ext cx="35387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18388" y="2704795"/>
            <a:ext cx="1741932" cy="64831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49" name="Text 47"/>
          <p:cNvSpPr/>
          <p:nvPr/>
        </p:nvSpPr>
        <p:spPr>
          <a:xfrm>
            <a:off x="844906" y="2704795"/>
            <a:ext cx="168981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표본설계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691079" y="2704795"/>
            <a:ext cx="2684678" cy="648310"/>
          </a:xfrm>
          <a:prstGeom prst="rect">
            <a:avLst/>
          </a:prstGeom>
          <a:solidFill>
            <a:srgbClr val="EFF1F4"/>
          </a:solidFill>
          <a:ln/>
        </p:spPr>
      </p:sp>
      <p:sp>
        <p:nvSpPr>
          <p:cNvPr id="51" name="Shape 49"/>
          <p:cNvSpPr/>
          <p:nvPr/>
        </p:nvSpPr>
        <p:spPr>
          <a:xfrm>
            <a:off x="3438144" y="2704795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52" name="Shape 50"/>
          <p:cNvSpPr/>
          <p:nvPr/>
        </p:nvSpPr>
        <p:spPr>
          <a:xfrm>
            <a:off x="4439412" y="2704795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53" name="Shape 51"/>
          <p:cNvSpPr/>
          <p:nvPr/>
        </p:nvSpPr>
        <p:spPr>
          <a:xfrm>
            <a:off x="3438144" y="2704795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54" name="Shape 52"/>
          <p:cNvSpPr/>
          <p:nvPr/>
        </p:nvSpPr>
        <p:spPr>
          <a:xfrm>
            <a:off x="4439412" y="2704795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55" name="Shape 53"/>
          <p:cNvSpPr/>
          <p:nvPr/>
        </p:nvSpPr>
        <p:spPr>
          <a:xfrm>
            <a:off x="3533242" y="2704795"/>
            <a:ext cx="1002182" cy="190195"/>
          </a:xfrm>
          <a:prstGeom prst="rect">
            <a:avLst/>
          </a:prstGeom>
          <a:solidFill>
            <a:srgbClr val="DCDFE5"/>
          </a:solidFill>
          <a:ln/>
        </p:spPr>
      </p:sp>
      <p:sp>
        <p:nvSpPr>
          <p:cNvPr id="56" name="Shape 54"/>
          <p:cNvSpPr/>
          <p:nvPr/>
        </p:nvSpPr>
        <p:spPr>
          <a:xfrm>
            <a:off x="3438144" y="2799893"/>
            <a:ext cx="1191463" cy="0"/>
          </a:xfrm>
          <a:prstGeom prst="rect">
            <a:avLst/>
          </a:prstGeom>
          <a:solidFill>
            <a:srgbClr val="DCDFE5"/>
          </a:solidFill>
          <a:ln/>
        </p:spPr>
      </p:sp>
      <p:sp>
        <p:nvSpPr>
          <p:cNvPr id="57" name="Text 55"/>
          <p:cNvSpPr/>
          <p:nvPr/>
        </p:nvSpPr>
        <p:spPr>
          <a:xfrm>
            <a:off x="3438144" y="2704795"/>
            <a:ext cx="119146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지침 요구사항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4114" y="2914193"/>
            <a:ext cx="2580437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모집단·추출틀 정확, 목표오차,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확률추출, 가중·추정식</a:t>
            </a:r>
            <a:endParaRPr lang="en-US" sz="1090" dirty="0"/>
          </a:p>
        </p:txBody>
      </p:sp>
      <p:sp>
        <p:nvSpPr>
          <p:cNvPr id="59" name="Shape 57"/>
          <p:cNvSpPr/>
          <p:nvPr/>
        </p:nvSpPr>
        <p:spPr>
          <a:xfrm rot="5400000">
            <a:off x="5487314" y="2937053"/>
            <a:ext cx="157277" cy="183794"/>
          </a:xfrm>
          <a:prstGeom prst="triangle">
            <a:avLst/>
          </a:prstGeom>
          <a:solidFill>
            <a:srgbClr val="052A77"/>
          </a:solidFill>
          <a:ln/>
        </p:spPr>
      </p:sp>
      <p:sp>
        <p:nvSpPr>
          <p:cNvPr id="60" name="Shape 58"/>
          <p:cNvSpPr/>
          <p:nvPr/>
        </p:nvSpPr>
        <p:spPr>
          <a:xfrm>
            <a:off x="5756148" y="2704795"/>
            <a:ext cx="4014216" cy="64831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26250" y="2704795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2" name="Shape 60"/>
          <p:cNvSpPr/>
          <p:nvPr/>
        </p:nvSpPr>
        <p:spPr>
          <a:xfrm>
            <a:off x="8310067" y="2704795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3" name="Shape 61"/>
          <p:cNvSpPr/>
          <p:nvPr/>
        </p:nvSpPr>
        <p:spPr>
          <a:xfrm>
            <a:off x="7026250" y="2704795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4" name="Shape 62"/>
          <p:cNvSpPr/>
          <p:nvPr/>
        </p:nvSpPr>
        <p:spPr>
          <a:xfrm>
            <a:off x="8310067" y="2704795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5" name="Shape 63"/>
          <p:cNvSpPr/>
          <p:nvPr/>
        </p:nvSpPr>
        <p:spPr>
          <a:xfrm>
            <a:off x="7121347" y="2704795"/>
            <a:ext cx="1283818" cy="190195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66" name="Shape 64"/>
          <p:cNvSpPr/>
          <p:nvPr/>
        </p:nvSpPr>
        <p:spPr>
          <a:xfrm>
            <a:off x="7026250" y="2799893"/>
            <a:ext cx="1473098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67" name="Text 65"/>
          <p:cNvSpPr/>
          <p:nvPr/>
        </p:nvSpPr>
        <p:spPr>
          <a:xfrm>
            <a:off x="7026250" y="2704795"/>
            <a:ext cx="14730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사전 대응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808269" y="2914193"/>
            <a:ext cx="390906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SBR 392,054 추출틀·제외대상 명확 /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층별 멱배분(착수 시 확정) / 확률표본 / 가중값·추정식 명시</a:t>
            </a:r>
            <a:endParaRPr lang="en-US" sz="1090" dirty="0"/>
          </a:p>
        </p:txBody>
      </p:sp>
      <p:sp>
        <p:nvSpPr>
          <p:cNvPr id="69" name="Shape 67"/>
          <p:cNvSpPr/>
          <p:nvPr/>
        </p:nvSpPr>
        <p:spPr>
          <a:xfrm>
            <a:off x="340157" y="3572561"/>
            <a:ext cx="353873" cy="393192"/>
          </a:xfrm>
          <a:prstGeom prst="diamond">
            <a:avLst/>
          </a:prstGeom>
          <a:solidFill>
            <a:srgbClr val="052A77"/>
          </a:solidFill>
          <a:ln/>
        </p:spPr>
      </p:sp>
      <p:sp>
        <p:nvSpPr>
          <p:cNvPr id="70" name="Text 68"/>
          <p:cNvSpPr/>
          <p:nvPr/>
        </p:nvSpPr>
        <p:spPr>
          <a:xfrm>
            <a:off x="340157" y="3572561"/>
            <a:ext cx="35387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818388" y="3463747"/>
            <a:ext cx="1741932" cy="60899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72" name="Text 70"/>
          <p:cNvSpPr/>
          <p:nvPr/>
        </p:nvSpPr>
        <p:spPr>
          <a:xfrm>
            <a:off x="844906" y="3463747"/>
            <a:ext cx="1689811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공표 표본 충분성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2691079" y="3463747"/>
            <a:ext cx="2684678" cy="608990"/>
          </a:xfrm>
          <a:prstGeom prst="rect">
            <a:avLst/>
          </a:prstGeom>
          <a:solidFill>
            <a:srgbClr val="EFF1F4"/>
          </a:solidFill>
          <a:ln/>
        </p:spPr>
      </p:sp>
      <p:sp>
        <p:nvSpPr>
          <p:cNvPr id="74" name="Shape 72"/>
          <p:cNvSpPr/>
          <p:nvPr/>
        </p:nvSpPr>
        <p:spPr>
          <a:xfrm>
            <a:off x="3438144" y="3463747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75" name="Shape 73"/>
          <p:cNvSpPr/>
          <p:nvPr/>
        </p:nvSpPr>
        <p:spPr>
          <a:xfrm>
            <a:off x="4439412" y="3463747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76" name="Shape 74"/>
          <p:cNvSpPr/>
          <p:nvPr/>
        </p:nvSpPr>
        <p:spPr>
          <a:xfrm>
            <a:off x="3438144" y="3463747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77" name="Shape 75"/>
          <p:cNvSpPr/>
          <p:nvPr/>
        </p:nvSpPr>
        <p:spPr>
          <a:xfrm>
            <a:off x="4439412" y="3463747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78" name="Shape 76"/>
          <p:cNvSpPr/>
          <p:nvPr/>
        </p:nvSpPr>
        <p:spPr>
          <a:xfrm>
            <a:off x="3533242" y="3463747"/>
            <a:ext cx="1002182" cy="190195"/>
          </a:xfrm>
          <a:prstGeom prst="rect">
            <a:avLst/>
          </a:prstGeom>
          <a:solidFill>
            <a:srgbClr val="DCDFE5"/>
          </a:solidFill>
          <a:ln/>
        </p:spPr>
      </p:sp>
      <p:sp>
        <p:nvSpPr>
          <p:cNvPr id="79" name="Shape 77"/>
          <p:cNvSpPr/>
          <p:nvPr/>
        </p:nvSpPr>
        <p:spPr>
          <a:xfrm>
            <a:off x="3438144" y="3558845"/>
            <a:ext cx="1191463" cy="0"/>
          </a:xfrm>
          <a:prstGeom prst="rect">
            <a:avLst/>
          </a:prstGeom>
          <a:solidFill>
            <a:srgbClr val="DCDFE5"/>
          </a:solidFill>
          <a:ln/>
        </p:spPr>
      </p:sp>
      <p:sp>
        <p:nvSpPr>
          <p:cNvPr id="80" name="Text 78"/>
          <p:cNvSpPr/>
          <p:nvPr/>
        </p:nvSpPr>
        <p:spPr>
          <a:xfrm>
            <a:off x="3438144" y="3463747"/>
            <a:ext cx="119146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지침 요구사항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2744114" y="3674059"/>
            <a:ext cx="2580437" cy="360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세분 통계표 셀별 응답표본 확보</a:t>
            </a:r>
            <a:endParaRPr lang="en-US" sz="1090" dirty="0"/>
          </a:p>
        </p:txBody>
      </p:sp>
      <p:sp>
        <p:nvSpPr>
          <p:cNvPr id="82" name="Shape 80"/>
          <p:cNvSpPr/>
          <p:nvPr/>
        </p:nvSpPr>
        <p:spPr>
          <a:xfrm rot="5400000">
            <a:off x="5487314" y="3676802"/>
            <a:ext cx="157277" cy="183794"/>
          </a:xfrm>
          <a:prstGeom prst="triangle">
            <a:avLst/>
          </a:prstGeom>
          <a:solidFill>
            <a:srgbClr val="052A77"/>
          </a:solidFill>
          <a:ln/>
        </p:spPr>
      </p:sp>
      <p:sp>
        <p:nvSpPr>
          <p:cNvPr id="83" name="Shape 81"/>
          <p:cNvSpPr/>
          <p:nvPr/>
        </p:nvSpPr>
        <p:spPr>
          <a:xfrm>
            <a:off x="5756148" y="3463747"/>
            <a:ext cx="4014216" cy="60899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26250" y="3463747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5" name="Shape 83"/>
          <p:cNvSpPr/>
          <p:nvPr/>
        </p:nvSpPr>
        <p:spPr>
          <a:xfrm>
            <a:off x="8310067" y="3463747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6" name="Shape 84"/>
          <p:cNvSpPr/>
          <p:nvPr/>
        </p:nvSpPr>
        <p:spPr>
          <a:xfrm>
            <a:off x="7026250" y="3463747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7" name="Shape 85"/>
          <p:cNvSpPr/>
          <p:nvPr/>
        </p:nvSpPr>
        <p:spPr>
          <a:xfrm>
            <a:off x="8310067" y="3463747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8" name="Shape 86"/>
          <p:cNvSpPr/>
          <p:nvPr/>
        </p:nvSpPr>
        <p:spPr>
          <a:xfrm>
            <a:off x="7121347" y="3463747"/>
            <a:ext cx="1283818" cy="190195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89" name="Shape 87"/>
          <p:cNvSpPr/>
          <p:nvPr/>
        </p:nvSpPr>
        <p:spPr>
          <a:xfrm>
            <a:off x="7026250" y="3558845"/>
            <a:ext cx="1473098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90" name="Text 88"/>
          <p:cNvSpPr/>
          <p:nvPr/>
        </p:nvSpPr>
        <p:spPr>
          <a:xfrm>
            <a:off x="7026250" y="3463747"/>
            <a:ext cx="14730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사전 대응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808269" y="3674059"/>
            <a:ext cx="3909060" cy="360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설계 하한 셀당 30개사, 공표 하한 분모 30개사 /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미달 셀은 사전 확정 병합표에 따라 인접 층 통합</a:t>
            </a:r>
            <a:endParaRPr lang="en-US" sz="1090" dirty="0"/>
          </a:p>
        </p:txBody>
      </p:sp>
      <p:sp>
        <p:nvSpPr>
          <p:cNvPr id="92" name="Shape 90"/>
          <p:cNvSpPr/>
          <p:nvPr/>
        </p:nvSpPr>
        <p:spPr>
          <a:xfrm>
            <a:off x="340157" y="4308653"/>
            <a:ext cx="353873" cy="393192"/>
          </a:xfrm>
          <a:prstGeom prst="diamond">
            <a:avLst/>
          </a:prstGeom>
          <a:solidFill>
            <a:srgbClr val="052A77"/>
          </a:solidFill>
          <a:ln/>
        </p:spPr>
      </p:sp>
      <p:sp>
        <p:nvSpPr>
          <p:cNvPr id="93" name="Text 91"/>
          <p:cNvSpPr/>
          <p:nvPr/>
        </p:nvSpPr>
        <p:spPr>
          <a:xfrm>
            <a:off x="340157" y="4308653"/>
            <a:ext cx="35387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250" dirty="0"/>
          </a:p>
        </p:txBody>
      </p:sp>
      <p:sp>
        <p:nvSpPr>
          <p:cNvPr id="94" name="Shape 92"/>
          <p:cNvSpPr/>
          <p:nvPr/>
        </p:nvSpPr>
        <p:spPr>
          <a:xfrm>
            <a:off x="818388" y="4197096"/>
            <a:ext cx="1741932" cy="615391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95" name="Text 93"/>
          <p:cNvSpPr/>
          <p:nvPr/>
        </p:nvSpPr>
        <p:spPr>
          <a:xfrm>
            <a:off x="844906" y="4197096"/>
            <a:ext cx="1689811" cy="615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행정자료 활용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2691079" y="4197096"/>
            <a:ext cx="2684678" cy="615391"/>
          </a:xfrm>
          <a:prstGeom prst="rect">
            <a:avLst/>
          </a:prstGeom>
          <a:solidFill>
            <a:srgbClr val="EFF1F4"/>
          </a:solidFill>
          <a:ln/>
        </p:spPr>
      </p:sp>
      <p:sp>
        <p:nvSpPr>
          <p:cNvPr id="97" name="Shape 95"/>
          <p:cNvSpPr/>
          <p:nvPr/>
        </p:nvSpPr>
        <p:spPr>
          <a:xfrm>
            <a:off x="3438144" y="4197096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98" name="Shape 96"/>
          <p:cNvSpPr/>
          <p:nvPr/>
        </p:nvSpPr>
        <p:spPr>
          <a:xfrm>
            <a:off x="4439412" y="4197096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99" name="Shape 97"/>
          <p:cNvSpPr/>
          <p:nvPr/>
        </p:nvSpPr>
        <p:spPr>
          <a:xfrm>
            <a:off x="3438144" y="4197096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100" name="Shape 98"/>
          <p:cNvSpPr/>
          <p:nvPr/>
        </p:nvSpPr>
        <p:spPr>
          <a:xfrm>
            <a:off x="4439412" y="4197096"/>
            <a:ext cx="190195" cy="190195"/>
          </a:xfrm>
          <a:prstGeom prst="ellipse">
            <a:avLst/>
          </a:prstGeom>
          <a:solidFill>
            <a:srgbClr val="DCDFE5"/>
          </a:solidFill>
          <a:ln/>
        </p:spPr>
      </p:sp>
      <p:sp>
        <p:nvSpPr>
          <p:cNvPr id="101" name="Shape 99"/>
          <p:cNvSpPr/>
          <p:nvPr/>
        </p:nvSpPr>
        <p:spPr>
          <a:xfrm>
            <a:off x="3533242" y="4197096"/>
            <a:ext cx="1002182" cy="190195"/>
          </a:xfrm>
          <a:prstGeom prst="rect">
            <a:avLst/>
          </a:prstGeom>
          <a:solidFill>
            <a:srgbClr val="DCDFE5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438144" y="4292194"/>
            <a:ext cx="1191463" cy="0"/>
          </a:xfrm>
          <a:prstGeom prst="rect">
            <a:avLst/>
          </a:prstGeom>
          <a:solidFill>
            <a:srgbClr val="DCDFE5"/>
          </a:solidFill>
          <a:ln/>
        </p:spPr>
      </p:sp>
      <p:sp>
        <p:nvSpPr>
          <p:cNvPr id="103" name="Text 101"/>
          <p:cNvSpPr/>
          <p:nvPr/>
        </p:nvSpPr>
        <p:spPr>
          <a:xfrm>
            <a:off x="3438144" y="4197096"/>
            <a:ext cx="119146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지침 요구사항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2744114" y="4407408"/>
            <a:ext cx="2580437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모집단 활용·조사항목 검증 3구분·추진일정</a:t>
            </a:r>
            <a:endParaRPr lang="en-US" sz="1030" dirty="0"/>
          </a:p>
        </p:txBody>
      </p:sp>
      <p:sp>
        <p:nvSpPr>
          <p:cNvPr id="105" name="Shape 103"/>
          <p:cNvSpPr/>
          <p:nvPr/>
        </p:nvSpPr>
        <p:spPr>
          <a:xfrm rot="5400000">
            <a:off x="5487314" y="4413809"/>
            <a:ext cx="157277" cy="183794"/>
          </a:xfrm>
          <a:prstGeom prst="triangle">
            <a:avLst/>
          </a:prstGeom>
          <a:solidFill>
            <a:srgbClr val="052A77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756148" y="4197096"/>
            <a:ext cx="4014216" cy="615391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026250" y="4197096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310067" y="4197096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026250" y="4197096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310067" y="4197096"/>
            <a:ext cx="190195" cy="190195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121347" y="4197096"/>
            <a:ext cx="1283818" cy="190195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7026250" y="4292194"/>
            <a:ext cx="1473098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13" name="Text 111"/>
          <p:cNvSpPr/>
          <p:nvPr/>
        </p:nvSpPr>
        <p:spPr>
          <a:xfrm>
            <a:off x="7026250" y="4197096"/>
            <a:ext cx="14730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사전 대응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5808269" y="4407408"/>
            <a:ext cx="3909060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SBR은 모집단 구축, 재단 DB는 응답 검증 전용으로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구분 활용하고 단계별 일정 제시</a:t>
            </a:r>
            <a:endParaRPr lang="en-US" sz="1090" dirty="0"/>
          </a:p>
        </p:txBody>
      </p:sp>
      <p:sp>
        <p:nvSpPr>
          <p:cNvPr id="115" name="Shape 113"/>
          <p:cNvSpPr/>
          <p:nvPr/>
        </p:nvSpPr>
        <p:spPr>
          <a:xfrm>
            <a:off x="333756" y="4977079"/>
            <a:ext cx="9397289" cy="1145743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91033" y="5062118"/>
            <a:ext cx="268834" cy="26883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656893" y="5062118"/>
            <a:ext cx="268834" cy="26883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91033" y="5062118"/>
            <a:ext cx="268834" cy="26883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656893" y="5062118"/>
            <a:ext cx="268834" cy="26883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625450" y="5062118"/>
            <a:ext cx="1165860" cy="268834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91033" y="5196535"/>
            <a:ext cx="1433779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22" name="Text 120"/>
          <p:cNvSpPr/>
          <p:nvPr/>
        </p:nvSpPr>
        <p:spPr>
          <a:xfrm>
            <a:off x="491033" y="5062118"/>
            <a:ext cx="1433779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승인 신청 준비</a:t>
            </a:r>
            <a:endParaRPr lang="en-US" sz="1250" dirty="0"/>
          </a:p>
        </p:txBody>
      </p:sp>
      <p:sp>
        <p:nvSpPr>
          <p:cNvPr id="123" name="Shape 121"/>
          <p:cNvSpPr/>
          <p:nvPr/>
        </p:nvSpPr>
        <p:spPr>
          <a:xfrm>
            <a:off x="511150" y="5422392"/>
            <a:ext cx="209398" cy="2093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4" name="Text 122"/>
          <p:cNvSpPr/>
          <p:nvPr/>
        </p:nvSpPr>
        <p:spPr>
          <a:xfrm>
            <a:off x="511150" y="5422392"/>
            <a:ext cx="2093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5357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511150" y="5422392"/>
            <a:ext cx="209398" cy="209398"/>
          </a:xfrm>
          <a:prstGeom prst="ellipse">
            <a:avLst/>
          </a:prstGeom>
          <a:ln w="12700">
            <a:solidFill>
              <a:srgbClr val="05357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11987" y="5422392"/>
            <a:ext cx="870966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시범조사 단계부터 승인 심사표 기준을 설계에 내재화해 내년 승인신청 시 재작업 없이 편입</a:t>
            </a:r>
            <a:endParaRPr lang="en-US" sz="1150" dirty="0"/>
          </a:p>
        </p:txBody>
      </p:sp>
      <p:sp>
        <p:nvSpPr>
          <p:cNvPr id="127" name="Shape 125"/>
          <p:cNvSpPr/>
          <p:nvPr/>
        </p:nvSpPr>
        <p:spPr>
          <a:xfrm>
            <a:off x="811987" y="5696712"/>
            <a:ext cx="8709660" cy="10058"/>
          </a:xfrm>
          <a:prstGeom prst="rect">
            <a:avLst/>
          </a:prstGeom>
          <a:solidFill>
            <a:srgbClr val="E6E9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511150" y="5762549"/>
            <a:ext cx="209398" cy="2093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9" name="Text 127"/>
          <p:cNvSpPr/>
          <p:nvPr/>
        </p:nvSpPr>
        <p:spPr>
          <a:xfrm>
            <a:off x="511150" y="5762549"/>
            <a:ext cx="2093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5357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511150" y="5762549"/>
            <a:ext cx="209398" cy="209398"/>
          </a:xfrm>
          <a:prstGeom prst="ellipse">
            <a:avLst/>
          </a:prstGeom>
          <a:ln w="12700">
            <a:solidFill>
              <a:srgbClr val="05357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11987" y="5762549"/>
            <a:ext cx="870966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승인신청 첨부서류(시행규칙 제12조 각 호)와 소요예산 산정서를 국가데이터처 협의용으로 사전 작성·지원</a:t>
            </a:r>
            <a:endParaRPr lang="en-US" sz="1150" dirty="0"/>
          </a:p>
        </p:txBody>
      </p:sp>
      <p:sp>
        <p:nvSpPr>
          <p:cNvPr id="132" name="Text 130"/>
          <p:cNvSpPr/>
          <p:nvPr/>
        </p:nvSpPr>
        <p:spPr>
          <a:xfrm>
            <a:off x="491033" y="6155741"/>
            <a:ext cx="949513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출처: 「통계승인업무 처리지침」(통계청예규 제295호, 2025.4.1. 시행) — 별표 세부 기준은 승인 협의 시 확인</a:t>
            </a:r>
            <a:endParaRPr lang="en-US" sz="10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596" y="97841"/>
            <a:ext cx="4583887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2026 </a:t>
            </a:r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납품대금 연동제 실태조사 제안서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3794" y="288036"/>
            <a:ext cx="720364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유사·중복통계 비교와 차별성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 flipH="1">
            <a:off x="183794" y="897026"/>
            <a:ext cx="78638" cy="196596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5" name="Text 3"/>
          <p:cNvSpPr/>
          <p:nvPr/>
        </p:nvSpPr>
        <p:spPr>
          <a:xfrm>
            <a:off x="366674" y="870509"/>
            <a:ext cx="58933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문항 단위 대조로 중복률 산출</a:t>
            </a:r>
            <a:endParaRPr lang="en-US" sz="1460" dirty="0"/>
          </a:p>
        </p:txBody>
      </p:sp>
      <p:sp>
        <p:nvSpPr>
          <p:cNvPr id="6" name="Shape 4"/>
          <p:cNvSpPr/>
          <p:nvPr/>
        </p:nvSpPr>
        <p:spPr>
          <a:xfrm>
            <a:off x="275234" y="1073506"/>
            <a:ext cx="26518" cy="53675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7" name="Shape 5"/>
          <p:cNvSpPr/>
          <p:nvPr/>
        </p:nvSpPr>
        <p:spPr>
          <a:xfrm>
            <a:off x="275234" y="1073506"/>
            <a:ext cx="149962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275234" y="1584655"/>
            <a:ext cx="149962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9783166" y="1073506"/>
            <a:ext cx="26518" cy="53675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9658807" y="1073506"/>
            <a:ext cx="149962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Shape 9"/>
          <p:cNvSpPr/>
          <p:nvPr/>
        </p:nvSpPr>
        <p:spPr>
          <a:xfrm>
            <a:off x="9658807" y="1584655"/>
            <a:ext cx="149962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" name="Text 10"/>
          <p:cNvSpPr/>
          <p:nvPr/>
        </p:nvSpPr>
        <p:spPr>
          <a:xfrm>
            <a:off x="471830" y="1087222"/>
            <a:ext cx="39319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265" dirty="0"/>
          </a:p>
        </p:txBody>
      </p:sp>
      <p:sp>
        <p:nvSpPr>
          <p:cNvPr id="13" name="Text 11"/>
          <p:cNvSpPr/>
          <p:nvPr/>
        </p:nvSpPr>
        <p:spPr>
          <a:xfrm>
            <a:off x="9219895" y="1087222"/>
            <a:ext cx="39319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265" dirty="0"/>
          </a:p>
        </p:txBody>
      </p:sp>
      <p:sp>
        <p:nvSpPr>
          <p:cNvPr id="14" name="Text 12"/>
          <p:cNvSpPr/>
          <p:nvPr/>
        </p:nvSpPr>
        <p:spPr>
          <a:xfrm>
            <a:off x="851306" y="1073506"/>
            <a:ext cx="8382305" cy="536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7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기본항목을 제외한 문항 단위 대조표를 예비조사 확정 시 작성하고, 대응 문항 수 ÷ 본 조사 문항 수로 중복률을 산출</a:t>
            </a:r>
            <a:endParaRPr lang="en-US" sz="1370" dirty="0"/>
          </a:p>
        </p:txBody>
      </p:sp>
      <p:sp>
        <p:nvSpPr>
          <p:cNvPr id="15" name="Shape 13"/>
          <p:cNvSpPr/>
          <p:nvPr/>
        </p:nvSpPr>
        <p:spPr>
          <a:xfrm>
            <a:off x="281635" y="1748333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6" name="Shape 14"/>
          <p:cNvSpPr/>
          <p:nvPr/>
        </p:nvSpPr>
        <p:spPr>
          <a:xfrm>
            <a:off x="1551737" y="1748333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7" name="Shape 15"/>
          <p:cNvSpPr/>
          <p:nvPr/>
        </p:nvSpPr>
        <p:spPr>
          <a:xfrm>
            <a:off x="281635" y="1748333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8" name="Shape 16"/>
          <p:cNvSpPr/>
          <p:nvPr/>
        </p:nvSpPr>
        <p:spPr>
          <a:xfrm>
            <a:off x="1551737" y="1748333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453" y="1748333"/>
            <a:ext cx="1270102" cy="28163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0" name="Shape 18"/>
          <p:cNvSpPr/>
          <p:nvPr/>
        </p:nvSpPr>
        <p:spPr>
          <a:xfrm>
            <a:off x="281635" y="1889150"/>
            <a:ext cx="1551737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1" name="Text 19"/>
          <p:cNvSpPr/>
          <p:nvPr/>
        </p:nvSpPr>
        <p:spPr>
          <a:xfrm>
            <a:off x="281635" y="1748333"/>
            <a:ext cx="1551737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비교 축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050085" y="1748333"/>
            <a:ext cx="281635" cy="281635"/>
          </a:xfrm>
          <a:prstGeom prst="ellipse">
            <a:avLst/>
          </a:prstGeom>
          <a:solidFill>
            <a:srgbClr val="6E7175"/>
          </a:solidFill>
          <a:ln/>
        </p:spPr>
      </p:sp>
      <p:sp>
        <p:nvSpPr>
          <p:cNvPr id="23" name="Shape 21"/>
          <p:cNvSpPr/>
          <p:nvPr/>
        </p:nvSpPr>
        <p:spPr>
          <a:xfrm>
            <a:off x="5546750" y="1748333"/>
            <a:ext cx="281635" cy="281635"/>
          </a:xfrm>
          <a:prstGeom prst="ellipse">
            <a:avLst/>
          </a:prstGeom>
          <a:solidFill>
            <a:srgbClr val="6E7175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0085" y="1748333"/>
            <a:ext cx="281635" cy="281635"/>
          </a:xfrm>
          <a:prstGeom prst="ellipse">
            <a:avLst/>
          </a:prstGeom>
          <a:solidFill>
            <a:srgbClr val="6E7175"/>
          </a:solidFill>
          <a:ln/>
        </p:spPr>
      </p:sp>
      <p:sp>
        <p:nvSpPr>
          <p:cNvPr id="25" name="Shape 23"/>
          <p:cNvSpPr/>
          <p:nvPr/>
        </p:nvSpPr>
        <p:spPr>
          <a:xfrm>
            <a:off x="5546750" y="1748333"/>
            <a:ext cx="281635" cy="281635"/>
          </a:xfrm>
          <a:prstGeom prst="ellipse">
            <a:avLst/>
          </a:prstGeom>
          <a:solidFill>
            <a:srgbClr val="6E7175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902" y="1748333"/>
            <a:ext cx="3496666" cy="281635"/>
          </a:xfrm>
          <a:prstGeom prst="rect">
            <a:avLst/>
          </a:prstGeom>
          <a:solidFill>
            <a:srgbClr val="6E7175"/>
          </a:solidFill>
          <a:ln/>
        </p:spPr>
      </p:sp>
      <p:sp>
        <p:nvSpPr>
          <p:cNvPr id="27" name="Shape 25"/>
          <p:cNvSpPr/>
          <p:nvPr/>
        </p:nvSpPr>
        <p:spPr>
          <a:xfrm>
            <a:off x="2050085" y="1889150"/>
            <a:ext cx="3778301" cy="0"/>
          </a:xfrm>
          <a:prstGeom prst="rect">
            <a:avLst/>
          </a:prstGeom>
          <a:solidFill>
            <a:srgbClr val="6E7175"/>
          </a:solidFill>
          <a:ln/>
        </p:spPr>
      </p:sp>
      <p:sp>
        <p:nvSpPr>
          <p:cNvPr id="28" name="Text 26"/>
          <p:cNvSpPr/>
          <p:nvPr/>
        </p:nvSpPr>
        <p:spPr>
          <a:xfrm>
            <a:off x="2050085" y="1748333"/>
            <a:ext cx="3778301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수탁·위탁거래 정기 실태조사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070702" y="1748333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0" name="Shape 28"/>
          <p:cNvSpPr/>
          <p:nvPr/>
        </p:nvSpPr>
        <p:spPr>
          <a:xfrm>
            <a:off x="9468612" y="1748333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1" name="Shape 29"/>
          <p:cNvSpPr/>
          <p:nvPr/>
        </p:nvSpPr>
        <p:spPr>
          <a:xfrm>
            <a:off x="6070702" y="1748333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2" name="Shape 30"/>
          <p:cNvSpPr/>
          <p:nvPr/>
        </p:nvSpPr>
        <p:spPr>
          <a:xfrm>
            <a:off x="9468612" y="1748333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1519" y="1748333"/>
            <a:ext cx="3398825" cy="28163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34" name="Shape 32"/>
          <p:cNvSpPr/>
          <p:nvPr/>
        </p:nvSpPr>
        <p:spPr>
          <a:xfrm>
            <a:off x="6070702" y="1889150"/>
            <a:ext cx="3680460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35" name="Text 33"/>
          <p:cNvSpPr/>
          <p:nvPr/>
        </p:nvSpPr>
        <p:spPr>
          <a:xfrm>
            <a:off x="6070702" y="1748333"/>
            <a:ext cx="36804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납품대금 연동제 실태조사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004865" y="2088490"/>
            <a:ext cx="3811219" cy="2141525"/>
          </a:xfrm>
          <a:prstGeom prst="rect">
            <a:avLst/>
          </a:prstGeom>
          <a:solidFill>
            <a:srgbClr val="EFF4FA"/>
          </a:solidFill>
          <a:ln/>
        </p:spPr>
      </p:sp>
      <p:sp>
        <p:nvSpPr>
          <p:cNvPr id="37" name="Shape 35"/>
          <p:cNvSpPr/>
          <p:nvPr/>
        </p:nvSpPr>
        <p:spPr>
          <a:xfrm>
            <a:off x="215798" y="2088490"/>
            <a:ext cx="1682496" cy="621792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38" name="Shape 36"/>
          <p:cNvSpPr/>
          <p:nvPr/>
        </p:nvSpPr>
        <p:spPr>
          <a:xfrm>
            <a:off x="340157" y="2307946"/>
            <a:ext cx="190195" cy="19019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9" name="Text 37"/>
          <p:cNvSpPr/>
          <p:nvPr/>
        </p:nvSpPr>
        <p:spPr>
          <a:xfrm>
            <a:off x="340157" y="2307946"/>
            <a:ext cx="1901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2590" y="2088490"/>
            <a:ext cx="11786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조사 목적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 rot="5400000">
            <a:off x="1781251" y="2328062"/>
            <a:ext cx="130759" cy="144475"/>
          </a:xfrm>
          <a:prstGeom prst="triangle">
            <a:avLst/>
          </a:prstGeom>
          <a:solidFill>
            <a:srgbClr val="B9BEC6"/>
          </a:solidFill>
          <a:ln/>
        </p:spPr>
      </p:sp>
      <p:sp>
        <p:nvSpPr>
          <p:cNvPr id="42" name="Shape 40"/>
          <p:cNvSpPr/>
          <p:nvPr/>
        </p:nvSpPr>
        <p:spPr>
          <a:xfrm>
            <a:off x="1990649" y="2088490"/>
            <a:ext cx="3902659" cy="621792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3" name="Text 41"/>
          <p:cNvSpPr/>
          <p:nvPr/>
        </p:nvSpPr>
        <p:spPr>
          <a:xfrm>
            <a:off x="2042770" y="2088490"/>
            <a:ext cx="37984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상생협력법 제27조가 열거한 조문(제21조·제21조의2·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제22조·제22조의2·제23조·제25조) 이행 점검,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위반 시 개선요구 등 행정처분</a:t>
            </a:r>
            <a:endParaRPr lang="en-US" sz="1090" dirty="0"/>
          </a:p>
        </p:txBody>
      </p:sp>
      <p:sp>
        <p:nvSpPr>
          <p:cNvPr id="44" name="Text 42"/>
          <p:cNvSpPr/>
          <p:nvPr/>
        </p:nvSpPr>
        <p:spPr>
          <a:xfrm>
            <a:off x="6056986" y="2088490"/>
            <a:ext cx="37060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제도 운영 현황과 성과를 정량화한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정책 기초통계 산출</a:t>
            </a:r>
            <a:endParaRPr lang="en-US" sz="1090" dirty="0"/>
          </a:p>
        </p:txBody>
      </p:sp>
      <p:sp>
        <p:nvSpPr>
          <p:cNvPr id="45" name="Shape 43"/>
          <p:cNvSpPr/>
          <p:nvPr/>
        </p:nvSpPr>
        <p:spPr>
          <a:xfrm>
            <a:off x="215798" y="2711196"/>
            <a:ext cx="9600286" cy="10058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46" name="Shape 44"/>
          <p:cNvSpPr/>
          <p:nvPr/>
        </p:nvSpPr>
        <p:spPr>
          <a:xfrm>
            <a:off x="215798" y="2717597"/>
            <a:ext cx="1682496" cy="51755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7" name="Shape 45"/>
          <p:cNvSpPr/>
          <p:nvPr/>
        </p:nvSpPr>
        <p:spPr>
          <a:xfrm>
            <a:off x="340157" y="2884932"/>
            <a:ext cx="190195" cy="19019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8" name="Text 46"/>
          <p:cNvSpPr/>
          <p:nvPr/>
        </p:nvSpPr>
        <p:spPr>
          <a:xfrm>
            <a:off x="340157" y="2884932"/>
            <a:ext cx="1901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2590" y="2717597"/>
            <a:ext cx="1178662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모집단·표본틀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 rot="5400000">
            <a:off x="1781251" y="2904134"/>
            <a:ext cx="130759" cy="144475"/>
          </a:xfrm>
          <a:prstGeom prst="triangle">
            <a:avLst/>
          </a:prstGeom>
          <a:solidFill>
            <a:srgbClr val="B9BEC6"/>
          </a:solidFill>
          <a:ln/>
        </p:spPr>
      </p:sp>
      <p:sp>
        <p:nvSpPr>
          <p:cNvPr id="51" name="Shape 49"/>
          <p:cNvSpPr/>
          <p:nvPr/>
        </p:nvSpPr>
        <p:spPr>
          <a:xfrm>
            <a:off x="1990649" y="2717597"/>
            <a:ext cx="3902659" cy="517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2042770" y="2717597"/>
            <a:ext cx="3798418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위탁기업과 그 거래상대 수탁기업의 거래관계 기반 표본</a:t>
            </a:r>
            <a:endParaRPr lang="en-US" sz="1090" dirty="0"/>
          </a:p>
        </p:txBody>
      </p:sp>
      <p:sp>
        <p:nvSpPr>
          <p:cNvPr id="53" name="Text 51"/>
          <p:cNvSpPr/>
          <p:nvPr/>
        </p:nvSpPr>
        <p:spPr>
          <a:xfrm>
            <a:off x="6056986" y="2717597"/>
            <a:ext cx="3706063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기업통계등록부(SBR) 기준 30업종 × 중·소기업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2규모 확률표본</a:t>
            </a:r>
            <a:endParaRPr lang="en-US" sz="1090" dirty="0"/>
          </a:p>
        </p:txBody>
      </p:sp>
      <p:sp>
        <p:nvSpPr>
          <p:cNvPr id="54" name="Shape 52"/>
          <p:cNvSpPr/>
          <p:nvPr/>
        </p:nvSpPr>
        <p:spPr>
          <a:xfrm>
            <a:off x="215798" y="3235147"/>
            <a:ext cx="9600286" cy="10058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55" name="Shape 53"/>
          <p:cNvSpPr/>
          <p:nvPr/>
        </p:nvSpPr>
        <p:spPr>
          <a:xfrm>
            <a:off x="215798" y="3247949"/>
            <a:ext cx="1682496" cy="497434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56" name="Shape 54"/>
          <p:cNvSpPr/>
          <p:nvPr/>
        </p:nvSpPr>
        <p:spPr>
          <a:xfrm>
            <a:off x="340157" y="3405226"/>
            <a:ext cx="190195" cy="19019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7" name="Text 55"/>
          <p:cNvSpPr/>
          <p:nvPr/>
        </p:nvSpPr>
        <p:spPr>
          <a:xfrm>
            <a:off x="340157" y="3405226"/>
            <a:ext cx="1901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02590" y="3247949"/>
            <a:ext cx="1178662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핵심 조사항목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 rot="5400000">
            <a:off x="1781251" y="3424428"/>
            <a:ext cx="130759" cy="144475"/>
          </a:xfrm>
          <a:prstGeom prst="triangle">
            <a:avLst/>
          </a:prstGeom>
          <a:solidFill>
            <a:srgbClr val="B9BEC6"/>
          </a:solidFill>
          <a:ln/>
        </p:spPr>
      </p:sp>
      <p:sp>
        <p:nvSpPr>
          <p:cNvPr id="60" name="Shape 58"/>
          <p:cNvSpPr/>
          <p:nvPr/>
        </p:nvSpPr>
        <p:spPr>
          <a:xfrm>
            <a:off x="1990649" y="3247949"/>
            <a:ext cx="3902659" cy="49743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1" name="Text 59"/>
          <p:cNvSpPr/>
          <p:nvPr/>
        </p:nvSpPr>
        <p:spPr>
          <a:xfrm>
            <a:off x="2042770" y="3247949"/>
            <a:ext cx="379841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약정서 발급, 대금 지급기일 준수, 부당 감액·대금결정,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기술자료 요구</a:t>
            </a:r>
            <a:endParaRPr lang="en-US" sz="1090" dirty="0"/>
          </a:p>
        </p:txBody>
      </p:sp>
      <p:sp>
        <p:nvSpPr>
          <p:cNvPr id="62" name="Text 60"/>
          <p:cNvSpPr/>
          <p:nvPr/>
        </p:nvSpPr>
        <p:spPr>
          <a:xfrm>
            <a:off x="6056986" y="3247949"/>
            <a:ext cx="3706063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미도입 사유, 대금 반영률, 회피 실태,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에너지경비 연동 준비도, 도입 효과성</a:t>
            </a:r>
            <a:endParaRPr lang="en-US" sz="1090" dirty="0"/>
          </a:p>
        </p:txBody>
      </p:sp>
      <p:sp>
        <p:nvSpPr>
          <p:cNvPr id="63" name="Shape 61"/>
          <p:cNvSpPr/>
          <p:nvPr/>
        </p:nvSpPr>
        <p:spPr>
          <a:xfrm>
            <a:off x="215798" y="3745382"/>
            <a:ext cx="9600286" cy="10058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64" name="Shape 62"/>
          <p:cNvSpPr/>
          <p:nvPr/>
        </p:nvSpPr>
        <p:spPr>
          <a:xfrm>
            <a:off x="215798" y="3759098"/>
            <a:ext cx="1682496" cy="47823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65" name="Shape 63"/>
          <p:cNvSpPr/>
          <p:nvPr/>
        </p:nvSpPr>
        <p:spPr>
          <a:xfrm>
            <a:off x="340157" y="3906317"/>
            <a:ext cx="190195" cy="19019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6" name="Text 64"/>
          <p:cNvSpPr/>
          <p:nvPr/>
        </p:nvSpPr>
        <p:spPr>
          <a:xfrm>
            <a:off x="340157" y="3906317"/>
            <a:ext cx="1901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02590" y="3759098"/>
            <a:ext cx="1178662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산출 단위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 rot="5400000">
            <a:off x="1781251" y="3925519"/>
            <a:ext cx="130759" cy="144475"/>
          </a:xfrm>
          <a:prstGeom prst="triangle">
            <a:avLst/>
          </a:prstGeom>
          <a:solidFill>
            <a:srgbClr val="B9BEC6"/>
          </a:solidFill>
          <a:ln/>
        </p:spPr>
      </p:sp>
      <p:sp>
        <p:nvSpPr>
          <p:cNvPr id="69" name="Shape 67"/>
          <p:cNvSpPr/>
          <p:nvPr/>
        </p:nvSpPr>
        <p:spPr>
          <a:xfrm>
            <a:off x="1990649" y="3759098"/>
            <a:ext cx="3902659" cy="4782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2042770" y="3759098"/>
            <a:ext cx="3798418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위반의심 기업 수·개선 금액</a:t>
            </a:r>
            <a:endParaRPr lang="en-US" sz="1090" dirty="0"/>
          </a:p>
        </p:txBody>
      </p:sp>
      <p:sp>
        <p:nvSpPr>
          <p:cNvPr id="71" name="Text 69"/>
          <p:cNvSpPr/>
          <p:nvPr/>
        </p:nvSpPr>
        <p:spPr>
          <a:xfrm>
            <a:off x="6056986" y="3759098"/>
            <a:ext cx="3706063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적용대상 대비 도입률·이행률·회피율·반영률</a:t>
            </a:r>
            <a:endParaRPr lang="en-US" sz="109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9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(업종·규모별)</a:t>
            </a:r>
            <a:endParaRPr lang="en-US" sz="1090" dirty="0"/>
          </a:p>
        </p:txBody>
      </p:sp>
      <p:sp>
        <p:nvSpPr>
          <p:cNvPr id="72" name="Shape 70"/>
          <p:cNvSpPr/>
          <p:nvPr/>
        </p:nvSpPr>
        <p:spPr>
          <a:xfrm>
            <a:off x="163678" y="4505249"/>
            <a:ext cx="9724644" cy="1715414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73" name="Shape 71"/>
          <p:cNvSpPr/>
          <p:nvPr/>
        </p:nvSpPr>
        <p:spPr>
          <a:xfrm>
            <a:off x="3896258" y="4368089"/>
            <a:ext cx="275234" cy="27523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4" name="Shape 72"/>
          <p:cNvSpPr/>
          <p:nvPr/>
        </p:nvSpPr>
        <p:spPr>
          <a:xfrm>
            <a:off x="5808269" y="4368089"/>
            <a:ext cx="275234" cy="27523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5" name="Shape 73"/>
          <p:cNvSpPr/>
          <p:nvPr/>
        </p:nvSpPr>
        <p:spPr>
          <a:xfrm>
            <a:off x="3896258" y="4368089"/>
            <a:ext cx="275234" cy="27523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6" name="Shape 74"/>
          <p:cNvSpPr/>
          <p:nvPr/>
        </p:nvSpPr>
        <p:spPr>
          <a:xfrm>
            <a:off x="5808269" y="4368089"/>
            <a:ext cx="275234" cy="27523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7" name="Shape 75"/>
          <p:cNvSpPr/>
          <p:nvPr/>
        </p:nvSpPr>
        <p:spPr>
          <a:xfrm>
            <a:off x="4033418" y="4368089"/>
            <a:ext cx="1912010" cy="275234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78" name="Shape 76"/>
          <p:cNvSpPr/>
          <p:nvPr/>
        </p:nvSpPr>
        <p:spPr>
          <a:xfrm>
            <a:off x="3896258" y="4505249"/>
            <a:ext cx="2187245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79" name="Text 77"/>
          <p:cNvSpPr/>
          <p:nvPr/>
        </p:nvSpPr>
        <p:spPr>
          <a:xfrm>
            <a:off x="3896258" y="4368089"/>
            <a:ext cx="2187245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중복 판정 원칙</a:t>
            </a:r>
            <a:endParaRPr lang="en-US" sz="1350" dirty="0"/>
          </a:p>
        </p:txBody>
      </p:sp>
      <p:sp>
        <p:nvSpPr>
          <p:cNvPr id="80" name="Shape 78"/>
          <p:cNvSpPr/>
          <p:nvPr/>
        </p:nvSpPr>
        <p:spPr>
          <a:xfrm>
            <a:off x="294437" y="4753966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1" name="Text 79"/>
          <p:cNvSpPr/>
          <p:nvPr/>
        </p:nvSpPr>
        <p:spPr>
          <a:xfrm>
            <a:off x="294437" y="4753966"/>
            <a:ext cx="1965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69671" y="4728362"/>
            <a:ext cx="2959913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중소기업실태조사와도 대조:</a:t>
            </a:r>
            <a:endParaRPr lang="en-US" sz="1090" dirty="0"/>
          </a:p>
        </p:txBody>
      </p:sp>
      <p:sp>
        <p:nvSpPr>
          <p:cNvPr id="83" name="Text 81"/>
          <p:cNvSpPr/>
          <p:nvPr/>
        </p:nvSpPr>
        <p:spPr>
          <a:xfrm>
            <a:off x="569671" y="4963363"/>
            <a:ext cx="2959913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기본항목은 중복률 산정에서 제외하고,</a:t>
            </a:r>
            <a:endParaRPr lang="en-US" sz="109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기초현황을 뺀 조사항목으로 판정</a:t>
            </a:r>
            <a:endParaRPr lang="en-US" sz="1090" dirty="0"/>
          </a:p>
        </p:txBody>
      </p:sp>
      <p:sp>
        <p:nvSpPr>
          <p:cNvPr id="84" name="Shape 82"/>
          <p:cNvSpPr/>
          <p:nvPr/>
        </p:nvSpPr>
        <p:spPr>
          <a:xfrm>
            <a:off x="569671" y="5454396"/>
            <a:ext cx="2959913" cy="10058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85" name="Text 83"/>
          <p:cNvSpPr/>
          <p:nvPr/>
        </p:nvSpPr>
        <p:spPr>
          <a:xfrm>
            <a:off x="596189" y="5533034"/>
            <a:ext cx="2933395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수·위탁거래 항목은 거래 보유 여부에 한정</a:t>
            </a:r>
            <a:endParaRPr lang="en-US" sz="1040" dirty="0"/>
          </a:p>
        </p:txBody>
      </p:sp>
      <p:sp>
        <p:nvSpPr>
          <p:cNvPr id="86" name="Shape 84"/>
          <p:cNvSpPr/>
          <p:nvPr/>
        </p:nvSpPr>
        <p:spPr>
          <a:xfrm>
            <a:off x="3595421" y="4681728"/>
            <a:ext cx="10058" cy="1408176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87" name="Shape 85"/>
          <p:cNvSpPr/>
          <p:nvPr/>
        </p:nvSpPr>
        <p:spPr>
          <a:xfrm>
            <a:off x="3588106" y="4753966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8" name="Text 86"/>
          <p:cNvSpPr/>
          <p:nvPr/>
        </p:nvSpPr>
        <p:spPr>
          <a:xfrm>
            <a:off x="3588106" y="4753966"/>
            <a:ext cx="1965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3863340" y="4728362"/>
            <a:ext cx="2999232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대조표 4개 열:</a:t>
            </a:r>
            <a:endParaRPr lang="en-US" sz="1090" dirty="0"/>
          </a:p>
        </p:txBody>
      </p:sp>
      <p:sp>
        <p:nvSpPr>
          <p:cNvPr id="90" name="Text 88"/>
          <p:cNvSpPr/>
          <p:nvPr/>
        </p:nvSpPr>
        <p:spPr>
          <a:xfrm>
            <a:off x="3863340" y="4963363"/>
            <a:ext cx="299923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문항번호 · 항목명 · 타 조사 대응 여부 · 중복 판정</a:t>
            </a:r>
            <a:endParaRPr lang="en-US" sz="1090" dirty="0"/>
          </a:p>
        </p:txBody>
      </p:sp>
      <p:sp>
        <p:nvSpPr>
          <p:cNvPr id="91" name="Shape 89"/>
          <p:cNvSpPr/>
          <p:nvPr/>
        </p:nvSpPr>
        <p:spPr>
          <a:xfrm>
            <a:off x="3863340" y="5244998"/>
            <a:ext cx="2999232" cy="10058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92" name="Text 90"/>
          <p:cNvSpPr/>
          <p:nvPr/>
        </p:nvSpPr>
        <p:spPr>
          <a:xfrm>
            <a:off x="3889858" y="5323637"/>
            <a:ext cx="2972714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Q1 업종 = 기본항목 제외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Q7 연동약정 체결여부 = 대응 있음·중복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Q12 미체결 사유 = 대응 없음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Q18 대금 반영률 = 대응 없음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928409" y="4681728"/>
            <a:ext cx="10058" cy="1408176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94" name="Shape 92"/>
          <p:cNvSpPr/>
          <p:nvPr/>
        </p:nvSpPr>
        <p:spPr>
          <a:xfrm>
            <a:off x="6889090" y="4753966"/>
            <a:ext cx="196596" cy="196596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95" name="Text 93"/>
          <p:cNvSpPr/>
          <p:nvPr/>
        </p:nvSpPr>
        <p:spPr>
          <a:xfrm>
            <a:off x="6889090" y="4753966"/>
            <a:ext cx="1965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164324" y="4728362"/>
            <a:ext cx="282915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공정위 하도급거래 실태조사와 구분:</a:t>
            </a:r>
            <a:endParaRPr lang="en-US" sz="1090" dirty="0"/>
          </a:p>
        </p:txBody>
      </p:sp>
      <p:sp>
        <p:nvSpPr>
          <p:cNvPr id="97" name="Text 95"/>
          <p:cNvSpPr/>
          <p:nvPr/>
        </p:nvSpPr>
        <p:spPr>
          <a:xfrm>
            <a:off x="7164324" y="4963363"/>
            <a:ext cx="2829154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하도급법 적용 대상 거래에 한정되는 반면,</a:t>
            </a:r>
            <a:endParaRPr lang="en-US" sz="109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본 조사는 상생협력법상 중견·중소,</a:t>
            </a:r>
            <a:endParaRPr lang="en-US" sz="109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중소·중소를 포함한 전체 수·위탁 관계를</a:t>
            </a:r>
            <a:endParaRPr lang="en-US" sz="109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SBR 확률표본으로 포괄</a:t>
            </a:r>
            <a:endParaRPr lang="en-US" sz="1090" dirty="0"/>
          </a:p>
        </p:txBody>
      </p:sp>
      <p:sp>
        <p:nvSpPr>
          <p:cNvPr id="98" name="Text 96"/>
          <p:cNvSpPr/>
          <p:nvPr/>
        </p:nvSpPr>
        <p:spPr>
          <a:xfrm>
            <a:off x="222199" y="6299302"/>
            <a:ext cx="949513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기준: 「통계승인업무 처리지침」 별표1 유사중복통계 판정기준 — 작성목적·포괄범위·분류기준·작성주기 및 조사항목 종합 검토</a:t>
            </a:r>
            <a:endParaRPr 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082" y="114300"/>
            <a:ext cx="67464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국가승인통계 법정 첨부서류 준비</a:t>
            </a:r>
            <a:endParaRPr lang="en-US" sz="2430" dirty="0"/>
          </a:p>
        </p:txBody>
      </p:sp>
      <p:sp>
        <p:nvSpPr>
          <p:cNvPr id="3" name="Text 1"/>
          <p:cNvSpPr/>
          <p:nvPr/>
        </p:nvSpPr>
        <p:spPr>
          <a:xfrm>
            <a:off x="6746443" y="152705"/>
            <a:ext cx="313730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3576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/  </a:t>
            </a:r>
            <a:pPr algn="r" indent="0" marL="0">
              <a:lnSpc>
                <a:spcPct val="95000"/>
              </a:lnSpc>
              <a:buNone/>
            </a:pPr>
            <a:r>
              <a:rPr lang="en-US" sz="121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시행규칙 제12조 산출물 1:1 매핑</a:t>
            </a:r>
            <a:endParaRPr lang="en-US" sz="1210" dirty="0"/>
          </a:p>
        </p:txBody>
      </p:sp>
      <p:sp>
        <p:nvSpPr>
          <p:cNvPr id="4" name="Shape 2"/>
          <p:cNvSpPr/>
          <p:nvPr/>
        </p:nvSpPr>
        <p:spPr>
          <a:xfrm>
            <a:off x="445313" y="699516"/>
            <a:ext cx="27432" cy="52120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5" name="Shape 3"/>
          <p:cNvSpPr/>
          <p:nvPr/>
        </p:nvSpPr>
        <p:spPr>
          <a:xfrm>
            <a:off x="445313" y="699516"/>
            <a:ext cx="154534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6" name="Shape 4"/>
          <p:cNvSpPr/>
          <p:nvPr/>
        </p:nvSpPr>
        <p:spPr>
          <a:xfrm>
            <a:off x="445313" y="1195121"/>
            <a:ext cx="154534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7" name="Shape 5"/>
          <p:cNvSpPr/>
          <p:nvPr/>
        </p:nvSpPr>
        <p:spPr>
          <a:xfrm>
            <a:off x="9592970" y="699516"/>
            <a:ext cx="27432" cy="52120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9464954" y="699516"/>
            <a:ext cx="154534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9464954" y="1195121"/>
            <a:ext cx="154534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" y="712318"/>
            <a:ext cx="405079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3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130" dirty="0"/>
          </a:p>
        </p:txBody>
      </p:sp>
      <p:sp>
        <p:nvSpPr>
          <p:cNvPr id="11" name="Text 9"/>
          <p:cNvSpPr/>
          <p:nvPr/>
        </p:nvSpPr>
        <p:spPr>
          <a:xfrm>
            <a:off x="9012326" y="712318"/>
            <a:ext cx="405079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3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130" dirty="0"/>
          </a:p>
        </p:txBody>
      </p:sp>
      <p:sp>
        <p:nvSpPr>
          <p:cNvPr id="12" name="Text 10"/>
          <p:cNvSpPr/>
          <p:nvPr/>
        </p:nvSpPr>
        <p:spPr>
          <a:xfrm>
            <a:off x="1038758" y="699516"/>
            <a:ext cx="79872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통계법 시행규칙 제12조 법정 첨부서류 8종 중 해당 7종에 본과업 산출물을 1:1 대응시켜 사전 작성·제공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9398" y="1474927"/>
            <a:ext cx="9646920" cy="3165653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202082" y="1360627"/>
            <a:ext cx="297180" cy="27980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5" name="Shape 13"/>
          <p:cNvSpPr/>
          <p:nvPr/>
        </p:nvSpPr>
        <p:spPr>
          <a:xfrm>
            <a:off x="1679753" y="1360627"/>
            <a:ext cx="297180" cy="27980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6" name="Shape 14"/>
          <p:cNvSpPr/>
          <p:nvPr/>
        </p:nvSpPr>
        <p:spPr>
          <a:xfrm>
            <a:off x="202082" y="1360627"/>
            <a:ext cx="297180" cy="27980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7" name="Shape 15"/>
          <p:cNvSpPr/>
          <p:nvPr/>
        </p:nvSpPr>
        <p:spPr>
          <a:xfrm>
            <a:off x="1679753" y="1360627"/>
            <a:ext cx="297180" cy="27980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8" name="Shape 16"/>
          <p:cNvSpPr/>
          <p:nvPr/>
        </p:nvSpPr>
        <p:spPr>
          <a:xfrm>
            <a:off x="351130" y="1360627"/>
            <a:ext cx="1477670" cy="279806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9" name="Shape 17"/>
          <p:cNvSpPr/>
          <p:nvPr/>
        </p:nvSpPr>
        <p:spPr>
          <a:xfrm>
            <a:off x="202082" y="1499616"/>
            <a:ext cx="1773936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0" name="Text 18"/>
          <p:cNvSpPr/>
          <p:nvPr/>
        </p:nvSpPr>
        <p:spPr>
          <a:xfrm>
            <a:off x="202082" y="1360627"/>
            <a:ext cx="177393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7종 법정서류 대응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351130" y="1748333"/>
            <a:ext cx="9377172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39496" y="1817827"/>
            <a:ext cx="22219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" y="1817827"/>
            <a:ext cx="22219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930859" y="1748333"/>
            <a:ext cx="20235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통계 작성 기획서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3049524" y="1748333"/>
            <a:ext cx="50054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목적·모집단·조사방법·공표계획(성별구분 해당 여부 명기)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8216798" y="1817827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1257" y="1817827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28" name="Shape 26"/>
          <p:cNvSpPr/>
          <p:nvPr/>
        </p:nvSpPr>
        <p:spPr>
          <a:xfrm>
            <a:off x="8216798" y="1817827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1257" y="1817827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8355" y="1817827"/>
            <a:ext cx="924458" cy="20939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31" name="Shape 29"/>
          <p:cNvSpPr/>
          <p:nvPr/>
        </p:nvSpPr>
        <p:spPr>
          <a:xfrm>
            <a:off x="8216798" y="1922983"/>
            <a:ext cx="1146658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32" name="Text 30"/>
          <p:cNvSpPr/>
          <p:nvPr/>
        </p:nvSpPr>
        <p:spPr>
          <a:xfrm>
            <a:off x="8216798" y="1817827"/>
            <a:ext cx="114665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착수보고 후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351130" y="2154326"/>
            <a:ext cx="9377172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539496" y="2224735"/>
            <a:ext cx="22219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35" name="Text 33"/>
          <p:cNvSpPr/>
          <p:nvPr/>
        </p:nvSpPr>
        <p:spPr>
          <a:xfrm>
            <a:off x="539496" y="2224735"/>
            <a:ext cx="22219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10" dirty="0"/>
          </a:p>
        </p:txBody>
      </p:sp>
      <p:sp>
        <p:nvSpPr>
          <p:cNvPr id="36" name="Text 34"/>
          <p:cNvSpPr/>
          <p:nvPr/>
        </p:nvSpPr>
        <p:spPr>
          <a:xfrm>
            <a:off x="930859" y="2154326"/>
            <a:ext cx="20235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지침서 또는 요령서</a:t>
            </a:r>
            <a:endParaRPr lang="en-US" sz="1160" dirty="0"/>
          </a:p>
        </p:txBody>
      </p:sp>
      <p:sp>
        <p:nvSpPr>
          <p:cNvPr id="37" name="Text 35"/>
          <p:cNvSpPr/>
          <p:nvPr/>
        </p:nvSpPr>
        <p:spPr>
          <a:xfrm>
            <a:off x="3049524" y="2154326"/>
            <a:ext cx="50054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 참여지침서·조사원 교육지침·내검 규칙서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8216798" y="2224735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1257" y="2224735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0" name="Shape 38"/>
          <p:cNvSpPr/>
          <p:nvPr/>
        </p:nvSpPr>
        <p:spPr>
          <a:xfrm>
            <a:off x="8216798" y="2224735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1257" y="2224735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2" name="Shape 40"/>
          <p:cNvSpPr/>
          <p:nvPr/>
        </p:nvSpPr>
        <p:spPr>
          <a:xfrm>
            <a:off x="8328355" y="2224735"/>
            <a:ext cx="924458" cy="20939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3" name="Shape 41"/>
          <p:cNvSpPr/>
          <p:nvPr/>
        </p:nvSpPr>
        <p:spPr>
          <a:xfrm>
            <a:off x="8216798" y="2329891"/>
            <a:ext cx="1146658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4" name="Text 42"/>
          <p:cNvSpPr/>
          <p:nvPr/>
        </p:nvSpPr>
        <p:spPr>
          <a:xfrm>
            <a:off x="8216798" y="2224735"/>
            <a:ext cx="114665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실사 착수 시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351130" y="2561234"/>
            <a:ext cx="9377172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39496" y="2631643"/>
            <a:ext cx="22219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47" name="Text 45"/>
          <p:cNvSpPr/>
          <p:nvPr/>
        </p:nvSpPr>
        <p:spPr>
          <a:xfrm>
            <a:off x="539496" y="2631643"/>
            <a:ext cx="22219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10" dirty="0"/>
          </a:p>
        </p:txBody>
      </p:sp>
      <p:sp>
        <p:nvSpPr>
          <p:cNvPr id="48" name="Text 46"/>
          <p:cNvSpPr/>
          <p:nvPr/>
        </p:nvSpPr>
        <p:spPr>
          <a:xfrm>
            <a:off x="930859" y="2561234"/>
            <a:ext cx="20235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조사표 등 자료수집 서식</a:t>
            </a:r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60606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(성별 구분란 포함)</a:t>
            </a:r>
            <a:endParaRPr lang="en-US" sz="1160" dirty="0"/>
          </a:p>
        </p:txBody>
      </p:sp>
      <p:sp>
        <p:nvSpPr>
          <p:cNvPr id="49" name="Text 47"/>
          <p:cNvSpPr/>
          <p:nvPr/>
        </p:nvSpPr>
        <p:spPr>
          <a:xfrm>
            <a:off x="3049524" y="2561234"/>
            <a:ext cx="50054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판별 4문항 + 본설문 4개 부문, 분기 로직, 지표별 문항 대응표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8216798" y="2631643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1" name="Shape 49"/>
          <p:cNvSpPr/>
          <p:nvPr/>
        </p:nvSpPr>
        <p:spPr>
          <a:xfrm>
            <a:off x="9141257" y="2631643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2" name="Shape 50"/>
          <p:cNvSpPr/>
          <p:nvPr/>
        </p:nvSpPr>
        <p:spPr>
          <a:xfrm>
            <a:off x="8216798" y="2631643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3" name="Shape 51"/>
          <p:cNvSpPr/>
          <p:nvPr/>
        </p:nvSpPr>
        <p:spPr>
          <a:xfrm>
            <a:off x="9141257" y="2631643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4" name="Shape 52"/>
          <p:cNvSpPr/>
          <p:nvPr/>
        </p:nvSpPr>
        <p:spPr>
          <a:xfrm>
            <a:off x="8328355" y="2631643"/>
            <a:ext cx="924458" cy="20939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55" name="Shape 53"/>
          <p:cNvSpPr/>
          <p:nvPr/>
        </p:nvSpPr>
        <p:spPr>
          <a:xfrm>
            <a:off x="8216798" y="2735885"/>
            <a:ext cx="1146658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56" name="Text 54"/>
          <p:cNvSpPr/>
          <p:nvPr/>
        </p:nvSpPr>
        <p:spPr>
          <a:xfrm>
            <a:off x="8216798" y="2631643"/>
            <a:ext cx="114665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예비조사 종료 후</a:t>
            </a:r>
            <a:endParaRPr lang="en-US" sz="1010" dirty="0"/>
          </a:p>
        </p:txBody>
      </p:sp>
      <p:sp>
        <p:nvSpPr>
          <p:cNvPr id="57" name="Shape 55"/>
          <p:cNvSpPr/>
          <p:nvPr/>
        </p:nvSpPr>
        <p:spPr>
          <a:xfrm>
            <a:off x="351130" y="2961742"/>
            <a:ext cx="9377172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539496" y="3032150"/>
            <a:ext cx="22219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59" name="Text 57"/>
          <p:cNvSpPr/>
          <p:nvPr/>
        </p:nvSpPr>
        <p:spPr>
          <a:xfrm>
            <a:off x="539496" y="3032150"/>
            <a:ext cx="22219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10" dirty="0"/>
          </a:p>
        </p:txBody>
      </p:sp>
      <p:sp>
        <p:nvSpPr>
          <p:cNvPr id="60" name="Text 58"/>
          <p:cNvSpPr/>
          <p:nvPr/>
        </p:nvSpPr>
        <p:spPr>
          <a:xfrm>
            <a:off x="930859" y="2961742"/>
            <a:ext cx="20235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통계결과 표·서식</a:t>
            </a:r>
            <a:endParaRPr lang="en-US" sz="1160" dirty="0"/>
          </a:p>
        </p:txBody>
      </p:sp>
      <p:sp>
        <p:nvSpPr>
          <p:cNvPr id="61" name="Text 59"/>
          <p:cNvSpPr/>
          <p:nvPr/>
        </p:nvSpPr>
        <p:spPr>
          <a:xfrm>
            <a:off x="3049524" y="2961742"/>
            <a:ext cx="50054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지표 7종 × 업종별·규모별 통계표 서식과 병합 규칙</a:t>
            </a:r>
            <a:endParaRPr lang="en-US" sz="1060" dirty="0"/>
          </a:p>
        </p:txBody>
      </p:sp>
      <p:sp>
        <p:nvSpPr>
          <p:cNvPr id="62" name="Shape 60"/>
          <p:cNvSpPr/>
          <p:nvPr/>
        </p:nvSpPr>
        <p:spPr>
          <a:xfrm>
            <a:off x="8216798" y="3032150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3" name="Shape 61"/>
          <p:cNvSpPr/>
          <p:nvPr/>
        </p:nvSpPr>
        <p:spPr>
          <a:xfrm>
            <a:off x="9141257" y="3032150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4" name="Shape 62"/>
          <p:cNvSpPr/>
          <p:nvPr/>
        </p:nvSpPr>
        <p:spPr>
          <a:xfrm>
            <a:off x="8216798" y="3032150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5" name="Shape 63"/>
          <p:cNvSpPr/>
          <p:nvPr/>
        </p:nvSpPr>
        <p:spPr>
          <a:xfrm>
            <a:off x="9141257" y="3032150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6" name="Shape 64"/>
          <p:cNvSpPr/>
          <p:nvPr/>
        </p:nvSpPr>
        <p:spPr>
          <a:xfrm>
            <a:off x="8328355" y="3032150"/>
            <a:ext cx="924458" cy="20939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67" name="Shape 65"/>
          <p:cNvSpPr/>
          <p:nvPr/>
        </p:nvSpPr>
        <p:spPr>
          <a:xfrm>
            <a:off x="8216798" y="3136392"/>
            <a:ext cx="1146658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68" name="Text 66"/>
          <p:cNvSpPr/>
          <p:nvPr/>
        </p:nvSpPr>
        <p:spPr>
          <a:xfrm>
            <a:off x="8216798" y="3032150"/>
            <a:ext cx="114665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자료검증 후</a:t>
            </a:r>
            <a:endParaRPr lang="en-US" sz="1010" dirty="0"/>
          </a:p>
        </p:txBody>
      </p:sp>
      <p:sp>
        <p:nvSpPr>
          <p:cNvPr id="69" name="Shape 67"/>
          <p:cNvSpPr/>
          <p:nvPr/>
        </p:nvSpPr>
        <p:spPr>
          <a:xfrm>
            <a:off x="351130" y="3362249"/>
            <a:ext cx="9377172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539496" y="3432658"/>
            <a:ext cx="22219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71" name="Text 69"/>
          <p:cNvSpPr/>
          <p:nvPr/>
        </p:nvSpPr>
        <p:spPr>
          <a:xfrm>
            <a:off x="539496" y="3432658"/>
            <a:ext cx="22219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010" dirty="0"/>
          </a:p>
        </p:txBody>
      </p:sp>
      <p:sp>
        <p:nvSpPr>
          <p:cNvPr id="72" name="Text 70"/>
          <p:cNvSpPr/>
          <p:nvPr/>
        </p:nvSpPr>
        <p:spPr>
          <a:xfrm>
            <a:off x="930859" y="3362249"/>
            <a:ext cx="20235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용어 및 해설자료</a:t>
            </a:r>
            <a:endParaRPr lang="en-US" sz="1160" dirty="0"/>
          </a:p>
        </p:txBody>
      </p:sp>
      <p:sp>
        <p:nvSpPr>
          <p:cNvPr id="73" name="Text 71"/>
          <p:cNvSpPr/>
          <p:nvPr/>
        </p:nvSpPr>
        <p:spPr>
          <a:xfrm>
            <a:off x="3049524" y="3362249"/>
            <a:ext cx="50054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지표·변수 정의서, 연동 적용 요건, 예외 사유 용어 해설</a:t>
            </a:r>
            <a:endParaRPr lang="en-US" sz="1060" dirty="0"/>
          </a:p>
        </p:txBody>
      </p:sp>
      <p:sp>
        <p:nvSpPr>
          <p:cNvPr id="74" name="Shape 72"/>
          <p:cNvSpPr/>
          <p:nvPr/>
        </p:nvSpPr>
        <p:spPr>
          <a:xfrm>
            <a:off x="8216798" y="3432658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5" name="Shape 73"/>
          <p:cNvSpPr/>
          <p:nvPr/>
        </p:nvSpPr>
        <p:spPr>
          <a:xfrm>
            <a:off x="9141257" y="3432658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6" name="Shape 74"/>
          <p:cNvSpPr/>
          <p:nvPr/>
        </p:nvSpPr>
        <p:spPr>
          <a:xfrm>
            <a:off x="8216798" y="3432658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7" name="Shape 75"/>
          <p:cNvSpPr/>
          <p:nvPr/>
        </p:nvSpPr>
        <p:spPr>
          <a:xfrm>
            <a:off x="9141257" y="3432658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8" name="Shape 76"/>
          <p:cNvSpPr/>
          <p:nvPr/>
        </p:nvSpPr>
        <p:spPr>
          <a:xfrm>
            <a:off x="8328355" y="3432658"/>
            <a:ext cx="924458" cy="20939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79" name="Shape 77"/>
          <p:cNvSpPr/>
          <p:nvPr/>
        </p:nvSpPr>
        <p:spPr>
          <a:xfrm>
            <a:off x="8216798" y="3536899"/>
            <a:ext cx="1146658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80" name="Text 78"/>
          <p:cNvSpPr/>
          <p:nvPr/>
        </p:nvSpPr>
        <p:spPr>
          <a:xfrm>
            <a:off x="8216798" y="3432658"/>
            <a:ext cx="114665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최종보고 시</a:t>
            </a:r>
            <a:endParaRPr lang="en-US" sz="1010" dirty="0"/>
          </a:p>
        </p:txBody>
      </p:sp>
      <p:sp>
        <p:nvSpPr>
          <p:cNvPr id="81" name="Shape 79"/>
          <p:cNvSpPr/>
          <p:nvPr/>
        </p:nvSpPr>
        <p:spPr>
          <a:xfrm>
            <a:off x="351130" y="3762756"/>
            <a:ext cx="9377172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539496" y="3832250"/>
            <a:ext cx="22219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83" name="Text 81"/>
          <p:cNvSpPr/>
          <p:nvPr/>
        </p:nvSpPr>
        <p:spPr>
          <a:xfrm>
            <a:off x="539496" y="3832250"/>
            <a:ext cx="22219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</a:t>
            </a:r>
            <a:endParaRPr lang="en-US" sz="1010" dirty="0"/>
          </a:p>
        </p:txBody>
      </p:sp>
      <p:sp>
        <p:nvSpPr>
          <p:cNvPr id="84" name="Text 82"/>
          <p:cNvSpPr/>
          <p:nvPr/>
        </p:nvSpPr>
        <p:spPr>
          <a:xfrm>
            <a:off x="930859" y="3762756"/>
            <a:ext cx="20235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표본설계 명세</a:t>
            </a:r>
            <a:endParaRPr lang="en-US" sz="1160" dirty="0"/>
          </a:p>
        </p:txBody>
      </p:sp>
      <p:sp>
        <p:nvSpPr>
          <p:cNvPr id="85" name="Text 83"/>
          <p:cNvSpPr/>
          <p:nvPr/>
        </p:nvSpPr>
        <p:spPr>
          <a:xfrm>
            <a:off x="3049524" y="3762756"/>
            <a:ext cx="50054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층별 멱배분(</a:t>
            </a:r>
            <a:pPr algn="l" indent="0" marL="0">
              <a:lnSpc>
                <a:spcPct val="95000"/>
              </a:lnSpc>
              <a:buNone/>
            </a:pPr>
            <a:r>
              <a:rPr lang="en-US" sz="1060" i="1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α</a:t>
            </a:r>
            <a:pPr algn="l"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=0.4, 착수 시 확정)·추출률, 가중치 </a:t>
            </a:r>
            <a:pPr algn="l" indent="0" marL="0">
              <a:lnSpc>
                <a:spcPct val="95000"/>
              </a:lnSpc>
              <a:buNone/>
            </a:pPr>
            <a:r>
              <a:rPr lang="en-US" sz="1060" i="1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w</a:t>
            </a:r>
            <a:pPr algn="l"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=1/</a:t>
            </a:r>
            <a:pPr algn="l" indent="0" marL="0">
              <a:lnSpc>
                <a:spcPct val="95000"/>
              </a:lnSpc>
              <a:buNone/>
            </a:pPr>
            <a:r>
              <a:rPr lang="en-US" sz="1060" i="1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π</a:t>
            </a:r>
            <a:pPr algn="l" indent="0" marL="0">
              <a:lnSpc>
                <a:spcPct val="95000"/>
              </a:lnSpc>
              <a:buNone/>
            </a:pPr>
            <a:r>
              <a:rPr lang="en-US" sz="1060" baseline="-40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</a:t>
            </a:r>
            <a:pPr algn="l"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, 모집단 M=N×</a:t>
            </a:r>
            <a:pPr algn="l" indent="0" marL="0">
              <a:lnSpc>
                <a:spcPct val="95000"/>
              </a:lnSpc>
              <a:buNone/>
            </a:pPr>
            <a:r>
              <a:rPr lang="en-US" sz="1060" i="1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p̂</a:t>
            </a:r>
            <a:pPr algn="l"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추정</a:t>
            </a:r>
            <a:endParaRPr lang="en-US" sz="1060" dirty="0"/>
          </a:p>
        </p:txBody>
      </p:sp>
      <p:sp>
        <p:nvSpPr>
          <p:cNvPr id="86" name="Shape 84"/>
          <p:cNvSpPr/>
          <p:nvPr/>
        </p:nvSpPr>
        <p:spPr>
          <a:xfrm>
            <a:off x="8216798" y="3832250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7" name="Shape 85"/>
          <p:cNvSpPr/>
          <p:nvPr/>
        </p:nvSpPr>
        <p:spPr>
          <a:xfrm>
            <a:off x="9141257" y="3832250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8" name="Shape 86"/>
          <p:cNvSpPr/>
          <p:nvPr/>
        </p:nvSpPr>
        <p:spPr>
          <a:xfrm>
            <a:off x="8216798" y="3832250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9" name="Shape 87"/>
          <p:cNvSpPr/>
          <p:nvPr/>
        </p:nvSpPr>
        <p:spPr>
          <a:xfrm>
            <a:off x="9141257" y="3832250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90" name="Shape 88"/>
          <p:cNvSpPr/>
          <p:nvPr/>
        </p:nvSpPr>
        <p:spPr>
          <a:xfrm>
            <a:off x="8328355" y="3832250"/>
            <a:ext cx="924458" cy="20939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91" name="Shape 89"/>
          <p:cNvSpPr/>
          <p:nvPr/>
        </p:nvSpPr>
        <p:spPr>
          <a:xfrm>
            <a:off x="8216798" y="3937406"/>
            <a:ext cx="1146658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92" name="Text 90"/>
          <p:cNvSpPr/>
          <p:nvPr/>
        </p:nvSpPr>
        <p:spPr>
          <a:xfrm>
            <a:off x="8216798" y="3832250"/>
            <a:ext cx="114665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표본 확정 시</a:t>
            </a:r>
            <a:endParaRPr lang="en-US" sz="1010" dirty="0"/>
          </a:p>
        </p:txBody>
      </p:sp>
      <p:sp>
        <p:nvSpPr>
          <p:cNvPr id="93" name="Shape 91"/>
          <p:cNvSpPr/>
          <p:nvPr/>
        </p:nvSpPr>
        <p:spPr>
          <a:xfrm>
            <a:off x="351130" y="4156862"/>
            <a:ext cx="9377172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Shape 92"/>
          <p:cNvSpPr/>
          <p:nvPr/>
        </p:nvSpPr>
        <p:spPr>
          <a:xfrm>
            <a:off x="539496" y="4226357"/>
            <a:ext cx="22219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95" name="Text 93"/>
          <p:cNvSpPr/>
          <p:nvPr/>
        </p:nvSpPr>
        <p:spPr>
          <a:xfrm>
            <a:off x="539496" y="4226357"/>
            <a:ext cx="22219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</a:t>
            </a:r>
            <a:endParaRPr lang="en-US" sz="1010" dirty="0"/>
          </a:p>
        </p:txBody>
      </p:sp>
      <p:sp>
        <p:nvSpPr>
          <p:cNvPr id="96" name="Text 94"/>
          <p:cNvSpPr/>
          <p:nvPr/>
        </p:nvSpPr>
        <p:spPr>
          <a:xfrm>
            <a:off x="930859" y="4156862"/>
            <a:ext cx="20235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행정자료 활용 판단 결과</a:t>
            </a:r>
            <a:endParaRPr lang="en-US" sz="1160" dirty="0"/>
          </a:p>
        </p:txBody>
      </p:sp>
      <p:sp>
        <p:nvSpPr>
          <p:cNvPr id="97" name="Text 95"/>
          <p:cNvSpPr/>
          <p:nvPr/>
        </p:nvSpPr>
        <p:spPr>
          <a:xfrm>
            <a:off x="3049524" y="4156862"/>
            <a:ext cx="50054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SBR 모집단 구축·재단 DB 응답 검증의 활용·비활용 범위</a:t>
            </a:r>
            <a:endParaRPr lang="en-US" sz="1060" dirty="0"/>
          </a:p>
        </p:txBody>
      </p:sp>
      <p:sp>
        <p:nvSpPr>
          <p:cNvPr id="98" name="Shape 96"/>
          <p:cNvSpPr/>
          <p:nvPr/>
        </p:nvSpPr>
        <p:spPr>
          <a:xfrm>
            <a:off x="8216798" y="4226357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99" name="Shape 97"/>
          <p:cNvSpPr/>
          <p:nvPr/>
        </p:nvSpPr>
        <p:spPr>
          <a:xfrm>
            <a:off x="9141257" y="4226357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00" name="Shape 98"/>
          <p:cNvSpPr/>
          <p:nvPr/>
        </p:nvSpPr>
        <p:spPr>
          <a:xfrm>
            <a:off x="8216798" y="4226357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01" name="Shape 99"/>
          <p:cNvSpPr/>
          <p:nvPr/>
        </p:nvSpPr>
        <p:spPr>
          <a:xfrm>
            <a:off x="9141257" y="4226357"/>
            <a:ext cx="222199" cy="20939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328355" y="4226357"/>
            <a:ext cx="924458" cy="20939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216798" y="4331513"/>
            <a:ext cx="1146658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04" name="Text 102"/>
          <p:cNvSpPr/>
          <p:nvPr/>
        </p:nvSpPr>
        <p:spPr>
          <a:xfrm>
            <a:off x="8216798" y="4226357"/>
            <a:ext cx="114665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선별조사 종료 후</a:t>
            </a:r>
            <a:endParaRPr lang="en-US" sz="1010" dirty="0"/>
          </a:p>
        </p:txBody>
      </p:sp>
      <p:sp>
        <p:nvSpPr>
          <p:cNvPr id="105" name="Shape 103"/>
          <p:cNvSpPr/>
          <p:nvPr/>
        </p:nvSpPr>
        <p:spPr>
          <a:xfrm>
            <a:off x="222199" y="4862779"/>
            <a:ext cx="9653321" cy="1487729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95682" y="4703674"/>
            <a:ext cx="289865" cy="27340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416406" y="4703674"/>
            <a:ext cx="289865" cy="27340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95682" y="4703674"/>
            <a:ext cx="289865" cy="27340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416406" y="4703674"/>
            <a:ext cx="289865" cy="27340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41071" y="4703674"/>
            <a:ext cx="1220724" cy="273406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95682" y="4839919"/>
            <a:ext cx="1511503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12" name="Text 110"/>
          <p:cNvSpPr/>
          <p:nvPr/>
        </p:nvSpPr>
        <p:spPr>
          <a:xfrm>
            <a:off x="195682" y="4703674"/>
            <a:ext cx="1511503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신청 지원 범위</a:t>
            </a:r>
            <a:endParaRPr lang="en-US" sz="1310" dirty="0"/>
          </a:p>
        </p:txBody>
      </p:sp>
      <p:sp>
        <p:nvSpPr>
          <p:cNvPr id="113" name="Shape 111"/>
          <p:cNvSpPr/>
          <p:nvPr/>
        </p:nvSpPr>
        <p:spPr>
          <a:xfrm>
            <a:off x="2921508" y="5020970"/>
            <a:ext cx="229514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4" name="Text 112"/>
          <p:cNvSpPr/>
          <p:nvPr/>
        </p:nvSpPr>
        <p:spPr>
          <a:xfrm>
            <a:off x="2921508" y="5020970"/>
            <a:ext cx="22951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10" dirty="0"/>
          </a:p>
        </p:txBody>
      </p:sp>
      <p:sp>
        <p:nvSpPr>
          <p:cNvPr id="115" name="Text 113"/>
          <p:cNvSpPr/>
          <p:nvPr/>
        </p:nvSpPr>
        <p:spPr>
          <a:xfrm>
            <a:off x="1889150" y="5300777"/>
            <a:ext cx="229331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각 문서는 시행규칙 제12조 각 호의</a:t>
            </a:r>
            <a:endParaRPr lang="en-US" sz="111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명칭 그대로 작성해 승인신청 시</a:t>
            </a:r>
            <a:endParaRPr lang="en-US" sz="111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재작업 없이 편입</a:t>
            </a:r>
            <a:endParaRPr lang="en-US" sz="1110" dirty="0"/>
          </a:p>
        </p:txBody>
      </p:sp>
      <p:sp>
        <p:nvSpPr>
          <p:cNvPr id="116" name="Text 114"/>
          <p:cNvSpPr/>
          <p:nvPr/>
        </p:nvSpPr>
        <p:spPr>
          <a:xfrm>
            <a:off x="1889150" y="6013094"/>
            <a:ext cx="229331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제8호 국제기구 기준은 해당 기준 부재로 미첨부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4317797" y="5020970"/>
            <a:ext cx="10058" cy="1143914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484571" y="5020970"/>
            <a:ext cx="229514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9" name="Text 117"/>
          <p:cNvSpPr/>
          <p:nvPr/>
        </p:nvSpPr>
        <p:spPr>
          <a:xfrm>
            <a:off x="5484571" y="5020970"/>
            <a:ext cx="22951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10" dirty="0"/>
          </a:p>
        </p:txBody>
      </p:sp>
      <p:sp>
        <p:nvSpPr>
          <p:cNvPr id="120" name="Text 118"/>
          <p:cNvSpPr/>
          <p:nvPr/>
        </p:nvSpPr>
        <p:spPr>
          <a:xfrm>
            <a:off x="4452214" y="5300777"/>
            <a:ext cx="229331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소요예산 산정서는 RFP 로드맵 6요소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대응 문서로 별도 작성 / 심사 질의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(표본오차·항목무응답 대체·기업규모 기준 개편)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설명자료 지원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6880860" y="5020970"/>
            <a:ext cx="10058" cy="1143914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122" name="Shape 120"/>
          <p:cNvSpPr/>
          <p:nvPr/>
        </p:nvSpPr>
        <p:spPr>
          <a:xfrm>
            <a:off x="8250631" y="5020970"/>
            <a:ext cx="229514" cy="21579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23" name="Text 121"/>
          <p:cNvSpPr/>
          <p:nvPr/>
        </p:nvSpPr>
        <p:spPr>
          <a:xfrm>
            <a:off x="8250631" y="5020970"/>
            <a:ext cx="22951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10" dirty="0"/>
          </a:p>
        </p:txBody>
      </p:sp>
      <p:sp>
        <p:nvSpPr>
          <p:cNvPr id="124" name="Text 122"/>
          <p:cNvSpPr/>
          <p:nvPr/>
        </p:nvSpPr>
        <p:spPr>
          <a:xfrm>
            <a:off x="7016191" y="5300777"/>
            <a:ext cx="269839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통계작성기관·승인신청인은 착수보고 시 확정 /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승인 신청·국가데이터처 협의는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발주기관·소관부처 주관 /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본사는 기술문서 작성·설명 지원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(RFP 수행역할)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51206"/>
            <a:ext cx="7415784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국가승인통계 편입 2년 로드맵</a:t>
            </a:r>
            <a:endParaRPr lang="en-US" sz="2480" dirty="0"/>
          </a:p>
        </p:txBody>
      </p:sp>
      <p:sp>
        <p:nvSpPr>
          <p:cNvPr id="3" name="Shape 1"/>
          <p:cNvSpPr/>
          <p:nvPr/>
        </p:nvSpPr>
        <p:spPr>
          <a:xfrm flipH="1">
            <a:off x="269748" y="636422"/>
            <a:ext cx="80467" cy="191110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4" name="Text 2"/>
          <p:cNvSpPr/>
          <p:nvPr/>
        </p:nvSpPr>
        <p:spPr>
          <a:xfrm>
            <a:off x="458114" y="610819"/>
            <a:ext cx="606704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시범조사에서 승인 신청까지</a:t>
            </a:r>
            <a:endParaRPr lang="en-US" sz="1470" dirty="0"/>
          </a:p>
        </p:txBody>
      </p:sp>
      <p:sp>
        <p:nvSpPr>
          <p:cNvPr id="5" name="Shape 3"/>
          <p:cNvSpPr/>
          <p:nvPr/>
        </p:nvSpPr>
        <p:spPr>
          <a:xfrm>
            <a:off x="283464" y="967435"/>
            <a:ext cx="26518" cy="55961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6" name="Shape 4"/>
          <p:cNvSpPr/>
          <p:nvPr/>
        </p:nvSpPr>
        <p:spPr>
          <a:xfrm>
            <a:off x="283464" y="967435"/>
            <a:ext cx="166421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7" name="Shape 5"/>
          <p:cNvSpPr/>
          <p:nvPr/>
        </p:nvSpPr>
        <p:spPr>
          <a:xfrm>
            <a:off x="283464" y="1501445"/>
            <a:ext cx="166421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9762134" y="967435"/>
            <a:ext cx="26518" cy="55961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9622231" y="967435"/>
            <a:ext cx="166421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9622231" y="1501445"/>
            <a:ext cx="166421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Text 9"/>
          <p:cNvSpPr/>
          <p:nvPr/>
        </p:nvSpPr>
        <p:spPr>
          <a:xfrm>
            <a:off x="485546" y="979322"/>
            <a:ext cx="404165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3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130" dirty="0"/>
          </a:p>
        </p:txBody>
      </p:sp>
      <p:sp>
        <p:nvSpPr>
          <p:cNvPr id="12" name="Text 10"/>
          <p:cNvSpPr/>
          <p:nvPr/>
        </p:nvSpPr>
        <p:spPr>
          <a:xfrm>
            <a:off x="9182405" y="979322"/>
            <a:ext cx="404165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3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130" dirty="0"/>
          </a:p>
        </p:txBody>
      </p:sp>
      <p:sp>
        <p:nvSpPr>
          <p:cNvPr id="13" name="Text 11"/>
          <p:cNvSpPr/>
          <p:nvPr/>
        </p:nvSpPr>
        <p:spPr>
          <a:xfrm>
            <a:off x="875995" y="967435"/>
            <a:ext cx="8319211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과업(시범조사)에서 승인 신청까지의 소요 일정을 2년 단계로 제시하고, RFP가 예시한 6개 요소를 단계별로 배치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283464" y="1991563"/>
            <a:ext cx="9418320" cy="12802"/>
          </a:xfrm>
          <a:prstGeom prst="rect">
            <a:avLst/>
          </a:prstGeom>
          <a:solidFill>
            <a:srgbClr val="C9CDD5"/>
          </a:solidFill>
          <a:ln/>
        </p:spPr>
      </p:sp>
      <p:sp>
        <p:nvSpPr>
          <p:cNvPr id="15" name="Text 13"/>
          <p:cNvSpPr/>
          <p:nvPr/>
        </p:nvSpPr>
        <p:spPr>
          <a:xfrm>
            <a:off x="869594" y="1641348"/>
            <a:ext cx="121340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2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01</a:t>
            </a:r>
            <a:endParaRPr lang="en-US" sz="1920" dirty="0"/>
          </a:p>
        </p:txBody>
      </p:sp>
      <p:sp>
        <p:nvSpPr>
          <p:cNvPr id="16" name="Shape 14"/>
          <p:cNvSpPr/>
          <p:nvPr/>
        </p:nvSpPr>
        <p:spPr>
          <a:xfrm>
            <a:off x="1415491" y="1940357"/>
            <a:ext cx="121615" cy="114300"/>
          </a:xfrm>
          <a:prstGeom prst="ellipse">
            <a:avLst/>
          </a:prstGeom>
          <a:solidFill>
            <a:srgbClr val="052A77"/>
          </a:solidFill>
          <a:ln/>
        </p:spPr>
      </p:sp>
      <p:sp>
        <p:nvSpPr>
          <p:cNvPr id="17" name="Text 15"/>
          <p:cNvSpPr/>
          <p:nvPr/>
        </p:nvSpPr>
        <p:spPr>
          <a:xfrm>
            <a:off x="3242462" y="1641348"/>
            <a:ext cx="121340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2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02</a:t>
            </a:r>
            <a:endParaRPr lang="en-US" sz="1920" dirty="0"/>
          </a:p>
        </p:txBody>
      </p:sp>
      <p:sp>
        <p:nvSpPr>
          <p:cNvPr id="18" name="Shape 16"/>
          <p:cNvSpPr/>
          <p:nvPr/>
        </p:nvSpPr>
        <p:spPr>
          <a:xfrm>
            <a:off x="3788359" y="1940357"/>
            <a:ext cx="121615" cy="114300"/>
          </a:xfrm>
          <a:prstGeom prst="ellipse">
            <a:avLst/>
          </a:prstGeom>
          <a:solidFill>
            <a:srgbClr val="052A77"/>
          </a:solidFill>
          <a:ln/>
        </p:spPr>
      </p:sp>
      <p:sp>
        <p:nvSpPr>
          <p:cNvPr id="19" name="Text 17"/>
          <p:cNvSpPr/>
          <p:nvPr/>
        </p:nvSpPr>
        <p:spPr>
          <a:xfrm>
            <a:off x="5571439" y="1641348"/>
            <a:ext cx="121340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2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03</a:t>
            </a:r>
            <a:endParaRPr lang="en-US" sz="1920" dirty="0"/>
          </a:p>
        </p:txBody>
      </p:sp>
      <p:sp>
        <p:nvSpPr>
          <p:cNvPr id="20" name="Shape 18"/>
          <p:cNvSpPr/>
          <p:nvPr/>
        </p:nvSpPr>
        <p:spPr>
          <a:xfrm>
            <a:off x="6118250" y="1940357"/>
            <a:ext cx="121615" cy="114300"/>
          </a:xfrm>
          <a:prstGeom prst="ellipse">
            <a:avLst/>
          </a:prstGeom>
          <a:solidFill>
            <a:srgbClr val="052A77"/>
          </a:solidFill>
          <a:ln/>
        </p:spPr>
      </p:sp>
      <p:sp>
        <p:nvSpPr>
          <p:cNvPr id="21" name="Text 19"/>
          <p:cNvSpPr/>
          <p:nvPr/>
        </p:nvSpPr>
        <p:spPr>
          <a:xfrm>
            <a:off x="7961681" y="1641348"/>
            <a:ext cx="121340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2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04</a:t>
            </a:r>
            <a:endParaRPr lang="en-US" sz="1920" dirty="0"/>
          </a:p>
        </p:txBody>
      </p:sp>
      <p:sp>
        <p:nvSpPr>
          <p:cNvPr id="22" name="Shape 20"/>
          <p:cNvSpPr/>
          <p:nvPr/>
        </p:nvSpPr>
        <p:spPr>
          <a:xfrm>
            <a:off x="8507578" y="1940357"/>
            <a:ext cx="121615" cy="114300"/>
          </a:xfrm>
          <a:prstGeom prst="ellipse">
            <a:avLst/>
          </a:prstGeom>
          <a:solidFill>
            <a:srgbClr val="052A77"/>
          </a:solidFill>
          <a:ln/>
        </p:spPr>
      </p:sp>
      <p:sp>
        <p:nvSpPr>
          <p:cNvPr id="23" name="Shape 21"/>
          <p:cNvSpPr/>
          <p:nvPr/>
        </p:nvSpPr>
        <p:spPr>
          <a:xfrm>
            <a:off x="283464" y="2125066"/>
            <a:ext cx="2386584" cy="2105863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309982" y="2200961"/>
            <a:ext cx="233263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2026년  |  본 과업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45313" y="2519172"/>
            <a:ext cx="2062886" cy="9144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3" y="2608783"/>
            <a:ext cx="2090318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사전 선별조사(D+2주)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1차 판별조사(본조사 발송 내, D+5주~)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본조사 유효표본 3,000개사(D+5~12주)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자료검증·가중치·통계표(D+13~15주)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최종보고·기술문서 제출(D+16주)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" y="4230929"/>
            <a:ext cx="2386584" cy="527609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28" name="Text 26"/>
          <p:cNvSpPr/>
          <p:nvPr/>
        </p:nvSpPr>
        <p:spPr>
          <a:xfrm>
            <a:off x="337414" y="4230929"/>
            <a:ext cx="2278685" cy="527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조사대상·조사방법·모집단·표본설계 확정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64231" y="2125066"/>
            <a:ext cx="2170786" cy="2105863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0" name="Text 28"/>
          <p:cNvSpPr/>
          <p:nvPr/>
        </p:nvSpPr>
        <p:spPr>
          <a:xfrm>
            <a:off x="2790749" y="2200961"/>
            <a:ext cx="211683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2027년 1분기  |  신청 준비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2926080" y="2519172"/>
            <a:ext cx="1847088" cy="9144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2608783"/>
            <a:ext cx="1874520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시행규칙 제12조 첨부서류 최종 보완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발주기관·소관부처 사전 협의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유사·중복성 검토서 작성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64231" y="4230929"/>
            <a:ext cx="2170786" cy="527609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34" name="Text 32"/>
          <p:cNvSpPr/>
          <p:nvPr/>
        </p:nvSpPr>
        <p:spPr>
          <a:xfrm>
            <a:off x="2818181" y="4230929"/>
            <a:ext cx="2062886" cy="527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소요예산 산정·추진일정 확정</a:t>
            </a:r>
            <a:endParaRPr lang="en-US" sz="1110" dirty="0"/>
          </a:p>
        </p:txBody>
      </p:sp>
      <p:sp>
        <p:nvSpPr>
          <p:cNvPr id="35" name="Shape 33"/>
          <p:cNvSpPr/>
          <p:nvPr/>
        </p:nvSpPr>
        <p:spPr>
          <a:xfrm>
            <a:off x="5049317" y="2125066"/>
            <a:ext cx="2258568" cy="2105863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6" name="Text 34"/>
          <p:cNvSpPr/>
          <p:nvPr/>
        </p:nvSpPr>
        <p:spPr>
          <a:xfrm>
            <a:off x="5076749" y="2200961"/>
            <a:ext cx="22046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2027년 중반  |  승인 신청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5211166" y="2519172"/>
            <a:ext cx="1934870" cy="9144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Text 36"/>
          <p:cNvSpPr/>
          <p:nvPr/>
        </p:nvSpPr>
        <p:spPr>
          <a:xfrm>
            <a:off x="5211166" y="2608783"/>
            <a:ext cx="1961388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조사표·표본설계 명세를 신청 전 확정해 첨부(시행규칙 제12조 제3·6호)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신청서 제출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심사 질의(표본오차·항목무응답· 기업규모 기준) 대응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49317" y="4230929"/>
            <a:ext cx="2258568" cy="527609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0" name="Text 38"/>
          <p:cNvSpPr/>
          <p:nvPr/>
        </p:nvSpPr>
        <p:spPr>
          <a:xfrm>
            <a:off x="5103266" y="4230929"/>
            <a:ext cx="2150669" cy="527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조사방법·표본설계 보완</a:t>
            </a:r>
            <a:endParaRPr lang="en-US" sz="1110" dirty="0"/>
          </a:p>
        </p:txBody>
      </p:sp>
      <p:sp>
        <p:nvSpPr>
          <p:cNvPr id="41" name="Shape 39"/>
          <p:cNvSpPr/>
          <p:nvPr/>
        </p:nvSpPr>
        <p:spPr>
          <a:xfrm>
            <a:off x="7435901" y="2125066"/>
            <a:ext cx="2264969" cy="2105863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2" name="Text 40"/>
          <p:cNvSpPr/>
          <p:nvPr/>
        </p:nvSpPr>
        <p:spPr>
          <a:xfrm>
            <a:off x="7463333" y="2200961"/>
            <a:ext cx="221101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2027년 하반기  |  승인·전환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7597750" y="2519172"/>
            <a:ext cx="1941271" cy="9144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4" name="Text 42"/>
          <p:cNvSpPr/>
          <p:nvPr/>
        </p:nvSpPr>
        <p:spPr>
          <a:xfrm>
            <a:off x="7597750" y="2608783"/>
            <a:ext cx="1968703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승인 취득 후 자료수집 개시 (개시일 D-30 신청 완료 상태)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제조·건설 26개 중분류 공표 단위 확장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첫 해는 기존 공표 10개 단위 계열 병행 산출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정기통계품질진단 대비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35901" y="4230929"/>
            <a:ext cx="2264969" cy="527609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6" name="Text 44"/>
          <p:cNvSpPr/>
          <p:nvPr/>
        </p:nvSpPr>
        <p:spPr>
          <a:xfrm>
            <a:off x="7489850" y="4230929"/>
            <a:ext cx="2157070" cy="527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전 요소 반영·차기 조사 설계</a:t>
            </a:r>
            <a:endParaRPr lang="en-US" sz="1110" dirty="0"/>
          </a:p>
        </p:txBody>
      </p:sp>
      <p:sp>
        <p:nvSpPr>
          <p:cNvPr id="47" name="Shape 45"/>
          <p:cNvSpPr/>
          <p:nvPr/>
        </p:nvSpPr>
        <p:spPr>
          <a:xfrm>
            <a:off x="283464" y="4968850"/>
            <a:ext cx="9539021" cy="1183234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8" name="Shape 46"/>
          <p:cNvSpPr/>
          <p:nvPr/>
        </p:nvSpPr>
        <p:spPr>
          <a:xfrm>
            <a:off x="431597" y="5267858"/>
            <a:ext cx="323698" cy="3054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9" name="Shape 47"/>
          <p:cNvSpPr/>
          <p:nvPr/>
        </p:nvSpPr>
        <p:spPr>
          <a:xfrm>
            <a:off x="1725473" y="5267858"/>
            <a:ext cx="323698" cy="3054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0" name="Shape 48"/>
          <p:cNvSpPr/>
          <p:nvPr/>
        </p:nvSpPr>
        <p:spPr>
          <a:xfrm>
            <a:off x="431597" y="5420563"/>
            <a:ext cx="323698" cy="3054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1" name="Shape 49"/>
          <p:cNvSpPr/>
          <p:nvPr/>
        </p:nvSpPr>
        <p:spPr>
          <a:xfrm>
            <a:off x="1725473" y="5420563"/>
            <a:ext cx="323698" cy="3054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2" name="Shape 50"/>
          <p:cNvSpPr/>
          <p:nvPr/>
        </p:nvSpPr>
        <p:spPr>
          <a:xfrm>
            <a:off x="593446" y="5267858"/>
            <a:ext cx="1294790" cy="458114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53" name="Shape 51"/>
          <p:cNvSpPr/>
          <p:nvPr/>
        </p:nvSpPr>
        <p:spPr>
          <a:xfrm>
            <a:off x="431597" y="5420563"/>
            <a:ext cx="1617574" cy="15270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54" name="Text 52"/>
          <p:cNvSpPr/>
          <p:nvPr/>
        </p:nvSpPr>
        <p:spPr>
          <a:xfrm>
            <a:off x="431597" y="5267858"/>
            <a:ext cx="1617574" cy="45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로드맵 운영 원칙</a:t>
            </a:r>
            <a:endParaRPr lang="en-US" sz="1320" dirty="0"/>
          </a:p>
        </p:txBody>
      </p:sp>
      <p:sp>
        <p:nvSpPr>
          <p:cNvPr id="55" name="Shape 53"/>
          <p:cNvSpPr/>
          <p:nvPr/>
        </p:nvSpPr>
        <p:spPr>
          <a:xfrm>
            <a:off x="2292401" y="5089550"/>
            <a:ext cx="202082" cy="19111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2292401" y="5089550"/>
            <a:ext cx="202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5357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292401" y="5089550"/>
            <a:ext cx="202082" cy="191110"/>
          </a:xfrm>
          <a:prstGeom prst="ellipse">
            <a:avLst/>
          </a:prstGeom>
          <a:ln w="12700">
            <a:solidFill>
              <a:srgbClr val="05357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88666" y="5063947"/>
            <a:ext cx="707837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RFP 6개 요소: 조사대상·조사방법·모집단·표본설계·소요예산·추진일정 — 단계별로 누락 없이 배치</a:t>
            </a:r>
            <a:endParaRPr lang="en-US" sz="1060" dirty="0"/>
          </a:p>
        </p:txBody>
      </p:sp>
      <p:sp>
        <p:nvSpPr>
          <p:cNvPr id="59" name="Shape 57"/>
          <p:cNvSpPr/>
          <p:nvPr/>
        </p:nvSpPr>
        <p:spPr>
          <a:xfrm>
            <a:off x="2292401" y="5420563"/>
            <a:ext cx="202082" cy="19111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2292401" y="5420563"/>
            <a:ext cx="202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5357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292401" y="5420563"/>
            <a:ext cx="202082" cy="191110"/>
          </a:xfrm>
          <a:prstGeom prst="ellipse">
            <a:avLst/>
          </a:prstGeom>
          <a:ln w="12700">
            <a:solidFill>
              <a:srgbClr val="05357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88666" y="5394960"/>
            <a:ext cx="707837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2026년은 시범 단계에서 방법을 표준화하고, 2027년 승인 신청 시 재작업 없이 편입</a:t>
            </a:r>
            <a:endParaRPr lang="en-US" sz="1060" dirty="0"/>
          </a:p>
        </p:txBody>
      </p:sp>
      <p:sp>
        <p:nvSpPr>
          <p:cNvPr id="63" name="Shape 61"/>
          <p:cNvSpPr/>
          <p:nvPr/>
        </p:nvSpPr>
        <p:spPr>
          <a:xfrm>
            <a:off x="2292401" y="5751576"/>
            <a:ext cx="202082" cy="19111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2292401" y="5751576"/>
            <a:ext cx="202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5357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292401" y="5751576"/>
            <a:ext cx="202082" cy="191110"/>
          </a:xfrm>
          <a:prstGeom prst="ellipse">
            <a:avLst/>
          </a:prstGeom>
          <a:ln w="12700">
            <a:solidFill>
              <a:srgbClr val="05357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88666" y="5725973"/>
            <a:ext cx="7078370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자료수집 개시 30일 전 신청을 기준으로 역산 / 부득이한 경우 사유서 첨부 15일 전 /</a:t>
            </a:r>
            <a:endParaRPr lang="en-US" sz="106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첫 승인통계 작성연도는 2027년분 / 계약일·심의 일정에 따라 착수보고서에서 확정</a:t>
            </a:r>
            <a:endParaRPr lang="en-US" sz="1060" dirty="0"/>
          </a:p>
        </p:txBody>
      </p:sp>
      <p:sp>
        <p:nvSpPr>
          <p:cNvPr id="67" name="Text 65"/>
          <p:cNvSpPr/>
          <p:nvPr/>
        </p:nvSpPr>
        <p:spPr>
          <a:xfrm>
            <a:off x="323698" y="6259982"/>
            <a:ext cx="97749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「통계법 시행령」 제24조제1항</a:t>
            </a:r>
            <a:endParaRPr lang="en-US" sz="10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316" y="114300"/>
            <a:ext cx="8089697" cy="483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정기통계품질진단 6대 차원 대응</a:t>
            </a:r>
            <a:endParaRPr lang="en-US" sz="2630" dirty="0"/>
          </a:p>
        </p:txBody>
      </p:sp>
      <p:sp>
        <p:nvSpPr>
          <p:cNvPr id="3" name="Shape 1"/>
          <p:cNvSpPr/>
          <p:nvPr/>
        </p:nvSpPr>
        <p:spPr>
          <a:xfrm flipH="1">
            <a:off x="242316" y="725119"/>
            <a:ext cx="80467" cy="191110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4" name="Text 2"/>
          <p:cNvSpPr/>
          <p:nvPr/>
        </p:nvSpPr>
        <p:spPr>
          <a:xfrm>
            <a:off x="431597" y="699516"/>
            <a:ext cx="606704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전 과정 품질관리와 고배점 절차 집중</a:t>
            </a:r>
            <a:endParaRPr lang="en-US" sz="1470" dirty="0"/>
          </a:p>
        </p:txBody>
      </p:sp>
      <p:sp>
        <p:nvSpPr>
          <p:cNvPr id="5" name="Shape 3"/>
          <p:cNvSpPr/>
          <p:nvPr/>
        </p:nvSpPr>
        <p:spPr>
          <a:xfrm>
            <a:off x="795528" y="1004926"/>
            <a:ext cx="26518" cy="534010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004926"/>
            <a:ext cx="158191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14246"/>
            <a:ext cx="158191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9276588" y="1004926"/>
            <a:ext cx="26518" cy="534010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9144914" y="1004926"/>
            <a:ext cx="158191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914" y="1514246"/>
            <a:ext cx="158191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Text 9"/>
          <p:cNvSpPr/>
          <p:nvPr/>
        </p:nvSpPr>
        <p:spPr>
          <a:xfrm>
            <a:off x="997610" y="1017727"/>
            <a:ext cx="404165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0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205" dirty="0"/>
          </a:p>
        </p:txBody>
      </p:sp>
      <p:sp>
        <p:nvSpPr>
          <p:cNvPr id="12" name="Text 10"/>
          <p:cNvSpPr/>
          <p:nvPr/>
        </p:nvSpPr>
        <p:spPr>
          <a:xfrm>
            <a:off x="8696858" y="1017727"/>
            <a:ext cx="404165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0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205" dirty="0"/>
          </a:p>
        </p:txBody>
      </p:sp>
      <p:sp>
        <p:nvSpPr>
          <p:cNvPr id="13" name="Text 11"/>
          <p:cNvSpPr/>
          <p:nvPr/>
        </p:nvSpPr>
        <p:spPr>
          <a:xfrm>
            <a:off x="1388974" y="1004926"/>
            <a:ext cx="7321601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7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정기통계품질진단 6대 차원 대응표로 전 과정 품질을 관리하고, 고배점 절차에 역량을 집중</a:t>
            </a:r>
            <a:endParaRPr lang="en-US" sz="1470" dirty="0"/>
          </a:p>
        </p:txBody>
      </p:sp>
      <p:sp>
        <p:nvSpPr>
          <p:cNvPr id="14" name="Shape 12"/>
          <p:cNvSpPr/>
          <p:nvPr/>
        </p:nvSpPr>
        <p:spPr>
          <a:xfrm>
            <a:off x="229514" y="1762049"/>
            <a:ext cx="9613087" cy="2691079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896258" y="1634947"/>
            <a:ext cx="269748" cy="25420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6" name="Shape 14"/>
          <p:cNvSpPr/>
          <p:nvPr/>
        </p:nvSpPr>
        <p:spPr>
          <a:xfrm>
            <a:off x="5898794" y="1634947"/>
            <a:ext cx="269748" cy="25420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7" name="Shape 15"/>
          <p:cNvSpPr/>
          <p:nvPr/>
        </p:nvSpPr>
        <p:spPr>
          <a:xfrm>
            <a:off x="3896258" y="1634947"/>
            <a:ext cx="269748" cy="25420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8" name="Shape 16"/>
          <p:cNvSpPr/>
          <p:nvPr/>
        </p:nvSpPr>
        <p:spPr>
          <a:xfrm>
            <a:off x="5898794" y="1634947"/>
            <a:ext cx="269748" cy="254203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9" name="Shape 17"/>
          <p:cNvSpPr/>
          <p:nvPr/>
        </p:nvSpPr>
        <p:spPr>
          <a:xfrm>
            <a:off x="4031590" y="1634947"/>
            <a:ext cx="2002536" cy="254203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0" name="Shape 18"/>
          <p:cNvSpPr/>
          <p:nvPr/>
        </p:nvSpPr>
        <p:spPr>
          <a:xfrm>
            <a:off x="3896258" y="1762049"/>
            <a:ext cx="2272284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1" name="Text 19"/>
          <p:cNvSpPr/>
          <p:nvPr/>
        </p:nvSpPr>
        <p:spPr>
          <a:xfrm>
            <a:off x="3896258" y="1634947"/>
            <a:ext cx="227228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6대 품질 차원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350215" y="2004365"/>
            <a:ext cx="9370771" cy="3438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395" y="2080260"/>
            <a:ext cx="209398" cy="1975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" y="2080260"/>
            <a:ext cx="20939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5042" y="2004365"/>
            <a:ext cx="13487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관련성</a:t>
            </a:r>
            <a:endParaRPr lang="en-US" sz="1210" dirty="0"/>
          </a:p>
        </p:txBody>
      </p:sp>
      <p:sp>
        <p:nvSpPr>
          <p:cNvPr id="26" name="Shape 24"/>
          <p:cNvSpPr/>
          <p:nvPr/>
        </p:nvSpPr>
        <p:spPr>
          <a:xfrm>
            <a:off x="2494483" y="2080260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27" name="Text 25"/>
          <p:cNvSpPr/>
          <p:nvPr/>
        </p:nvSpPr>
        <p:spPr>
          <a:xfrm>
            <a:off x="2670048" y="2004365"/>
            <a:ext cx="2292401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이용자 요구·정책 목적 반영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5069434" y="2080260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29" name="Text 27"/>
          <p:cNvSpPr/>
          <p:nvPr/>
        </p:nvSpPr>
        <p:spPr>
          <a:xfrm>
            <a:off x="5231282" y="2004365"/>
            <a:ext cx="13487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B08D4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대응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6674206" y="2080260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31" name="Text 29"/>
          <p:cNvSpPr/>
          <p:nvPr/>
        </p:nvSpPr>
        <p:spPr>
          <a:xfrm>
            <a:off x="6822338" y="2004365"/>
            <a:ext cx="2818181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발주기관 자문, 연동제 정책 목적에 정합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350215" y="2404872"/>
            <a:ext cx="9370771" cy="3438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47395" y="2480767"/>
            <a:ext cx="209398" cy="1975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4" name="Text 32"/>
          <p:cNvSpPr/>
          <p:nvPr/>
        </p:nvSpPr>
        <p:spPr>
          <a:xfrm>
            <a:off x="647395" y="2480767"/>
            <a:ext cx="20939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25042" y="2404872"/>
            <a:ext cx="13487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정확성</a:t>
            </a:r>
            <a:endParaRPr lang="en-US" sz="1210" dirty="0"/>
          </a:p>
        </p:txBody>
      </p:sp>
      <p:sp>
        <p:nvSpPr>
          <p:cNvPr id="36" name="Shape 34"/>
          <p:cNvSpPr/>
          <p:nvPr/>
        </p:nvSpPr>
        <p:spPr>
          <a:xfrm>
            <a:off x="2494483" y="2480767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37" name="Text 35"/>
          <p:cNvSpPr/>
          <p:nvPr/>
        </p:nvSpPr>
        <p:spPr>
          <a:xfrm>
            <a:off x="2670048" y="2404872"/>
            <a:ext cx="2292401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표본·비표본오차 최소화</a:t>
            </a:r>
            <a:endParaRPr lang="en-US" sz="1110" dirty="0"/>
          </a:p>
        </p:txBody>
      </p:sp>
      <p:sp>
        <p:nvSpPr>
          <p:cNvPr id="38" name="Shape 36"/>
          <p:cNvSpPr/>
          <p:nvPr/>
        </p:nvSpPr>
        <p:spPr>
          <a:xfrm>
            <a:off x="5069434" y="2480767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39" name="Text 37"/>
          <p:cNvSpPr/>
          <p:nvPr/>
        </p:nvSpPr>
        <p:spPr>
          <a:xfrm>
            <a:off x="5231282" y="2404872"/>
            <a:ext cx="13487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B08D4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대응</a:t>
            </a:r>
            <a:endParaRPr lang="en-US" sz="1110" dirty="0"/>
          </a:p>
        </p:txBody>
      </p:sp>
      <p:sp>
        <p:nvSpPr>
          <p:cNvPr id="40" name="Shape 38"/>
          <p:cNvSpPr/>
          <p:nvPr/>
        </p:nvSpPr>
        <p:spPr>
          <a:xfrm>
            <a:off x="6674206" y="2480767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41" name="Text 39"/>
          <p:cNvSpPr/>
          <p:nvPr/>
        </p:nvSpPr>
        <p:spPr>
          <a:xfrm>
            <a:off x="6822338" y="2404872"/>
            <a:ext cx="2818181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판별조사와 가중치 보정, 5단계 검증</a:t>
            </a:r>
            <a:endParaRPr lang="en-US" sz="1110" dirty="0"/>
          </a:p>
        </p:txBody>
      </p:sp>
      <p:sp>
        <p:nvSpPr>
          <p:cNvPr id="42" name="Shape 40"/>
          <p:cNvSpPr/>
          <p:nvPr/>
        </p:nvSpPr>
        <p:spPr>
          <a:xfrm>
            <a:off x="350215" y="2805379"/>
            <a:ext cx="9370771" cy="3438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47395" y="2882189"/>
            <a:ext cx="209398" cy="1975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44" name="Text 42"/>
          <p:cNvSpPr/>
          <p:nvPr/>
        </p:nvSpPr>
        <p:spPr>
          <a:xfrm>
            <a:off x="647395" y="2882189"/>
            <a:ext cx="20939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25042" y="2805379"/>
            <a:ext cx="13487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시의성</a:t>
            </a:r>
            <a:endParaRPr lang="en-US" sz="1210" dirty="0"/>
          </a:p>
        </p:txBody>
      </p:sp>
      <p:sp>
        <p:nvSpPr>
          <p:cNvPr id="46" name="Shape 44"/>
          <p:cNvSpPr/>
          <p:nvPr/>
        </p:nvSpPr>
        <p:spPr>
          <a:xfrm>
            <a:off x="2494483" y="2882189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47" name="Text 45"/>
          <p:cNvSpPr/>
          <p:nvPr/>
        </p:nvSpPr>
        <p:spPr>
          <a:xfrm>
            <a:off x="2670048" y="2805379"/>
            <a:ext cx="2292401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계약일 기준 일정 준수</a:t>
            </a:r>
            <a:endParaRPr lang="en-US" sz="1110" dirty="0"/>
          </a:p>
        </p:txBody>
      </p:sp>
      <p:sp>
        <p:nvSpPr>
          <p:cNvPr id="48" name="Shape 46"/>
          <p:cNvSpPr/>
          <p:nvPr/>
        </p:nvSpPr>
        <p:spPr>
          <a:xfrm>
            <a:off x="5069434" y="2882189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49" name="Text 47"/>
          <p:cNvSpPr/>
          <p:nvPr/>
        </p:nvSpPr>
        <p:spPr>
          <a:xfrm>
            <a:off x="5231282" y="2805379"/>
            <a:ext cx="13487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B08D4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대응</a:t>
            </a:r>
            <a:endParaRPr lang="en-US" sz="1110" dirty="0"/>
          </a:p>
        </p:txBody>
      </p:sp>
      <p:sp>
        <p:nvSpPr>
          <p:cNvPr id="50" name="Shape 48"/>
          <p:cNvSpPr/>
          <p:nvPr/>
        </p:nvSpPr>
        <p:spPr>
          <a:xfrm>
            <a:off x="6674206" y="2882189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51" name="Text 49"/>
          <p:cNvSpPr/>
          <p:nvPr/>
        </p:nvSpPr>
        <p:spPr>
          <a:xfrm>
            <a:off x="6822338" y="2805379"/>
            <a:ext cx="2818181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상대일정 준수, 성과물 4종 제출시기 준수</a:t>
            </a:r>
            <a:endParaRPr lang="en-US" sz="1110" dirty="0"/>
          </a:p>
        </p:txBody>
      </p:sp>
      <p:sp>
        <p:nvSpPr>
          <p:cNvPr id="52" name="Shape 50"/>
          <p:cNvSpPr/>
          <p:nvPr/>
        </p:nvSpPr>
        <p:spPr>
          <a:xfrm>
            <a:off x="350215" y="3206801"/>
            <a:ext cx="9370771" cy="3438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647395" y="3282696"/>
            <a:ext cx="209398" cy="1975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4" name="Text 52"/>
          <p:cNvSpPr/>
          <p:nvPr/>
        </p:nvSpPr>
        <p:spPr>
          <a:xfrm>
            <a:off x="647395" y="3282696"/>
            <a:ext cx="20939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25042" y="3206801"/>
            <a:ext cx="13487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비교성</a:t>
            </a:r>
            <a:endParaRPr lang="en-US" sz="1210" dirty="0"/>
          </a:p>
        </p:txBody>
      </p:sp>
      <p:sp>
        <p:nvSpPr>
          <p:cNvPr id="56" name="Shape 54"/>
          <p:cNvSpPr/>
          <p:nvPr/>
        </p:nvSpPr>
        <p:spPr>
          <a:xfrm>
            <a:off x="2494483" y="3282696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57" name="Text 55"/>
          <p:cNvSpPr/>
          <p:nvPr/>
        </p:nvSpPr>
        <p:spPr>
          <a:xfrm>
            <a:off x="2670048" y="3206801"/>
            <a:ext cx="2292401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시계열 비교 기반 확보</a:t>
            </a:r>
            <a:endParaRPr lang="en-US" sz="1110" dirty="0"/>
          </a:p>
        </p:txBody>
      </p:sp>
      <p:sp>
        <p:nvSpPr>
          <p:cNvPr id="58" name="Shape 56"/>
          <p:cNvSpPr/>
          <p:nvPr/>
        </p:nvSpPr>
        <p:spPr>
          <a:xfrm>
            <a:off x="5069434" y="3282696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59" name="Text 57"/>
          <p:cNvSpPr/>
          <p:nvPr/>
        </p:nvSpPr>
        <p:spPr>
          <a:xfrm>
            <a:off x="5231282" y="3206801"/>
            <a:ext cx="13487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B08D4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대응</a:t>
            </a:r>
            <a:endParaRPr lang="en-US" sz="1110" dirty="0"/>
          </a:p>
        </p:txBody>
      </p:sp>
      <p:sp>
        <p:nvSpPr>
          <p:cNvPr id="60" name="Shape 58"/>
          <p:cNvSpPr/>
          <p:nvPr/>
        </p:nvSpPr>
        <p:spPr>
          <a:xfrm>
            <a:off x="6674206" y="3282696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61" name="Text 59"/>
          <p:cNvSpPr/>
          <p:nvPr/>
        </p:nvSpPr>
        <p:spPr>
          <a:xfrm>
            <a:off x="6822338" y="3206801"/>
            <a:ext cx="2818181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업종 30개 분류 원자료 보존, 10차↔11차 연계표</a:t>
            </a:r>
            <a:endParaRPr lang="en-US" sz="1010" dirty="0"/>
          </a:p>
        </p:txBody>
      </p:sp>
      <p:sp>
        <p:nvSpPr>
          <p:cNvPr id="62" name="Shape 60"/>
          <p:cNvSpPr/>
          <p:nvPr/>
        </p:nvSpPr>
        <p:spPr>
          <a:xfrm>
            <a:off x="350215" y="3600907"/>
            <a:ext cx="9370771" cy="3438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647395" y="3676802"/>
            <a:ext cx="209398" cy="1975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4" name="Text 62"/>
          <p:cNvSpPr/>
          <p:nvPr/>
        </p:nvSpPr>
        <p:spPr>
          <a:xfrm>
            <a:off x="647395" y="3676802"/>
            <a:ext cx="20939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25042" y="3600907"/>
            <a:ext cx="13487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접근성·명확성</a:t>
            </a:r>
            <a:endParaRPr lang="en-US" sz="1210" dirty="0"/>
          </a:p>
        </p:txBody>
      </p:sp>
      <p:sp>
        <p:nvSpPr>
          <p:cNvPr id="66" name="Shape 64"/>
          <p:cNvSpPr/>
          <p:nvPr/>
        </p:nvSpPr>
        <p:spPr>
          <a:xfrm>
            <a:off x="2494483" y="3676802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67" name="Text 65"/>
          <p:cNvSpPr/>
          <p:nvPr/>
        </p:nvSpPr>
        <p:spPr>
          <a:xfrm>
            <a:off x="2670048" y="3600907"/>
            <a:ext cx="2292401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자료 접근·메타 제공</a:t>
            </a:r>
            <a:endParaRPr lang="en-US" sz="1110" dirty="0"/>
          </a:p>
        </p:txBody>
      </p:sp>
      <p:sp>
        <p:nvSpPr>
          <p:cNvPr id="68" name="Shape 66"/>
          <p:cNvSpPr/>
          <p:nvPr/>
        </p:nvSpPr>
        <p:spPr>
          <a:xfrm>
            <a:off x="5069434" y="3676802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69" name="Text 67"/>
          <p:cNvSpPr/>
          <p:nvPr/>
        </p:nvSpPr>
        <p:spPr>
          <a:xfrm>
            <a:off x="5231282" y="3600907"/>
            <a:ext cx="13487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B08D4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대응</a:t>
            </a:r>
            <a:endParaRPr lang="en-US" sz="1110" dirty="0"/>
          </a:p>
        </p:txBody>
      </p:sp>
      <p:sp>
        <p:nvSpPr>
          <p:cNvPr id="70" name="Shape 68"/>
          <p:cNvSpPr/>
          <p:nvPr/>
        </p:nvSpPr>
        <p:spPr>
          <a:xfrm>
            <a:off x="6674206" y="3676802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71" name="Text 69"/>
          <p:cNvSpPr/>
          <p:nvPr/>
        </p:nvSpPr>
        <p:spPr>
          <a:xfrm>
            <a:off x="6822338" y="3600907"/>
            <a:ext cx="2818181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통계표·메타데이터·원자료 DB화, 변수 정의서 납품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50215" y="3995014"/>
            <a:ext cx="9370771" cy="3438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647395" y="4071823"/>
            <a:ext cx="209398" cy="1975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4" name="Text 72"/>
          <p:cNvSpPr/>
          <p:nvPr/>
        </p:nvSpPr>
        <p:spPr>
          <a:xfrm>
            <a:off x="647395" y="4071823"/>
            <a:ext cx="20939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025042" y="3995014"/>
            <a:ext cx="13487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일관성</a:t>
            </a:r>
            <a:endParaRPr lang="en-US" sz="1210" dirty="0"/>
          </a:p>
        </p:txBody>
      </p:sp>
      <p:sp>
        <p:nvSpPr>
          <p:cNvPr id="76" name="Shape 74"/>
          <p:cNvSpPr/>
          <p:nvPr/>
        </p:nvSpPr>
        <p:spPr>
          <a:xfrm>
            <a:off x="2494483" y="4071823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77" name="Text 75"/>
          <p:cNvSpPr/>
          <p:nvPr/>
        </p:nvSpPr>
        <p:spPr>
          <a:xfrm>
            <a:off x="2670048" y="3995014"/>
            <a:ext cx="2292401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 내·외부 지표 정합</a:t>
            </a:r>
            <a:endParaRPr lang="en-US" sz="1110" dirty="0"/>
          </a:p>
        </p:txBody>
      </p:sp>
      <p:sp>
        <p:nvSpPr>
          <p:cNvPr id="78" name="Shape 76"/>
          <p:cNvSpPr/>
          <p:nvPr/>
        </p:nvSpPr>
        <p:spPr>
          <a:xfrm>
            <a:off x="5069434" y="4071823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79" name="Text 77"/>
          <p:cNvSpPr/>
          <p:nvPr/>
        </p:nvSpPr>
        <p:spPr>
          <a:xfrm>
            <a:off x="5231282" y="3995014"/>
            <a:ext cx="13487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B08D4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대응</a:t>
            </a:r>
            <a:endParaRPr lang="en-US" sz="1110" dirty="0"/>
          </a:p>
        </p:txBody>
      </p:sp>
      <p:sp>
        <p:nvSpPr>
          <p:cNvPr id="80" name="Shape 78"/>
          <p:cNvSpPr/>
          <p:nvPr/>
        </p:nvSpPr>
        <p:spPr>
          <a:xfrm>
            <a:off x="6674206" y="4071823"/>
            <a:ext cx="10058" cy="19111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81" name="Text 79"/>
          <p:cNvSpPr/>
          <p:nvPr/>
        </p:nvSpPr>
        <p:spPr>
          <a:xfrm>
            <a:off x="6822338" y="3995014"/>
            <a:ext cx="2818181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지표 정의서 확정 후 기준 불변, 2026년을 별도 기점으로 선언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22199" y="4714646"/>
            <a:ext cx="9620402" cy="1228039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3" name="Shape 81"/>
          <p:cNvSpPr/>
          <p:nvPr/>
        </p:nvSpPr>
        <p:spPr>
          <a:xfrm>
            <a:off x="3755441" y="4618634"/>
            <a:ext cx="276149" cy="26060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4" name="Shape 82"/>
          <p:cNvSpPr/>
          <p:nvPr/>
        </p:nvSpPr>
        <p:spPr>
          <a:xfrm>
            <a:off x="6034126" y="4618634"/>
            <a:ext cx="276149" cy="26060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5" name="Shape 83"/>
          <p:cNvSpPr/>
          <p:nvPr/>
        </p:nvSpPr>
        <p:spPr>
          <a:xfrm>
            <a:off x="3755441" y="4618634"/>
            <a:ext cx="276149" cy="26060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6" name="Shape 84"/>
          <p:cNvSpPr/>
          <p:nvPr/>
        </p:nvSpPr>
        <p:spPr>
          <a:xfrm>
            <a:off x="6034126" y="4618634"/>
            <a:ext cx="276149" cy="26060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7" name="Shape 85"/>
          <p:cNvSpPr/>
          <p:nvPr/>
        </p:nvSpPr>
        <p:spPr>
          <a:xfrm>
            <a:off x="3893515" y="4618634"/>
            <a:ext cx="2278685" cy="260604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88" name="Shape 86"/>
          <p:cNvSpPr/>
          <p:nvPr/>
        </p:nvSpPr>
        <p:spPr>
          <a:xfrm>
            <a:off x="3755441" y="4749394"/>
            <a:ext cx="2554834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89" name="Text 87"/>
          <p:cNvSpPr/>
          <p:nvPr/>
        </p:nvSpPr>
        <p:spPr>
          <a:xfrm>
            <a:off x="3755441" y="4618634"/>
            <a:ext cx="255483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품질진단 사전 준비</a:t>
            </a:r>
            <a:endParaRPr lang="en-US" sz="1270" dirty="0"/>
          </a:p>
        </p:txBody>
      </p:sp>
      <p:sp>
        <p:nvSpPr>
          <p:cNvPr id="90" name="Text 88"/>
          <p:cNvSpPr/>
          <p:nvPr/>
        </p:nvSpPr>
        <p:spPr>
          <a:xfrm>
            <a:off x="471830" y="5000854"/>
            <a:ext cx="1618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05357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✓</a:t>
            </a:r>
            <a:endParaRPr lang="en-US" sz="1110" dirty="0"/>
          </a:p>
        </p:txBody>
      </p:sp>
      <p:sp>
        <p:nvSpPr>
          <p:cNvPr id="91" name="Text 89"/>
          <p:cNvSpPr/>
          <p:nvPr/>
        </p:nvSpPr>
        <p:spPr>
          <a:xfrm>
            <a:off x="687629" y="4975250"/>
            <a:ext cx="3977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품질진단 배점은 설계·수집·처리·분석 절차에 집중되므로</a:t>
            </a:r>
            <a:endParaRPr lang="en-US" sz="106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이 절차군에 역량을 배정</a:t>
            </a:r>
            <a:endParaRPr lang="en-US" sz="1060" dirty="0"/>
          </a:p>
        </p:txBody>
      </p:sp>
      <p:sp>
        <p:nvSpPr>
          <p:cNvPr id="92" name="Text 90"/>
          <p:cNvSpPr/>
          <p:nvPr/>
        </p:nvSpPr>
        <p:spPr>
          <a:xfrm>
            <a:off x="471830" y="5394960"/>
            <a:ext cx="1618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05357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✓</a:t>
            </a:r>
            <a:endParaRPr lang="en-US" sz="1110" dirty="0"/>
          </a:p>
        </p:txBody>
      </p:sp>
      <p:sp>
        <p:nvSpPr>
          <p:cNvPr id="93" name="Text 91"/>
          <p:cNvSpPr/>
          <p:nvPr/>
        </p:nvSpPr>
        <p:spPr>
          <a:xfrm>
            <a:off x="687629" y="5369357"/>
            <a:ext cx="3977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절차별 배점은 승인 협의 시 해당 연도 기준으로 확인</a:t>
            </a:r>
            <a:endParaRPr lang="en-US" sz="1060" dirty="0"/>
          </a:p>
        </p:txBody>
      </p:sp>
      <p:sp>
        <p:nvSpPr>
          <p:cNvPr id="94" name="Text 92"/>
          <p:cNvSpPr/>
          <p:nvPr/>
        </p:nvSpPr>
        <p:spPr>
          <a:xfrm>
            <a:off x="5393131" y="5000854"/>
            <a:ext cx="1618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05357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✓</a:t>
            </a:r>
            <a:endParaRPr lang="en-US" sz="1110" dirty="0"/>
          </a:p>
        </p:txBody>
      </p:sp>
      <p:sp>
        <p:nvSpPr>
          <p:cNvPr id="95" name="Text 93"/>
          <p:cNvSpPr/>
          <p:nvPr/>
        </p:nvSpPr>
        <p:spPr>
          <a:xfrm>
            <a:off x="5608930" y="4975250"/>
            <a:ext cx="3977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편입 후 정기품질진단: 기본 → 심층 6종 → FGD → 개선과제</a:t>
            </a:r>
            <a:endParaRPr lang="en-US" sz="1060" dirty="0"/>
          </a:p>
        </p:txBody>
      </p:sp>
      <p:sp>
        <p:nvSpPr>
          <p:cNvPr id="96" name="Text 94"/>
          <p:cNvSpPr/>
          <p:nvPr/>
        </p:nvSpPr>
        <p:spPr>
          <a:xfrm>
            <a:off x="5393131" y="5394960"/>
            <a:ext cx="1618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05357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✓</a:t>
            </a:r>
            <a:endParaRPr lang="en-US" sz="1110" dirty="0"/>
          </a:p>
        </p:txBody>
      </p:sp>
      <p:sp>
        <p:nvSpPr>
          <p:cNvPr id="97" name="Text 95"/>
          <p:cNvSpPr/>
          <p:nvPr/>
        </p:nvSpPr>
        <p:spPr>
          <a:xfrm>
            <a:off x="5608930" y="5369357"/>
            <a:ext cx="397764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통계정보보고서 초안을 최종보고 시 제출해 발주기관 검토 후 확정</a:t>
            </a:r>
            <a:endParaRPr lang="en-US" sz="1060" dirty="0"/>
          </a:p>
        </p:txBody>
      </p:sp>
      <p:sp>
        <p:nvSpPr>
          <p:cNvPr id="98" name="Text 96"/>
          <p:cNvSpPr/>
          <p:nvPr/>
        </p:nvSpPr>
        <p:spPr>
          <a:xfrm>
            <a:off x="5608930" y="5598871"/>
            <a:ext cx="40453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통계 개요·작성목적·모집단·조사단위·조사방법·표본설계·추정방법·공표계획·이용상 유의사항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4988966" y="4936846"/>
            <a:ext cx="10058" cy="826618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100" name="Text 98"/>
          <p:cNvSpPr/>
          <p:nvPr/>
        </p:nvSpPr>
        <p:spPr>
          <a:xfrm>
            <a:off x="309982" y="6145682"/>
            <a:ext cx="97749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기준: 정기통계품질진단 기준 — 승인 협의 시 해당 연도 기준으로 확인, 절차별 가중치는 재확인</a:t>
            </a:r>
            <a:endParaRPr lang="en-US" sz="10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596" y="78638"/>
            <a:ext cx="4583887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2026 </a:t>
            </a:r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납품대금 연동제 실태조사 제안서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6596" y="248717"/>
            <a:ext cx="6548018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2. 사업비 소요명세서</a:t>
            </a:r>
            <a:endParaRPr lang="en-US" sz="2860" dirty="0"/>
          </a:p>
        </p:txBody>
      </p:sp>
      <p:sp>
        <p:nvSpPr>
          <p:cNvPr id="4" name="Shape 2"/>
          <p:cNvSpPr/>
          <p:nvPr/>
        </p:nvSpPr>
        <p:spPr>
          <a:xfrm flipH="1">
            <a:off x="222199" y="877824"/>
            <a:ext cx="78638" cy="202997"/>
          </a:xfrm>
          <a:prstGeom prst="parallelogram">
            <a:avLst/>
          </a:prstGeom>
          <a:solidFill>
            <a:srgbClr val="606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333756" y="877824"/>
            <a:ext cx="78638" cy="202997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6" name="Text 4"/>
          <p:cNvSpPr/>
          <p:nvPr/>
        </p:nvSpPr>
        <p:spPr>
          <a:xfrm>
            <a:off x="471830" y="851306"/>
            <a:ext cx="58933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비목별 산출내역과 예산 정합</a:t>
            </a:r>
            <a:endParaRPr lang="en-US" sz="1510" dirty="0"/>
          </a:p>
        </p:txBody>
      </p:sp>
      <p:sp>
        <p:nvSpPr>
          <p:cNvPr id="7" name="Shape 5"/>
          <p:cNvSpPr/>
          <p:nvPr/>
        </p:nvSpPr>
        <p:spPr>
          <a:xfrm>
            <a:off x="405994" y="1165860"/>
            <a:ext cx="26518" cy="48463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405994" y="1165860"/>
            <a:ext cx="135331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405994" y="1623974"/>
            <a:ext cx="135331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9639605" y="1165860"/>
            <a:ext cx="26518" cy="484632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Shape 9"/>
          <p:cNvSpPr/>
          <p:nvPr/>
        </p:nvSpPr>
        <p:spPr>
          <a:xfrm>
            <a:off x="9529877" y="1165860"/>
            <a:ext cx="135331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9877" y="1623974"/>
            <a:ext cx="135331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90" y="1178662"/>
            <a:ext cx="39319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265" dirty="0"/>
          </a:p>
        </p:txBody>
      </p:sp>
      <p:sp>
        <p:nvSpPr>
          <p:cNvPr id="14" name="Text 12"/>
          <p:cNvSpPr/>
          <p:nvPr/>
        </p:nvSpPr>
        <p:spPr>
          <a:xfrm>
            <a:off x="9076334" y="1178662"/>
            <a:ext cx="39319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265" dirty="0"/>
          </a:p>
        </p:txBody>
      </p:sp>
      <p:sp>
        <p:nvSpPr>
          <p:cNvPr id="15" name="Text 13"/>
          <p:cNvSpPr/>
          <p:nvPr/>
        </p:nvSpPr>
        <p:spPr>
          <a:xfrm>
            <a:off x="982066" y="1165860"/>
            <a:ext cx="810707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비목별 산출내역을 금액으로 제시하고, 합계를 사업예산 120,000,000원에 정확히 정합</a:t>
            </a:r>
            <a:endParaRPr lang="en-US" sz="1510" dirty="0"/>
          </a:p>
        </p:txBody>
      </p:sp>
      <p:sp>
        <p:nvSpPr>
          <p:cNvPr id="16" name="Shape 14"/>
          <p:cNvSpPr/>
          <p:nvPr/>
        </p:nvSpPr>
        <p:spPr>
          <a:xfrm>
            <a:off x="209398" y="1689811"/>
            <a:ext cx="78638" cy="7863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7" name="Shape 15"/>
          <p:cNvSpPr/>
          <p:nvPr/>
        </p:nvSpPr>
        <p:spPr>
          <a:xfrm>
            <a:off x="6338621" y="1689811"/>
            <a:ext cx="78638" cy="7863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8" name="Shape 16"/>
          <p:cNvSpPr/>
          <p:nvPr/>
        </p:nvSpPr>
        <p:spPr>
          <a:xfrm>
            <a:off x="209398" y="1853489"/>
            <a:ext cx="78638" cy="7863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9" name="Shape 17"/>
          <p:cNvSpPr/>
          <p:nvPr/>
        </p:nvSpPr>
        <p:spPr>
          <a:xfrm>
            <a:off x="6338621" y="1853489"/>
            <a:ext cx="78638" cy="7863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0" name="Shape 18"/>
          <p:cNvSpPr/>
          <p:nvPr/>
        </p:nvSpPr>
        <p:spPr>
          <a:xfrm>
            <a:off x="248717" y="1689811"/>
            <a:ext cx="6129223" cy="242316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1" name="Shape 19"/>
          <p:cNvSpPr/>
          <p:nvPr/>
        </p:nvSpPr>
        <p:spPr>
          <a:xfrm>
            <a:off x="209398" y="1729130"/>
            <a:ext cx="6207862" cy="16367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2" name="Text 20"/>
          <p:cNvSpPr/>
          <p:nvPr/>
        </p:nvSpPr>
        <p:spPr>
          <a:xfrm>
            <a:off x="209398" y="1689811"/>
            <a:ext cx="620786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비목별 산출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6831" y="1938528"/>
          <a:ext cx="5710428" cy="914400"/>
        </p:xfrm>
        <a:graphic>
          <a:graphicData uri="http://schemas.openxmlformats.org/drawingml/2006/table">
            <a:tbl>
              <a:tblPr/>
              <a:tblGrid>
                <a:gridCol w="1506017"/>
                <a:gridCol w="2894076"/>
                <a:gridCol w="1309421"/>
              </a:tblGrid>
              <a:tr h="4718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KoPub돋움체 Bold" pitchFamily="34" charset="0"/>
                          <a:ea typeface="KoPub돋움체 Bold" pitchFamily="34" charset="-122"/>
                          <a:cs typeface="KoPub돋움체 Bold" pitchFamily="34" charset="-120"/>
                        </a:rPr>
                        <a:t>직접인건비</a:t>
                      </a:r>
                      <a:endParaRPr lang="en-US" sz="1300" dirty="0">
                        <a:latin typeface="KoPub돋움체 Bold" charset="0"/>
                        <a:ea typeface="KoPub돋움체 Bold" charset="0"/>
                        <a:cs typeface="KoPub돋움체 Bold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333333"/>
                          </a:solidFill>
                          <a:latin typeface="KoPub돋움체 Medium" pitchFamily="34" charset="0"/>
                          <a:ea typeface="KoPub돋움체 Medium" pitchFamily="34" charset="-122"/>
                          <a:cs typeface="KoPub돋움체 Medium" pitchFamily="34" charset="-120"/>
                        </a:rPr>
                        <a:t>16명 · 6.02 M/M · 등급별 기준단가 × 참여율 × 3.5개월</a:t>
                      </a:r>
                      <a:endParaRPr lang="en-US" sz="1040" dirty="0">
                        <a:latin typeface="KoPub돋움체 Medium" charset="0"/>
                        <a:ea typeface="KoPub돋움체 Medium" charset="0"/>
                        <a:cs typeface="KoPub돋움체 Medium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333333"/>
                          </a:solidFill>
                          <a:latin typeface="KoPub돋움체 Medium" pitchFamily="34" charset="0"/>
                          <a:ea typeface="KoPub돋움체 Medium" pitchFamily="34" charset="-122"/>
                          <a:cs typeface="KoPub돋움체 Medium" pitchFamily="34" charset="-120"/>
                        </a:rPr>
                        <a:t>(61쪽 참여율 합 172%, 인원별 소계 서식2 참조)</a:t>
                      </a:r>
                      <a:endParaRPr lang="en-US" sz="1040" dirty="0">
                        <a:latin typeface="KoPub돋움체 Medium" charset="0"/>
                        <a:ea typeface="KoPub돋움체 Medium" charset="0"/>
                        <a:cs typeface="KoPub돋움체 Medium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KoPub돋움체 Bold" pitchFamily="34" charset="0"/>
                          <a:ea typeface="KoPub돋움체 Bold" pitchFamily="34" charset="-122"/>
                          <a:cs typeface="KoPub돋움체 Bold" pitchFamily="34" charset="-120"/>
                        </a:rPr>
                        <a:t>35,934,946원</a:t>
                      </a:r>
                      <a:endParaRPr lang="en-US" sz="1300" dirty="0">
                        <a:latin typeface="KoPub돋움체 Bold" charset="0"/>
                        <a:ea typeface="KoPub돋움체 Bold" charset="0"/>
                        <a:cs typeface="KoPub돋움체 Bold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KoPub돋움체 Bold" pitchFamily="34" charset="0"/>
                          <a:ea typeface="KoPub돋움체 Bold" pitchFamily="34" charset="-122"/>
                          <a:cs typeface="KoPub돋움체 Bold" pitchFamily="34" charset="-120"/>
                        </a:rPr>
                        <a:t>직접경비(조사비)</a:t>
                      </a:r>
                      <a:endParaRPr lang="en-US" sz="1300" dirty="0">
                        <a:latin typeface="KoPub돋움체 Bold" charset="0"/>
                        <a:ea typeface="KoPub돋움체 Bold" charset="0"/>
                        <a:cs typeface="KoPub돋움체 Bold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333333"/>
                          </a:solidFill>
                          <a:latin typeface="KoPub돋움체 Medium" pitchFamily="34" charset="0"/>
                          <a:ea typeface="KoPub돋움체 Medium" pitchFamily="34" charset="-122"/>
                          <a:cs typeface="KoPub돋움체 Medium" pitchFamily="34" charset="-120"/>
                        </a:rPr>
                        <a:t>사전 선별조사 · 발송 · 독려 · 응답 확보 · 자료검증 ·</a:t>
                      </a:r>
                      <a:endParaRPr lang="en-US" sz="1040" dirty="0">
                        <a:latin typeface="KoPub돋움체 Medium" charset="0"/>
                        <a:ea typeface="KoPub돋움체 Medium" charset="0"/>
                        <a:cs typeface="KoPub돋움체 Medium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333333"/>
                          </a:solidFill>
                          <a:latin typeface="KoPub돋움체 Medium" pitchFamily="34" charset="0"/>
                          <a:ea typeface="KoPub돋움체 Medium" pitchFamily="34" charset="-122"/>
                          <a:cs typeface="KoPub돋움체 Medium" pitchFamily="34" charset="-120"/>
                        </a:rPr>
                        <a:t>시스템 등 9개 항목</a:t>
                      </a:r>
                      <a:endParaRPr lang="en-US" sz="1040" dirty="0">
                        <a:latin typeface="KoPub돋움체 Medium" charset="0"/>
                        <a:ea typeface="KoPub돋움체 Medium" charset="0"/>
                        <a:cs typeface="KoPub돋움체 Medium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KoPub돋움체 Bold" pitchFamily="34" charset="0"/>
                          <a:ea typeface="KoPub돋움체 Bold" pitchFamily="34" charset="-122"/>
                          <a:cs typeface="KoPub돋움체 Bold" pitchFamily="34" charset="-120"/>
                        </a:rPr>
                        <a:t>60,265,150원</a:t>
                      </a:r>
                      <a:endParaRPr lang="en-US" sz="1300" dirty="0">
                        <a:latin typeface="KoPub돋움체 Bold" charset="0"/>
                        <a:ea typeface="KoPub돋움체 Bold" charset="0"/>
                        <a:cs typeface="KoPub돋움체 Bold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9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KoPub돋움체 Bold" pitchFamily="34" charset="0"/>
                          <a:ea typeface="KoPub돋움체 Bold" pitchFamily="34" charset="-122"/>
                          <a:cs typeface="KoPub돋움체 Bold" pitchFamily="34" charset="-120"/>
                        </a:rPr>
                        <a:t>일반관리비</a:t>
                      </a:r>
                      <a:endParaRPr lang="en-US" sz="1300" dirty="0">
                        <a:latin typeface="KoPub돋움체 Bold" charset="0"/>
                        <a:ea typeface="KoPub돋움체 Bold" charset="0"/>
                        <a:cs typeface="KoPub돋움체 Bold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333333"/>
                          </a:solidFill>
                          <a:latin typeface="KoPub돋움체 Medium" pitchFamily="34" charset="0"/>
                          <a:ea typeface="KoPub돋움체 Medium" pitchFamily="34" charset="-122"/>
                          <a:cs typeface="KoPub돋움체 Medium" pitchFamily="34" charset="-120"/>
                        </a:rPr>
                        <a:t>(①+②) × 5%</a:t>
                      </a:r>
                      <a:endParaRPr lang="en-US" sz="1040" dirty="0">
                        <a:latin typeface="KoPub돋움체 Medium" charset="0"/>
                        <a:ea typeface="KoPub돋움체 Medium" charset="0"/>
                        <a:cs typeface="KoPub돋움체 Medium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KoPub돋움체 Bold" pitchFamily="34" charset="0"/>
                          <a:ea typeface="KoPub돋움체 Bold" pitchFamily="34" charset="-122"/>
                          <a:cs typeface="KoPub돋움체 Bold" pitchFamily="34" charset="-120"/>
                        </a:rPr>
                        <a:t>4,810,005원</a:t>
                      </a:r>
                      <a:endParaRPr lang="en-US" sz="1300" dirty="0">
                        <a:latin typeface="KoPub돋움체 Bold" charset="0"/>
                        <a:ea typeface="KoPub돋움체 Bold" charset="0"/>
                        <a:cs typeface="KoPub돋움체 Bold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KoPub돋움체 Bold" pitchFamily="34" charset="0"/>
                          <a:ea typeface="KoPub돋움체 Bold" pitchFamily="34" charset="-122"/>
                          <a:cs typeface="KoPub돋움체 Bold" pitchFamily="34" charset="-120"/>
                        </a:rPr>
                        <a:t>이윤</a:t>
                      </a:r>
                      <a:endParaRPr lang="en-US" sz="1300" dirty="0">
                        <a:latin typeface="KoPub돋움체 Bold" charset="0"/>
                        <a:ea typeface="KoPub돋움체 Bold" charset="0"/>
                        <a:cs typeface="KoPub돋움체 Bold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333333"/>
                          </a:solidFill>
                          <a:latin typeface="KoPub돋움체 Medium" pitchFamily="34" charset="0"/>
                          <a:ea typeface="KoPub돋움체 Medium" pitchFamily="34" charset="-122"/>
                          <a:cs typeface="KoPub돋움체 Medium" pitchFamily="34" charset="-120"/>
                        </a:rPr>
                        <a:t>(①+②+③) × 8%</a:t>
                      </a:r>
                      <a:endParaRPr lang="en-US" sz="1040" dirty="0">
                        <a:latin typeface="KoPub돋움체 Medium" charset="0"/>
                        <a:ea typeface="KoPub돋움체 Medium" charset="0"/>
                        <a:cs typeface="KoPub돋움체 Medium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KoPub돋움체 Bold" pitchFamily="34" charset="0"/>
                          <a:ea typeface="KoPub돋움체 Bold" pitchFamily="34" charset="-122"/>
                          <a:cs typeface="KoPub돋움체 Bold" pitchFamily="34" charset="-120"/>
                        </a:rPr>
                        <a:t>8,080,808원</a:t>
                      </a:r>
                      <a:endParaRPr lang="en-US" sz="1300" dirty="0">
                        <a:latin typeface="KoPub돋움체 Bold" charset="0"/>
                        <a:ea typeface="KoPub돋움체 Bold" charset="0"/>
                        <a:cs typeface="KoPub돋움체 Bold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KoPub돋움체 Bold" pitchFamily="34" charset="0"/>
                          <a:ea typeface="KoPub돋움체 Bold" pitchFamily="34" charset="-122"/>
                          <a:cs typeface="KoPub돋움체 Bold" pitchFamily="34" charset="-120"/>
                        </a:rPr>
                        <a:t>부가가치세</a:t>
                      </a:r>
                      <a:endParaRPr lang="en-US" sz="1300" dirty="0">
                        <a:latin typeface="KoPub돋움체 Bold" charset="0"/>
                        <a:ea typeface="KoPub돋움체 Bold" charset="0"/>
                        <a:cs typeface="KoPub돋움체 Bold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333333"/>
                          </a:solidFill>
                          <a:latin typeface="KoPub돋움체 Medium" pitchFamily="34" charset="0"/>
                          <a:ea typeface="KoPub돋움체 Medium" pitchFamily="34" charset="-122"/>
                          <a:cs typeface="KoPub돋움체 Medium" pitchFamily="34" charset="-120"/>
                        </a:rPr>
                        <a:t>공급가액 × 10%</a:t>
                      </a:r>
                      <a:endParaRPr lang="en-US" sz="1040" dirty="0">
                        <a:latin typeface="KoPub돋움체 Medium" charset="0"/>
                        <a:ea typeface="KoPub돋움체 Medium" charset="0"/>
                        <a:cs typeface="KoPub돋움체 Medium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KoPub돋움체 Bold" pitchFamily="34" charset="0"/>
                          <a:ea typeface="KoPub돋움체 Bold" pitchFamily="34" charset="-122"/>
                          <a:cs typeface="KoPub돋움체 Bold" pitchFamily="34" charset="-120"/>
                        </a:rPr>
                        <a:t>10,909,091원</a:t>
                      </a:r>
                      <a:endParaRPr lang="en-US" sz="1300" dirty="0">
                        <a:latin typeface="KoPub돋움체 Bold" charset="0"/>
                        <a:ea typeface="KoPub돋움체 Bold" charset="0"/>
                        <a:cs typeface="KoPub돋움체 Bold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340157" y="2062886"/>
            <a:ext cx="222199" cy="222199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5" name="Text 22"/>
          <p:cNvSpPr/>
          <p:nvPr/>
        </p:nvSpPr>
        <p:spPr>
          <a:xfrm>
            <a:off x="340157" y="2062886"/>
            <a:ext cx="222199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340157" y="2533802"/>
            <a:ext cx="222199" cy="222199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7" name="Text 24"/>
          <p:cNvSpPr/>
          <p:nvPr/>
        </p:nvSpPr>
        <p:spPr>
          <a:xfrm>
            <a:off x="340157" y="2533802"/>
            <a:ext cx="222199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40" dirty="0"/>
          </a:p>
        </p:txBody>
      </p:sp>
      <p:sp>
        <p:nvSpPr>
          <p:cNvPr id="28" name="Shape 25"/>
          <p:cNvSpPr/>
          <p:nvPr/>
        </p:nvSpPr>
        <p:spPr>
          <a:xfrm>
            <a:off x="340157" y="2972714"/>
            <a:ext cx="222199" cy="222199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9" name="Text 26"/>
          <p:cNvSpPr/>
          <p:nvPr/>
        </p:nvSpPr>
        <p:spPr>
          <a:xfrm>
            <a:off x="340157" y="2972714"/>
            <a:ext cx="222199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40" dirty="0"/>
          </a:p>
        </p:txBody>
      </p:sp>
      <p:sp>
        <p:nvSpPr>
          <p:cNvPr id="30" name="Shape 27"/>
          <p:cNvSpPr/>
          <p:nvPr/>
        </p:nvSpPr>
        <p:spPr>
          <a:xfrm>
            <a:off x="340157" y="3320186"/>
            <a:ext cx="222199" cy="222199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1" name="Text 28"/>
          <p:cNvSpPr/>
          <p:nvPr/>
        </p:nvSpPr>
        <p:spPr>
          <a:xfrm>
            <a:off x="340157" y="3320186"/>
            <a:ext cx="222199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40" dirty="0"/>
          </a:p>
        </p:txBody>
      </p:sp>
      <p:sp>
        <p:nvSpPr>
          <p:cNvPr id="32" name="Shape 29"/>
          <p:cNvSpPr/>
          <p:nvPr/>
        </p:nvSpPr>
        <p:spPr>
          <a:xfrm>
            <a:off x="340157" y="3653942"/>
            <a:ext cx="222199" cy="222199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33" name="Text 30"/>
          <p:cNvSpPr/>
          <p:nvPr/>
        </p:nvSpPr>
        <p:spPr>
          <a:xfrm>
            <a:off x="340157" y="3653942"/>
            <a:ext cx="222199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040" dirty="0"/>
          </a:p>
        </p:txBody>
      </p:sp>
      <p:sp>
        <p:nvSpPr>
          <p:cNvPr id="34" name="Shape 31"/>
          <p:cNvSpPr/>
          <p:nvPr/>
        </p:nvSpPr>
        <p:spPr>
          <a:xfrm>
            <a:off x="209398" y="1899209"/>
            <a:ext cx="6207862" cy="10058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35" name="Shape 32"/>
          <p:cNvSpPr/>
          <p:nvPr/>
        </p:nvSpPr>
        <p:spPr>
          <a:xfrm>
            <a:off x="209398" y="3955694"/>
            <a:ext cx="6207862" cy="10058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36" name="Shape 33"/>
          <p:cNvSpPr/>
          <p:nvPr/>
        </p:nvSpPr>
        <p:spPr>
          <a:xfrm>
            <a:off x="6561734" y="1682496"/>
            <a:ext cx="3268066" cy="1663294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37" name="Text 34"/>
          <p:cNvSpPr/>
          <p:nvPr/>
        </p:nvSpPr>
        <p:spPr>
          <a:xfrm>
            <a:off x="6561734" y="1800454"/>
            <a:ext cx="326806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총 사업비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7084771" y="2127809"/>
            <a:ext cx="2221992" cy="10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6"/>
          <p:cNvSpPr/>
          <p:nvPr/>
        </p:nvSpPr>
        <p:spPr>
          <a:xfrm>
            <a:off x="6561734" y="2193646"/>
            <a:ext cx="3268066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2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120,000,000</a:t>
            </a:r>
            <a:pPr algn="ctr" indent="0" marL="0">
              <a:lnSpc>
                <a:spcPct val="95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원</a:t>
            </a:r>
            <a:endParaRPr lang="en-US" sz="3230" dirty="0"/>
          </a:p>
        </p:txBody>
      </p:sp>
      <p:sp>
        <p:nvSpPr>
          <p:cNvPr id="40" name="Text 37"/>
          <p:cNvSpPr/>
          <p:nvPr/>
        </p:nvSpPr>
        <p:spPr>
          <a:xfrm>
            <a:off x="6561734" y="2783434"/>
            <a:ext cx="326806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—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6561734" y="2953512"/>
            <a:ext cx="3268066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사업예산 대비 ±0원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561734" y="3411626"/>
            <a:ext cx="3268066" cy="503834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3" name="Shape 40"/>
          <p:cNvSpPr/>
          <p:nvPr/>
        </p:nvSpPr>
        <p:spPr>
          <a:xfrm>
            <a:off x="6665976" y="3575304"/>
            <a:ext cx="183794" cy="1837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6665976" y="3575304"/>
            <a:ext cx="183794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B08D4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=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889090" y="3411626"/>
            <a:ext cx="1283818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공급가액 109,090,909원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8303666" y="3575304"/>
            <a:ext cx="183794" cy="1837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8303666" y="3575304"/>
            <a:ext cx="183794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B08D4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+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8525866" y="3411626"/>
            <a:ext cx="1283818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부가가치세 10,909,091원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215798" y="4165092"/>
            <a:ext cx="9600286" cy="635508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50" name="Shape 47"/>
          <p:cNvSpPr/>
          <p:nvPr/>
        </p:nvSpPr>
        <p:spPr>
          <a:xfrm>
            <a:off x="209398" y="4047134"/>
            <a:ext cx="235915" cy="23591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1" name="Shape 48"/>
          <p:cNvSpPr/>
          <p:nvPr/>
        </p:nvSpPr>
        <p:spPr>
          <a:xfrm>
            <a:off x="1558138" y="4047134"/>
            <a:ext cx="235915" cy="23591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2" name="Shape 49"/>
          <p:cNvSpPr/>
          <p:nvPr/>
        </p:nvSpPr>
        <p:spPr>
          <a:xfrm>
            <a:off x="209398" y="4047134"/>
            <a:ext cx="235915" cy="23591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3" name="Shape 50"/>
          <p:cNvSpPr/>
          <p:nvPr/>
        </p:nvSpPr>
        <p:spPr>
          <a:xfrm>
            <a:off x="1558138" y="4047134"/>
            <a:ext cx="235915" cy="23591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54" name="Shape 51"/>
          <p:cNvSpPr/>
          <p:nvPr/>
        </p:nvSpPr>
        <p:spPr>
          <a:xfrm>
            <a:off x="327355" y="4047134"/>
            <a:ext cx="1348740" cy="23591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55" name="Shape 52"/>
          <p:cNvSpPr/>
          <p:nvPr/>
        </p:nvSpPr>
        <p:spPr>
          <a:xfrm>
            <a:off x="209398" y="4165092"/>
            <a:ext cx="1584655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56" name="Text 53"/>
          <p:cNvSpPr/>
          <p:nvPr/>
        </p:nvSpPr>
        <p:spPr>
          <a:xfrm>
            <a:off x="209398" y="4047134"/>
            <a:ext cx="1584655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직접경비 9개 항목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294437" y="4308653"/>
            <a:ext cx="9443009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사전 선별조사 5,600 ·  발송 3,078 · 전화독려 10,500 · 응답 확보 20,000 · 자료검증 4,500 · 시스템 5,000 · 교육 2,000 · 인쇄 2,000 · 회수 예비비 7,587</a:t>
            </a:r>
            <a:endParaRPr lang="en-US" sz="1010" dirty="0"/>
          </a:p>
        </p:txBody>
      </p:sp>
      <p:sp>
        <p:nvSpPr>
          <p:cNvPr id="58" name="Text 55"/>
          <p:cNvSpPr/>
          <p:nvPr/>
        </p:nvSpPr>
        <p:spPr>
          <a:xfrm>
            <a:off x="294437" y="4571086"/>
            <a:ext cx="944300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단위: 천원 / 회수 예비비 끝수 150원 포함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215798" y="5016398"/>
            <a:ext cx="9600286" cy="1335938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60" name="Shape 57"/>
          <p:cNvSpPr/>
          <p:nvPr/>
        </p:nvSpPr>
        <p:spPr>
          <a:xfrm>
            <a:off x="202997" y="4898441"/>
            <a:ext cx="242316" cy="24231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1" name="Shape 58"/>
          <p:cNvSpPr/>
          <p:nvPr/>
        </p:nvSpPr>
        <p:spPr>
          <a:xfrm>
            <a:off x="1538935" y="4898441"/>
            <a:ext cx="242316" cy="24231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2" name="Shape 59"/>
          <p:cNvSpPr/>
          <p:nvPr/>
        </p:nvSpPr>
        <p:spPr>
          <a:xfrm>
            <a:off x="202997" y="4898441"/>
            <a:ext cx="242316" cy="24231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3" name="Shape 60"/>
          <p:cNvSpPr/>
          <p:nvPr/>
        </p:nvSpPr>
        <p:spPr>
          <a:xfrm>
            <a:off x="1538935" y="4898441"/>
            <a:ext cx="242316" cy="24231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4" name="Shape 61"/>
          <p:cNvSpPr/>
          <p:nvPr/>
        </p:nvSpPr>
        <p:spPr>
          <a:xfrm>
            <a:off x="323698" y="4898441"/>
            <a:ext cx="1335938" cy="242316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65" name="Shape 62"/>
          <p:cNvSpPr/>
          <p:nvPr/>
        </p:nvSpPr>
        <p:spPr>
          <a:xfrm>
            <a:off x="202997" y="5019142"/>
            <a:ext cx="1578254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66" name="Text 63"/>
          <p:cNvSpPr/>
          <p:nvPr/>
        </p:nvSpPr>
        <p:spPr>
          <a:xfrm>
            <a:off x="202997" y="4898441"/>
            <a:ext cx="157825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산정 · 집행 원칙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327355" y="5277917"/>
            <a:ext cx="196596" cy="19659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8" name="Text 65"/>
          <p:cNvSpPr/>
          <p:nvPr/>
        </p:nvSpPr>
        <p:spPr>
          <a:xfrm>
            <a:off x="327355" y="5277917"/>
            <a:ext cx="1965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02590" y="5225796"/>
            <a:ext cx="2881274" cy="995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직접인건비: 「2026년 학술연구용역 인건비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기준단가」(행정안전부) 등급별 참여율과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투입기간 적용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일반관리비 · 이윤: 「예정가격작성기준」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용역 한도 내 5% · 8%</a:t>
            </a:r>
            <a:endParaRPr lang="en-US" sz="1040" dirty="0"/>
          </a:p>
        </p:txBody>
      </p:sp>
      <p:sp>
        <p:nvSpPr>
          <p:cNvPr id="70" name="Shape 67"/>
          <p:cNvSpPr/>
          <p:nvPr/>
        </p:nvSpPr>
        <p:spPr>
          <a:xfrm>
            <a:off x="3496666" y="5212080"/>
            <a:ext cx="10058" cy="1047902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71" name="Shape 68"/>
          <p:cNvSpPr/>
          <p:nvPr/>
        </p:nvSpPr>
        <p:spPr>
          <a:xfrm>
            <a:off x="3614623" y="5277917"/>
            <a:ext cx="196596" cy="19659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2" name="Text 69"/>
          <p:cNvSpPr/>
          <p:nvPr/>
        </p:nvSpPr>
        <p:spPr>
          <a:xfrm>
            <a:off x="3614623" y="5277917"/>
            <a:ext cx="1965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3889858" y="5225796"/>
            <a:ext cx="2881274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회수 예비비는 목표선 미달 시 집행하고,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미사용분은 발주기관 협의로 추가 분석에 전용</a:t>
            </a:r>
            <a:endParaRPr lang="en-US" sz="1040" dirty="0"/>
          </a:p>
        </p:txBody>
      </p:sp>
      <p:sp>
        <p:nvSpPr>
          <p:cNvPr id="74" name="Text 71"/>
          <p:cNvSpPr/>
          <p:nvPr/>
        </p:nvSpPr>
        <p:spPr>
          <a:xfrm>
            <a:off x="3889858" y="5710428"/>
            <a:ext cx="2881274" cy="62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판별 응답률 손익분기 39.6%: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협조공문 · 기보유 정보 사전입력 · 답례품 ·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온라인 전환으로 달성</a:t>
            </a:r>
            <a:endParaRPr lang="en-US" sz="1040" dirty="0"/>
          </a:p>
        </p:txBody>
      </p:sp>
      <p:sp>
        <p:nvSpPr>
          <p:cNvPr id="75" name="Shape 72"/>
          <p:cNvSpPr/>
          <p:nvPr/>
        </p:nvSpPr>
        <p:spPr>
          <a:xfrm>
            <a:off x="6783934" y="5212080"/>
            <a:ext cx="10058" cy="1047902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76" name="Shape 73"/>
          <p:cNvSpPr/>
          <p:nvPr/>
        </p:nvSpPr>
        <p:spPr>
          <a:xfrm>
            <a:off x="6889090" y="5277917"/>
            <a:ext cx="196596" cy="19659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7" name="Text 74"/>
          <p:cNvSpPr/>
          <p:nvPr/>
        </p:nvSpPr>
        <p:spPr>
          <a:xfrm>
            <a:off x="6889090" y="5277917"/>
            <a:ext cx="1965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7164324" y="5225796"/>
            <a:ext cx="2750515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실측이 39.6%를 밑돌면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D+3주 확정보고에서 발송량 · 비목 재산정</a:t>
            </a:r>
            <a:endParaRPr lang="en-US" sz="1040" dirty="0"/>
          </a:p>
        </p:txBody>
      </p:sp>
      <p:sp>
        <p:nvSpPr>
          <p:cNvPr id="79" name="Text 76"/>
          <p:cNvSpPr/>
          <p:nvPr/>
        </p:nvSpPr>
        <p:spPr>
          <a:xfrm>
            <a:off x="7164324" y="5710428"/>
            <a:ext cx="2750515" cy="62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물량: 선별 유효응답 705개사 · 본조사 발송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51,282건 · 유효표본 3,000개사 —</a:t>
            </a:r>
            <a:endParaRPr lang="en-US" sz="10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발송량 산정 · 회수 목표선과 동일 기준</a:t>
            </a:r>
            <a:endParaRPr lang="en-US" sz="1040" dirty="0"/>
          </a:p>
        </p:txBody>
      </p:sp>
      <p:sp>
        <p:nvSpPr>
          <p:cNvPr id="80" name="Text 77"/>
          <p:cNvSpPr/>
          <p:nvPr/>
        </p:nvSpPr>
        <p:spPr>
          <a:xfrm>
            <a:off x="222199" y="6417259"/>
            <a:ext cx="949513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조사 단가는 착수 시 발주기관과 확정</a:t>
            </a:r>
            <a:endParaRPr lang="en-US" sz="10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082" y="127102"/>
            <a:ext cx="471921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2026 </a:t>
            </a:r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납품대금 연동제 실태조사 제안서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741871" y="127102"/>
            <a:ext cx="3100730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60" b="1" dirty="0">
                <a:solidFill>
                  <a:srgbClr val="053576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Ⅲ</a:t>
            </a:r>
            <a:pPr algn="r"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 |  과업 관리 방안</a:t>
            </a:r>
            <a:endParaRPr lang="en-US" sz="1060" dirty="0"/>
          </a:p>
        </p:txBody>
      </p:sp>
      <p:sp>
        <p:nvSpPr>
          <p:cNvPr id="4" name="Text 2"/>
          <p:cNvSpPr/>
          <p:nvPr/>
        </p:nvSpPr>
        <p:spPr>
          <a:xfrm>
            <a:off x="188366" y="279806"/>
            <a:ext cx="7415784" cy="45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5. 데이터 품질관리와 민감문항 운영</a:t>
            </a:r>
            <a:endParaRPr lang="en-US" sz="2280" dirty="0"/>
          </a:p>
        </p:txBody>
      </p:sp>
      <p:sp>
        <p:nvSpPr>
          <p:cNvPr id="5" name="Shape 3"/>
          <p:cNvSpPr/>
          <p:nvPr/>
        </p:nvSpPr>
        <p:spPr>
          <a:xfrm flipH="1">
            <a:off x="215798" y="845820"/>
            <a:ext cx="80467" cy="191110"/>
          </a:xfrm>
          <a:prstGeom prst="parallelogram">
            <a:avLst/>
          </a:prstGeom>
          <a:solidFill>
            <a:srgbClr val="606060"/>
          </a:solidFill>
          <a:ln/>
        </p:spPr>
      </p:sp>
      <p:sp>
        <p:nvSpPr>
          <p:cNvPr id="6" name="Shape 4"/>
          <p:cNvSpPr/>
          <p:nvPr/>
        </p:nvSpPr>
        <p:spPr>
          <a:xfrm flipH="1">
            <a:off x="330098" y="845820"/>
            <a:ext cx="80467" cy="191110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7" name="Text 5"/>
          <p:cNvSpPr/>
          <p:nvPr/>
        </p:nvSpPr>
        <p:spPr>
          <a:xfrm>
            <a:off x="471830" y="821131"/>
            <a:ext cx="606704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반복 지적 항목의 사전 대응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875995" y="1094537"/>
            <a:ext cx="26518" cy="496519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875995" y="1094537"/>
            <a:ext cx="147218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875995" y="1565453"/>
            <a:ext cx="147218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Shape 9"/>
          <p:cNvSpPr/>
          <p:nvPr/>
        </p:nvSpPr>
        <p:spPr>
          <a:xfrm>
            <a:off x="9208922" y="1094537"/>
            <a:ext cx="26518" cy="496519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089136" y="1094537"/>
            <a:ext cx="147218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3" name="Shape 11"/>
          <p:cNvSpPr/>
          <p:nvPr/>
        </p:nvSpPr>
        <p:spPr>
          <a:xfrm>
            <a:off x="9089136" y="1565453"/>
            <a:ext cx="147218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1107338"/>
            <a:ext cx="404165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3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130" dirty="0"/>
          </a:p>
        </p:txBody>
      </p:sp>
      <p:sp>
        <p:nvSpPr>
          <p:cNvPr id="15" name="Text 13"/>
          <p:cNvSpPr/>
          <p:nvPr/>
        </p:nvSpPr>
        <p:spPr>
          <a:xfrm>
            <a:off x="8629193" y="1107338"/>
            <a:ext cx="404165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3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130" dirty="0"/>
          </a:p>
        </p:txBody>
      </p:sp>
      <p:sp>
        <p:nvSpPr>
          <p:cNvPr id="16" name="Text 14"/>
          <p:cNvSpPr/>
          <p:nvPr/>
        </p:nvSpPr>
        <p:spPr>
          <a:xfrm>
            <a:off x="1469441" y="1094537"/>
            <a:ext cx="7173468" cy="496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탈법 신고의 보복우려를 익명·비식별 방식으로 완화하고, 통계품질진단이 반복 지적하는 </a:t>
            </a:r>
            <a:pPr algn="ctr" indent="0" marL="0">
              <a:lnSpc>
                <a:spcPct val="115000"/>
              </a:lnSpc>
              <a:buNone/>
            </a:pPr>
            <a:r>
              <a:rPr lang="en-US" sz="122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3개 항목에 미리 대응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215798" y="1845259"/>
            <a:ext cx="9626803" cy="2723083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202082" y="1730045"/>
            <a:ext cx="303581" cy="28620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9" name="Shape 17"/>
          <p:cNvSpPr/>
          <p:nvPr/>
        </p:nvSpPr>
        <p:spPr>
          <a:xfrm>
            <a:off x="1887322" y="1730045"/>
            <a:ext cx="303581" cy="28620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0" name="Shape 18"/>
          <p:cNvSpPr/>
          <p:nvPr/>
        </p:nvSpPr>
        <p:spPr>
          <a:xfrm>
            <a:off x="202082" y="1730045"/>
            <a:ext cx="303581" cy="28620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1" name="Shape 19"/>
          <p:cNvSpPr/>
          <p:nvPr/>
        </p:nvSpPr>
        <p:spPr>
          <a:xfrm>
            <a:off x="1887322" y="1730045"/>
            <a:ext cx="303581" cy="28620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2" name="Shape 20"/>
          <p:cNvSpPr/>
          <p:nvPr/>
        </p:nvSpPr>
        <p:spPr>
          <a:xfrm>
            <a:off x="353873" y="1730045"/>
            <a:ext cx="1685239" cy="28620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3" name="Shape 21"/>
          <p:cNvSpPr/>
          <p:nvPr/>
        </p:nvSpPr>
        <p:spPr>
          <a:xfrm>
            <a:off x="202082" y="1873606"/>
            <a:ext cx="1988820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4" name="Text 22"/>
          <p:cNvSpPr/>
          <p:nvPr/>
        </p:nvSpPr>
        <p:spPr>
          <a:xfrm>
            <a:off x="202082" y="1730045"/>
            <a:ext cx="198882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5대 품질 리스크와 대응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350215" y="2067458"/>
            <a:ext cx="9370771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2064" y="2118665"/>
            <a:ext cx="256032" cy="254203"/>
          </a:xfrm>
          <a:prstGeom prst="hexagon">
            <a:avLst/>
          </a:prstGeom>
          <a:solidFill>
            <a:srgbClr val="052A77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" y="2118665"/>
            <a:ext cx="25603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10" dirty="0"/>
          </a:p>
        </p:txBody>
      </p:sp>
      <p:sp>
        <p:nvSpPr>
          <p:cNvPr id="28" name="Text 26"/>
          <p:cNvSpPr/>
          <p:nvPr/>
        </p:nvSpPr>
        <p:spPr>
          <a:xfrm>
            <a:off x="875995" y="2067458"/>
            <a:ext cx="121340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민감문항</a:t>
            </a:r>
            <a:endParaRPr lang="en-US" sz="1210" dirty="0"/>
          </a:p>
        </p:txBody>
      </p:sp>
      <p:sp>
        <p:nvSpPr>
          <p:cNvPr id="29" name="Shape 27"/>
          <p:cNvSpPr/>
          <p:nvPr/>
        </p:nvSpPr>
        <p:spPr>
          <a:xfrm>
            <a:off x="2123237" y="2118665"/>
            <a:ext cx="2898648" cy="254203"/>
          </a:xfrm>
          <a:prstGeom prst="rect">
            <a:avLst/>
          </a:prstGeom>
          <a:solidFill>
            <a:srgbClr val="EFF1F4"/>
          </a:solidFill>
          <a:ln/>
        </p:spPr>
      </p:sp>
      <p:sp>
        <p:nvSpPr>
          <p:cNvPr id="30" name="Text 28"/>
          <p:cNvSpPr/>
          <p:nvPr/>
        </p:nvSpPr>
        <p:spPr>
          <a:xfrm>
            <a:off x="2177186" y="2118665"/>
            <a:ext cx="279074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탈법·불공정 신고 시 보복우려로 응답 회피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5258714" y="2144268"/>
            <a:ext cx="1017727" cy="203911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32" name="Shape 30"/>
          <p:cNvSpPr/>
          <p:nvPr/>
        </p:nvSpPr>
        <p:spPr>
          <a:xfrm rot="5400000">
            <a:off x="6276442" y="2144268"/>
            <a:ext cx="118872" cy="203911"/>
          </a:xfrm>
          <a:prstGeom prst="triangle">
            <a:avLst/>
          </a:prstGeom>
          <a:solidFill>
            <a:srgbClr val="B08D4C"/>
          </a:solidFill>
          <a:ln/>
        </p:spPr>
      </p:sp>
      <p:sp>
        <p:nvSpPr>
          <p:cNvPr id="33" name="Text 31"/>
          <p:cNvSpPr/>
          <p:nvPr/>
        </p:nvSpPr>
        <p:spPr>
          <a:xfrm>
            <a:off x="5258714" y="2144268"/>
            <a:ext cx="1017727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사전 대응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72123" y="2067458"/>
            <a:ext cx="31683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온라인 자기기입 전용, 응답거부 코드 부여,</a:t>
            </a:r>
            <a:endParaRPr lang="en-US" sz="104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비식별 집계 공표 및 원자료의 발주기관 이전을 사전 고지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350215" y="2563978"/>
            <a:ext cx="9370771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12064" y="2615184"/>
            <a:ext cx="256032" cy="254203"/>
          </a:xfrm>
          <a:prstGeom prst="hexagon">
            <a:avLst/>
          </a:prstGeom>
          <a:solidFill>
            <a:srgbClr val="052A77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" y="2615184"/>
            <a:ext cx="25603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10" dirty="0"/>
          </a:p>
        </p:txBody>
      </p:sp>
      <p:sp>
        <p:nvSpPr>
          <p:cNvPr id="38" name="Text 36"/>
          <p:cNvSpPr/>
          <p:nvPr/>
        </p:nvSpPr>
        <p:spPr>
          <a:xfrm>
            <a:off x="875995" y="2563978"/>
            <a:ext cx="121340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모드효과</a:t>
            </a:r>
            <a:endParaRPr lang="en-US" sz="1210" dirty="0"/>
          </a:p>
        </p:txBody>
      </p:sp>
      <p:sp>
        <p:nvSpPr>
          <p:cNvPr id="39" name="Shape 37"/>
          <p:cNvSpPr/>
          <p:nvPr/>
        </p:nvSpPr>
        <p:spPr>
          <a:xfrm>
            <a:off x="2123237" y="2615184"/>
            <a:ext cx="2898648" cy="254203"/>
          </a:xfrm>
          <a:prstGeom prst="rect">
            <a:avLst/>
          </a:prstGeom>
          <a:solidFill>
            <a:srgbClr val="EFF1F4"/>
          </a:solidFill>
          <a:ln/>
        </p:spPr>
      </p:sp>
      <p:sp>
        <p:nvSpPr>
          <p:cNvPr id="40" name="Text 38"/>
          <p:cNvSpPr/>
          <p:nvPr/>
        </p:nvSpPr>
        <p:spPr>
          <a:xfrm>
            <a:off x="2177186" y="2615184"/>
            <a:ext cx="279074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조사방법에 따른 응답 차이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5258714" y="2639873"/>
            <a:ext cx="1017727" cy="203911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2" name="Shape 40"/>
          <p:cNvSpPr/>
          <p:nvPr/>
        </p:nvSpPr>
        <p:spPr>
          <a:xfrm rot="5400000">
            <a:off x="6276442" y="2639873"/>
            <a:ext cx="118872" cy="203911"/>
          </a:xfrm>
          <a:prstGeom prst="triangle">
            <a:avLst/>
          </a:prstGeom>
          <a:solidFill>
            <a:srgbClr val="B08D4C"/>
          </a:solidFill>
          <a:ln/>
        </p:spPr>
      </p:sp>
      <p:sp>
        <p:nvSpPr>
          <p:cNvPr id="43" name="Text 41"/>
          <p:cNvSpPr/>
          <p:nvPr/>
        </p:nvSpPr>
        <p:spPr>
          <a:xfrm>
            <a:off x="5258714" y="2639873"/>
            <a:ext cx="1017727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사전 대응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72123" y="2563978"/>
            <a:ext cx="31683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조사표 동등성 확보·사전입력 균등화·모드 변수 기록</a:t>
            </a:r>
            <a:endParaRPr lang="en-US" sz="106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(민감문항은 모드 분리 예외)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350215" y="3054096"/>
            <a:ext cx="9370771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12064" y="3104388"/>
            <a:ext cx="256032" cy="254203"/>
          </a:xfrm>
          <a:prstGeom prst="hexagon">
            <a:avLst/>
          </a:prstGeom>
          <a:solidFill>
            <a:srgbClr val="052A77"/>
          </a:solidFill>
          <a:ln/>
        </p:spPr>
      </p:sp>
      <p:sp>
        <p:nvSpPr>
          <p:cNvPr id="47" name="Text 45"/>
          <p:cNvSpPr/>
          <p:nvPr/>
        </p:nvSpPr>
        <p:spPr>
          <a:xfrm>
            <a:off x="512064" y="3104388"/>
            <a:ext cx="25603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10" dirty="0"/>
          </a:p>
        </p:txBody>
      </p:sp>
      <p:sp>
        <p:nvSpPr>
          <p:cNvPr id="48" name="Text 46"/>
          <p:cNvSpPr/>
          <p:nvPr/>
        </p:nvSpPr>
        <p:spPr>
          <a:xfrm>
            <a:off x="875995" y="3054096"/>
            <a:ext cx="121340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모집단 정의</a:t>
            </a:r>
            <a:endParaRPr lang="en-US" sz="1210" dirty="0"/>
          </a:p>
        </p:txBody>
      </p:sp>
      <p:sp>
        <p:nvSpPr>
          <p:cNvPr id="49" name="Shape 47"/>
          <p:cNvSpPr/>
          <p:nvPr/>
        </p:nvSpPr>
        <p:spPr>
          <a:xfrm>
            <a:off x="2123237" y="3104388"/>
            <a:ext cx="2898648" cy="254203"/>
          </a:xfrm>
          <a:prstGeom prst="rect">
            <a:avLst/>
          </a:prstGeom>
          <a:solidFill>
            <a:srgbClr val="EFF1F4"/>
          </a:solidFill>
          <a:ln/>
        </p:spPr>
      </p:sp>
      <p:sp>
        <p:nvSpPr>
          <p:cNvPr id="50" name="Text 48"/>
          <p:cNvSpPr/>
          <p:nvPr/>
        </p:nvSpPr>
        <p:spPr>
          <a:xfrm>
            <a:off x="2177186" y="3104388"/>
            <a:ext cx="279074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모집단 실측·추정 근거 미비</a:t>
            </a:r>
            <a:endParaRPr lang="en-US" sz="1060" dirty="0"/>
          </a:p>
        </p:txBody>
      </p:sp>
      <p:sp>
        <p:nvSpPr>
          <p:cNvPr id="51" name="Shape 49"/>
          <p:cNvSpPr/>
          <p:nvPr/>
        </p:nvSpPr>
        <p:spPr>
          <a:xfrm>
            <a:off x="5258714" y="3129991"/>
            <a:ext cx="1017727" cy="203911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52" name="Shape 50"/>
          <p:cNvSpPr/>
          <p:nvPr/>
        </p:nvSpPr>
        <p:spPr>
          <a:xfrm rot="5400000">
            <a:off x="6276442" y="3129991"/>
            <a:ext cx="118872" cy="203911"/>
          </a:xfrm>
          <a:prstGeom prst="triangle">
            <a:avLst/>
          </a:prstGeom>
          <a:solidFill>
            <a:srgbClr val="B08D4C"/>
          </a:solidFill>
          <a:ln/>
        </p:spPr>
      </p:sp>
      <p:sp>
        <p:nvSpPr>
          <p:cNvPr id="53" name="Text 51"/>
          <p:cNvSpPr/>
          <p:nvPr/>
        </p:nvSpPr>
        <p:spPr>
          <a:xfrm>
            <a:off x="5258714" y="3129991"/>
            <a:ext cx="1017727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사전 대응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72123" y="3054096"/>
            <a:ext cx="31683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SBR 실측 Nₕ + 판별조사 업종 구분별 실측 p̂ₕ로</a:t>
            </a:r>
            <a:endParaRPr lang="en-US" sz="106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연동대상 모집단 확정</a:t>
            </a:r>
            <a:endParaRPr lang="en-US" sz="1060" dirty="0"/>
          </a:p>
        </p:txBody>
      </p:sp>
      <p:sp>
        <p:nvSpPr>
          <p:cNvPr id="55" name="Shape 53"/>
          <p:cNvSpPr/>
          <p:nvPr/>
        </p:nvSpPr>
        <p:spPr>
          <a:xfrm>
            <a:off x="350215" y="3512210"/>
            <a:ext cx="9370771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512064" y="3562502"/>
            <a:ext cx="256032" cy="254203"/>
          </a:xfrm>
          <a:prstGeom prst="hexagon">
            <a:avLst/>
          </a:prstGeom>
          <a:solidFill>
            <a:srgbClr val="052A77"/>
          </a:solidFill>
          <a:ln/>
        </p:spPr>
      </p:sp>
      <p:sp>
        <p:nvSpPr>
          <p:cNvPr id="57" name="Text 55"/>
          <p:cNvSpPr/>
          <p:nvPr/>
        </p:nvSpPr>
        <p:spPr>
          <a:xfrm>
            <a:off x="512064" y="3562502"/>
            <a:ext cx="25603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10" dirty="0"/>
          </a:p>
        </p:txBody>
      </p:sp>
      <p:sp>
        <p:nvSpPr>
          <p:cNvPr id="58" name="Text 56"/>
          <p:cNvSpPr/>
          <p:nvPr/>
        </p:nvSpPr>
        <p:spPr>
          <a:xfrm>
            <a:off x="875995" y="3512210"/>
            <a:ext cx="121340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무응답 보정</a:t>
            </a:r>
            <a:endParaRPr lang="en-US" sz="1210" dirty="0"/>
          </a:p>
        </p:txBody>
      </p:sp>
      <p:sp>
        <p:nvSpPr>
          <p:cNvPr id="59" name="Shape 57"/>
          <p:cNvSpPr/>
          <p:nvPr/>
        </p:nvSpPr>
        <p:spPr>
          <a:xfrm>
            <a:off x="2123237" y="3562502"/>
            <a:ext cx="2898648" cy="254203"/>
          </a:xfrm>
          <a:prstGeom prst="rect">
            <a:avLst/>
          </a:prstGeom>
          <a:solidFill>
            <a:srgbClr val="EFF1F4"/>
          </a:solidFill>
          <a:ln/>
        </p:spPr>
      </p:sp>
      <p:sp>
        <p:nvSpPr>
          <p:cNvPr id="60" name="Text 58"/>
          <p:cNvSpPr/>
          <p:nvPr/>
        </p:nvSpPr>
        <p:spPr>
          <a:xfrm>
            <a:off x="2177186" y="3562502"/>
            <a:ext cx="279074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무응답 편의 미보정</a:t>
            </a:r>
            <a:endParaRPr lang="en-US" sz="1060" dirty="0"/>
          </a:p>
        </p:txBody>
      </p:sp>
      <p:sp>
        <p:nvSpPr>
          <p:cNvPr id="61" name="Shape 59"/>
          <p:cNvSpPr/>
          <p:nvPr/>
        </p:nvSpPr>
        <p:spPr>
          <a:xfrm>
            <a:off x="5258714" y="3588106"/>
            <a:ext cx="1017727" cy="203911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62" name="Shape 60"/>
          <p:cNvSpPr/>
          <p:nvPr/>
        </p:nvSpPr>
        <p:spPr>
          <a:xfrm rot="5400000">
            <a:off x="6276442" y="3588106"/>
            <a:ext cx="118872" cy="203911"/>
          </a:xfrm>
          <a:prstGeom prst="triangle">
            <a:avLst/>
          </a:prstGeom>
          <a:solidFill>
            <a:srgbClr val="B08D4C"/>
          </a:solidFill>
          <a:ln/>
        </p:spPr>
      </p:sp>
      <p:sp>
        <p:nvSpPr>
          <p:cNvPr id="63" name="Text 61"/>
          <p:cNvSpPr/>
          <p:nvPr/>
        </p:nvSpPr>
        <p:spPr>
          <a:xfrm>
            <a:off x="5258714" y="3588106"/>
            <a:ext cx="1017727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사전 대응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72123" y="3512210"/>
            <a:ext cx="31683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응답성향 가중과 집계 단위별 사후층화,</a:t>
            </a:r>
            <a:endParaRPr lang="en-US" sz="106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조기·후기 응답자 비교로 편의 검정</a:t>
            </a:r>
            <a:endParaRPr lang="en-US" sz="1060" dirty="0"/>
          </a:p>
        </p:txBody>
      </p:sp>
      <p:sp>
        <p:nvSpPr>
          <p:cNvPr id="65" name="Shape 63"/>
          <p:cNvSpPr/>
          <p:nvPr/>
        </p:nvSpPr>
        <p:spPr>
          <a:xfrm>
            <a:off x="350215" y="3944722"/>
            <a:ext cx="9370771" cy="61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512064" y="4123030"/>
            <a:ext cx="256032" cy="254203"/>
          </a:xfrm>
          <a:prstGeom prst="hexagon">
            <a:avLst/>
          </a:prstGeom>
          <a:solidFill>
            <a:srgbClr val="052A77"/>
          </a:solidFill>
          <a:ln/>
        </p:spPr>
      </p:sp>
      <p:sp>
        <p:nvSpPr>
          <p:cNvPr id="67" name="Text 65"/>
          <p:cNvSpPr/>
          <p:nvPr/>
        </p:nvSpPr>
        <p:spPr>
          <a:xfrm>
            <a:off x="512064" y="4123030"/>
            <a:ext cx="25603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010" dirty="0"/>
          </a:p>
        </p:txBody>
      </p:sp>
      <p:sp>
        <p:nvSpPr>
          <p:cNvPr id="68" name="Text 66"/>
          <p:cNvSpPr/>
          <p:nvPr/>
        </p:nvSpPr>
        <p:spPr>
          <a:xfrm>
            <a:off x="875995" y="3944722"/>
            <a:ext cx="1213409" cy="61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시계열 단절</a:t>
            </a:r>
            <a:endParaRPr lang="en-US" sz="1210" dirty="0"/>
          </a:p>
        </p:txBody>
      </p:sp>
      <p:sp>
        <p:nvSpPr>
          <p:cNvPr id="69" name="Shape 67"/>
          <p:cNvSpPr/>
          <p:nvPr/>
        </p:nvSpPr>
        <p:spPr>
          <a:xfrm>
            <a:off x="2123237" y="3995014"/>
            <a:ext cx="2898648" cy="509321"/>
          </a:xfrm>
          <a:prstGeom prst="rect">
            <a:avLst/>
          </a:prstGeom>
          <a:solidFill>
            <a:srgbClr val="EFF1F4"/>
          </a:solidFill>
          <a:ln/>
        </p:spPr>
      </p:sp>
      <p:sp>
        <p:nvSpPr>
          <p:cNvPr id="70" name="Text 68"/>
          <p:cNvSpPr/>
          <p:nvPr/>
        </p:nvSpPr>
        <p:spPr>
          <a:xfrm>
            <a:off x="2177186" y="3995014"/>
            <a:ext cx="2790749" cy="509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분류 개정·제도 변화에 따른 계열 단절</a:t>
            </a:r>
            <a:endParaRPr lang="en-US" sz="1060" dirty="0"/>
          </a:p>
        </p:txBody>
      </p:sp>
      <p:sp>
        <p:nvSpPr>
          <p:cNvPr id="71" name="Shape 69"/>
          <p:cNvSpPr/>
          <p:nvPr/>
        </p:nvSpPr>
        <p:spPr>
          <a:xfrm>
            <a:off x="5258714" y="4147718"/>
            <a:ext cx="1017727" cy="203911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72" name="Shape 70"/>
          <p:cNvSpPr/>
          <p:nvPr/>
        </p:nvSpPr>
        <p:spPr>
          <a:xfrm rot="5400000">
            <a:off x="6276442" y="4147718"/>
            <a:ext cx="118872" cy="203911"/>
          </a:xfrm>
          <a:prstGeom prst="triangle">
            <a:avLst/>
          </a:prstGeom>
          <a:solidFill>
            <a:srgbClr val="B08D4C"/>
          </a:solidFill>
          <a:ln/>
        </p:spPr>
      </p:sp>
      <p:sp>
        <p:nvSpPr>
          <p:cNvPr id="73" name="Text 71"/>
          <p:cNvSpPr/>
          <p:nvPr/>
        </p:nvSpPr>
        <p:spPr>
          <a:xfrm>
            <a:off x="5258714" y="4147718"/>
            <a:ext cx="1017727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 사전 대응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472123" y="3944722"/>
            <a:ext cx="3168396" cy="61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11차 정렬 + 10차 연계표 및 업종별 가중평균 브리지 계수 /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원자료 30분류 보존 / 에너지경비 병렬 정의 /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선행조사와 모집단·분모가 달라 계열을 접합하지 않고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2026년을 별도 기점으로 선언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23698" y="4968850"/>
            <a:ext cx="9546336" cy="1253642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76" name="Shape 74"/>
          <p:cNvSpPr/>
          <p:nvPr/>
        </p:nvSpPr>
        <p:spPr>
          <a:xfrm>
            <a:off x="202082" y="4796942"/>
            <a:ext cx="283464" cy="26700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7" name="Shape 75"/>
          <p:cNvSpPr/>
          <p:nvPr/>
        </p:nvSpPr>
        <p:spPr>
          <a:xfrm>
            <a:off x="1557223" y="4796942"/>
            <a:ext cx="283464" cy="26700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8" name="Shape 76"/>
          <p:cNvSpPr/>
          <p:nvPr/>
        </p:nvSpPr>
        <p:spPr>
          <a:xfrm>
            <a:off x="202082" y="4796942"/>
            <a:ext cx="283464" cy="26700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79" name="Shape 77"/>
          <p:cNvSpPr/>
          <p:nvPr/>
        </p:nvSpPr>
        <p:spPr>
          <a:xfrm>
            <a:off x="1557223" y="4796942"/>
            <a:ext cx="283464" cy="26700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0" name="Shape 78"/>
          <p:cNvSpPr/>
          <p:nvPr/>
        </p:nvSpPr>
        <p:spPr>
          <a:xfrm>
            <a:off x="343814" y="4796942"/>
            <a:ext cx="1355141" cy="26700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81" name="Shape 79"/>
          <p:cNvSpPr/>
          <p:nvPr/>
        </p:nvSpPr>
        <p:spPr>
          <a:xfrm>
            <a:off x="202082" y="4930445"/>
            <a:ext cx="1638605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82" name="Text 80"/>
          <p:cNvSpPr/>
          <p:nvPr/>
        </p:nvSpPr>
        <p:spPr>
          <a:xfrm>
            <a:off x="202082" y="4796942"/>
            <a:ext cx="16386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운영 원칙</a:t>
            </a:r>
            <a:endParaRPr lang="en-US" sz="1320" dirty="0"/>
          </a:p>
        </p:txBody>
      </p:sp>
      <p:sp>
        <p:nvSpPr>
          <p:cNvPr id="83" name="Shape 81"/>
          <p:cNvSpPr/>
          <p:nvPr/>
        </p:nvSpPr>
        <p:spPr>
          <a:xfrm>
            <a:off x="471830" y="5127955"/>
            <a:ext cx="202082" cy="1911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4" name="Text 82"/>
          <p:cNvSpPr/>
          <p:nvPr/>
        </p:nvSpPr>
        <p:spPr>
          <a:xfrm>
            <a:off x="471830" y="5127955"/>
            <a:ext cx="202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55294" y="5102352"/>
            <a:ext cx="4112057" cy="49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품질은 관련성·정확성·시의성·비교성·일관성·접근성의 6대 차원으로 관리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71830" y="5661965"/>
            <a:ext cx="202082" cy="1911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87" name="Text 85"/>
          <p:cNvSpPr/>
          <p:nvPr/>
        </p:nvSpPr>
        <p:spPr>
          <a:xfrm>
            <a:off x="471830" y="5661965"/>
            <a:ext cx="202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55294" y="5636362"/>
            <a:ext cx="4112057" cy="49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민감문항은 온라인 자기기입 전용 / 전화 응답 시 자기기입 링크 회송 / 회송 완료율을 주간 현황 지표로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기재하되 개별 독려는 하지 않음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258714" y="5127955"/>
            <a:ext cx="202082" cy="1911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0" name="Text 88"/>
          <p:cNvSpPr/>
          <p:nvPr/>
        </p:nvSpPr>
        <p:spPr>
          <a:xfrm>
            <a:off x="5258714" y="5127955"/>
            <a:ext cx="202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541264" y="5102352"/>
            <a:ext cx="4112057" cy="49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층별 회송률 70% 미만이면 해당 층 회피율 공표를 유보하고</a:t>
            </a:r>
            <a:endParaRPr lang="en-US" sz="101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결측률을 함께 표기 / 비식별 집계 공표 및 원자료 이전 사전 고지</a:t>
            </a:r>
            <a:endParaRPr lang="en-US" sz="1010" dirty="0"/>
          </a:p>
        </p:txBody>
      </p:sp>
      <p:sp>
        <p:nvSpPr>
          <p:cNvPr id="92" name="Shape 90"/>
          <p:cNvSpPr/>
          <p:nvPr/>
        </p:nvSpPr>
        <p:spPr>
          <a:xfrm>
            <a:off x="5258714" y="5661965"/>
            <a:ext cx="202082" cy="191110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3" name="Text 91"/>
          <p:cNvSpPr/>
          <p:nvPr/>
        </p:nvSpPr>
        <p:spPr>
          <a:xfrm>
            <a:off x="5258714" y="5661965"/>
            <a:ext cx="202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5541264" y="5636362"/>
            <a:ext cx="4112057" cy="49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2026.12.3 에너지경비 확대에 대비해 원재료 기반·에너지 포함 조사대상을 병렬 정의·구분 수집 /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정기품질진단 절차에 사전 대비하고 통계정보보고서 작성 지원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988966" y="5089550"/>
            <a:ext cx="10058" cy="1043330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96" name="Shape 94"/>
          <p:cNvSpPr/>
          <p:nvPr/>
        </p:nvSpPr>
        <p:spPr>
          <a:xfrm>
            <a:off x="471830" y="5598871"/>
            <a:ext cx="4247388" cy="9144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97" name="Shape 95"/>
          <p:cNvSpPr/>
          <p:nvPr/>
        </p:nvSpPr>
        <p:spPr>
          <a:xfrm>
            <a:off x="5258714" y="5598871"/>
            <a:ext cx="4247388" cy="9144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98" name="Text 96"/>
          <p:cNvSpPr/>
          <p:nvPr/>
        </p:nvSpPr>
        <p:spPr>
          <a:xfrm>
            <a:off x="309982" y="6362395"/>
            <a:ext cx="97749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기준: 정기통계품질진단 기준 — 승인 협의 시 해당 연도 기준으로 확인</a:t>
            </a:r>
            <a:endParaRPr lang="en-US" sz="10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케이스탯리서치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납품대금 연동제 실태조사 제안서</dc:title>
  <dc:subject>PptxGenJS Presentation</dc:subject>
  <dc:creator>케이스탯리서치</dc:creator>
  <cp:lastModifiedBy>케이스탯리서치</cp:lastModifiedBy>
  <cp:revision>1</cp:revision>
  <dcterms:created xsi:type="dcterms:W3CDTF">2026-08-11T11:16:24Z</dcterms:created>
  <dcterms:modified xsi:type="dcterms:W3CDTF">2026-08-11T11:16:24Z</dcterms:modified>
</cp:coreProperties>
</file>
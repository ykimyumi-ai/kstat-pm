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058400" cy="6705570"/>
  <p:notesSz cx="670557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9398" y="78638"/>
            <a:ext cx="8513064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24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과업 범위를 넘어 재단의 직접 활용까지 지원</a:t>
            </a:r>
            <a:endParaRPr lang="en-US" sz="2240" dirty="0"/>
          </a:p>
        </p:txBody>
      </p:sp>
      <p:sp>
        <p:nvSpPr>
          <p:cNvPr id="3" name="Shape 1"/>
          <p:cNvSpPr/>
          <p:nvPr/>
        </p:nvSpPr>
        <p:spPr>
          <a:xfrm flipH="1">
            <a:off x="183794" y="511150"/>
            <a:ext cx="78638" cy="170078"/>
          </a:xfrm>
          <a:prstGeom prst="parallelogram">
            <a:avLst/>
          </a:prstGeom>
          <a:solidFill>
            <a:srgbClr val="053576"/>
          </a:solidFill>
          <a:ln/>
        </p:spPr>
      </p:sp>
      <p:sp>
        <p:nvSpPr>
          <p:cNvPr id="4" name="Text 2"/>
          <p:cNvSpPr/>
          <p:nvPr/>
        </p:nvSpPr>
        <p:spPr>
          <a:xfrm>
            <a:off x="327355" y="484632"/>
            <a:ext cx="5893308" cy="235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추가 제안 4종 — 별도 인력과 비용 없이 제공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741932" y="714146"/>
            <a:ext cx="157277" cy="15727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10067" y="714146"/>
            <a:ext cx="157277" cy="15727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41932" y="1139342"/>
            <a:ext cx="157277" cy="15727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10067" y="1139342"/>
            <a:ext cx="157277" cy="157277"/>
          </a:xfrm>
          <a:prstGeom prst="ellipse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0570" y="714146"/>
            <a:ext cx="6568135" cy="582473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41932" y="792785"/>
            <a:ext cx="6725412" cy="425196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0570" y="720547"/>
            <a:ext cx="6568135" cy="56967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748333" y="792785"/>
            <a:ext cx="6711696" cy="4251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847088" y="739750"/>
            <a:ext cx="393192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50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“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968996" y="739750"/>
            <a:ext cx="393192" cy="349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950" b="1" dirty="0">
                <a:solidFill>
                  <a:srgbClr val="B9BEC6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”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2226564" y="714146"/>
            <a:ext cx="5756148" cy="582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과업 범위 밖이지만 재단이 결과를 바로 쓰는 데 필요한 4가지를 추가로 제공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33784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재단이 별도 인력과 비용 없이 통계표를 검증하고 정책 자료로 활용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76479" y="1342339"/>
            <a:ext cx="78638" cy="78638"/>
          </a:xfrm>
          <a:prstGeom prst="ellipse">
            <a:avLst/>
          </a:prstGeom>
          <a:solidFill>
            <a:srgbClr val="F0F0F1"/>
          </a:solidFill>
          <a:ln/>
        </p:spPr>
      </p:sp>
      <p:sp>
        <p:nvSpPr>
          <p:cNvPr id="17" name="Shape 15"/>
          <p:cNvSpPr/>
          <p:nvPr/>
        </p:nvSpPr>
        <p:spPr>
          <a:xfrm>
            <a:off x="2966314" y="1342339"/>
            <a:ext cx="78638" cy="78638"/>
          </a:xfrm>
          <a:prstGeom prst="ellipse">
            <a:avLst/>
          </a:prstGeom>
          <a:solidFill>
            <a:srgbClr val="F0F0F1"/>
          </a:solidFill>
          <a:ln/>
        </p:spPr>
      </p:sp>
      <p:sp>
        <p:nvSpPr>
          <p:cNvPr id="18" name="Shape 16"/>
          <p:cNvSpPr/>
          <p:nvPr/>
        </p:nvSpPr>
        <p:spPr>
          <a:xfrm>
            <a:off x="176479" y="1696212"/>
            <a:ext cx="78638" cy="78638"/>
          </a:xfrm>
          <a:prstGeom prst="ellipse">
            <a:avLst/>
          </a:prstGeom>
          <a:solidFill>
            <a:srgbClr val="F0F0F1"/>
          </a:solidFill>
          <a:ln/>
        </p:spPr>
      </p:sp>
      <p:sp>
        <p:nvSpPr>
          <p:cNvPr id="19" name="Shape 17"/>
          <p:cNvSpPr/>
          <p:nvPr/>
        </p:nvSpPr>
        <p:spPr>
          <a:xfrm>
            <a:off x="2966314" y="1696212"/>
            <a:ext cx="78638" cy="78638"/>
          </a:xfrm>
          <a:prstGeom prst="ellipse">
            <a:avLst/>
          </a:prstGeom>
          <a:solidFill>
            <a:srgbClr val="F0F0F1"/>
          </a:solidFill>
          <a:ln/>
        </p:spPr>
      </p:sp>
      <p:sp>
        <p:nvSpPr>
          <p:cNvPr id="20" name="Shape 18"/>
          <p:cNvSpPr/>
          <p:nvPr/>
        </p:nvSpPr>
        <p:spPr>
          <a:xfrm>
            <a:off x="215798" y="1342339"/>
            <a:ext cx="2789834" cy="432511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21" name="Shape 19"/>
          <p:cNvSpPr/>
          <p:nvPr/>
        </p:nvSpPr>
        <p:spPr>
          <a:xfrm>
            <a:off x="176479" y="1381658"/>
            <a:ext cx="2868473" cy="353873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22" name="Text 20"/>
          <p:cNvSpPr/>
          <p:nvPr/>
        </p:nvSpPr>
        <p:spPr>
          <a:xfrm>
            <a:off x="229514" y="1342339"/>
            <a:ext cx="2763317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과업 범위</a:t>
            </a:r>
            <a:pPr algn="ctr" indent="0" marL="0">
              <a:lnSpc>
                <a:spcPct val="95000"/>
              </a:lnSpc>
              <a:buNone/>
            </a:pPr>
            <a:r>
              <a:rPr lang="en-US" sz="1090" dirty="0">
                <a:solidFill>
                  <a:srgbClr val="A9ADB4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  |  </a:t>
            </a:r>
            <a:pPr algn="ctr" indent="0" marL="0">
              <a:lnSpc>
                <a:spcPct val="95000"/>
              </a:lnSpc>
              <a:buNone/>
            </a:pPr>
            <a:r>
              <a:rPr lang="en-US" sz="109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조사 · 검증 · 최종 데이터 제출</a:t>
            </a:r>
            <a:endParaRPr lang="en-US" sz="1090" dirty="0"/>
          </a:p>
        </p:txBody>
      </p:sp>
      <p:sp>
        <p:nvSpPr>
          <p:cNvPr id="23" name="Shape 21"/>
          <p:cNvSpPr/>
          <p:nvPr/>
        </p:nvSpPr>
        <p:spPr>
          <a:xfrm rot="5400000">
            <a:off x="3057754" y="1479499"/>
            <a:ext cx="85039" cy="157277"/>
          </a:xfrm>
          <a:prstGeom prst="triangle">
            <a:avLst/>
          </a:prstGeom>
          <a:solidFill>
            <a:srgbClr val="9BA0A8"/>
          </a:solidFill>
          <a:ln/>
        </p:spPr>
      </p:sp>
      <p:sp>
        <p:nvSpPr>
          <p:cNvPr id="24" name="Shape 22"/>
          <p:cNvSpPr/>
          <p:nvPr/>
        </p:nvSpPr>
        <p:spPr>
          <a:xfrm>
            <a:off x="3150108" y="1342339"/>
            <a:ext cx="78638" cy="78638"/>
          </a:xfrm>
          <a:prstGeom prst="ellipse">
            <a:avLst/>
          </a:prstGeom>
          <a:solidFill>
            <a:srgbClr val="EAEFF9"/>
          </a:solidFill>
          <a:ln/>
        </p:spPr>
      </p:sp>
      <p:sp>
        <p:nvSpPr>
          <p:cNvPr id="25" name="Shape 23"/>
          <p:cNvSpPr/>
          <p:nvPr/>
        </p:nvSpPr>
        <p:spPr>
          <a:xfrm>
            <a:off x="6273698" y="1342339"/>
            <a:ext cx="78638" cy="78638"/>
          </a:xfrm>
          <a:prstGeom prst="ellipse">
            <a:avLst/>
          </a:prstGeom>
          <a:solidFill>
            <a:srgbClr val="EAEFF9"/>
          </a:solidFill>
          <a:ln/>
        </p:spPr>
      </p:sp>
      <p:sp>
        <p:nvSpPr>
          <p:cNvPr id="26" name="Shape 24"/>
          <p:cNvSpPr/>
          <p:nvPr/>
        </p:nvSpPr>
        <p:spPr>
          <a:xfrm>
            <a:off x="3150108" y="1696212"/>
            <a:ext cx="78638" cy="78638"/>
          </a:xfrm>
          <a:prstGeom prst="ellipse">
            <a:avLst/>
          </a:prstGeom>
          <a:solidFill>
            <a:srgbClr val="EAEFF9"/>
          </a:solidFill>
          <a:ln/>
        </p:spPr>
      </p:sp>
      <p:sp>
        <p:nvSpPr>
          <p:cNvPr id="27" name="Shape 25"/>
          <p:cNvSpPr/>
          <p:nvPr/>
        </p:nvSpPr>
        <p:spPr>
          <a:xfrm>
            <a:off x="6273698" y="1696212"/>
            <a:ext cx="78638" cy="78638"/>
          </a:xfrm>
          <a:prstGeom prst="ellipse">
            <a:avLst/>
          </a:prstGeom>
          <a:solidFill>
            <a:srgbClr val="EAEFF9"/>
          </a:solidFill>
          <a:ln/>
        </p:spPr>
      </p:sp>
      <p:sp>
        <p:nvSpPr>
          <p:cNvPr id="28" name="Shape 26"/>
          <p:cNvSpPr/>
          <p:nvPr/>
        </p:nvSpPr>
        <p:spPr>
          <a:xfrm>
            <a:off x="3189427" y="1342339"/>
            <a:ext cx="3123590" cy="432511"/>
          </a:xfrm>
          <a:prstGeom prst="rect">
            <a:avLst/>
          </a:prstGeom>
          <a:solidFill>
            <a:srgbClr val="EAEFF9"/>
          </a:solidFill>
          <a:ln/>
        </p:spPr>
      </p:sp>
      <p:sp>
        <p:nvSpPr>
          <p:cNvPr id="29" name="Shape 27"/>
          <p:cNvSpPr/>
          <p:nvPr/>
        </p:nvSpPr>
        <p:spPr>
          <a:xfrm>
            <a:off x="3150108" y="1381658"/>
            <a:ext cx="3202229" cy="353873"/>
          </a:xfrm>
          <a:prstGeom prst="rect">
            <a:avLst/>
          </a:prstGeom>
          <a:solidFill>
            <a:srgbClr val="EAEFF9"/>
          </a:solidFill>
          <a:ln/>
        </p:spPr>
      </p:sp>
      <p:sp>
        <p:nvSpPr>
          <p:cNvPr id="30" name="Text 28"/>
          <p:cNvSpPr/>
          <p:nvPr/>
        </p:nvSpPr>
        <p:spPr>
          <a:xfrm>
            <a:off x="3202229" y="1342339"/>
            <a:ext cx="3097073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재단의 후속 부담</a:t>
            </a:r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A9ADB4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  |  </a:t>
            </a:r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수치 확인 · 변수 해석 · 긴급 재집계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 rot="5400000">
            <a:off x="6365138" y="1479499"/>
            <a:ext cx="85039" cy="157277"/>
          </a:xfrm>
          <a:prstGeom prst="triangle">
            <a:avLst/>
          </a:prstGeom>
          <a:solidFill>
            <a:srgbClr val="9BA0A8"/>
          </a:solidFill>
          <a:ln/>
        </p:spPr>
      </p:sp>
      <p:sp>
        <p:nvSpPr>
          <p:cNvPr id="32" name="Shape 30"/>
          <p:cNvSpPr/>
          <p:nvPr/>
        </p:nvSpPr>
        <p:spPr>
          <a:xfrm>
            <a:off x="6470294" y="1342339"/>
            <a:ext cx="78638" cy="78638"/>
          </a:xfrm>
          <a:prstGeom prst="ellipse">
            <a:avLst/>
          </a:prstGeom>
          <a:solidFill>
            <a:srgbClr val="F4EDDF"/>
          </a:solidFill>
          <a:ln/>
        </p:spPr>
      </p:sp>
      <p:sp>
        <p:nvSpPr>
          <p:cNvPr id="33" name="Shape 31"/>
          <p:cNvSpPr/>
          <p:nvPr/>
        </p:nvSpPr>
        <p:spPr>
          <a:xfrm>
            <a:off x="9789566" y="1342339"/>
            <a:ext cx="78638" cy="78638"/>
          </a:xfrm>
          <a:prstGeom prst="ellipse">
            <a:avLst/>
          </a:prstGeom>
          <a:solidFill>
            <a:srgbClr val="F4EDDF"/>
          </a:solidFill>
          <a:ln/>
        </p:spPr>
      </p:sp>
      <p:sp>
        <p:nvSpPr>
          <p:cNvPr id="34" name="Shape 32"/>
          <p:cNvSpPr/>
          <p:nvPr/>
        </p:nvSpPr>
        <p:spPr>
          <a:xfrm>
            <a:off x="6470294" y="1696212"/>
            <a:ext cx="78638" cy="78638"/>
          </a:xfrm>
          <a:prstGeom prst="ellipse">
            <a:avLst/>
          </a:prstGeom>
          <a:solidFill>
            <a:srgbClr val="F4EDDF"/>
          </a:solidFill>
          <a:ln/>
        </p:spPr>
      </p:sp>
      <p:sp>
        <p:nvSpPr>
          <p:cNvPr id="35" name="Shape 33"/>
          <p:cNvSpPr/>
          <p:nvPr/>
        </p:nvSpPr>
        <p:spPr>
          <a:xfrm>
            <a:off x="9789566" y="1696212"/>
            <a:ext cx="78638" cy="78638"/>
          </a:xfrm>
          <a:prstGeom prst="ellipse">
            <a:avLst/>
          </a:prstGeom>
          <a:solidFill>
            <a:srgbClr val="F4EDDF"/>
          </a:solidFill>
          <a:ln/>
        </p:spPr>
      </p:sp>
      <p:sp>
        <p:nvSpPr>
          <p:cNvPr id="36" name="Shape 34"/>
          <p:cNvSpPr/>
          <p:nvPr/>
        </p:nvSpPr>
        <p:spPr>
          <a:xfrm>
            <a:off x="6508699" y="1342339"/>
            <a:ext cx="3320186" cy="432511"/>
          </a:xfrm>
          <a:prstGeom prst="rect">
            <a:avLst/>
          </a:prstGeom>
          <a:solidFill>
            <a:srgbClr val="F4EDDF"/>
          </a:solidFill>
          <a:ln/>
        </p:spPr>
      </p:sp>
      <p:sp>
        <p:nvSpPr>
          <p:cNvPr id="37" name="Shape 35"/>
          <p:cNvSpPr/>
          <p:nvPr/>
        </p:nvSpPr>
        <p:spPr>
          <a:xfrm>
            <a:off x="6470294" y="1381658"/>
            <a:ext cx="3398825" cy="353873"/>
          </a:xfrm>
          <a:prstGeom prst="rect">
            <a:avLst/>
          </a:prstGeom>
          <a:solidFill>
            <a:srgbClr val="F4EDDF"/>
          </a:solidFill>
          <a:ln/>
        </p:spPr>
      </p:sp>
      <p:sp>
        <p:nvSpPr>
          <p:cNvPr id="38" name="Text 36"/>
          <p:cNvSpPr/>
          <p:nvPr/>
        </p:nvSpPr>
        <p:spPr>
          <a:xfrm>
            <a:off x="6522415" y="1342339"/>
            <a:ext cx="3293669" cy="432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기투입 인력의 잔여 가동시간으로 대응</a:t>
            </a:r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A9ADB4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  |  </a:t>
            </a:r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7F4C13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추가 비용 없음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70078" y="1807769"/>
            <a:ext cx="300838" cy="300838"/>
          </a:xfrm>
          <a:prstGeom prst="ellipse">
            <a:avLst/>
          </a:prstGeom>
          <a:solidFill>
            <a:srgbClr val="082470"/>
          </a:solidFill>
          <a:ln/>
        </p:spPr>
      </p:sp>
      <p:sp>
        <p:nvSpPr>
          <p:cNvPr id="40" name="Shape 38"/>
          <p:cNvSpPr/>
          <p:nvPr/>
        </p:nvSpPr>
        <p:spPr>
          <a:xfrm>
            <a:off x="1499616" y="1807769"/>
            <a:ext cx="300838" cy="300838"/>
          </a:xfrm>
          <a:prstGeom prst="ellipse">
            <a:avLst/>
          </a:prstGeom>
          <a:solidFill>
            <a:srgbClr val="082470"/>
          </a:solidFill>
          <a:ln/>
        </p:spPr>
      </p:sp>
      <p:sp>
        <p:nvSpPr>
          <p:cNvPr id="41" name="Shape 39"/>
          <p:cNvSpPr/>
          <p:nvPr/>
        </p:nvSpPr>
        <p:spPr>
          <a:xfrm>
            <a:off x="170078" y="1807769"/>
            <a:ext cx="300838" cy="300838"/>
          </a:xfrm>
          <a:prstGeom prst="ellipse">
            <a:avLst/>
          </a:prstGeom>
          <a:solidFill>
            <a:srgbClr val="082470"/>
          </a:solidFill>
          <a:ln/>
        </p:spPr>
      </p:sp>
      <p:sp>
        <p:nvSpPr>
          <p:cNvPr id="42" name="Shape 40"/>
          <p:cNvSpPr/>
          <p:nvPr/>
        </p:nvSpPr>
        <p:spPr>
          <a:xfrm>
            <a:off x="1499616" y="1807769"/>
            <a:ext cx="300838" cy="300838"/>
          </a:xfrm>
          <a:prstGeom prst="ellipse">
            <a:avLst/>
          </a:prstGeom>
          <a:solidFill>
            <a:srgbClr val="082470"/>
          </a:solidFill>
          <a:ln/>
        </p:spPr>
      </p:sp>
      <p:sp>
        <p:nvSpPr>
          <p:cNvPr id="43" name="Shape 41"/>
          <p:cNvSpPr/>
          <p:nvPr/>
        </p:nvSpPr>
        <p:spPr>
          <a:xfrm>
            <a:off x="320954" y="1807769"/>
            <a:ext cx="1329538" cy="300838"/>
          </a:xfrm>
          <a:prstGeom prst="rect">
            <a:avLst/>
          </a:prstGeom>
          <a:solidFill>
            <a:srgbClr val="082470"/>
          </a:solidFill>
          <a:ln/>
        </p:spPr>
      </p:sp>
      <p:sp>
        <p:nvSpPr>
          <p:cNvPr id="44" name="Shape 42"/>
          <p:cNvSpPr/>
          <p:nvPr/>
        </p:nvSpPr>
        <p:spPr>
          <a:xfrm>
            <a:off x="170078" y="1957730"/>
            <a:ext cx="1630375" cy="0"/>
          </a:xfrm>
          <a:prstGeom prst="rect">
            <a:avLst/>
          </a:prstGeom>
          <a:solidFill>
            <a:srgbClr val="082470"/>
          </a:solidFill>
          <a:ln/>
        </p:spPr>
      </p:sp>
      <p:sp>
        <p:nvSpPr>
          <p:cNvPr id="45" name="Text 43"/>
          <p:cNvSpPr/>
          <p:nvPr/>
        </p:nvSpPr>
        <p:spPr>
          <a:xfrm>
            <a:off x="170078" y="1807769"/>
            <a:ext cx="1630375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추가 제안 4종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1623974" y="1912010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1879092" y="1977847"/>
            <a:ext cx="7943393" cy="8230"/>
          </a:xfrm>
          <a:prstGeom prst="rect">
            <a:avLst/>
          </a:prstGeom>
          <a:solidFill>
            <a:srgbClr val="B6B9BE"/>
          </a:solidFill>
          <a:ln/>
        </p:spPr>
      </p:sp>
      <p:sp>
        <p:nvSpPr>
          <p:cNvPr id="48" name="Shape 46"/>
          <p:cNvSpPr/>
          <p:nvPr/>
        </p:nvSpPr>
        <p:spPr>
          <a:xfrm>
            <a:off x="215798" y="2206447"/>
            <a:ext cx="9606686" cy="8230"/>
          </a:xfrm>
          <a:prstGeom prst="rect">
            <a:avLst/>
          </a:prstGeom>
          <a:solidFill>
            <a:srgbClr val="DCDDE0"/>
          </a:solidFill>
          <a:ln/>
        </p:spPr>
      </p:sp>
      <p:sp>
        <p:nvSpPr>
          <p:cNvPr id="49" name="Shape 47"/>
          <p:cNvSpPr/>
          <p:nvPr/>
        </p:nvSpPr>
        <p:spPr>
          <a:xfrm>
            <a:off x="215798" y="2187245"/>
            <a:ext cx="105156" cy="105156"/>
          </a:xfrm>
          <a:prstGeom prst="ellipse">
            <a:avLst/>
          </a:prstGeom>
          <a:solidFill>
            <a:srgbClr val="F5F5F5"/>
          </a:solidFill>
          <a:ln/>
        </p:spPr>
      </p:sp>
      <p:sp>
        <p:nvSpPr>
          <p:cNvPr id="50" name="Shape 48"/>
          <p:cNvSpPr/>
          <p:nvPr/>
        </p:nvSpPr>
        <p:spPr>
          <a:xfrm>
            <a:off x="2239366" y="2187245"/>
            <a:ext cx="105156" cy="105156"/>
          </a:xfrm>
          <a:prstGeom prst="ellipse">
            <a:avLst/>
          </a:prstGeom>
          <a:solidFill>
            <a:srgbClr val="F5F5F5"/>
          </a:solidFill>
          <a:ln/>
        </p:spPr>
      </p:sp>
      <p:sp>
        <p:nvSpPr>
          <p:cNvPr id="51" name="Shape 49"/>
          <p:cNvSpPr/>
          <p:nvPr/>
        </p:nvSpPr>
        <p:spPr>
          <a:xfrm>
            <a:off x="215798" y="4649724"/>
            <a:ext cx="105156" cy="105156"/>
          </a:xfrm>
          <a:prstGeom prst="ellipse">
            <a:avLst/>
          </a:prstGeom>
          <a:solidFill>
            <a:srgbClr val="F5F5F5"/>
          </a:solidFill>
          <a:ln/>
        </p:spPr>
      </p:sp>
      <p:sp>
        <p:nvSpPr>
          <p:cNvPr id="52" name="Shape 50"/>
          <p:cNvSpPr/>
          <p:nvPr/>
        </p:nvSpPr>
        <p:spPr>
          <a:xfrm>
            <a:off x="2239366" y="4649724"/>
            <a:ext cx="105156" cy="105156"/>
          </a:xfrm>
          <a:prstGeom prst="ellipse">
            <a:avLst/>
          </a:prstGeom>
          <a:solidFill>
            <a:srgbClr val="F5F5F5"/>
          </a:solidFill>
          <a:ln/>
        </p:spPr>
      </p:sp>
      <p:sp>
        <p:nvSpPr>
          <p:cNvPr id="53" name="Shape 51"/>
          <p:cNvSpPr/>
          <p:nvPr/>
        </p:nvSpPr>
        <p:spPr>
          <a:xfrm>
            <a:off x="268834" y="2187245"/>
            <a:ext cx="2023567" cy="256672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4" name="Shape 52"/>
          <p:cNvSpPr/>
          <p:nvPr/>
        </p:nvSpPr>
        <p:spPr>
          <a:xfrm>
            <a:off x="215798" y="2239366"/>
            <a:ext cx="2127809" cy="246247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5" name="Text 53"/>
          <p:cNvSpPr/>
          <p:nvPr/>
        </p:nvSpPr>
        <p:spPr>
          <a:xfrm>
            <a:off x="2456078" y="1997050"/>
            <a:ext cx="2324405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1207D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무엇을 제공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80483" y="1997050"/>
            <a:ext cx="2396642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1207D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왜 필요한가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177126" y="1997050"/>
            <a:ext cx="2645359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1207D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재단 활용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780483" y="2298802"/>
            <a:ext cx="8230" cy="478231"/>
          </a:xfrm>
          <a:prstGeom prst="rect">
            <a:avLst/>
          </a:prstGeom>
          <a:solidFill>
            <a:srgbClr val="DDDEE1"/>
          </a:solidFill>
          <a:ln/>
        </p:spPr>
      </p:sp>
      <p:sp>
        <p:nvSpPr>
          <p:cNvPr id="59" name="Shape 57"/>
          <p:cNvSpPr/>
          <p:nvPr/>
        </p:nvSpPr>
        <p:spPr>
          <a:xfrm>
            <a:off x="7177126" y="2298802"/>
            <a:ext cx="8230" cy="478231"/>
          </a:xfrm>
          <a:prstGeom prst="rect">
            <a:avLst/>
          </a:prstGeom>
          <a:solidFill>
            <a:srgbClr val="DDDEE1"/>
          </a:solidFill>
          <a:ln/>
        </p:spPr>
      </p:sp>
      <p:sp>
        <p:nvSpPr>
          <p:cNvPr id="60" name="Shape 58"/>
          <p:cNvSpPr/>
          <p:nvPr/>
        </p:nvSpPr>
        <p:spPr>
          <a:xfrm rot="5400000">
            <a:off x="347472" y="2298802"/>
            <a:ext cx="333756" cy="379476"/>
          </a:xfrm>
          <a:prstGeom prst="hexagon">
            <a:avLst/>
          </a:prstGeom>
          <a:solidFill>
            <a:srgbClr val="0A2A80"/>
          </a:solidFill>
          <a:ln/>
        </p:spPr>
      </p:sp>
      <p:sp>
        <p:nvSpPr>
          <p:cNvPr id="61" name="Text 59"/>
          <p:cNvSpPr/>
          <p:nvPr/>
        </p:nvSpPr>
        <p:spPr>
          <a:xfrm>
            <a:off x="347472" y="2298802"/>
            <a:ext cx="333756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01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824789" y="2259482"/>
            <a:ext cx="1479499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업종과 규모 분류</a:t>
            </a:r>
            <a:endParaRPr lang="en-US" sz="11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완전성 검증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2573122" y="2259482"/>
            <a:ext cx="2200046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업종 5구분 × 규모 2구분,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1207D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10개 공표 단위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의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유효표본수 분포와 배분 대비 확보 현황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042002" y="2259482"/>
            <a:ext cx="2108606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통계표를 모두 만든 뒤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표본이 모자란 칸을 발견하면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되돌릴 수 없음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399325" y="2259482"/>
            <a:ext cx="2448763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공표 전에 통합할 칸을 미리 판단하고,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근거를 갖고 공표 단위를 결정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15798" y="2868473"/>
            <a:ext cx="9606686" cy="0"/>
          </a:xfrm>
          <a:prstGeom prst="line">
            <a:avLst/>
          </a:prstGeom>
          <a:noFill/>
          <a:ln w="9525">
            <a:solidFill>
              <a:srgbClr val="D8D9DC"/>
            </a:solidFill>
            <a:prstDash val="sysDash"/>
          </a:ln>
        </p:spPr>
      </p:sp>
      <p:sp>
        <p:nvSpPr>
          <p:cNvPr id="67" name="Shape 65"/>
          <p:cNvSpPr/>
          <p:nvPr/>
        </p:nvSpPr>
        <p:spPr>
          <a:xfrm>
            <a:off x="4780483" y="2959913"/>
            <a:ext cx="8230" cy="471830"/>
          </a:xfrm>
          <a:prstGeom prst="rect">
            <a:avLst/>
          </a:prstGeom>
          <a:solidFill>
            <a:srgbClr val="DDDEE1"/>
          </a:solidFill>
          <a:ln/>
        </p:spPr>
      </p:sp>
      <p:sp>
        <p:nvSpPr>
          <p:cNvPr id="68" name="Shape 66"/>
          <p:cNvSpPr/>
          <p:nvPr/>
        </p:nvSpPr>
        <p:spPr>
          <a:xfrm>
            <a:off x="7177126" y="2959913"/>
            <a:ext cx="8230" cy="471830"/>
          </a:xfrm>
          <a:prstGeom prst="rect">
            <a:avLst/>
          </a:prstGeom>
          <a:solidFill>
            <a:srgbClr val="DDDEE1"/>
          </a:solidFill>
          <a:ln/>
        </p:spPr>
      </p:sp>
      <p:sp>
        <p:nvSpPr>
          <p:cNvPr id="69" name="Shape 67"/>
          <p:cNvSpPr/>
          <p:nvPr/>
        </p:nvSpPr>
        <p:spPr>
          <a:xfrm rot="5400000">
            <a:off x="347472" y="2972714"/>
            <a:ext cx="333756" cy="379476"/>
          </a:xfrm>
          <a:prstGeom prst="hexagon">
            <a:avLst/>
          </a:prstGeom>
          <a:solidFill>
            <a:srgbClr val="0A2A80"/>
          </a:solidFill>
          <a:ln/>
        </p:spPr>
      </p:sp>
      <p:sp>
        <p:nvSpPr>
          <p:cNvPr id="70" name="Text 68"/>
          <p:cNvSpPr/>
          <p:nvPr/>
        </p:nvSpPr>
        <p:spPr>
          <a:xfrm>
            <a:off x="347472" y="2972714"/>
            <a:ext cx="333756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02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824789" y="2920594"/>
            <a:ext cx="1479499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핵심 파생지표</a:t>
            </a:r>
            <a:endParaRPr lang="en-US" sz="11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사전 집계표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2573122" y="2920594"/>
            <a:ext cx="220004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도입률 · 이행률 · 회피율 · 반영률을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업종별과 규모별로 미리 산출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1207D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4개 파생지표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042002" y="2920594"/>
            <a:ext cx="2108606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보도자료와 국회 답변 수치가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통계표와 다르면 공표 후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정정이 필요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399325" y="2920594"/>
            <a:ext cx="2448763" cy="550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통계표와 별도 계산값을 대조하고,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다르면 공표 전에 원인을 확인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215798" y="3523183"/>
            <a:ext cx="9606686" cy="0"/>
          </a:xfrm>
          <a:prstGeom prst="line">
            <a:avLst/>
          </a:prstGeom>
          <a:noFill/>
          <a:ln w="9525">
            <a:solidFill>
              <a:srgbClr val="D8D9DC"/>
            </a:solidFill>
            <a:prstDash val="sysDash"/>
          </a:ln>
        </p:spPr>
      </p:sp>
      <p:sp>
        <p:nvSpPr>
          <p:cNvPr id="76" name="Shape 74"/>
          <p:cNvSpPr/>
          <p:nvPr/>
        </p:nvSpPr>
        <p:spPr>
          <a:xfrm>
            <a:off x="4780483" y="3614623"/>
            <a:ext cx="8230" cy="432511"/>
          </a:xfrm>
          <a:prstGeom prst="rect">
            <a:avLst/>
          </a:prstGeom>
          <a:solidFill>
            <a:srgbClr val="DDDEE1"/>
          </a:solidFill>
          <a:ln/>
        </p:spPr>
      </p:sp>
      <p:sp>
        <p:nvSpPr>
          <p:cNvPr id="77" name="Shape 75"/>
          <p:cNvSpPr/>
          <p:nvPr/>
        </p:nvSpPr>
        <p:spPr>
          <a:xfrm>
            <a:off x="7177126" y="3614623"/>
            <a:ext cx="8230" cy="432511"/>
          </a:xfrm>
          <a:prstGeom prst="rect">
            <a:avLst/>
          </a:prstGeom>
          <a:solidFill>
            <a:srgbClr val="DDDEE1"/>
          </a:solidFill>
          <a:ln/>
        </p:spPr>
      </p:sp>
      <p:sp>
        <p:nvSpPr>
          <p:cNvPr id="78" name="Shape 76"/>
          <p:cNvSpPr/>
          <p:nvPr/>
        </p:nvSpPr>
        <p:spPr>
          <a:xfrm rot="5400000">
            <a:off x="347472" y="3601822"/>
            <a:ext cx="333756" cy="379476"/>
          </a:xfrm>
          <a:prstGeom prst="hexagon">
            <a:avLst/>
          </a:prstGeom>
          <a:solidFill>
            <a:srgbClr val="8F5F24"/>
          </a:solidFill>
          <a:ln/>
        </p:spPr>
      </p:sp>
      <p:sp>
        <p:nvSpPr>
          <p:cNvPr id="79" name="Text 77"/>
          <p:cNvSpPr/>
          <p:nvPr/>
        </p:nvSpPr>
        <p:spPr>
          <a:xfrm>
            <a:off x="347472" y="3601822"/>
            <a:ext cx="333756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03</a:t>
            </a:r>
            <a:endParaRPr lang="en-US" sz="1150" dirty="0"/>
          </a:p>
        </p:txBody>
      </p:sp>
      <p:sp>
        <p:nvSpPr>
          <p:cNvPr id="80" name="Text 78"/>
          <p:cNvSpPr/>
          <p:nvPr/>
        </p:nvSpPr>
        <p:spPr>
          <a:xfrm>
            <a:off x="824789" y="3575304"/>
            <a:ext cx="1479499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7F4C13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변수 정의서 고도화</a:t>
            </a:r>
            <a:endParaRPr lang="en-US" sz="1150" dirty="0"/>
          </a:p>
        </p:txBody>
      </p:sp>
      <p:sp>
        <p:nvSpPr>
          <p:cNvPr id="81" name="Text 79"/>
          <p:cNvSpPr/>
          <p:nvPr/>
        </p:nvSpPr>
        <p:spPr>
          <a:xfrm>
            <a:off x="2573122" y="3575304"/>
            <a:ext cx="2200046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조사표 변수 배치 순서 · 코드값 정의 ·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단위 · 분기 로직을 문서화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5042002" y="3575304"/>
            <a:ext cx="2108606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재단이 원자료를 직접 분석할 때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변수를 잘못 짚으면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결과가 달라짐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7399325" y="3575304"/>
            <a:ext cx="2448763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추가 분석 시 수행사에 묻지 않고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재단이 직접 원자료를 활용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215798" y="4138574"/>
            <a:ext cx="9606686" cy="0"/>
          </a:xfrm>
          <a:prstGeom prst="line">
            <a:avLst/>
          </a:prstGeom>
          <a:noFill/>
          <a:ln w="9525">
            <a:solidFill>
              <a:srgbClr val="D8D9DC"/>
            </a:solidFill>
            <a:prstDash val="sysDash"/>
          </a:ln>
        </p:spPr>
      </p:sp>
      <p:sp>
        <p:nvSpPr>
          <p:cNvPr id="85" name="Shape 83"/>
          <p:cNvSpPr/>
          <p:nvPr/>
        </p:nvSpPr>
        <p:spPr>
          <a:xfrm>
            <a:off x="4780483" y="4230014"/>
            <a:ext cx="8230" cy="503834"/>
          </a:xfrm>
          <a:prstGeom prst="rect">
            <a:avLst/>
          </a:prstGeom>
          <a:solidFill>
            <a:srgbClr val="DDDEE1"/>
          </a:solidFill>
          <a:ln/>
        </p:spPr>
      </p:sp>
      <p:sp>
        <p:nvSpPr>
          <p:cNvPr id="86" name="Shape 84"/>
          <p:cNvSpPr/>
          <p:nvPr/>
        </p:nvSpPr>
        <p:spPr>
          <a:xfrm>
            <a:off x="7177126" y="4230014"/>
            <a:ext cx="8230" cy="503834"/>
          </a:xfrm>
          <a:prstGeom prst="rect">
            <a:avLst/>
          </a:prstGeom>
          <a:solidFill>
            <a:srgbClr val="DDDEE1"/>
          </a:solidFill>
          <a:ln/>
        </p:spPr>
      </p:sp>
      <p:sp>
        <p:nvSpPr>
          <p:cNvPr id="87" name="Shape 85"/>
          <p:cNvSpPr/>
          <p:nvPr/>
        </p:nvSpPr>
        <p:spPr>
          <a:xfrm rot="5400000">
            <a:off x="347472" y="4217213"/>
            <a:ext cx="333756" cy="379476"/>
          </a:xfrm>
          <a:prstGeom prst="hexagon">
            <a:avLst/>
          </a:prstGeom>
          <a:solidFill>
            <a:srgbClr val="0A2A80"/>
          </a:solidFill>
          <a:ln/>
        </p:spPr>
      </p:sp>
      <p:sp>
        <p:nvSpPr>
          <p:cNvPr id="88" name="Text 86"/>
          <p:cNvSpPr/>
          <p:nvPr/>
        </p:nvSpPr>
        <p:spPr>
          <a:xfrm>
            <a:off x="347472" y="4217213"/>
            <a:ext cx="333756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04</a:t>
            </a:r>
            <a:endParaRPr lang="en-US" sz="1150" dirty="0"/>
          </a:p>
        </p:txBody>
      </p:sp>
      <p:sp>
        <p:nvSpPr>
          <p:cNvPr id="89" name="Text 87"/>
          <p:cNvSpPr/>
          <p:nvPr/>
        </p:nvSpPr>
        <p:spPr>
          <a:xfrm>
            <a:off x="824789" y="4190695"/>
            <a:ext cx="1479499" cy="582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과업 기간 중</a:t>
            </a:r>
            <a:endParaRPr lang="en-US" sz="1150" dirty="0"/>
          </a:p>
          <a:p>
            <a:pPr algn="l" indent="0" marL="0">
              <a:lnSpc>
                <a:spcPct val="124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수시 요청 대응</a:t>
            </a:r>
            <a:endParaRPr lang="en-US" sz="1150" dirty="0"/>
          </a:p>
        </p:txBody>
      </p:sp>
      <p:sp>
        <p:nvSpPr>
          <p:cNvPr id="90" name="Text 88"/>
          <p:cNvSpPr/>
          <p:nvPr/>
        </p:nvSpPr>
        <p:spPr>
          <a:xfrm>
            <a:off x="2573122" y="4190695"/>
            <a:ext cx="2200046" cy="582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재단과 중기부 긴급 요청에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PM이 </a:t>
            </a:r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1207D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접수 당일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 착수,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1207D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3영업일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 이내 1차 회신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5042002" y="4190695"/>
            <a:ext cx="2108606" cy="582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국회 질의와 언론 문의는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예고 없이 들어오고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답변 기한이 짧음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7399325" y="4190695"/>
            <a:ext cx="2448763" cy="582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별도 자료 작성 없이 요청만으로 대응하고,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1207D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종료 후 1년</a:t>
            </a:r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간 동일 체계 유지</a:t>
            </a:r>
            <a:endParaRPr lang="en-US" sz="1000" dirty="0"/>
          </a:p>
        </p:txBody>
      </p:sp>
      <p:pic>
        <p:nvPicPr>
          <p:cNvPr id="93" name="Image 0" descr="/home/user/kstat-pm/deck/namp-2026/assets/s20-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4" y="4701845"/>
            <a:ext cx="1636776" cy="1054303"/>
          </a:xfrm>
          <a:prstGeom prst="rect">
            <a:avLst/>
          </a:prstGeom>
        </p:spPr>
      </p:pic>
      <p:sp>
        <p:nvSpPr>
          <p:cNvPr id="94" name="Shape 91"/>
          <p:cNvSpPr/>
          <p:nvPr/>
        </p:nvSpPr>
        <p:spPr>
          <a:xfrm>
            <a:off x="209398" y="4898441"/>
            <a:ext cx="183794" cy="18379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DEE3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7949794" y="4898441"/>
            <a:ext cx="183794" cy="18379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DEE3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209398" y="5461711"/>
            <a:ext cx="183794" cy="18379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DEE3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7949794" y="5461711"/>
            <a:ext cx="183794" cy="183794"/>
          </a:xfrm>
          <a:prstGeom prst="ellipse">
            <a:avLst/>
          </a:prstGeom>
          <a:solidFill>
            <a:srgbClr val="FFFFFF"/>
          </a:solidFill>
          <a:ln w="9525">
            <a:solidFill>
              <a:srgbClr val="DCDEE3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300838" y="4898441"/>
            <a:ext cx="7740396" cy="74615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3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209398" y="4989881"/>
            <a:ext cx="7923276" cy="563270"/>
          </a:xfrm>
          <a:prstGeom prst="rect">
            <a:avLst/>
          </a:prstGeom>
          <a:solidFill>
            <a:srgbClr val="FFFFFF"/>
          </a:solidFill>
          <a:ln w="9525">
            <a:solidFill>
              <a:srgbClr val="DCDEE3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300838" y="4904842"/>
            <a:ext cx="7740396" cy="7333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1" name="Shape 98"/>
          <p:cNvSpPr/>
          <p:nvPr/>
        </p:nvSpPr>
        <p:spPr>
          <a:xfrm>
            <a:off x="215798" y="4989881"/>
            <a:ext cx="7910474" cy="5632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2" name="Shape 99"/>
          <p:cNvSpPr/>
          <p:nvPr/>
        </p:nvSpPr>
        <p:spPr>
          <a:xfrm>
            <a:off x="190195" y="4799686"/>
            <a:ext cx="288036" cy="288036"/>
          </a:xfrm>
          <a:prstGeom prst="ellipse">
            <a:avLst/>
          </a:prstGeom>
          <a:solidFill>
            <a:srgbClr val="082470"/>
          </a:solidFill>
          <a:ln/>
        </p:spPr>
      </p:sp>
      <p:sp>
        <p:nvSpPr>
          <p:cNvPr id="103" name="Shape 100"/>
          <p:cNvSpPr/>
          <p:nvPr/>
        </p:nvSpPr>
        <p:spPr>
          <a:xfrm>
            <a:off x="1263701" y="4799686"/>
            <a:ext cx="288036" cy="288036"/>
          </a:xfrm>
          <a:prstGeom prst="ellipse">
            <a:avLst/>
          </a:prstGeom>
          <a:solidFill>
            <a:srgbClr val="082470"/>
          </a:solidFill>
          <a:ln/>
        </p:spPr>
      </p:sp>
      <p:sp>
        <p:nvSpPr>
          <p:cNvPr id="104" name="Shape 101"/>
          <p:cNvSpPr/>
          <p:nvPr/>
        </p:nvSpPr>
        <p:spPr>
          <a:xfrm>
            <a:off x="190195" y="4799686"/>
            <a:ext cx="288036" cy="288036"/>
          </a:xfrm>
          <a:prstGeom prst="ellipse">
            <a:avLst/>
          </a:prstGeom>
          <a:solidFill>
            <a:srgbClr val="082470"/>
          </a:solidFill>
          <a:ln/>
        </p:spPr>
      </p:sp>
      <p:sp>
        <p:nvSpPr>
          <p:cNvPr id="105" name="Shape 102"/>
          <p:cNvSpPr/>
          <p:nvPr/>
        </p:nvSpPr>
        <p:spPr>
          <a:xfrm>
            <a:off x="1263701" y="4799686"/>
            <a:ext cx="288036" cy="288036"/>
          </a:xfrm>
          <a:prstGeom prst="ellipse">
            <a:avLst/>
          </a:prstGeom>
          <a:solidFill>
            <a:srgbClr val="082470"/>
          </a:solidFill>
          <a:ln/>
        </p:spPr>
      </p:sp>
      <p:sp>
        <p:nvSpPr>
          <p:cNvPr id="106" name="Shape 103"/>
          <p:cNvSpPr/>
          <p:nvPr/>
        </p:nvSpPr>
        <p:spPr>
          <a:xfrm>
            <a:off x="333756" y="4799686"/>
            <a:ext cx="1073506" cy="288036"/>
          </a:xfrm>
          <a:prstGeom prst="rect">
            <a:avLst/>
          </a:prstGeom>
          <a:solidFill>
            <a:srgbClr val="082470"/>
          </a:solidFill>
          <a:ln/>
        </p:spPr>
      </p:sp>
      <p:sp>
        <p:nvSpPr>
          <p:cNvPr id="107" name="Shape 104"/>
          <p:cNvSpPr/>
          <p:nvPr/>
        </p:nvSpPr>
        <p:spPr>
          <a:xfrm>
            <a:off x="190195" y="4944161"/>
            <a:ext cx="1362456" cy="0"/>
          </a:xfrm>
          <a:prstGeom prst="rect">
            <a:avLst/>
          </a:prstGeom>
          <a:solidFill>
            <a:srgbClr val="082470"/>
          </a:solidFill>
          <a:ln/>
        </p:spPr>
      </p:sp>
      <p:sp>
        <p:nvSpPr>
          <p:cNvPr id="108" name="Text 105"/>
          <p:cNvSpPr/>
          <p:nvPr/>
        </p:nvSpPr>
        <p:spPr>
          <a:xfrm>
            <a:off x="190195" y="4799686"/>
            <a:ext cx="136245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제공 방식</a:t>
            </a:r>
            <a:endParaRPr lang="en-US" sz="1200" dirty="0"/>
          </a:p>
        </p:txBody>
      </p:sp>
      <p:sp>
        <p:nvSpPr>
          <p:cNvPr id="109" name="Shape 106"/>
          <p:cNvSpPr/>
          <p:nvPr/>
        </p:nvSpPr>
        <p:spPr>
          <a:xfrm>
            <a:off x="1381658" y="4898441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0" name="Shape 107"/>
          <p:cNvSpPr/>
          <p:nvPr/>
        </p:nvSpPr>
        <p:spPr>
          <a:xfrm>
            <a:off x="1847088" y="4983480"/>
            <a:ext cx="209398" cy="215798"/>
          </a:xfrm>
          <a:prstGeom prst="ellipse">
            <a:avLst/>
          </a:prstGeom>
          <a:solidFill>
            <a:srgbClr val="082470"/>
          </a:solidFill>
          <a:ln/>
        </p:spPr>
      </p:sp>
      <p:sp>
        <p:nvSpPr>
          <p:cNvPr id="111" name="Text 108"/>
          <p:cNvSpPr/>
          <p:nvPr/>
        </p:nvSpPr>
        <p:spPr>
          <a:xfrm>
            <a:off x="1847088" y="4983480"/>
            <a:ext cx="20939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1</a:t>
            </a:r>
            <a:endParaRPr lang="en-US" sz="1000" dirty="0"/>
          </a:p>
        </p:txBody>
      </p:sp>
      <p:sp>
        <p:nvSpPr>
          <p:cNvPr id="112" name="Text 109"/>
          <p:cNvSpPr/>
          <p:nvPr/>
        </p:nvSpPr>
        <p:spPr>
          <a:xfrm>
            <a:off x="2121408" y="4977079"/>
            <a:ext cx="1636776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90" b="1" dirty="0">
                <a:solidFill>
                  <a:srgbClr val="11207D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주간 제출</a:t>
            </a:r>
            <a:endParaRPr lang="en-US" sz="1090" dirty="0"/>
          </a:p>
        </p:txBody>
      </p:sp>
      <p:sp>
        <p:nvSpPr>
          <p:cNvPr id="113" name="Text 110"/>
          <p:cNvSpPr/>
          <p:nvPr/>
        </p:nvSpPr>
        <p:spPr>
          <a:xfrm>
            <a:off x="2121408" y="5212080"/>
            <a:ext cx="172913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1과 2는 조사 진행 현황과</a:t>
            </a:r>
            <a:endParaRPr lang="en-US" sz="1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함께 별도 시트로 구성</a:t>
            </a:r>
            <a:endParaRPr lang="en-US" sz="1000" dirty="0"/>
          </a:p>
        </p:txBody>
      </p:sp>
      <p:sp>
        <p:nvSpPr>
          <p:cNvPr id="114" name="Shape 111"/>
          <p:cNvSpPr/>
          <p:nvPr/>
        </p:nvSpPr>
        <p:spPr>
          <a:xfrm rot="5400000">
            <a:off x="3686861" y="5205679"/>
            <a:ext cx="157277" cy="209398"/>
          </a:xfrm>
          <a:prstGeom prst="triangle">
            <a:avLst/>
          </a:prstGeom>
          <a:solidFill>
            <a:srgbClr val="9BA0A8"/>
          </a:solidFill>
          <a:ln/>
        </p:spPr>
      </p:sp>
      <p:sp>
        <p:nvSpPr>
          <p:cNvPr id="115" name="Shape 112"/>
          <p:cNvSpPr/>
          <p:nvPr/>
        </p:nvSpPr>
        <p:spPr>
          <a:xfrm>
            <a:off x="4020617" y="4983480"/>
            <a:ext cx="209398" cy="215798"/>
          </a:xfrm>
          <a:prstGeom prst="ellipse">
            <a:avLst/>
          </a:prstGeom>
          <a:solidFill>
            <a:srgbClr val="082470"/>
          </a:solidFill>
          <a:ln/>
        </p:spPr>
      </p:sp>
      <p:sp>
        <p:nvSpPr>
          <p:cNvPr id="116" name="Text 113"/>
          <p:cNvSpPr/>
          <p:nvPr/>
        </p:nvSpPr>
        <p:spPr>
          <a:xfrm>
            <a:off x="4020617" y="4983480"/>
            <a:ext cx="20939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2</a:t>
            </a:r>
            <a:endParaRPr lang="en-US" sz="1000" dirty="0"/>
          </a:p>
        </p:txBody>
      </p:sp>
      <p:sp>
        <p:nvSpPr>
          <p:cNvPr id="117" name="Text 114"/>
          <p:cNvSpPr/>
          <p:nvPr/>
        </p:nvSpPr>
        <p:spPr>
          <a:xfrm>
            <a:off x="4295851" y="4977079"/>
            <a:ext cx="1506017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90" b="1" dirty="0">
                <a:solidFill>
                  <a:srgbClr val="11207D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최종 납품</a:t>
            </a:r>
            <a:endParaRPr lang="en-US" sz="1090" dirty="0"/>
          </a:p>
        </p:txBody>
      </p:sp>
      <p:sp>
        <p:nvSpPr>
          <p:cNvPr id="118" name="Text 115"/>
          <p:cNvSpPr/>
          <p:nvPr/>
        </p:nvSpPr>
        <p:spPr>
          <a:xfrm>
            <a:off x="4302252" y="5212080"/>
            <a:ext cx="1597457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3은 최종 데이터와</a:t>
            </a:r>
            <a:endParaRPr lang="en-US" sz="1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함께 납품</a:t>
            </a:r>
            <a:endParaRPr lang="en-US" sz="1000" dirty="0"/>
          </a:p>
        </p:txBody>
      </p:sp>
      <p:sp>
        <p:nvSpPr>
          <p:cNvPr id="119" name="Shape 116"/>
          <p:cNvSpPr/>
          <p:nvPr/>
        </p:nvSpPr>
        <p:spPr>
          <a:xfrm rot="5400000">
            <a:off x="5579669" y="5205679"/>
            <a:ext cx="157277" cy="209398"/>
          </a:xfrm>
          <a:prstGeom prst="triangle">
            <a:avLst/>
          </a:prstGeom>
          <a:solidFill>
            <a:srgbClr val="9BA0A8"/>
          </a:solidFill>
          <a:ln/>
        </p:spPr>
      </p:sp>
      <p:sp>
        <p:nvSpPr>
          <p:cNvPr id="120" name="Shape 117"/>
          <p:cNvSpPr/>
          <p:nvPr/>
        </p:nvSpPr>
        <p:spPr>
          <a:xfrm>
            <a:off x="5992063" y="4983480"/>
            <a:ext cx="209398" cy="215798"/>
          </a:xfrm>
          <a:prstGeom prst="ellipse">
            <a:avLst/>
          </a:prstGeom>
          <a:solidFill>
            <a:srgbClr val="082470"/>
          </a:solidFill>
          <a:ln/>
        </p:spPr>
      </p:sp>
      <p:sp>
        <p:nvSpPr>
          <p:cNvPr id="121" name="Text 118"/>
          <p:cNvSpPr/>
          <p:nvPr/>
        </p:nvSpPr>
        <p:spPr>
          <a:xfrm>
            <a:off x="5992063" y="4983480"/>
            <a:ext cx="20939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3</a:t>
            </a:r>
            <a:endParaRPr lang="en-US" sz="1000" dirty="0"/>
          </a:p>
        </p:txBody>
      </p:sp>
      <p:sp>
        <p:nvSpPr>
          <p:cNvPr id="122" name="Text 119"/>
          <p:cNvSpPr/>
          <p:nvPr/>
        </p:nvSpPr>
        <p:spPr>
          <a:xfrm>
            <a:off x="6267298" y="4977079"/>
            <a:ext cx="1715414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90" b="1" dirty="0">
                <a:solidFill>
                  <a:srgbClr val="11207D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상시 · 종료 후 1년</a:t>
            </a:r>
            <a:endParaRPr lang="en-US" sz="1090" dirty="0"/>
          </a:p>
        </p:txBody>
      </p:sp>
      <p:sp>
        <p:nvSpPr>
          <p:cNvPr id="123" name="Text 120"/>
          <p:cNvSpPr/>
          <p:nvPr/>
        </p:nvSpPr>
        <p:spPr>
          <a:xfrm>
            <a:off x="6292901" y="5212080"/>
            <a:ext cx="1807769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4는 과업 기간 중 상시 대응,</a:t>
            </a:r>
            <a:endParaRPr lang="en-US" sz="1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00" b="1" dirty="0">
                <a:solidFill>
                  <a:srgbClr val="11207D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종료 후 1년</a:t>
            </a:r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KoPub돋움체 Medium" pitchFamily="34" charset="0"/>
                <a:ea typeface="KoPub돋움체 Medium" pitchFamily="34" charset="-122"/>
                <a:cs typeface="KoPub돋움체 Medium" pitchFamily="34" charset="-120"/>
              </a:rPr>
              <a:t>간 동일 체계 유지</a:t>
            </a:r>
            <a:endParaRPr lang="en-US" sz="1000" dirty="0"/>
          </a:p>
        </p:txBody>
      </p:sp>
      <p:sp>
        <p:nvSpPr>
          <p:cNvPr id="124" name="Shape 121"/>
          <p:cNvSpPr/>
          <p:nvPr/>
        </p:nvSpPr>
        <p:spPr>
          <a:xfrm>
            <a:off x="176479" y="5756148"/>
            <a:ext cx="261518" cy="261518"/>
          </a:xfrm>
          <a:prstGeom prst="ellipse">
            <a:avLst/>
          </a:prstGeom>
          <a:solidFill>
            <a:srgbClr val="33363C"/>
          </a:solidFill>
          <a:ln/>
        </p:spPr>
      </p:sp>
      <p:sp>
        <p:nvSpPr>
          <p:cNvPr id="125" name="Shape 122"/>
          <p:cNvSpPr/>
          <p:nvPr/>
        </p:nvSpPr>
        <p:spPr>
          <a:xfrm>
            <a:off x="9619488" y="5756148"/>
            <a:ext cx="261518" cy="261518"/>
          </a:xfrm>
          <a:prstGeom prst="ellipse">
            <a:avLst/>
          </a:prstGeom>
          <a:solidFill>
            <a:srgbClr val="33363C"/>
          </a:solidFill>
          <a:ln/>
        </p:spPr>
      </p:sp>
      <p:sp>
        <p:nvSpPr>
          <p:cNvPr id="126" name="Shape 123"/>
          <p:cNvSpPr/>
          <p:nvPr/>
        </p:nvSpPr>
        <p:spPr>
          <a:xfrm>
            <a:off x="176479" y="6266383"/>
            <a:ext cx="261518" cy="261518"/>
          </a:xfrm>
          <a:prstGeom prst="ellipse">
            <a:avLst/>
          </a:prstGeom>
          <a:solidFill>
            <a:srgbClr val="33363C"/>
          </a:solidFill>
          <a:ln/>
        </p:spPr>
      </p:sp>
      <p:sp>
        <p:nvSpPr>
          <p:cNvPr id="127" name="Shape 124"/>
          <p:cNvSpPr/>
          <p:nvPr/>
        </p:nvSpPr>
        <p:spPr>
          <a:xfrm>
            <a:off x="9619488" y="6266383"/>
            <a:ext cx="261518" cy="261518"/>
          </a:xfrm>
          <a:prstGeom prst="ellipse">
            <a:avLst/>
          </a:prstGeom>
          <a:solidFill>
            <a:srgbClr val="33363C"/>
          </a:solidFill>
          <a:ln/>
        </p:spPr>
      </p:sp>
      <p:sp>
        <p:nvSpPr>
          <p:cNvPr id="128" name="Shape 125"/>
          <p:cNvSpPr/>
          <p:nvPr/>
        </p:nvSpPr>
        <p:spPr>
          <a:xfrm>
            <a:off x="308153" y="5756148"/>
            <a:ext cx="9443009" cy="772668"/>
          </a:xfrm>
          <a:prstGeom prst="rect">
            <a:avLst/>
          </a:prstGeom>
          <a:solidFill>
            <a:srgbClr val="33363C"/>
          </a:solidFill>
          <a:ln/>
        </p:spPr>
      </p:sp>
      <p:sp>
        <p:nvSpPr>
          <p:cNvPr id="129" name="Shape 126"/>
          <p:cNvSpPr/>
          <p:nvPr/>
        </p:nvSpPr>
        <p:spPr>
          <a:xfrm>
            <a:off x="176479" y="5886907"/>
            <a:ext cx="9704527" cy="511150"/>
          </a:xfrm>
          <a:prstGeom prst="rect">
            <a:avLst/>
          </a:prstGeom>
          <a:solidFill>
            <a:srgbClr val="33363C"/>
          </a:solidFill>
          <a:ln/>
        </p:spPr>
      </p:sp>
      <p:sp>
        <p:nvSpPr>
          <p:cNvPr id="130" name="Text 127"/>
          <p:cNvSpPr/>
          <p:nvPr/>
        </p:nvSpPr>
        <p:spPr>
          <a:xfrm>
            <a:off x="393192" y="5841187"/>
            <a:ext cx="927293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60" b="1" dirty="0">
                <a:solidFill>
                  <a:srgbClr val="FFFFFF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재단이 통계표를 직접 검증하고 필요한 시점에 바로 정책 자료로 활용</a:t>
            </a:r>
            <a:endParaRPr lang="en-US" sz="1460" dirty="0"/>
          </a:p>
        </p:txBody>
      </p:sp>
      <p:sp>
        <p:nvSpPr>
          <p:cNvPr id="131" name="Text 128"/>
          <p:cNvSpPr/>
          <p:nvPr/>
        </p:nvSpPr>
        <p:spPr>
          <a:xfrm>
            <a:off x="393192" y="6142025"/>
            <a:ext cx="927293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10" b="1" dirty="0">
                <a:solidFill>
                  <a:srgbClr val="F7D673"/>
                </a:solidFill>
                <a:latin typeface="KoPub돋움체 Bold" pitchFamily="34" charset="0"/>
                <a:ea typeface="KoPub돋움체 Bold" pitchFamily="34" charset="-122"/>
                <a:cs typeface="KoPub돋움체 Bold" pitchFamily="34" charset="-120"/>
              </a:rPr>
              <a:t>추가 용역 없이 검증 · 재집계 · 현안 대응까지 이어지는 실행 지원 체계를 제공</a:t>
            </a:r>
            <a:endParaRPr lang="en-US" sz="16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케이스탯리서치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납품대금 연동제 실태조사 제안서</dc:title>
  <dc:subject>PptxGenJS Presentation</dc:subject>
  <dc:creator>케이스탯리서치</dc:creator>
  <cp:lastModifiedBy>케이스탯리서치</cp:lastModifiedBy>
  <cp:revision>1</cp:revision>
  <dcterms:created xsi:type="dcterms:W3CDTF">2026-08-12T01:37:17Z</dcterms:created>
  <dcterms:modified xsi:type="dcterms:W3CDTF">2026-08-12T01:37:17Z</dcterms:modified>
</cp:coreProperties>
</file>
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15798" y="318211"/>
            <a:ext cx="8770010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연동 적용대상 밀도와 응답 난이도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29514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17881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배분과 판별조사를 하나의 기준으로 연결</a:t>
            </a:r>
            <a:endParaRPr lang="en-US" sz="1420" dirty="0"/>
          </a:p>
        </p:txBody>
      </p:sp>
      <p:sp>
        <p:nvSpPr>
          <p:cNvPr id="7" name="Shape 5"/>
          <p:cNvSpPr/>
          <p:nvPr/>
        </p:nvSpPr>
        <p:spPr>
          <a:xfrm>
            <a:off x="1349654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49654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49654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77910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69096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51737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97266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619402" y="1232611"/>
            <a:ext cx="70161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가로축을 연동 적용대상 밀도로 설정해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제조업·건설업 집중 배분 설계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와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 연결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8" name="Shape 16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20" name="Shape 18"/>
          <p:cNvSpPr/>
          <p:nvPr/>
        </p:nvSpPr>
        <p:spPr>
          <a:xfrm>
            <a:off x="323698" y="1830629"/>
            <a:ext cx="2205533" cy="279806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1" name="Shape 19"/>
          <p:cNvSpPr/>
          <p:nvPr/>
        </p:nvSpPr>
        <p:spPr>
          <a:xfrm>
            <a:off x="175565" y="1970532"/>
            <a:ext cx="2502713" cy="0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2" name="Text 20"/>
          <p:cNvSpPr/>
          <p:nvPr/>
        </p:nvSpPr>
        <p:spPr>
          <a:xfrm>
            <a:off x="175565" y="1830629"/>
            <a:ext cx="250271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밀도 · 난이도 매트릭스</a:t>
            </a:r>
            <a:endParaRPr lang="en-US" sz="1310" dirty="0"/>
          </a:p>
        </p:txBody>
      </p:sp>
      <p:sp>
        <p:nvSpPr>
          <p:cNvPr id="23" name="Text 21"/>
          <p:cNvSpPr/>
          <p:nvPr/>
        </p:nvSpPr>
        <p:spPr>
          <a:xfrm>
            <a:off x="2792578" y="1830629"/>
            <a:ext cx="7082942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2025년 납품대금 연동제 실태조사 기준(수탁기업 12,000개사 발송 · 4,013개사 응답)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26541" y="2237537"/>
            <a:ext cx="114300" cy="2821838"/>
          </a:xfrm>
          <a:prstGeom prst="upArrow">
            <a:avLst/>
          </a:prstGeom>
          <a:solidFill>
            <a:srgbClr val="9AA0AA"/>
          </a:solidFill>
          <a:ln/>
        </p:spPr>
      </p:sp>
      <p:sp>
        <p:nvSpPr>
          <p:cNvPr id="25" name="Shape 23"/>
          <p:cNvSpPr/>
          <p:nvPr/>
        </p:nvSpPr>
        <p:spPr>
          <a:xfrm>
            <a:off x="1389888" y="5160874"/>
            <a:ext cx="7993685" cy="107899"/>
          </a:xfrm>
          <a:prstGeom prst="rightArrow">
            <a:avLst/>
          </a:prstGeom>
          <a:solidFill>
            <a:srgbClr val="9AA0AA"/>
          </a:solidFill>
          <a:ln/>
        </p:spPr>
      </p:sp>
      <p:sp>
        <p:nvSpPr>
          <p:cNvPr id="26" name="Text 24"/>
          <p:cNvSpPr/>
          <p:nvPr/>
        </p:nvSpPr>
        <p:spPr>
          <a:xfrm>
            <a:off x="269748" y="3368650"/>
            <a:ext cx="796442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응답</a:t>
            </a:r>
            <a:endParaRPr lang="en-US" sz="142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난이도</a:t>
            </a:r>
            <a:endParaRPr lang="en-US" sz="1420" dirty="0"/>
          </a:p>
        </p:txBody>
      </p:sp>
      <p:sp>
        <p:nvSpPr>
          <p:cNvPr id="27" name="Text 25"/>
          <p:cNvSpPr/>
          <p:nvPr/>
        </p:nvSpPr>
        <p:spPr>
          <a:xfrm>
            <a:off x="3373222" y="5326380"/>
            <a:ext cx="40480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 적용대상 밀도</a:t>
            </a:r>
            <a:endParaRPr lang="en-US" sz="1420" dirty="0"/>
          </a:p>
        </p:txBody>
      </p:sp>
      <p:sp>
        <p:nvSpPr>
          <p:cNvPr id="28" name="Shape 26"/>
          <p:cNvSpPr/>
          <p:nvPr/>
        </p:nvSpPr>
        <p:spPr>
          <a:xfrm>
            <a:off x="553212" y="2263140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29" name="Text 27"/>
          <p:cNvSpPr/>
          <p:nvPr/>
        </p:nvSpPr>
        <p:spPr>
          <a:xfrm>
            <a:off x="553212" y="2263140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0" name="Shape 28"/>
          <p:cNvSpPr/>
          <p:nvPr/>
        </p:nvSpPr>
        <p:spPr>
          <a:xfrm>
            <a:off x="546811" y="4798771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1" name="Text 29"/>
          <p:cNvSpPr/>
          <p:nvPr/>
        </p:nvSpPr>
        <p:spPr>
          <a:xfrm>
            <a:off x="546811" y="4798771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낮음</a:t>
            </a:r>
            <a:endParaRPr lang="en-US" sz="1010" dirty="0"/>
          </a:p>
        </p:txBody>
      </p:sp>
      <p:sp>
        <p:nvSpPr>
          <p:cNvPr id="32" name="Shape 30"/>
          <p:cNvSpPr/>
          <p:nvPr/>
        </p:nvSpPr>
        <p:spPr>
          <a:xfrm>
            <a:off x="9053474" y="5154473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3" name="Text 31"/>
          <p:cNvSpPr/>
          <p:nvPr/>
        </p:nvSpPr>
        <p:spPr>
          <a:xfrm>
            <a:off x="9053474" y="5154473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4" name="Shape 32"/>
          <p:cNvSpPr/>
          <p:nvPr/>
        </p:nvSpPr>
        <p:spPr>
          <a:xfrm>
            <a:off x="1450238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5" name="Shape 33"/>
          <p:cNvSpPr/>
          <p:nvPr/>
        </p:nvSpPr>
        <p:spPr>
          <a:xfrm>
            <a:off x="500542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6" name="Shape 34"/>
          <p:cNvSpPr/>
          <p:nvPr/>
        </p:nvSpPr>
        <p:spPr>
          <a:xfrm>
            <a:off x="1450238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542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8" name="Shape 36"/>
          <p:cNvSpPr/>
          <p:nvPr/>
        </p:nvSpPr>
        <p:spPr>
          <a:xfrm>
            <a:off x="1544422" y="2243938"/>
            <a:ext cx="3555187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9" name="Shape 37"/>
          <p:cNvSpPr/>
          <p:nvPr/>
        </p:nvSpPr>
        <p:spPr>
          <a:xfrm>
            <a:off x="1450238" y="2332634"/>
            <a:ext cx="3744468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40" name="Image 0" descr="/home/user/kstat-pm/deck/namp-2026/assets/s14-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787" y="2427732"/>
            <a:ext cx="1174090" cy="928116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2684678" y="2606040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42" name="Text 39"/>
          <p:cNvSpPr/>
          <p:nvPr/>
        </p:nvSpPr>
        <p:spPr>
          <a:xfrm>
            <a:off x="2684678" y="2606040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10" dirty="0"/>
          </a:p>
        </p:txBody>
      </p:sp>
      <p:sp>
        <p:nvSpPr>
          <p:cNvPr id="43" name="Text 40"/>
          <p:cNvSpPr/>
          <p:nvPr/>
        </p:nvSpPr>
        <p:spPr>
          <a:xfrm>
            <a:off x="3022092" y="2567635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</a:t>
            </a:r>
            <a:endParaRPr lang="en-US" sz="1520" dirty="0"/>
          </a:p>
        </p:txBody>
      </p:sp>
      <p:sp>
        <p:nvSpPr>
          <p:cNvPr id="44" name="Text 41"/>
          <p:cNvSpPr/>
          <p:nvPr/>
        </p:nvSpPr>
        <p:spPr>
          <a:xfrm>
            <a:off x="3022092" y="28858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1개 대분류 · 18,816개사</a:t>
            </a:r>
            <a:endParaRPr lang="en-US" sz="1110" dirty="0"/>
          </a:p>
        </p:txBody>
      </p:sp>
      <p:sp>
        <p:nvSpPr>
          <p:cNvPr id="45" name="Text 42"/>
          <p:cNvSpPr/>
          <p:nvPr/>
        </p:nvSpPr>
        <p:spPr>
          <a:xfrm>
            <a:off x="3022092" y="31144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오인 위험 최고</a:t>
            </a:r>
            <a:endParaRPr lang="en-US" sz="1110" dirty="0"/>
          </a:p>
        </p:txBody>
      </p:sp>
      <p:sp>
        <p:nvSpPr>
          <p:cNvPr id="46" name="Shape 43"/>
          <p:cNvSpPr/>
          <p:nvPr/>
        </p:nvSpPr>
        <p:spPr>
          <a:xfrm>
            <a:off x="5262372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7" name="Shape 44"/>
          <p:cNvSpPr/>
          <p:nvPr/>
        </p:nvSpPr>
        <p:spPr>
          <a:xfrm>
            <a:off x="930310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8" name="Shape 45"/>
          <p:cNvSpPr/>
          <p:nvPr/>
        </p:nvSpPr>
        <p:spPr>
          <a:xfrm>
            <a:off x="5262372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9" name="Shape 46"/>
          <p:cNvSpPr/>
          <p:nvPr/>
        </p:nvSpPr>
        <p:spPr>
          <a:xfrm>
            <a:off x="930310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50" name="Shape 47"/>
          <p:cNvSpPr/>
          <p:nvPr/>
        </p:nvSpPr>
        <p:spPr>
          <a:xfrm>
            <a:off x="5356555" y="2243938"/>
            <a:ext cx="4040734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1" name="Shape 48"/>
          <p:cNvSpPr/>
          <p:nvPr/>
        </p:nvSpPr>
        <p:spPr>
          <a:xfrm>
            <a:off x="5262372" y="2332634"/>
            <a:ext cx="4230014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52" name="Image 1" descr="/home/user/kstat-pm/deck/namp-2026/assets/s14-fact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234" y="2263140"/>
            <a:ext cx="1389888" cy="686714"/>
          </a:xfrm>
          <a:prstGeom prst="rect">
            <a:avLst/>
          </a:prstGeom>
        </p:spPr>
      </p:pic>
      <p:pic>
        <p:nvPicPr>
          <p:cNvPr id="53" name="Image 2" descr="/home/user/kstat-pm/deck/namp-2026/assets/s14-cra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0883" y="2948940"/>
            <a:ext cx="1450238" cy="737006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5572354" y="2326234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5" name="Text 50"/>
          <p:cNvSpPr/>
          <p:nvPr/>
        </p:nvSpPr>
        <p:spPr>
          <a:xfrm>
            <a:off x="5572354" y="2326234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10" dirty="0"/>
          </a:p>
        </p:txBody>
      </p:sp>
      <p:sp>
        <p:nvSpPr>
          <p:cNvPr id="56" name="Text 51"/>
          <p:cNvSpPr/>
          <p:nvPr/>
        </p:nvSpPr>
        <p:spPr>
          <a:xfrm>
            <a:off x="5909767" y="2287829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</a:t>
            </a:r>
            <a:endParaRPr lang="en-US" sz="1520" dirty="0"/>
          </a:p>
        </p:txBody>
      </p:sp>
      <p:sp>
        <p:nvSpPr>
          <p:cNvPr id="57" name="Text 52"/>
          <p:cNvSpPr/>
          <p:nvPr/>
        </p:nvSpPr>
        <p:spPr>
          <a:xfrm>
            <a:off x="5909767" y="2606040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24개 중분류 · 67,733개사</a:t>
            </a:r>
            <a:endParaRPr lang="en-US" sz="1110" dirty="0"/>
          </a:p>
        </p:txBody>
      </p:sp>
      <p:sp>
        <p:nvSpPr>
          <p:cNvPr id="58" name="Shape 53"/>
          <p:cNvSpPr/>
          <p:nvPr/>
        </p:nvSpPr>
        <p:spPr>
          <a:xfrm>
            <a:off x="5572354" y="2955341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9" name="Text 54"/>
          <p:cNvSpPr/>
          <p:nvPr/>
        </p:nvSpPr>
        <p:spPr>
          <a:xfrm>
            <a:off x="5572354" y="2955341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10" dirty="0"/>
          </a:p>
        </p:txBody>
      </p:sp>
      <p:sp>
        <p:nvSpPr>
          <p:cNvPr id="60" name="Text 55"/>
          <p:cNvSpPr/>
          <p:nvPr/>
        </p:nvSpPr>
        <p:spPr>
          <a:xfrm>
            <a:off x="5909767" y="2917850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건설업</a:t>
            </a:r>
            <a:endParaRPr lang="en-US" sz="1520" dirty="0"/>
          </a:p>
        </p:txBody>
      </p:sp>
      <p:sp>
        <p:nvSpPr>
          <p:cNvPr id="61" name="Text 56"/>
          <p:cNvSpPr/>
          <p:nvPr/>
        </p:nvSpPr>
        <p:spPr>
          <a:xfrm>
            <a:off x="5909767" y="32351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2개 중분류 · 28,593개사</a:t>
            </a:r>
            <a:endParaRPr lang="en-US" sz="1110" dirty="0"/>
          </a:p>
        </p:txBody>
      </p:sp>
      <p:sp>
        <p:nvSpPr>
          <p:cNvPr id="62" name="Text 57"/>
          <p:cNvSpPr/>
          <p:nvPr/>
        </p:nvSpPr>
        <p:spPr>
          <a:xfrm>
            <a:off x="5909767" y="34637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명부 집중 배분 대상</a:t>
            </a:r>
            <a:endParaRPr lang="en-US" sz="1110" dirty="0"/>
          </a:p>
        </p:txBody>
      </p:sp>
      <p:sp>
        <p:nvSpPr>
          <p:cNvPr id="63" name="Shape 58"/>
          <p:cNvSpPr/>
          <p:nvPr/>
        </p:nvSpPr>
        <p:spPr>
          <a:xfrm>
            <a:off x="1450238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4" name="Shape 59"/>
          <p:cNvSpPr/>
          <p:nvPr/>
        </p:nvSpPr>
        <p:spPr>
          <a:xfrm>
            <a:off x="5005426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5" name="Shape 60"/>
          <p:cNvSpPr/>
          <p:nvPr/>
        </p:nvSpPr>
        <p:spPr>
          <a:xfrm>
            <a:off x="1450238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6" name="Shape 61"/>
          <p:cNvSpPr/>
          <p:nvPr/>
        </p:nvSpPr>
        <p:spPr>
          <a:xfrm>
            <a:off x="5005426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7" name="Shape 62"/>
          <p:cNvSpPr/>
          <p:nvPr/>
        </p:nvSpPr>
        <p:spPr>
          <a:xfrm>
            <a:off x="1544422" y="3756355"/>
            <a:ext cx="3555187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68" name="Shape 63"/>
          <p:cNvSpPr/>
          <p:nvPr/>
        </p:nvSpPr>
        <p:spPr>
          <a:xfrm>
            <a:off x="1450238" y="3845052"/>
            <a:ext cx="3744468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69" name="Image 3" descr="/home/user/kstat-pm/deck/namp-2026/assets/s14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1503" y="3928262"/>
            <a:ext cx="1160374" cy="1004011"/>
          </a:xfrm>
          <a:prstGeom prst="rect">
            <a:avLst/>
          </a:prstGeom>
        </p:spPr>
      </p:pic>
      <p:sp>
        <p:nvSpPr>
          <p:cNvPr id="70" name="Shape 64"/>
          <p:cNvSpPr/>
          <p:nvPr/>
        </p:nvSpPr>
        <p:spPr>
          <a:xfrm>
            <a:off x="2684678" y="4004158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71" name="Text 65"/>
          <p:cNvSpPr/>
          <p:nvPr/>
        </p:nvSpPr>
        <p:spPr>
          <a:xfrm>
            <a:off x="2684678" y="4004158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10" dirty="0"/>
          </a:p>
        </p:txBody>
      </p:sp>
      <p:sp>
        <p:nvSpPr>
          <p:cNvPr id="72" name="Text 66"/>
          <p:cNvSpPr/>
          <p:nvPr/>
        </p:nvSpPr>
        <p:spPr>
          <a:xfrm>
            <a:off x="3022092" y="3965753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기타</a:t>
            </a:r>
            <a:endParaRPr lang="en-US" sz="1520" dirty="0"/>
          </a:p>
        </p:txBody>
      </p:sp>
      <p:sp>
        <p:nvSpPr>
          <p:cNvPr id="73" name="Text 67"/>
          <p:cNvSpPr/>
          <p:nvPr/>
        </p:nvSpPr>
        <p:spPr>
          <a:xfrm>
            <a:off x="3022092" y="42839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13개 대분류 · 250,847개사</a:t>
            </a:r>
            <a:endParaRPr lang="en-US" sz="1110" dirty="0"/>
          </a:p>
        </p:txBody>
      </p:sp>
      <p:sp>
        <p:nvSpPr>
          <p:cNvPr id="74" name="Text 68"/>
          <p:cNvSpPr/>
          <p:nvPr/>
        </p:nvSpPr>
        <p:spPr>
          <a:xfrm>
            <a:off x="3022092" y="45125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4문항·2분 후 종료</a:t>
            </a:r>
            <a:endParaRPr lang="en-US" sz="1110" dirty="0"/>
          </a:p>
        </p:txBody>
      </p:sp>
      <p:sp>
        <p:nvSpPr>
          <p:cNvPr id="75" name="Shape 69"/>
          <p:cNvSpPr/>
          <p:nvPr/>
        </p:nvSpPr>
        <p:spPr>
          <a:xfrm>
            <a:off x="5262372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6" name="Shape 70"/>
          <p:cNvSpPr/>
          <p:nvPr/>
        </p:nvSpPr>
        <p:spPr>
          <a:xfrm>
            <a:off x="9295790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7" name="Shape 71"/>
          <p:cNvSpPr/>
          <p:nvPr/>
        </p:nvSpPr>
        <p:spPr>
          <a:xfrm>
            <a:off x="5262372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8" name="Shape 72"/>
          <p:cNvSpPr/>
          <p:nvPr/>
        </p:nvSpPr>
        <p:spPr>
          <a:xfrm>
            <a:off x="9295790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9" name="Shape 73"/>
          <p:cNvSpPr/>
          <p:nvPr/>
        </p:nvSpPr>
        <p:spPr>
          <a:xfrm>
            <a:off x="5356555" y="3756355"/>
            <a:ext cx="4034333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80" name="Shape 74"/>
          <p:cNvSpPr/>
          <p:nvPr/>
        </p:nvSpPr>
        <p:spPr>
          <a:xfrm>
            <a:off x="5262372" y="3845052"/>
            <a:ext cx="4222699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81" name="Image 4" descr="/home/user/kstat-pm/deck/namp-2026/assets/s14-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4099255"/>
            <a:ext cx="2010766" cy="864108"/>
          </a:xfrm>
          <a:prstGeom prst="rect">
            <a:avLst/>
          </a:prstGeom>
        </p:spPr>
      </p:pic>
      <p:sp>
        <p:nvSpPr>
          <p:cNvPr id="82" name="Shape 75"/>
          <p:cNvSpPr/>
          <p:nvPr/>
        </p:nvSpPr>
        <p:spPr>
          <a:xfrm>
            <a:off x="5558638" y="3877056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83" name="Text 76"/>
          <p:cNvSpPr/>
          <p:nvPr/>
        </p:nvSpPr>
        <p:spPr>
          <a:xfrm>
            <a:off x="5558638" y="3877056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10" dirty="0"/>
          </a:p>
        </p:txBody>
      </p:sp>
      <p:sp>
        <p:nvSpPr>
          <p:cNvPr id="84" name="Text 77"/>
          <p:cNvSpPr/>
          <p:nvPr/>
        </p:nvSpPr>
        <p:spPr>
          <a:xfrm>
            <a:off x="5896051" y="3838651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용역</a:t>
            </a:r>
            <a:endParaRPr lang="en-US" sz="1520" dirty="0"/>
          </a:p>
        </p:txBody>
      </p:sp>
      <p:sp>
        <p:nvSpPr>
          <p:cNvPr id="85" name="Text 78"/>
          <p:cNvSpPr/>
          <p:nvPr/>
        </p:nvSpPr>
        <p:spPr>
          <a:xfrm>
            <a:off x="5896051" y="4156862"/>
            <a:ext cx="229331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운수·창고·사업시설관리</a:t>
            </a:r>
            <a:endParaRPr lang="en-US" sz="1110" dirty="0"/>
          </a:p>
        </p:txBody>
      </p:sp>
      <p:sp>
        <p:nvSpPr>
          <p:cNvPr id="86" name="Text 79"/>
          <p:cNvSpPr/>
          <p:nvPr/>
        </p:nvSpPr>
        <p:spPr>
          <a:xfrm>
            <a:off x="5896051" y="43854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26,065개사</a:t>
            </a:r>
            <a:endParaRPr lang="en-US" sz="1110" dirty="0"/>
          </a:p>
        </p:txBody>
      </p:sp>
      <p:sp>
        <p:nvSpPr>
          <p:cNvPr id="87" name="Text 80"/>
          <p:cNvSpPr/>
          <p:nvPr/>
        </p:nvSpPr>
        <p:spPr>
          <a:xfrm>
            <a:off x="5896051" y="46140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에너지경비 중심</a:t>
            </a:r>
            <a:endParaRPr lang="en-US" sz="1110" dirty="0"/>
          </a:p>
        </p:txBody>
      </p:sp>
      <p:sp>
        <p:nvSpPr>
          <p:cNvPr id="88" name="Shape 81"/>
          <p:cNvSpPr/>
          <p:nvPr/>
        </p:nvSpPr>
        <p:spPr>
          <a:xfrm>
            <a:off x="209398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89" name="Shape 82"/>
          <p:cNvSpPr/>
          <p:nvPr/>
        </p:nvSpPr>
        <p:spPr>
          <a:xfrm>
            <a:off x="9552737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0" name="Shape 83"/>
          <p:cNvSpPr/>
          <p:nvPr/>
        </p:nvSpPr>
        <p:spPr>
          <a:xfrm>
            <a:off x="209398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1" name="Shape 84"/>
          <p:cNvSpPr/>
          <p:nvPr/>
        </p:nvSpPr>
        <p:spPr>
          <a:xfrm>
            <a:off x="9552737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2" name="Shape 85"/>
          <p:cNvSpPr/>
          <p:nvPr/>
        </p:nvSpPr>
        <p:spPr>
          <a:xfrm>
            <a:off x="303581" y="5548579"/>
            <a:ext cx="9343339" cy="749808"/>
          </a:xfrm>
          <a:prstGeom prst="rect">
            <a:avLst/>
          </a:prstGeom>
          <a:solidFill>
            <a:srgbClr val="F5F5F4"/>
          </a:solidFill>
          <a:ln/>
        </p:spPr>
      </p:sp>
      <p:sp>
        <p:nvSpPr>
          <p:cNvPr id="93" name="Shape 86"/>
          <p:cNvSpPr/>
          <p:nvPr/>
        </p:nvSpPr>
        <p:spPr>
          <a:xfrm>
            <a:off x="209398" y="5638190"/>
            <a:ext cx="9532620" cy="572414"/>
          </a:xfrm>
          <a:prstGeom prst="rect">
            <a:avLst/>
          </a:prstGeom>
          <a:solidFill>
            <a:srgbClr val="F5F5F4"/>
          </a:solidFill>
          <a:ln/>
        </p:spPr>
      </p:sp>
      <p:pic>
        <p:nvPicPr>
          <p:cNvPr id="94" name="Image 5" descr="/home/user/kstat-pm/deck/namp-2026/assets/s14-icon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530" y="5682082"/>
            <a:ext cx="505663" cy="476402"/>
          </a:xfrm>
          <a:prstGeom prst="rect">
            <a:avLst/>
          </a:prstGeom>
        </p:spPr>
      </p:pic>
      <p:sp>
        <p:nvSpPr>
          <p:cNvPr id="95" name="Text 87"/>
          <p:cNvSpPr/>
          <p:nvPr/>
        </p:nvSpPr>
        <p:spPr>
          <a:xfrm>
            <a:off x="978408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</a:t>
            </a:r>
            <a:endParaRPr lang="en-US" sz="1420" dirty="0"/>
          </a:p>
        </p:txBody>
      </p:sp>
      <p:sp>
        <p:nvSpPr>
          <p:cNvPr id="96" name="Text 88"/>
          <p:cNvSpPr/>
          <p:nvPr/>
        </p:nvSpPr>
        <p:spPr>
          <a:xfrm>
            <a:off x="978408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 · 건설 집중</a:t>
            </a:r>
            <a:endParaRPr lang="en-US" sz="1110" dirty="0"/>
          </a:p>
        </p:txBody>
      </p:sp>
      <p:sp>
        <p:nvSpPr>
          <p:cNvPr id="97" name="Shape 89"/>
          <p:cNvSpPr/>
          <p:nvPr/>
        </p:nvSpPr>
        <p:spPr>
          <a:xfrm>
            <a:off x="2455164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98" name="Image 6" descr="/home/user/kstat-pm/deck/namp-2026/assets/s14-icon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5826" y="5682082"/>
            <a:ext cx="505663" cy="476402"/>
          </a:xfrm>
          <a:prstGeom prst="rect">
            <a:avLst/>
          </a:prstGeom>
        </p:spPr>
      </p:pic>
      <p:sp>
        <p:nvSpPr>
          <p:cNvPr id="99" name="Text 90"/>
          <p:cNvSpPr/>
          <p:nvPr/>
        </p:nvSpPr>
        <p:spPr>
          <a:xfrm>
            <a:off x="3345790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정확성</a:t>
            </a:r>
            <a:endParaRPr lang="en-US" sz="1420" dirty="0"/>
          </a:p>
        </p:txBody>
      </p:sp>
      <p:sp>
        <p:nvSpPr>
          <p:cNvPr id="100" name="Text 91"/>
          <p:cNvSpPr/>
          <p:nvPr/>
        </p:nvSpPr>
        <p:spPr>
          <a:xfrm>
            <a:off x="3345790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정보통신 오인 방지</a:t>
            </a:r>
            <a:endParaRPr lang="en-US" sz="1110" dirty="0"/>
          </a:p>
        </p:txBody>
      </p:sp>
      <p:sp>
        <p:nvSpPr>
          <p:cNvPr id="101" name="Shape 92"/>
          <p:cNvSpPr/>
          <p:nvPr/>
        </p:nvSpPr>
        <p:spPr>
          <a:xfrm>
            <a:off x="4985309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2" name="Image 7" descr="/home/user/kstat-pm/deck/namp-2026/assets/s14-icon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5057" y="5682082"/>
            <a:ext cx="505663" cy="476402"/>
          </a:xfrm>
          <a:prstGeom prst="rect">
            <a:avLst/>
          </a:prstGeom>
        </p:spPr>
      </p:pic>
      <p:sp>
        <p:nvSpPr>
          <p:cNvPr id="103" name="Text 93"/>
          <p:cNvSpPr/>
          <p:nvPr/>
        </p:nvSpPr>
        <p:spPr>
          <a:xfrm>
            <a:off x="5875934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확대</a:t>
            </a:r>
            <a:endParaRPr lang="en-US" sz="1420" dirty="0"/>
          </a:p>
        </p:txBody>
      </p:sp>
      <p:sp>
        <p:nvSpPr>
          <p:cNvPr id="104" name="Text 94"/>
          <p:cNvSpPr/>
          <p:nvPr/>
        </p:nvSpPr>
        <p:spPr>
          <a:xfrm>
            <a:off x="5875934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에너지경비 분기</a:t>
            </a:r>
            <a:endParaRPr lang="en-US" sz="1110" dirty="0"/>
          </a:p>
        </p:txBody>
      </p:sp>
      <p:sp>
        <p:nvSpPr>
          <p:cNvPr id="105" name="Shape 95"/>
          <p:cNvSpPr/>
          <p:nvPr/>
        </p:nvSpPr>
        <p:spPr>
          <a:xfrm>
            <a:off x="7427671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6" name="Image 8" descr="/home/user/kstat-pm/deck/namp-2026/assets/s14-icon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7419" y="5682082"/>
            <a:ext cx="505663" cy="476402"/>
          </a:xfrm>
          <a:prstGeom prst="rect">
            <a:avLst/>
          </a:prstGeom>
        </p:spPr>
      </p:pic>
      <p:sp>
        <p:nvSpPr>
          <p:cNvPr id="107" name="Text 96"/>
          <p:cNvSpPr/>
          <p:nvPr/>
        </p:nvSpPr>
        <p:spPr>
          <a:xfrm>
            <a:off x="8318297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 최소화</a:t>
            </a:r>
            <a:endParaRPr lang="en-US" sz="1420" dirty="0"/>
          </a:p>
        </p:txBody>
      </p:sp>
      <p:sp>
        <p:nvSpPr>
          <p:cNvPr id="108" name="Text 97"/>
          <p:cNvSpPr/>
          <p:nvPr/>
        </p:nvSpPr>
        <p:spPr>
          <a:xfrm>
            <a:off x="8318297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기타 2분 내 종료</a:t>
            </a:r>
            <a:endParaRPr lang="en-US" sz="111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02082" y="318211"/>
            <a:ext cx="944483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고밀도층은 명부와 응답지원을 집중 배분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05079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 · ② 건설업 응답 위험과 대응</a:t>
            </a:r>
            <a:endParaRPr lang="en-US" sz="1470" dirty="0"/>
          </a:p>
        </p:txBody>
      </p:sp>
      <p:sp>
        <p:nvSpPr>
          <p:cNvPr id="7" name="Shape 5"/>
          <p:cNvSpPr/>
          <p:nvPr/>
        </p:nvSpPr>
        <p:spPr>
          <a:xfrm>
            <a:off x="1322222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22222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22222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50478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02345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02345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24305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70748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551737" y="1245413"/>
            <a:ext cx="709665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제조업은 금액·원가구조 오류, 건설업은 거래단위·담당자 접촉 오류를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설문 화면과 연락처 설계로 통제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35915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69510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915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69510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013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915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013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230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7" name="Shape 25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8" name="Shape 26"/>
          <p:cNvSpPr/>
          <p:nvPr/>
        </p:nvSpPr>
        <p:spPr>
          <a:xfrm>
            <a:off x="438912" y="2046427"/>
            <a:ext cx="4317797" cy="368503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29" name="Shape 27"/>
          <p:cNvSpPr/>
          <p:nvPr/>
        </p:nvSpPr>
        <p:spPr>
          <a:xfrm>
            <a:off x="243230" y="2231136"/>
            <a:ext cx="4709160" cy="0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30" name="Text 28"/>
          <p:cNvSpPr/>
          <p:nvPr/>
        </p:nvSpPr>
        <p:spPr>
          <a:xfrm>
            <a:off x="796442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</a:t>
            </a:r>
            <a:endParaRPr lang="en-US" sz="1620" dirty="0"/>
          </a:p>
        </p:txBody>
      </p:sp>
      <p:sp>
        <p:nvSpPr>
          <p:cNvPr id="31" name="Text 29"/>
          <p:cNvSpPr/>
          <p:nvPr/>
        </p:nvSpPr>
        <p:spPr>
          <a:xfrm>
            <a:off x="377647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24개 중분류 · 67,733개사</a:t>
            </a:r>
            <a:endParaRPr lang="en-US" sz="1310" dirty="0"/>
          </a:p>
        </p:txBody>
      </p:sp>
      <p:pic>
        <p:nvPicPr>
          <p:cNvPr id="32" name="Image 0" descr="/home/user/kstat-pm/deck/namp-2026/assets/s15-fa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8142" y="2287829"/>
            <a:ext cx="1821485" cy="584302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63931" y="2892247"/>
            <a:ext cx="4465930" cy="889711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63931" y="2892247"/>
            <a:ext cx="60350" cy="889711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35" name="Text 32"/>
          <p:cNvSpPr/>
          <p:nvPr/>
        </p:nvSpPr>
        <p:spPr>
          <a:xfrm>
            <a:off x="525780" y="29297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36" name="Text 33"/>
          <p:cNvSpPr/>
          <p:nvPr/>
        </p:nvSpPr>
        <p:spPr>
          <a:xfrm>
            <a:off x="525780" y="3146450"/>
            <a:ext cx="4196182" cy="58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적용대상이 가장 밀집한 층으로 원재료 비중과 가격변동액, 대금조정액을 실제 수치로 답해야 함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 혼동과 생산원가구조 합계 오류가 집중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63931" y="3851453"/>
            <a:ext cx="446593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63931" y="3851453"/>
            <a:ext cx="60350" cy="521208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39" name="Text 36"/>
          <p:cNvSpPr/>
          <p:nvPr/>
        </p:nvSpPr>
        <p:spPr>
          <a:xfrm>
            <a:off x="525780" y="388985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40" name="Text 37"/>
          <p:cNvSpPr/>
          <p:nvPr/>
        </p:nvSpPr>
        <p:spPr>
          <a:xfrm>
            <a:off x="525780" y="4105656"/>
            <a:ext cx="419618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자체 생산과 수탁 생산을 스스로 구분하지 못함</a:t>
            </a:r>
            <a:endParaRPr lang="en-US" sz="1110" dirty="0"/>
          </a:p>
        </p:txBody>
      </p:sp>
      <p:sp>
        <p:nvSpPr>
          <p:cNvPr id="41" name="Shape 38"/>
          <p:cNvSpPr/>
          <p:nvPr/>
        </p:nvSpPr>
        <p:spPr>
          <a:xfrm>
            <a:off x="363931" y="4449470"/>
            <a:ext cx="4465930" cy="1296619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63931" y="4449470"/>
            <a:ext cx="60350" cy="1296619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43" name="Text 40"/>
          <p:cNvSpPr/>
          <p:nvPr/>
        </p:nvSpPr>
        <p:spPr>
          <a:xfrm>
            <a:off x="525780" y="4486961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44" name="Text 41"/>
          <p:cNvSpPr/>
          <p:nvPr/>
        </p:nvSpPr>
        <p:spPr>
          <a:xfrm>
            <a:off x="525780" y="4703674"/>
            <a:ext cx="4196182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주문서와 시방서 수령 여부로 수탁거래를 확인하고 “수탁입니까”는 직접 묻지 않음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금액 한글 변환과 응답 단위 선택, 초거대 수치 경고를 조사 화면에 적용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생산원가구조는 구간 응답과 “모름”을 허용하고 중앙값 합으로 검증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5086807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619488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86807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619488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180990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086807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80990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5093208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4" name="Shape 51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5" name="Shape 52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6" name="Shape 53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7" name="Shape 54"/>
          <p:cNvSpPr/>
          <p:nvPr/>
        </p:nvSpPr>
        <p:spPr>
          <a:xfrm>
            <a:off x="5302606" y="2046427"/>
            <a:ext cx="4310482" cy="368503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8" name="Shape 55"/>
          <p:cNvSpPr/>
          <p:nvPr/>
        </p:nvSpPr>
        <p:spPr>
          <a:xfrm>
            <a:off x="5106924" y="2231136"/>
            <a:ext cx="4701845" cy="0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9" name="Text 56"/>
          <p:cNvSpPr/>
          <p:nvPr/>
        </p:nvSpPr>
        <p:spPr>
          <a:xfrm>
            <a:off x="5552237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② 건설업</a:t>
            </a:r>
            <a:endParaRPr lang="en-US" sz="1620" dirty="0"/>
          </a:p>
        </p:txBody>
      </p:sp>
      <p:sp>
        <p:nvSpPr>
          <p:cNvPr id="60" name="Text 57"/>
          <p:cNvSpPr/>
          <p:nvPr/>
        </p:nvSpPr>
        <p:spPr>
          <a:xfrm>
            <a:off x="5241341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2개 중분류 · 28,593개사</a:t>
            </a:r>
            <a:endParaRPr lang="en-US" sz="1310" dirty="0"/>
          </a:p>
        </p:txBody>
      </p:sp>
      <p:pic>
        <p:nvPicPr>
          <p:cNvPr id="61" name="Image 1" descr="/home/user/kstat-pm/deck/namp-2026/assets/s15-cra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0766" y="2008937"/>
            <a:ext cx="1753819" cy="889711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5228539" y="2898648"/>
            <a:ext cx="4459529" cy="91531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5228539" y="2898648"/>
            <a:ext cx="60350" cy="915314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64" name="Text 60"/>
          <p:cNvSpPr/>
          <p:nvPr/>
        </p:nvSpPr>
        <p:spPr>
          <a:xfrm>
            <a:off x="5390388" y="29361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65" name="Text 61"/>
          <p:cNvSpPr/>
          <p:nvPr/>
        </p:nvSpPr>
        <p:spPr>
          <a:xfrm>
            <a:off x="5390388" y="3152851"/>
            <a:ext cx="4188866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공사 건별 계약이라 거래 단위를 어디로 잡을지 응답자가 판단하기 어려움</a:t>
            </a:r>
            <a:endParaRPr lang="en-US" sz="10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현장 중심 운영이라 본사 구매 담당자 접촉이 늦어짐</a:t>
            </a:r>
            <a:endParaRPr lang="en-US" sz="1050" dirty="0"/>
          </a:p>
        </p:txBody>
      </p:sp>
      <p:sp>
        <p:nvSpPr>
          <p:cNvPr id="66" name="Shape 62"/>
          <p:cNvSpPr/>
          <p:nvPr/>
        </p:nvSpPr>
        <p:spPr>
          <a:xfrm>
            <a:off x="5228539" y="3889858"/>
            <a:ext cx="4459529" cy="559613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5228539" y="3889858"/>
            <a:ext cx="60350" cy="559613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68" name="Text 64"/>
          <p:cNvSpPr/>
          <p:nvPr/>
        </p:nvSpPr>
        <p:spPr>
          <a:xfrm>
            <a:off x="5390388" y="3928262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69" name="Text 65"/>
          <p:cNvSpPr/>
          <p:nvPr/>
        </p:nvSpPr>
        <p:spPr>
          <a:xfrm>
            <a:off x="5390388" y="4144061"/>
            <a:ext cx="418886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자재 구매 주체가 원청인지 자사인지 혼동</a:t>
            </a:r>
            <a:endParaRPr lang="en-US" sz="1110" dirty="0"/>
          </a:p>
        </p:txBody>
      </p:sp>
      <p:sp>
        <p:nvSpPr>
          <p:cNvPr id="70" name="Shape 66"/>
          <p:cNvSpPr/>
          <p:nvPr/>
        </p:nvSpPr>
        <p:spPr>
          <a:xfrm>
            <a:off x="5228539" y="4550969"/>
            <a:ext cx="4459529" cy="11695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5228539" y="4550969"/>
            <a:ext cx="60350" cy="1169518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72" name="Text 68"/>
          <p:cNvSpPr/>
          <p:nvPr/>
        </p:nvSpPr>
        <p:spPr>
          <a:xfrm>
            <a:off x="5390388" y="4589374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73" name="Text 69"/>
          <p:cNvSpPr/>
          <p:nvPr/>
        </p:nvSpPr>
        <p:spPr>
          <a:xfrm>
            <a:off x="5390388" y="4805172"/>
            <a:ext cx="4188866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문항에서 거래 단위를 공사 건 기준으로 안내하고 최근 완료 공사로 시점을 고정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대표전화 접촉 후 구매 담당자 직통 연락처를 확보하여 재통화 손실을 줄임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189281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5" name="Shape 71"/>
          <p:cNvSpPr/>
          <p:nvPr/>
        </p:nvSpPr>
        <p:spPr>
          <a:xfrm>
            <a:off x="9572854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6" name="Shape 72"/>
          <p:cNvSpPr/>
          <p:nvPr/>
        </p:nvSpPr>
        <p:spPr>
          <a:xfrm>
            <a:off x="189281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7" name="Shape 73"/>
          <p:cNvSpPr/>
          <p:nvPr/>
        </p:nvSpPr>
        <p:spPr>
          <a:xfrm>
            <a:off x="9572854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8" name="Shape 74"/>
          <p:cNvSpPr/>
          <p:nvPr/>
        </p:nvSpPr>
        <p:spPr>
          <a:xfrm>
            <a:off x="323698" y="5968289"/>
            <a:ext cx="9383573" cy="482803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79" name="Shape 75"/>
          <p:cNvSpPr/>
          <p:nvPr/>
        </p:nvSpPr>
        <p:spPr>
          <a:xfrm>
            <a:off x="189281" y="6095390"/>
            <a:ext cx="9653321" cy="228600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80" name="Text 76"/>
          <p:cNvSpPr/>
          <p:nvPr/>
        </p:nvSpPr>
        <p:spPr>
          <a:xfrm>
            <a:off x="391363" y="5968289"/>
            <a:ext cx="9249156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밀도가 높은 제조업·건설업에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발송량과 응답지원 자원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집중 배분</a:t>
            </a:r>
            <a:endParaRPr lang="en-US" sz="1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46304"/>
            <a:ext cx="4725619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51015" y="146304"/>
            <a:ext cx="2700223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189281" y="330098"/>
            <a:ext cx="945123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1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오인·에너지경비·희소층은 판별 로직을 달리 설계</a:t>
            </a:r>
            <a:endParaRPr lang="en-US" sz="2170" dirty="0"/>
          </a:p>
        </p:txBody>
      </p:sp>
      <p:sp>
        <p:nvSpPr>
          <p:cNvPr id="5" name="Shape 3"/>
          <p:cNvSpPr/>
          <p:nvPr/>
        </p:nvSpPr>
        <p:spPr>
          <a:xfrm flipH="1">
            <a:off x="202082" y="933602"/>
            <a:ext cx="81382" cy="190195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391363" y="907999"/>
            <a:ext cx="607527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 · ④ 용역 · ⑤ 기타 응답 위험과 대응</a:t>
            </a:r>
            <a:endParaRPr lang="en-US" sz="1460" dirty="0"/>
          </a:p>
        </p:txBody>
      </p:sp>
      <p:sp>
        <p:nvSpPr>
          <p:cNvPr id="7" name="Shape 5"/>
          <p:cNvSpPr/>
          <p:nvPr/>
        </p:nvSpPr>
        <p:spPr>
          <a:xfrm>
            <a:off x="1228954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22895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22895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29446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68131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131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431036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48802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458468" y="1270102"/>
            <a:ext cx="7168896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오인·조기 이탈·접촉 실패 원인을 분리하고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순서·분기·연락처 전략을 차등화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2311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5925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311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5925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729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3114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729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29514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35915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5" name="Shape 23"/>
          <p:cNvSpPr/>
          <p:nvPr/>
        </p:nvSpPr>
        <p:spPr>
          <a:xfrm>
            <a:off x="1762049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6" name="Shape 24"/>
          <p:cNvSpPr/>
          <p:nvPr/>
        </p:nvSpPr>
        <p:spPr>
          <a:xfrm>
            <a:off x="235915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2049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8" name="Shape 26"/>
          <p:cNvSpPr/>
          <p:nvPr/>
        </p:nvSpPr>
        <p:spPr>
          <a:xfrm>
            <a:off x="384962" y="2089404"/>
            <a:ext cx="1525219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29" name="Shape 27"/>
          <p:cNvSpPr/>
          <p:nvPr/>
        </p:nvSpPr>
        <p:spPr>
          <a:xfrm>
            <a:off x="235915" y="2228393"/>
            <a:ext cx="1822399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30" name="Text 28"/>
          <p:cNvSpPr/>
          <p:nvPr/>
        </p:nvSpPr>
        <p:spPr>
          <a:xfrm>
            <a:off x="235915" y="2089404"/>
            <a:ext cx="182239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</a:t>
            </a:r>
            <a:endParaRPr lang="en-US" sz="1410" dirty="0"/>
          </a:p>
        </p:txBody>
      </p:sp>
      <p:sp>
        <p:nvSpPr>
          <p:cNvPr id="31" name="Text 29"/>
          <p:cNvSpPr/>
          <p:nvPr/>
        </p:nvSpPr>
        <p:spPr>
          <a:xfrm>
            <a:off x="33101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1개 대분류 · 18,816개사</a:t>
            </a:r>
            <a:endParaRPr lang="en-US" sz="1110" dirty="0"/>
          </a:p>
        </p:txBody>
      </p:sp>
      <p:pic>
        <p:nvPicPr>
          <p:cNvPr id="32" name="Image 0" descr="/home/user/kstat-pm/deck/namp-2026/assets/s16-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7011" y="2108606"/>
            <a:ext cx="1012241" cy="660197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44729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4729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35" name="Text 32"/>
          <p:cNvSpPr/>
          <p:nvPr/>
        </p:nvSpPr>
        <p:spPr>
          <a:xfrm>
            <a:off x="506578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36" name="Text 33"/>
          <p:cNvSpPr/>
          <p:nvPr/>
        </p:nvSpPr>
        <p:spPr>
          <a:xfrm>
            <a:off x="506578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원재료 개념이 약해 적용대상 여부를 스스로 오인할 위험이 가장 큰 층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물품이 아닌 용역 거래가 많아 수탁 여부 판단 오류가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44729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4729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39" name="Text 36"/>
          <p:cNvSpPr/>
          <p:nvPr/>
        </p:nvSpPr>
        <p:spPr>
          <a:xfrm>
            <a:off x="506578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40" name="Text 37"/>
          <p:cNvSpPr/>
          <p:nvPr/>
        </p:nvSpPr>
        <p:spPr>
          <a:xfrm>
            <a:off x="506578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대상이 아닌데 대상이라 답하거나 그 반대</a:t>
            </a:r>
            <a:endParaRPr lang="en-US" sz="1060" dirty="0"/>
          </a:p>
        </p:txBody>
      </p:sp>
      <p:sp>
        <p:nvSpPr>
          <p:cNvPr id="41" name="Shape 38"/>
          <p:cNvSpPr/>
          <p:nvPr/>
        </p:nvSpPr>
        <p:spPr>
          <a:xfrm>
            <a:off x="344729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44729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43" name="Text 40"/>
          <p:cNvSpPr/>
          <p:nvPr/>
        </p:nvSpPr>
        <p:spPr>
          <a:xfrm>
            <a:off x="506578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44" name="Text 41"/>
          <p:cNvSpPr/>
          <p:nvPr/>
        </p:nvSpPr>
        <p:spPr>
          <a:xfrm>
            <a:off x="506578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구매 여부를 먼저 확인한 뒤 수탁거래 여부를 판단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결과를 응답자에게 회신하여 오인 응답을 사후에 바로잡음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48295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42000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348295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42000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57804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82950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57804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3490265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349666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4" name="Shape 51"/>
          <p:cNvSpPr/>
          <p:nvPr/>
        </p:nvSpPr>
        <p:spPr>
          <a:xfrm>
            <a:off x="4785970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5" name="Shape 52"/>
          <p:cNvSpPr/>
          <p:nvPr/>
        </p:nvSpPr>
        <p:spPr>
          <a:xfrm>
            <a:off x="349666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6" name="Shape 53"/>
          <p:cNvSpPr/>
          <p:nvPr/>
        </p:nvSpPr>
        <p:spPr>
          <a:xfrm>
            <a:off x="4785970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7" name="Shape 54"/>
          <p:cNvSpPr/>
          <p:nvPr/>
        </p:nvSpPr>
        <p:spPr>
          <a:xfrm>
            <a:off x="3645713" y="2089404"/>
            <a:ext cx="1289304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8" name="Shape 55"/>
          <p:cNvSpPr/>
          <p:nvPr/>
        </p:nvSpPr>
        <p:spPr>
          <a:xfrm>
            <a:off x="3496666" y="2228393"/>
            <a:ext cx="1586484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9" name="Text 56"/>
          <p:cNvSpPr/>
          <p:nvPr/>
        </p:nvSpPr>
        <p:spPr>
          <a:xfrm>
            <a:off x="3496666" y="2089404"/>
            <a:ext cx="158648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④ 용역</a:t>
            </a:r>
            <a:endParaRPr lang="en-US" sz="1410" dirty="0"/>
          </a:p>
        </p:txBody>
      </p:sp>
      <p:sp>
        <p:nvSpPr>
          <p:cNvPr id="60" name="Text 57"/>
          <p:cNvSpPr/>
          <p:nvPr/>
        </p:nvSpPr>
        <p:spPr>
          <a:xfrm>
            <a:off x="359176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운수·창고·사업시설관리 ·</a:t>
            </a:r>
            <a:endParaRPr lang="en-US" sz="107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26,065개사</a:t>
            </a:r>
            <a:endParaRPr lang="en-US" sz="1070" dirty="0"/>
          </a:p>
        </p:txBody>
      </p:sp>
      <p:pic>
        <p:nvPicPr>
          <p:cNvPr id="61" name="Image 1" descr="/home/user/kstat-pm/deck/namp-2026/assets/s16-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749" y="2184502"/>
            <a:ext cx="1498702" cy="597103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3604565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360456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64" name="Text 60"/>
          <p:cNvSpPr/>
          <p:nvPr/>
        </p:nvSpPr>
        <p:spPr>
          <a:xfrm>
            <a:off x="376641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65" name="Text 61"/>
          <p:cNvSpPr/>
          <p:nvPr/>
        </p:nvSpPr>
        <p:spPr>
          <a:xfrm>
            <a:off x="3766414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원재료보다 유류와 전력 비중이 높아 2026년 12월 3일 시행 에너지경비 연동의 주 대상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 전이라 이행 실적이 없고 준비도만 조사 가능</a:t>
            </a:r>
            <a:endParaRPr lang="en-US" sz="1000" dirty="0"/>
          </a:p>
        </p:txBody>
      </p:sp>
      <p:sp>
        <p:nvSpPr>
          <p:cNvPr id="66" name="Shape 62"/>
          <p:cNvSpPr/>
          <p:nvPr/>
        </p:nvSpPr>
        <p:spPr>
          <a:xfrm>
            <a:off x="3604565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60456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68" name="Text 64"/>
          <p:cNvSpPr/>
          <p:nvPr/>
        </p:nvSpPr>
        <p:spPr>
          <a:xfrm>
            <a:off x="376641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69" name="Text 65"/>
          <p:cNvSpPr/>
          <p:nvPr/>
        </p:nvSpPr>
        <p:spPr>
          <a:xfrm>
            <a:off x="3766414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문항에서 해당 없음으로 답해 조기 이탈</a:t>
            </a:r>
            <a:endParaRPr lang="en-US" sz="1000" dirty="0"/>
          </a:p>
        </p:txBody>
      </p:sp>
      <p:sp>
        <p:nvSpPr>
          <p:cNvPr id="70" name="Shape 66"/>
          <p:cNvSpPr/>
          <p:nvPr/>
        </p:nvSpPr>
        <p:spPr>
          <a:xfrm>
            <a:off x="3604565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360456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72" name="Text 68"/>
          <p:cNvSpPr/>
          <p:nvPr/>
        </p:nvSpPr>
        <p:spPr>
          <a:xfrm>
            <a:off x="376641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73" name="Text 69"/>
          <p:cNvSpPr/>
          <p:nvPr/>
        </p:nvSpPr>
        <p:spPr>
          <a:xfrm>
            <a:off x="3766414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원재료가 없어도 에너지경비 문항으로 이어지도록 분기를 설계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조사원 교육에서 에너지경비 연동의 시행일과 조사 범위를 명확히 안내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674370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69355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674370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969355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6838798" y="2387498"/>
            <a:ext cx="2949854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6743700" y="2476195"/>
            <a:ext cx="3139135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6838798" y="2393899"/>
            <a:ext cx="2949854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Shape 77"/>
          <p:cNvSpPr/>
          <p:nvPr/>
        </p:nvSpPr>
        <p:spPr>
          <a:xfrm>
            <a:off x="6751015" y="2476195"/>
            <a:ext cx="3125419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78"/>
          <p:cNvSpPr/>
          <p:nvPr/>
        </p:nvSpPr>
        <p:spPr>
          <a:xfrm>
            <a:off x="675741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3" name="Shape 79"/>
          <p:cNvSpPr/>
          <p:nvPr/>
        </p:nvSpPr>
        <p:spPr>
          <a:xfrm>
            <a:off x="8053121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4" name="Shape 80"/>
          <p:cNvSpPr/>
          <p:nvPr/>
        </p:nvSpPr>
        <p:spPr>
          <a:xfrm>
            <a:off x="675741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5" name="Shape 81"/>
          <p:cNvSpPr/>
          <p:nvPr/>
        </p:nvSpPr>
        <p:spPr>
          <a:xfrm>
            <a:off x="8053121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6" name="Shape 82"/>
          <p:cNvSpPr/>
          <p:nvPr/>
        </p:nvSpPr>
        <p:spPr>
          <a:xfrm>
            <a:off x="6905549" y="2089404"/>
            <a:ext cx="1295705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7" name="Shape 83"/>
          <p:cNvSpPr/>
          <p:nvPr/>
        </p:nvSpPr>
        <p:spPr>
          <a:xfrm>
            <a:off x="6757416" y="2228393"/>
            <a:ext cx="1592885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8" name="Text 84"/>
          <p:cNvSpPr/>
          <p:nvPr/>
        </p:nvSpPr>
        <p:spPr>
          <a:xfrm>
            <a:off x="6757416" y="2089404"/>
            <a:ext cx="159288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⑤ 기타</a:t>
            </a:r>
            <a:endParaRPr lang="en-US" sz="1410" dirty="0"/>
          </a:p>
        </p:txBody>
      </p:sp>
      <p:sp>
        <p:nvSpPr>
          <p:cNvPr id="89" name="Text 85"/>
          <p:cNvSpPr/>
          <p:nvPr/>
        </p:nvSpPr>
        <p:spPr>
          <a:xfrm>
            <a:off x="6851599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13개 대분류 · 250,847개사</a:t>
            </a:r>
            <a:endParaRPr lang="en-US" sz="1030" dirty="0"/>
          </a:p>
        </p:txBody>
      </p:sp>
      <p:pic>
        <p:nvPicPr>
          <p:cNvPr id="90" name="Image 2" descr="/home/user/kstat-pm/deck/namp-2026/assets/s16-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364" y="2031797"/>
            <a:ext cx="1187806" cy="787298"/>
          </a:xfrm>
          <a:prstGeom prst="rect">
            <a:avLst/>
          </a:prstGeom>
        </p:spPr>
      </p:pic>
      <p:sp>
        <p:nvSpPr>
          <p:cNvPr id="91" name="Shape 86"/>
          <p:cNvSpPr/>
          <p:nvPr/>
        </p:nvSpPr>
        <p:spPr>
          <a:xfrm>
            <a:off x="6865315" y="2851099"/>
            <a:ext cx="2895905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2" name="Shape 87"/>
          <p:cNvSpPr/>
          <p:nvPr/>
        </p:nvSpPr>
        <p:spPr>
          <a:xfrm>
            <a:off x="686531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93" name="Text 88"/>
          <p:cNvSpPr/>
          <p:nvPr/>
        </p:nvSpPr>
        <p:spPr>
          <a:xfrm>
            <a:off x="702716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94" name="Text 89"/>
          <p:cNvSpPr/>
          <p:nvPr/>
        </p:nvSpPr>
        <p:spPr>
          <a:xfrm>
            <a:off x="7027164" y="3066898"/>
            <a:ext cx="262615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모집단의 64%를 차지하나 연동 적용대상이 희소하여 판별 단계에서 대부분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미보유와 결번 비율이 높은 층이 포함됨</a:t>
            </a:r>
            <a:endParaRPr lang="en-US" sz="1000" dirty="0"/>
          </a:p>
        </p:txBody>
      </p:sp>
      <p:sp>
        <p:nvSpPr>
          <p:cNvPr id="95" name="Shape 90"/>
          <p:cNvSpPr/>
          <p:nvPr/>
        </p:nvSpPr>
        <p:spPr>
          <a:xfrm>
            <a:off x="6865315" y="3924605"/>
            <a:ext cx="2895905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6" name="Shape 91"/>
          <p:cNvSpPr/>
          <p:nvPr/>
        </p:nvSpPr>
        <p:spPr>
          <a:xfrm>
            <a:off x="686531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97" name="Text 92"/>
          <p:cNvSpPr/>
          <p:nvPr/>
        </p:nvSpPr>
        <p:spPr>
          <a:xfrm>
            <a:off x="702716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98" name="Text 93"/>
          <p:cNvSpPr/>
          <p:nvPr/>
        </p:nvSpPr>
        <p:spPr>
          <a:xfrm>
            <a:off x="7027164" y="4140403"/>
            <a:ext cx="2626157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통화 자체가 성립하지 않는 건이 많음</a:t>
            </a:r>
            <a:endParaRPr lang="en-US" sz="1060" dirty="0"/>
          </a:p>
        </p:txBody>
      </p:sp>
      <p:sp>
        <p:nvSpPr>
          <p:cNvPr id="99" name="Shape 94"/>
          <p:cNvSpPr/>
          <p:nvPr/>
        </p:nvSpPr>
        <p:spPr>
          <a:xfrm>
            <a:off x="6865315" y="4483303"/>
            <a:ext cx="2895905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0" name="Shape 95"/>
          <p:cNvSpPr/>
          <p:nvPr/>
        </p:nvSpPr>
        <p:spPr>
          <a:xfrm>
            <a:off x="686531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101" name="Text 96"/>
          <p:cNvSpPr/>
          <p:nvPr/>
        </p:nvSpPr>
        <p:spPr>
          <a:xfrm>
            <a:off x="702716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102" name="Text 97"/>
          <p:cNvSpPr/>
          <p:nvPr/>
        </p:nvSpPr>
        <p:spPr>
          <a:xfrm>
            <a:off x="7027164" y="4699102"/>
            <a:ext cx="2626157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자사 사업체 DB로 연락처를 현행화하고 휴폐업을 조회하여 통화 성공률을 확보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2분으로 부담을 최소화하고 대상이 아니면 그 자리에서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단위를 유지하기 위한 최소 명부량을 배정</a:t>
            </a:r>
            <a:endParaRPr lang="en-US" sz="1000" dirty="0"/>
          </a:p>
        </p:txBody>
      </p:sp>
      <p:sp>
        <p:nvSpPr>
          <p:cNvPr id="103" name="Shape 98"/>
          <p:cNvSpPr/>
          <p:nvPr/>
        </p:nvSpPr>
        <p:spPr>
          <a:xfrm>
            <a:off x="215798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4" name="Shape 99"/>
          <p:cNvSpPr/>
          <p:nvPr/>
        </p:nvSpPr>
        <p:spPr>
          <a:xfrm>
            <a:off x="9592970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5" name="Shape 100"/>
          <p:cNvSpPr/>
          <p:nvPr/>
        </p:nvSpPr>
        <p:spPr>
          <a:xfrm>
            <a:off x="215798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6" name="Shape 101"/>
          <p:cNvSpPr/>
          <p:nvPr/>
        </p:nvSpPr>
        <p:spPr>
          <a:xfrm>
            <a:off x="9592970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7" name="Shape 102"/>
          <p:cNvSpPr/>
          <p:nvPr/>
        </p:nvSpPr>
        <p:spPr>
          <a:xfrm>
            <a:off x="351130" y="5885993"/>
            <a:ext cx="9376258" cy="539496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8" name="Shape 103"/>
          <p:cNvSpPr/>
          <p:nvPr/>
        </p:nvSpPr>
        <p:spPr>
          <a:xfrm>
            <a:off x="215798" y="6013094"/>
            <a:ext cx="9646920" cy="285293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9" name="Text 104"/>
          <p:cNvSpPr/>
          <p:nvPr/>
        </p:nvSpPr>
        <p:spPr>
          <a:xfrm>
            <a:off x="418795" y="5885993"/>
            <a:ext cx="9241841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 확인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용역은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분기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기타는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현행화와 2분 판별</a:t>
            </a:r>
            <a:endParaRPr lang="en-US" sz="16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2026-08-11T01:28:30Z</dcterms:created>
  <dcterms:modified xsi:type="dcterms:W3CDTF">2026-08-11T01:28:30Z</dcterms:modified>
</cp:coreProperties>
</file>
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82" y="139903"/>
            <a:ext cx="472196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10" dirty="0"/>
          </a:p>
        </p:txBody>
      </p:sp>
      <p:sp>
        <p:nvSpPr>
          <p:cNvPr id="3" name="Text 1"/>
          <p:cNvSpPr/>
          <p:nvPr/>
        </p:nvSpPr>
        <p:spPr>
          <a:xfrm>
            <a:off x="6746443" y="139903"/>
            <a:ext cx="269839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 </a:t>
            </a:r>
            <a:pPr algn="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제안개요</a:t>
            </a:r>
            <a:endParaRPr lang="en-US" sz="1010" dirty="0"/>
          </a:p>
        </p:txBody>
      </p:sp>
      <p:sp>
        <p:nvSpPr>
          <p:cNvPr id="4" name="Text 2"/>
          <p:cNvSpPr/>
          <p:nvPr/>
        </p:nvSpPr>
        <p:spPr>
          <a:xfrm>
            <a:off x="215798" y="318211"/>
            <a:ext cx="8770010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업종별 연동 적용대상 밀도와 응답 난이도</a:t>
            </a:r>
            <a:endParaRPr lang="en-US" sz="2220" dirty="0"/>
          </a:p>
        </p:txBody>
      </p:sp>
      <p:sp>
        <p:nvSpPr>
          <p:cNvPr id="5" name="Shape 3"/>
          <p:cNvSpPr/>
          <p:nvPr/>
        </p:nvSpPr>
        <p:spPr>
          <a:xfrm flipH="1">
            <a:off x="229514" y="928116"/>
            <a:ext cx="81382" cy="191110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6" name="Text 4"/>
          <p:cNvSpPr/>
          <p:nvPr/>
        </p:nvSpPr>
        <p:spPr>
          <a:xfrm>
            <a:off x="417881" y="902513"/>
            <a:ext cx="60716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명부 배분과 판별조사를 하나의 기준으로 연결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1349654" y="1232611"/>
            <a:ext cx="27432" cy="4572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1349654" y="1232611"/>
            <a:ext cx="136246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1349654" y="1665122"/>
            <a:ext cx="136246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8877910" y="1232611"/>
            <a:ext cx="27432" cy="4572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8769096" y="1232611"/>
            <a:ext cx="136246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769096" y="1665122"/>
            <a:ext cx="136246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1551737" y="1245413"/>
            <a:ext cx="405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80" dirty="0"/>
          </a:p>
        </p:txBody>
      </p:sp>
      <p:sp>
        <p:nvSpPr>
          <p:cNvPr id="14" name="Text 12"/>
          <p:cNvSpPr/>
          <p:nvPr/>
        </p:nvSpPr>
        <p:spPr>
          <a:xfrm>
            <a:off x="8297266" y="1245413"/>
            <a:ext cx="405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80" dirty="0"/>
          </a:p>
        </p:txBody>
      </p:sp>
      <p:sp>
        <p:nvSpPr>
          <p:cNvPr id="15" name="Text 13"/>
          <p:cNvSpPr/>
          <p:nvPr/>
        </p:nvSpPr>
        <p:spPr>
          <a:xfrm>
            <a:off x="1619402" y="1232611"/>
            <a:ext cx="70161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가로축을 연동 적용대상 밀도로 설정해 </a:t>
            </a:r>
            <a:pPr algn="ctr" indent="0" marL="0">
              <a:lnSpc>
                <a:spcPct val="115000"/>
              </a:lnSpc>
              <a:buNone/>
            </a:pPr>
            <a:r>
              <a:rPr lang="en-US" sz="152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제조업·건설업 집중 배분 설계</a:t>
            </a:r>
            <a:pPr algn="ctr" indent="0" marL="0">
              <a:lnSpc>
                <a:spcPct val="11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와 </a:t>
            </a:r>
            <a:pPr algn="ctr" indent="0" marL="0">
              <a:lnSpc>
                <a:spcPct val="115000"/>
              </a:lnSpc>
              <a:buNone/>
            </a:pPr>
            <a:r>
              <a:rPr lang="en-US" sz="152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직접 연결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175565" y="1830629"/>
            <a:ext cx="297180" cy="279806"/>
          </a:xfrm>
          <a:prstGeom prst="ellipse">
            <a:avLst/>
          </a:prstGeom>
          <a:solidFill>
            <a:srgbClr val="032E86"/>
          </a:solidFill>
          <a:ln/>
        </p:spPr>
      </p:sp>
      <p:sp>
        <p:nvSpPr>
          <p:cNvPr id="17" name="Shape 15"/>
          <p:cNvSpPr/>
          <p:nvPr/>
        </p:nvSpPr>
        <p:spPr>
          <a:xfrm>
            <a:off x="2381098" y="1830629"/>
            <a:ext cx="297180" cy="279806"/>
          </a:xfrm>
          <a:prstGeom prst="ellipse">
            <a:avLst/>
          </a:prstGeom>
          <a:solidFill>
            <a:srgbClr val="032E86"/>
          </a:solidFill>
          <a:ln/>
        </p:spPr>
      </p:sp>
      <p:sp>
        <p:nvSpPr>
          <p:cNvPr id="18" name="Shape 16"/>
          <p:cNvSpPr/>
          <p:nvPr/>
        </p:nvSpPr>
        <p:spPr>
          <a:xfrm>
            <a:off x="175565" y="1830629"/>
            <a:ext cx="297180" cy="279806"/>
          </a:xfrm>
          <a:prstGeom prst="ellipse">
            <a:avLst/>
          </a:prstGeom>
          <a:solidFill>
            <a:srgbClr val="032E86"/>
          </a:solidFill>
          <a:ln/>
        </p:spPr>
      </p:sp>
      <p:sp>
        <p:nvSpPr>
          <p:cNvPr id="19" name="Shape 17"/>
          <p:cNvSpPr/>
          <p:nvPr/>
        </p:nvSpPr>
        <p:spPr>
          <a:xfrm>
            <a:off x="2381098" y="1830629"/>
            <a:ext cx="297180" cy="279806"/>
          </a:xfrm>
          <a:prstGeom prst="ellipse">
            <a:avLst/>
          </a:prstGeom>
          <a:solidFill>
            <a:srgbClr val="032E86"/>
          </a:solidFill>
          <a:ln/>
        </p:spPr>
      </p:sp>
      <p:sp>
        <p:nvSpPr>
          <p:cNvPr id="20" name="Shape 18"/>
          <p:cNvSpPr/>
          <p:nvPr/>
        </p:nvSpPr>
        <p:spPr>
          <a:xfrm>
            <a:off x="323698" y="1830629"/>
            <a:ext cx="2205533" cy="279806"/>
          </a:xfrm>
          <a:prstGeom prst="rect">
            <a:avLst/>
          </a:prstGeom>
          <a:solidFill>
            <a:srgbClr val="032E86"/>
          </a:solidFill>
          <a:ln/>
        </p:spPr>
      </p:sp>
      <p:sp>
        <p:nvSpPr>
          <p:cNvPr id="21" name="Shape 19"/>
          <p:cNvSpPr/>
          <p:nvPr/>
        </p:nvSpPr>
        <p:spPr>
          <a:xfrm>
            <a:off x="175565" y="1970532"/>
            <a:ext cx="2502713" cy="0"/>
          </a:xfrm>
          <a:prstGeom prst="rect">
            <a:avLst/>
          </a:prstGeom>
          <a:solidFill>
            <a:srgbClr val="032E86"/>
          </a:solidFill>
          <a:ln/>
        </p:spPr>
      </p:sp>
      <p:sp>
        <p:nvSpPr>
          <p:cNvPr id="22" name="Text 20"/>
          <p:cNvSpPr/>
          <p:nvPr/>
        </p:nvSpPr>
        <p:spPr>
          <a:xfrm>
            <a:off x="175565" y="1830629"/>
            <a:ext cx="2502713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업종별 밀도 · 난이도 매트릭스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2792578" y="1830629"/>
            <a:ext cx="708294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· 2025년 납품대금 연동제 실태조사 기준(수탁기업 12,000개사 발송 · 4,013개사 응답)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6541" y="2237537"/>
            <a:ext cx="114300" cy="2821838"/>
          </a:xfrm>
          <a:prstGeom prst="upArrow">
            <a:avLst/>
          </a:prstGeom>
          <a:solidFill>
            <a:srgbClr val="9AA0A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9888" y="5160874"/>
            <a:ext cx="7993685" cy="107899"/>
          </a:xfrm>
          <a:prstGeom prst="rightArrow">
            <a:avLst/>
          </a:prstGeom>
          <a:solidFill>
            <a:srgbClr val="9AA0AA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" y="3368650"/>
            <a:ext cx="79644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</a:t>
            </a:r>
            <a:endParaRPr lang="en-US" sz="142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난이도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3373222" y="5326380"/>
            <a:ext cx="404804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연동 적용대상 밀도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553212" y="2263140"/>
            <a:ext cx="363931" cy="318211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" y="2263140"/>
            <a:ext cx="363931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높음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546811" y="4798771"/>
            <a:ext cx="363931" cy="318211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31" name="Text 29"/>
          <p:cNvSpPr/>
          <p:nvPr/>
        </p:nvSpPr>
        <p:spPr>
          <a:xfrm>
            <a:off x="546811" y="4798771"/>
            <a:ext cx="363931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낮음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9053474" y="5154473"/>
            <a:ext cx="363931" cy="318211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33" name="Text 31"/>
          <p:cNvSpPr/>
          <p:nvPr/>
        </p:nvSpPr>
        <p:spPr>
          <a:xfrm>
            <a:off x="9053474" y="5154473"/>
            <a:ext cx="363931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높음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1450238" y="2243938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5005426" y="2243938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1450238" y="3514954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5005426" y="3514954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1544422" y="2243938"/>
            <a:ext cx="3555187" cy="144932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1450238" y="2332634"/>
            <a:ext cx="3744468" cy="1271016"/>
          </a:xfrm>
          <a:prstGeom prst="rect">
            <a:avLst/>
          </a:prstGeom>
          <a:solidFill>
            <a:srgbClr val="F2F5F9"/>
          </a:solidFill>
          <a:ln/>
        </p:spPr>
      </p:sp>
      <p:pic>
        <p:nvPicPr>
          <p:cNvPr id="40" name="Image 0" descr="/home/user/kstat-pm/deck/namp-2026/assets/s14-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787" y="2427732"/>
            <a:ext cx="1174090" cy="928116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2684678" y="2606040"/>
            <a:ext cx="243230" cy="260604"/>
          </a:xfrm>
          <a:prstGeom prst="hexagon">
            <a:avLst/>
          </a:prstGeom>
          <a:solidFill>
            <a:srgbClr val="032E86"/>
          </a:solidFill>
          <a:ln/>
        </p:spPr>
      </p:sp>
      <p:sp>
        <p:nvSpPr>
          <p:cNvPr id="42" name="Text 39"/>
          <p:cNvSpPr/>
          <p:nvPr/>
        </p:nvSpPr>
        <p:spPr>
          <a:xfrm>
            <a:off x="2684678" y="2606040"/>
            <a:ext cx="24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110" dirty="0"/>
          </a:p>
        </p:txBody>
      </p:sp>
      <p:sp>
        <p:nvSpPr>
          <p:cNvPr id="43" name="Text 40"/>
          <p:cNvSpPr/>
          <p:nvPr/>
        </p:nvSpPr>
        <p:spPr>
          <a:xfrm>
            <a:off x="3022092" y="2567635"/>
            <a:ext cx="2023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정보통신</a:t>
            </a:r>
            <a:endParaRPr lang="en-US" sz="1520" dirty="0"/>
          </a:p>
        </p:txBody>
      </p:sp>
      <p:sp>
        <p:nvSpPr>
          <p:cNvPr id="44" name="Text 41"/>
          <p:cNvSpPr/>
          <p:nvPr/>
        </p:nvSpPr>
        <p:spPr>
          <a:xfrm>
            <a:off x="3022092" y="2885846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· 1개 대분류 · 18,816개사</a:t>
            </a:r>
            <a:endParaRPr lang="en-US" sz="1110" dirty="0"/>
          </a:p>
        </p:txBody>
      </p:sp>
      <p:sp>
        <p:nvSpPr>
          <p:cNvPr id="45" name="Text 42"/>
          <p:cNvSpPr/>
          <p:nvPr/>
        </p:nvSpPr>
        <p:spPr>
          <a:xfrm>
            <a:off x="3022092" y="3114446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· 판별 오인 위험 최고</a:t>
            </a:r>
            <a:endParaRPr lang="en-US" sz="1110" dirty="0"/>
          </a:p>
        </p:txBody>
      </p:sp>
      <p:sp>
        <p:nvSpPr>
          <p:cNvPr id="46" name="Shape 43"/>
          <p:cNvSpPr/>
          <p:nvPr/>
        </p:nvSpPr>
        <p:spPr>
          <a:xfrm>
            <a:off x="5262372" y="2243938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47" name="Shape 44"/>
          <p:cNvSpPr/>
          <p:nvPr/>
        </p:nvSpPr>
        <p:spPr>
          <a:xfrm>
            <a:off x="9303106" y="2243938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48" name="Shape 45"/>
          <p:cNvSpPr/>
          <p:nvPr/>
        </p:nvSpPr>
        <p:spPr>
          <a:xfrm>
            <a:off x="5262372" y="3514954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49" name="Shape 46"/>
          <p:cNvSpPr/>
          <p:nvPr/>
        </p:nvSpPr>
        <p:spPr>
          <a:xfrm>
            <a:off x="9303106" y="3514954"/>
            <a:ext cx="189281" cy="178308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50" name="Shape 47"/>
          <p:cNvSpPr/>
          <p:nvPr/>
        </p:nvSpPr>
        <p:spPr>
          <a:xfrm>
            <a:off x="5356555" y="2243938"/>
            <a:ext cx="4040734" cy="144932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1" name="Shape 48"/>
          <p:cNvSpPr/>
          <p:nvPr/>
        </p:nvSpPr>
        <p:spPr>
          <a:xfrm>
            <a:off x="5262372" y="2332634"/>
            <a:ext cx="4230014" cy="1271016"/>
          </a:xfrm>
          <a:prstGeom prst="rect">
            <a:avLst/>
          </a:prstGeom>
          <a:solidFill>
            <a:srgbClr val="F2F5F9"/>
          </a:solidFill>
          <a:ln/>
        </p:spPr>
      </p:sp>
      <p:pic>
        <p:nvPicPr>
          <p:cNvPr id="52" name="Image 1" descr="/home/user/kstat-pm/deck/namp-2026/assets/s14-fac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34" y="2263140"/>
            <a:ext cx="1389888" cy="686714"/>
          </a:xfrm>
          <a:prstGeom prst="rect">
            <a:avLst/>
          </a:prstGeom>
        </p:spPr>
      </p:pic>
      <p:pic>
        <p:nvPicPr>
          <p:cNvPr id="53" name="Image 2" descr="/home/user/kstat-pm/deck/namp-2026/assets/s14-cr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3" y="2948940"/>
            <a:ext cx="1450238" cy="737006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5572354" y="2326234"/>
            <a:ext cx="243230" cy="260604"/>
          </a:xfrm>
          <a:prstGeom prst="hexagon">
            <a:avLst/>
          </a:prstGeom>
          <a:solidFill>
            <a:srgbClr val="032E86"/>
          </a:solidFill>
          <a:ln/>
        </p:spPr>
      </p:sp>
      <p:sp>
        <p:nvSpPr>
          <p:cNvPr id="55" name="Text 50"/>
          <p:cNvSpPr/>
          <p:nvPr/>
        </p:nvSpPr>
        <p:spPr>
          <a:xfrm>
            <a:off x="5572354" y="2326234"/>
            <a:ext cx="24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110" dirty="0"/>
          </a:p>
        </p:txBody>
      </p:sp>
      <p:sp>
        <p:nvSpPr>
          <p:cNvPr id="56" name="Text 51"/>
          <p:cNvSpPr/>
          <p:nvPr/>
        </p:nvSpPr>
        <p:spPr>
          <a:xfrm>
            <a:off x="5909767" y="2287829"/>
            <a:ext cx="2023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제조업</a:t>
            </a:r>
            <a:endParaRPr lang="en-US" sz="1520" dirty="0"/>
          </a:p>
        </p:txBody>
      </p:sp>
      <p:sp>
        <p:nvSpPr>
          <p:cNvPr id="57" name="Text 52"/>
          <p:cNvSpPr/>
          <p:nvPr/>
        </p:nvSpPr>
        <p:spPr>
          <a:xfrm>
            <a:off x="5909767" y="2606040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· 24개 중분류 · 67,733개사</a:t>
            </a:r>
            <a:endParaRPr lang="en-US" sz="1110" dirty="0"/>
          </a:p>
        </p:txBody>
      </p:sp>
      <p:sp>
        <p:nvSpPr>
          <p:cNvPr id="58" name="Shape 53"/>
          <p:cNvSpPr/>
          <p:nvPr/>
        </p:nvSpPr>
        <p:spPr>
          <a:xfrm>
            <a:off x="5572354" y="2955341"/>
            <a:ext cx="243230" cy="260604"/>
          </a:xfrm>
          <a:prstGeom prst="hexagon">
            <a:avLst/>
          </a:prstGeom>
          <a:solidFill>
            <a:srgbClr val="032E86"/>
          </a:solidFill>
          <a:ln/>
        </p:spPr>
      </p:sp>
      <p:sp>
        <p:nvSpPr>
          <p:cNvPr id="59" name="Text 54"/>
          <p:cNvSpPr/>
          <p:nvPr/>
        </p:nvSpPr>
        <p:spPr>
          <a:xfrm>
            <a:off x="5572354" y="2955341"/>
            <a:ext cx="24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110" dirty="0"/>
          </a:p>
        </p:txBody>
      </p:sp>
      <p:sp>
        <p:nvSpPr>
          <p:cNvPr id="60" name="Text 55"/>
          <p:cNvSpPr/>
          <p:nvPr/>
        </p:nvSpPr>
        <p:spPr>
          <a:xfrm>
            <a:off x="5909767" y="2917850"/>
            <a:ext cx="2023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건설업</a:t>
            </a:r>
            <a:endParaRPr lang="en-US" sz="1520" dirty="0"/>
          </a:p>
        </p:txBody>
      </p:sp>
      <p:sp>
        <p:nvSpPr>
          <p:cNvPr id="61" name="Text 56"/>
          <p:cNvSpPr/>
          <p:nvPr/>
        </p:nvSpPr>
        <p:spPr>
          <a:xfrm>
            <a:off x="5909767" y="3235147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· 2개 중분류 · 28,593개사</a:t>
            </a:r>
            <a:endParaRPr lang="en-US" sz="1110" dirty="0"/>
          </a:p>
        </p:txBody>
      </p:sp>
      <p:sp>
        <p:nvSpPr>
          <p:cNvPr id="62" name="Text 57"/>
          <p:cNvSpPr/>
          <p:nvPr/>
        </p:nvSpPr>
        <p:spPr>
          <a:xfrm>
            <a:off x="5909767" y="3463747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· 명부 집중 배분 대상</a:t>
            </a:r>
            <a:endParaRPr lang="en-US" sz="1110" dirty="0"/>
          </a:p>
        </p:txBody>
      </p:sp>
      <p:sp>
        <p:nvSpPr>
          <p:cNvPr id="63" name="Shape 58"/>
          <p:cNvSpPr/>
          <p:nvPr/>
        </p:nvSpPr>
        <p:spPr>
          <a:xfrm>
            <a:off x="1450238" y="3756355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64" name="Shape 59"/>
          <p:cNvSpPr/>
          <p:nvPr/>
        </p:nvSpPr>
        <p:spPr>
          <a:xfrm>
            <a:off x="5005426" y="3756355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65" name="Shape 60"/>
          <p:cNvSpPr/>
          <p:nvPr/>
        </p:nvSpPr>
        <p:spPr>
          <a:xfrm>
            <a:off x="1450238" y="4798771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66" name="Shape 61"/>
          <p:cNvSpPr/>
          <p:nvPr/>
        </p:nvSpPr>
        <p:spPr>
          <a:xfrm>
            <a:off x="5005426" y="4798771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67" name="Shape 62"/>
          <p:cNvSpPr/>
          <p:nvPr/>
        </p:nvSpPr>
        <p:spPr>
          <a:xfrm>
            <a:off x="1544422" y="3756355"/>
            <a:ext cx="3555187" cy="1220724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68" name="Shape 63"/>
          <p:cNvSpPr/>
          <p:nvPr/>
        </p:nvSpPr>
        <p:spPr>
          <a:xfrm>
            <a:off x="1450238" y="3845052"/>
            <a:ext cx="3744468" cy="1042416"/>
          </a:xfrm>
          <a:prstGeom prst="rect">
            <a:avLst/>
          </a:prstGeom>
          <a:solidFill>
            <a:srgbClr val="FAF7F2"/>
          </a:solidFill>
          <a:ln/>
        </p:spPr>
      </p:sp>
      <p:pic>
        <p:nvPicPr>
          <p:cNvPr id="69" name="Image 3" descr="/home/user/kstat-pm/deck/namp-2026/assets/s14-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503" y="3928262"/>
            <a:ext cx="1160374" cy="1004011"/>
          </a:xfrm>
          <a:prstGeom prst="rect">
            <a:avLst/>
          </a:prstGeom>
        </p:spPr>
      </p:pic>
      <p:sp>
        <p:nvSpPr>
          <p:cNvPr id="70" name="Shape 64"/>
          <p:cNvSpPr/>
          <p:nvPr/>
        </p:nvSpPr>
        <p:spPr>
          <a:xfrm>
            <a:off x="2684678" y="4004158"/>
            <a:ext cx="243230" cy="260604"/>
          </a:xfrm>
          <a:prstGeom prst="hexagon">
            <a:avLst/>
          </a:prstGeom>
          <a:solidFill>
            <a:srgbClr val="032E86"/>
          </a:solidFill>
          <a:ln/>
        </p:spPr>
      </p:sp>
      <p:sp>
        <p:nvSpPr>
          <p:cNvPr id="71" name="Text 65"/>
          <p:cNvSpPr/>
          <p:nvPr/>
        </p:nvSpPr>
        <p:spPr>
          <a:xfrm>
            <a:off x="2684678" y="4004158"/>
            <a:ext cx="24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110" dirty="0"/>
          </a:p>
        </p:txBody>
      </p:sp>
      <p:sp>
        <p:nvSpPr>
          <p:cNvPr id="72" name="Text 66"/>
          <p:cNvSpPr/>
          <p:nvPr/>
        </p:nvSpPr>
        <p:spPr>
          <a:xfrm>
            <a:off x="3022092" y="3965753"/>
            <a:ext cx="2023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520" dirty="0"/>
          </a:p>
        </p:txBody>
      </p:sp>
      <p:sp>
        <p:nvSpPr>
          <p:cNvPr id="73" name="Text 67"/>
          <p:cNvSpPr/>
          <p:nvPr/>
        </p:nvSpPr>
        <p:spPr>
          <a:xfrm>
            <a:off x="3022092" y="4283964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· 13개 대분류 · 250,847개사</a:t>
            </a:r>
            <a:endParaRPr lang="en-US" sz="1110" dirty="0"/>
          </a:p>
        </p:txBody>
      </p:sp>
      <p:sp>
        <p:nvSpPr>
          <p:cNvPr id="74" name="Text 68"/>
          <p:cNvSpPr/>
          <p:nvPr/>
        </p:nvSpPr>
        <p:spPr>
          <a:xfrm>
            <a:off x="3022092" y="4512564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· 판별 4문항·2분 후 종료</a:t>
            </a:r>
            <a:endParaRPr lang="en-US" sz="1110" dirty="0"/>
          </a:p>
        </p:txBody>
      </p:sp>
      <p:sp>
        <p:nvSpPr>
          <p:cNvPr id="75" name="Shape 69"/>
          <p:cNvSpPr/>
          <p:nvPr/>
        </p:nvSpPr>
        <p:spPr>
          <a:xfrm>
            <a:off x="5262372" y="3756355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76" name="Shape 70"/>
          <p:cNvSpPr/>
          <p:nvPr/>
        </p:nvSpPr>
        <p:spPr>
          <a:xfrm>
            <a:off x="9295790" y="3756355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77" name="Shape 71"/>
          <p:cNvSpPr/>
          <p:nvPr/>
        </p:nvSpPr>
        <p:spPr>
          <a:xfrm>
            <a:off x="5262372" y="4798771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78" name="Shape 72"/>
          <p:cNvSpPr/>
          <p:nvPr/>
        </p:nvSpPr>
        <p:spPr>
          <a:xfrm>
            <a:off x="9295790" y="4798771"/>
            <a:ext cx="189281" cy="178308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79" name="Shape 73"/>
          <p:cNvSpPr/>
          <p:nvPr/>
        </p:nvSpPr>
        <p:spPr>
          <a:xfrm>
            <a:off x="5356555" y="3756355"/>
            <a:ext cx="4034333" cy="1220724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80" name="Shape 74"/>
          <p:cNvSpPr/>
          <p:nvPr/>
        </p:nvSpPr>
        <p:spPr>
          <a:xfrm>
            <a:off x="5262372" y="3845052"/>
            <a:ext cx="4222699" cy="1042416"/>
          </a:xfrm>
          <a:prstGeom prst="rect">
            <a:avLst/>
          </a:prstGeom>
          <a:solidFill>
            <a:srgbClr val="FAF7F2"/>
          </a:solidFill>
          <a:ln/>
        </p:spPr>
      </p:sp>
      <p:pic>
        <p:nvPicPr>
          <p:cNvPr id="81" name="Image 4" descr="/home/user/kstat-pm/deck/namp-2026/assets/s14-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4099255"/>
            <a:ext cx="2010766" cy="864108"/>
          </a:xfrm>
          <a:prstGeom prst="rect">
            <a:avLst/>
          </a:prstGeom>
        </p:spPr>
      </p:pic>
      <p:sp>
        <p:nvSpPr>
          <p:cNvPr id="82" name="Shape 75"/>
          <p:cNvSpPr/>
          <p:nvPr/>
        </p:nvSpPr>
        <p:spPr>
          <a:xfrm>
            <a:off x="5558638" y="3877056"/>
            <a:ext cx="243230" cy="260604"/>
          </a:xfrm>
          <a:prstGeom prst="hexagon">
            <a:avLst/>
          </a:prstGeom>
          <a:solidFill>
            <a:srgbClr val="032E86"/>
          </a:solidFill>
          <a:ln/>
        </p:spPr>
      </p:sp>
      <p:sp>
        <p:nvSpPr>
          <p:cNvPr id="83" name="Text 76"/>
          <p:cNvSpPr/>
          <p:nvPr/>
        </p:nvSpPr>
        <p:spPr>
          <a:xfrm>
            <a:off x="5558638" y="3877056"/>
            <a:ext cx="24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110" dirty="0"/>
          </a:p>
        </p:txBody>
      </p:sp>
      <p:sp>
        <p:nvSpPr>
          <p:cNvPr id="84" name="Text 77"/>
          <p:cNvSpPr/>
          <p:nvPr/>
        </p:nvSpPr>
        <p:spPr>
          <a:xfrm>
            <a:off x="5896051" y="3838651"/>
            <a:ext cx="2023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용역</a:t>
            </a:r>
            <a:endParaRPr lang="en-US" sz="1520" dirty="0"/>
          </a:p>
        </p:txBody>
      </p:sp>
      <p:sp>
        <p:nvSpPr>
          <p:cNvPr id="85" name="Text 78"/>
          <p:cNvSpPr/>
          <p:nvPr/>
        </p:nvSpPr>
        <p:spPr>
          <a:xfrm>
            <a:off x="5896051" y="4156862"/>
            <a:ext cx="229331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운수·창고·사업시설관리</a:t>
            </a:r>
            <a:endParaRPr lang="en-US" sz="1110" dirty="0"/>
          </a:p>
        </p:txBody>
      </p:sp>
      <p:sp>
        <p:nvSpPr>
          <p:cNvPr id="86" name="Text 79"/>
          <p:cNvSpPr/>
          <p:nvPr/>
        </p:nvSpPr>
        <p:spPr>
          <a:xfrm>
            <a:off x="5896051" y="4385462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· 26,065개사</a:t>
            </a:r>
            <a:endParaRPr lang="en-US" sz="1110" dirty="0"/>
          </a:p>
        </p:txBody>
      </p:sp>
      <p:sp>
        <p:nvSpPr>
          <p:cNvPr id="87" name="Text 80"/>
          <p:cNvSpPr/>
          <p:nvPr/>
        </p:nvSpPr>
        <p:spPr>
          <a:xfrm>
            <a:off x="5896051" y="4614062"/>
            <a:ext cx="24286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· 에너지경비 중심</a:t>
            </a:r>
            <a:endParaRPr lang="en-US" sz="1110" dirty="0"/>
          </a:p>
        </p:txBody>
      </p:sp>
      <p:sp>
        <p:nvSpPr>
          <p:cNvPr id="88" name="Shape 81"/>
          <p:cNvSpPr/>
          <p:nvPr/>
        </p:nvSpPr>
        <p:spPr>
          <a:xfrm>
            <a:off x="209398" y="5548579"/>
            <a:ext cx="189281" cy="178308"/>
          </a:xfrm>
          <a:prstGeom prst="ellipse">
            <a:avLst/>
          </a:prstGeom>
          <a:solidFill>
            <a:srgbClr val="F5F5F4"/>
          </a:solidFill>
          <a:ln/>
        </p:spPr>
      </p:sp>
      <p:sp>
        <p:nvSpPr>
          <p:cNvPr id="89" name="Shape 82"/>
          <p:cNvSpPr/>
          <p:nvPr/>
        </p:nvSpPr>
        <p:spPr>
          <a:xfrm>
            <a:off x="9552737" y="5548579"/>
            <a:ext cx="189281" cy="178308"/>
          </a:xfrm>
          <a:prstGeom prst="ellipse">
            <a:avLst/>
          </a:prstGeom>
          <a:solidFill>
            <a:srgbClr val="F5F5F4"/>
          </a:solidFill>
          <a:ln/>
        </p:spPr>
      </p:sp>
      <p:sp>
        <p:nvSpPr>
          <p:cNvPr id="90" name="Shape 83"/>
          <p:cNvSpPr/>
          <p:nvPr/>
        </p:nvSpPr>
        <p:spPr>
          <a:xfrm>
            <a:off x="209398" y="6120994"/>
            <a:ext cx="189281" cy="178308"/>
          </a:xfrm>
          <a:prstGeom prst="ellipse">
            <a:avLst/>
          </a:prstGeom>
          <a:solidFill>
            <a:srgbClr val="F5F5F4"/>
          </a:solidFill>
          <a:ln/>
        </p:spPr>
      </p:sp>
      <p:sp>
        <p:nvSpPr>
          <p:cNvPr id="91" name="Shape 84"/>
          <p:cNvSpPr/>
          <p:nvPr/>
        </p:nvSpPr>
        <p:spPr>
          <a:xfrm>
            <a:off x="9552737" y="6120994"/>
            <a:ext cx="189281" cy="178308"/>
          </a:xfrm>
          <a:prstGeom prst="ellipse">
            <a:avLst/>
          </a:prstGeom>
          <a:solidFill>
            <a:srgbClr val="F5F5F4"/>
          </a:solidFill>
          <a:ln/>
        </p:spPr>
      </p:sp>
      <p:sp>
        <p:nvSpPr>
          <p:cNvPr id="92" name="Shape 85"/>
          <p:cNvSpPr/>
          <p:nvPr/>
        </p:nvSpPr>
        <p:spPr>
          <a:xfrm>
            <a:off x="303581" y="5548579"/>
            <a:ext cx="9343339" cy="749808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93" name="Shape 86"/>
          <p:cNvSpPr/>
          <p:nvPr/>
        </p:nvSpPr>
        <p:spPr>
          <a:xfrm>
            <a:off x="209398" y="5638190"/>
            <a:ext cx="9532620" cy="572414"/>
          </a:xfrm>
          <a:prstGeom prst="rect">
            <a:avLst/>
          </a:prstGeom>
          <a:solidFill>
            <a:srgbClr val="F5F5F4"/>
          </a:solidFill>
          <a:ln/>
        </p:spPr>
      </p:sp>
      <p:pic>
        <p:nvPicPr>
          <p:cNvPr id="94" name="Image 5" descr="/home/user/kstat-pm/deck/namp-2026/assets/s14-icon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" y="5682082"/>
            <a:ext cx="505663" cy="476402"/>
          </a:xfrm>
          <a:prstGeom prst="rect">
            <a:avLst/>
          </a:prstGeom>
        </p:spPr>
      </p:pic>
      <p:sp>
        <p:nvSpPr>
          <p:cNvPr id="95" name="Text 87"/>
          <p:cNvSpPr/>
          <p:nvPr/>
        </p:nvSpPr>
        <p:spPr>
          <a:xfrm>
            <a:off x="978408" y="5656478"/>
            <a:ext cx="16861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명부 배분</a:t>
            </a:r>
            <a:endParaRPr lang="en-US" sz="1420" dirty="0"/>
          </a:p>
        </p:txBody>
      </p:sp>
      <p:sp>
        <p:nvSpPr>
          <p:cNvPr id="96" name="Text 88"/>
          <p:cNvSpPr/>
          <p:nvPr/>
        </p:nvSpPr>
        <p:spPr>
          <a:xfrm>
            <a:off x="978408" y="5923483"/>
            <a:ext cx="16861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</a:t>
            </a:r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제조 · 건설 집중</a:t>
            </a:r>
            <a:endParaRPr lang="en-US" sz="1110" dirty="0"/>
          </a:p>
        </p:txBody>
      </p:sp>
      <p:sp>
        <p:nvSpPr>
          <p:cNvPr id="97" name="Shape 89"/>
          <p:cNvSpPr/>
          <p:nvPr/>
        </p:nvSpPr>
        <p:spPr>
          <a:xfrm>
            <a:off x="2455164" y="5669280"/>
            <a:ext cx="10058" cy="508406"/>
          </a:xfrm>
          <a:prstGeom prst="rect">
            <a:avLst/>
          </a:prstGeom>
          <a:solidFill>
            <a:srgbClr val="DCE0E6"/>
          </a:solidFill>
          <a:ln/>
        </p:spPr>
      </p:sp>
      <p:pic>
        <p:nvPicPr>
          <p:cNvPr id="98" name="Image 6" descr="/home/user/kstat-pm/deck/namp-2026/assets/s14-icon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5826" y="5682082"/>
            <a:ext cx="505663" cy="476402"/>
          </a:xfrm>
          <a:prstGeom prst="rect">
            <a:avLst/>
          </a:prstGeom>
        </p:spPr>
      </p:pic>
      <p:sp>
        <p:nvSpPr>
          <p:cNvPr id="99" name="Text 90"/>
          <p:cNvSpPr/>
          <p:nvPr/>
        </p:nvSpPr>
        <p:spPr>
          <a:xfrm>
            <a:off x="3345790" y="5656478"/>
            <a:ext cx="16861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정확성</a:t>
            </a:r>
            <a:endParaRPr lang="en-US" sz="1420" dirty="0"/>
          </a:p>
        </p:txBody>
      </p:sp>
      <p:sp>
        <p:nvSpPr>
          <p:cNvPr id="100" name="Text 91"/>
          <p:cNvSpPr/>
          <p:nvPr/>
        </p:nvSpPr>
        <p:spPr>
          <a:xfrm>
            <a:off x="3345790" y="5923483"/>
            <a:ext cx="16861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</a:t>
            </a:r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정보통신 오인 방지</a:t>
            </a:r>
            <a:endParaRPr lang="en-US" sz="1110" dirty="0"/>
          </a:p>
        </p:txBody>
      </p:sp>
      <p:sp>
        <p:nvSpPr>
          <p:cNvPr id="101" name="Shape 92"/>
          <p:cNvSpPr/>
          <p:nvPr/>
        </p:nvSpPr>
        <p:spPr>
          <a:xfrm>
            <a:off x="4985309" y="5669280"/>
            <a:ext cx="10058" cy="508406"/>
          </a:xfrm>
          <a:prstGeom prst="rect">
            <a:avLst/>
          </a:prstGeom>
          <a:solidFill>
            <a:srgbClr val="DCE0E6"/>
          </a:solidFill>
          <a:ln/>
        </p:spPr>
      </p:sp>
      <p:pic>
        <p:nvPicPr>
          <p:cNvPr id="102" name="Image 7" descr="/home/user/kstat-pm/deck/namp-2026/assets/s14-icon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5057" y="5682082"/>
            <a:ext cx="505663" cy="476402"/>
          </a:xfrm>
          <a:prstGeom prst="rect">
            <a:avLst/>
          </a:prstGeom>
        </p:spPr>
      </p:pic>
      <p:sp>
        <p:nvSpPr>
          <p:cNvPr id="103" name="Text 93"/>
          <p:cNvSpPr/>
          <p:nvPr/>
        </p:nvSpPr>
        <p:spPr>
          <a:xfrm>
            <a:off x="5875934" y="5656478"/>
            <a:ext cx="16861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확대</a:t>
            </a:r>
            <a:endParaRPr lang="en-US" sz="1420" dirty="0"/>
          </a:p>
        </p:txBody>
      </p:sp>
      <p:sp>
        <p:nvSpPr>
          <p:cNvPr id="104" name="Text 94"/>
          <p:cNvSpPr/>
          <p:nvPr/>
        </p:nvSpPr>
        <p:spPr>
          <a:xfrm>
            <a:off x="5875934" y="5923483"/>
            <a:ext cx="16861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</a:t>
            </a:r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용역 에너지경비 분기</a:t>
            </a:r>
            <a:endParaRPr lang="en-US" sz="1110" dirty="0"/>
          </a:p>
        </p:txBody>
      </p:sp>
      <p:sp>
        <p:nvSpPr>
          <p:cNvPr id="105" name="Shape 95"/>
          <p:cNvSpPr/>
          <p:nvPr/>
        </p:nvSpPr>
        <p:spPr>
          <a:xfrm>
            <a:off x="7427671" y="5669280"/>
            <a:ext cx="10058" cy="508406"/>
          </a:xfrm>
          <a:prstGeom prst="rect">
            <a:avLst/>
          </a:prstGeom>
          <a:solidFill>
            <a:srgbClr val="DCE0E6"/>
          </a:solidFill>
          <a:ln/>
        </p:spPr>
      </p:sp>
      <p:pic>
        <p:nvPicPr>
          <p:cNvPr id="106" name="Image 8" descr="/home/user/kstat-pm/deck/namp-2026/assets/s14-icon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7419" y="5682082"/>
            <a:ext cx="505663" cy="476402"/>
          </a:xfrm>
          <a:prstGeom prst="rect">
            <a:avLst/>
          </a:prstGeom>
        </p:spPr>
      </p:pic>
      <p:sp>
        <p:nvSpPr>
          <p:cNvPr id="107" name="Text 96"/>
          <p:cNvSpPr/>
          <p:nvPr/>
        </p:nvSpPr>
        <p:spPr>
          <a:xfrm>
            <a:off x="8318297" y="5656478"/>
            <a:ext cx="168615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32E8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부담 최소화</a:t>
            </a:r>
            <a:endParaRPr lang="en-US" sz="1420" dirty="0"/>
          </a:p>
        </p:txBody>
      </p:sp>
      <p:sp>
        <p:nvSpPr>
          <p:cNvPr id="108" name="Text 97"/>
          <p:cNvSpPr/>
          <p:nvPr/>
        </p:nvSpPr>
        <p:spPr>
          <a:xfrm>
            <a:off x="8318297" y="5923483"/>
            <a:ext cx="16861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</a:t>
            </a:r>
            <a:pPr algn="l" indent="0" marL="0">
              <a:lnSpc>
                <a:spcPct val="95000"/>
              </a:lnSpc>
              <a:buNone/>
            </a:pPr>
            <a:r>
              <a:rPr lang="en-US" sz="1110" dirty="0">
                <a:solidFill>
                  <a:srgbClr val="33333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기타 2분 내 종료</a:t>
            </a:r>
            <a:endParaRPr lang="en-US" sz="11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82" y="139903"/>
            <a:ext cx="472196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10" dirty="0"/>
          </a:p>
        </p:txBody>
      </p:sp>
      <p:sp>
        <p:nvSpPr>
          <p:cNvPr id="3" name="Text 1"/>
          <p:cNvSpPr/>
          <p:nvPr/>
        </p:nvSpPr>
        <p:spPr>
          <a:xfrm>
            <a:off x="6746443" y="139903"/>
            <a:ext cx="269839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 </a:t>
            </a:r>
            <a:pPr algn="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제안개요</a:t>
            </a:r>
            <a:endParaRPr lang="en-US" sz="1010" dirty="0"/>
          </a:p>
        </p:txBody>
      </p:sp>
      <p:sp>
        <p:nvSpPr>
          <p:cNvPr id="4" name="Text 2"/>
          <p:cNvSpPr/>
          <p:nvPr/>
        </p:nvSpPr>
        <p:spPr>
          <a:xfrm>
            <a:off x="202082" y="318211"/>
            <a:ext cx="9444838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 고밀도층은 명부와 응답지원을 집중 배분</a:t>
            </a:r>
            <a:endParaRPr lang="en-US" sz="2220" dirty="0"/>
          </a:p>
        </p:txBody>
      </p:sp>
      <p:sp>
        <p:nvSpPr>
          <p:cNvPr id="5" name="Shape 3"/>
          <p:cNvSpPr/>
          <p:nvPr/>
        </p:nvSpPr>
        <p:spPr>
          <a:xfrm flipH="1">
            <a:off x="215798" y="928116"/>
            <a:ext cx="81382" cy="191110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6" name="Text 4"/>
          <p:cNvSpPr/>
          <p:nvPr/>
        </p:nvSpPr>
        <p:spPr>
          <a:xfrm>
            <a:off x="405079" y="902513"/>
            <a:ext cx="60716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① 제조업 · ② 건설업 응답 위험과 대응</a:t>
            </a:r>
            <a:endParaRPr lang="en-US" sz="1470" dirty="0"/>
          </a:p>
        </p:txBody>
      </p:sp>
      <p:sp>
        <p:nvSpPr>
          <p:cNvPr id="7" name="Shape 5"/>
          <p:cNvSpPr/>
          <p:nvPr/>
        </p:nvSpPr>
        <p:spPr>
          <a:xfrm>
            <a:off x="1322222" y="1245413"/>
            <a:ext cx="27432" cy="63550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1322222" y="1245413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1322222" y="1856232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8850478" y="1245413"/>
            <a:ext cx="27432" cy="63550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8702345" y="1245413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702345" y="1856232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305" y="1258214"/>
            <a:ext cx="4050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80" dirty="0"/>
          </a:p>
        </p:txBody>
      </p:sp>
      <p:sp>
        <p:nvSpPr>
          <p:cNvPr id="14" name="Text 12"/>
          <p:cNvSpPr/>
          <p:nvPr/>
        </p:nvSpPr>
        <p:spPr>
          <a:xfrm>
            <a:off x="8270748" y="1258214"/>
            <a:ext cx="4050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80" dirty="0"/>
          </a:p>
        </p:txBody>
      </p:sp>
      <p:sp>
        <p:nvSpPr>
          <p:cNvPr id="15" name="Text 13"/>
          <p:cNvSpPr/>
          <p:nvPr/>
        </p:nvSpPr>
        <p:spPr>
          <a:xfrm>
            <a:off x="1551737" y="1245413"/>
            <a:ext cx="7096658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제조업은 금액·원가구조 오류, 건설업은 거래단위·담당자 접촉 오류를</a:t>
            </a:r>
            <a:endParaRPr lang="en-US" sz="152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2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설문 화면과 연락처 설계로 통제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235915" y="2339035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9510" y="2339035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915" y="5631790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9510" y="5631790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3" y="2339035"/>
            <a:ext cx="4533595" cy="34701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915" y="2427732"/>
            <a:ext cx="4721962" cy="3292754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3" y="2345436"/>
            <a:ext cx="4533595" cy="3457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230" y="2427732"/>
            <a:ext cx="4709160" cy="32927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230" y="2046427"/>
            <a:ext cx="391363" cy="368503"/>
          </a:xfrm>
          <a:prstGeom prst="ellipse">
            <a:avLst/>
          </a:prstGeom>
          <a:solidFill>
            <a:srgbClr val="00267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0113" y="2046427"/>
            <a:ext cx="391363" cy="368503"/>
          </a:xfrm>
          <a:prstGeom prst="ellipse">
            <a:avLst/>
          </a:prstGeom>
          <a:solidFill>
            <a:srgbClr val="002677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230" y="2046427"/>
            <a:ext cx="391363" cy="368503"/>
          </a:xfrm>
          <a:prstGeom prst="ellipse">
            <a:avLst/>
          </a:prstGeom>
          <a:solidFill>
            <a:srgbClr val="002677"/>
          </a:solidFill>
          <a:ln/>
        </p:spPr>
      </p:sp>
      <p:sp>
        <p:nvSpPr>
          <p:cNvPr id="27" name="Shape 25"/>
          <p:cNvSpPr/>
          <p:nvPr/>
        </p:nvSpPr>
        <p:spPr>
          <a:xfrm>
            <a:off x="4560113" y="2046427"/>
            <a:ext cx="391363" cy="368503"/>
          </a:xfrm>
          <a:prstGeom prst="ellipse">
            <a:avLst/>
          </a:prstGeom>
          <a:solidFill>
            <a:srgbClr val="002677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" y="2046427"/>
            <a:ext cx="4317797" cy="368503"/>
          </a:xfrm>
          <a:prstGeom prst="rect">
            <a:avLst/>
          </a:prstGeom>
          <a:solidFill>
            <a:srgbClr val="002677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230" y="2231136"/>
            <a:ext cx="4709160" cy="0"/>
          </a:xfrm>
          <a:prstGeom prst="rect">
            <a:avLst/>
          </a:prstGeom>
          <a:solidFill>
            <a:srgbClr val="002677"/>
          </a:solidFill>
          <a:ln/>
        </p:spPr>
      </p:sp>
      <p:sp>
        <p:nvSpPr>
          <p:cNvPr id="30" name="Text 28"/>
          <p:cNvSpPr/>
          <p:nvPr/>
        </p:nvSpPr>
        <p:spPr>
          <a:xfrm>
            <a:off x="796442" y="2046427"/>
            <a:ext cx="269839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① 제조업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377647" y="2491740"/>
            <a:ext cx="26983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24개 중분류 · 67,733개사</a:t>
            </a:r>
            <a:endParaRPr lang="en-US" sz="1310" dirty="0"/>
          </a:p>
        </p:txBody>
      </p:sp>
      <p:pic>
        <p:nvPicPr>
          <p:cNvPr id="32" name="Image 0" descr="/home/user/kstat-pm/deck/namp-2026/assets/s15-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8142" y="2287829"/>
            <a:ext cx="1821485" cy="584302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363931" y="2892247"/>
            <a:ext cx="4465930" cy="889711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63931" y="2892247"/>
            <a:ext cx="60350" cy="889711"/>
          </a:xfrm>
          <a:prstGeom prst="rect">
            <a:avLst/>
          </a:prstGeom>
          <a:solidFill>
            <a:srgbClr val="052976"/>
          </a:solidFill>
          <a:ln/>
        </p:spPr>
      </p:sp>
      <p:sp>
        <p:nvSpPr>
          <p:cNvPr id="35" name="Text 32"/>
          <p:cNvSpPr/>
          <p:nvPr/>
        </p:nvSpPr>
        <p:spPr>
          <a:xfrm>
            <a:off x="525780" y="2929738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9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위험 요인</a:t>
            </a:r>
            <a:endParaRPr lang="en-US" sz="1210" dirty="0"/>
          </a:p>
        </p:txBody>
      </p:sp>
      <p:sp>
        <p:nvSpPr>
          <p:cNvPr id="36" name="Text 33"/>
          <p:cNvSpPr/>
          <p:nvPr/>
        </p:nvSpPr>
        <p:spPr>
          <a:xfrm>
            <a:off x="525780" y="3146450"/>
            <a:ext cx="4196182" cy="58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 적용대상이 가장 밀집한 층으로 원재료 비중과 가격변동액, 대금조정액을 실제 수치로 답해야 함</a:t>
            </a:r>
            <a:endParaRPr lang="en-US" sz="10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단위 혼동과 생산원가구조 합계 오류가 집중 발생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3931" y="3851453"/>
            <a:ext cx="446593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3931" y="3851453"/>
            <a:ext cx="60350" cy="521208"/>
          </a:xfrm>
          <a:prstGeom prst="rect">
            <a:avLst/>
          </a:prstGeom>
          <a:solidFill>
            <a:srgbClr val="A88F63"/>
          </a:solidFill>
          <a:ln/>
        </p:spPr>
      </p:sp>
      <p:sp>
        <p:nvSpPr>
          <p:cNvPr id="39" name="Text 36"/>
          <p:cNvSpPr/>
          <p:nvPr/>
        </p:nvSpPr>
        <p:spPr>
          <a:xfrm>
            <a:off x="525780" y="3889858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A88F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단계</a:t>
            </a:r>
            <a:endParaRPr lang="en-US" sz="1210" dirty="0"/>
          </a:p>
        </p:txBody>
      </p:sp>
      <p:sp>
        <p:nvSpPr>
          <p:cNvPr id="40" name="Text 37"/>
          <p:cNvSpPr/>
          <p:nvPr/>
        </p:nvSpPr>
        <p:spPr>
          <a:xfrm>
            <a:off x="525780" y="4105656"/>
            <a:ext cx="419618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자체 생산과 수탁 생산을 스스로 구분하지 못함</a:t>
            </a:r>
            <a:endParaRPr lang="en-US" sz="1110" dirty="0"/>
          </a:p>
        </p:txBody>
      </p:sp>
      <p:sp>
        <p:nvSpPr>
          <p:cNvPr id="41" name="Shape 38"/>
          <p:cNvSpPr/>
          <p:nvPr/>
        </p:nvSpPr>
        <p:spPr>
          <a:xfrm>
            <a:off x="363931" y="4449470"/>
            <a:ext cx="4465930" cy="1296619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3931" y="4449470"/>
            <a:ext cx="60350" cy="1296619"/>
          </a:xfrm>
          <a:prstGeom prst="rect">
            <a:avLst/>
          </a:prstGeom>
          <a:solidFill>
            <a:srgbClr val="2B8DB6"/>
          </a:solidFill>
          <a:ln/>
        </p:spPr>
      </p:sp>
      <p:sp>
        <p:nvSpPr>
          <p:cNvPr id="43" name="Text 40"/>
          <p:cNvSpPr/>
          <p:nvPr/>
        </p:nvSpPr>
        <p:spPr>
          <a:xfrm>
            <a:off x="525780" y="4486961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2B8DB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대응 전략</a:t>
            </a:r>
            <a:endParaRPr lang="en-US" sz="1210" dirty="0"/>
          </a:p>
        </p:txBody>
      </p:sp>
      <p:sp>
        <p:nvSpPr>
          <p:cNvPr id="44" name="Text 41"/>
          <p:cNvSpPr/>
          <p:nvPr/>
        </p:nvSpPr>
        <p:spPr>
          <a:xfrm>
            <a:off x="525780" y="4703674"/>
            <a:ext cx="4196182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주문서와 시방서 수령 여부로 수탁거래를 확인하고 “수탁입니까”는 직접 묻지 않음</a:t>
            </a:r>
            <a:endParaRPr lang="en-US" sz="1000" dirty="0"/>
          </a:p>
          <a:p>
            <a:pPr algn="l"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금액 한글 변환과 응답 단위 선택, 초거대 수치 경고를 조사 화면에 적용</a:t>
            </a:r>
            <a:endParaRPr lang="en-US" sz="10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생산원가구조는 구간 응답과 “모름”을 허용하고 중앙값 합으로 검증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086807" y="2339035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619488" y="2339035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86807" y="5631790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619488" y="5631790"/>
            <a:ext cx="189281" cy="1783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180990" y="2339035"/>
            <a:ext cx="4533595" cy="34701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086807" y="2427732"/>
            <a:ext cx="4721962" cy="3292754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180990" y="2345436"/>
            <a:ext cx="4533595" cy="3457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5093208" y="2427732"/>
            <a:ext cx="4709160" cy="32927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5106924" y="2046427"/>
            <a:ext cx="391363" cy="368503"/>
          </a:xfrm>
          <a:prstGeom prst="ellipse">
            <a:avLst/>
          </a:prstGeom>
          <a:solidFill>
            <a:srgbClr val="9A835C"/>
          </a:solidFill>
          <a:ln/>
        </p:spPr>
      </p:sp>
      <p:sp>
        <p:nvSpPr>
          <p:cNvPr id="54" name="Shape 51"/>
          <p:cNvSpPr/>
          <p:nvPr/>
        </p:nvSpPr>
        <p:spPr>
          <a:xfrm>
            <a:off x="9417406" y="2046427"/>
            <a:ext cx="391363" cy="368503"/>
          </a:xfrm>
          <a:prstGeom prst="ellipse">
            <a:avLst/>
          </a:prstGeom>
          <a:solidFill>
            <a:srgbClr val="9A835C"/>
          </a:solidFill>
          <a:ln/>
        </p:spPr>
      </p:sp>
      <p:sp>
        <p:nvSpPr>
          <p:cNvPr id="55" name="Shape 52"/>
          <p:cNvSpPr/>
          <p:nvPr/>
        </p:nvSpPr>
        <p:spPr>
          <a:xfrm>
            <a:off x="5106924" y="2046427"/>
            <a:ext cx="391363" cy="368503"/>
          </a:xfrm>
          <a:prstGeom prst="ellipse">
            <a:avLst/>
          </a:prstGeom>
          <a:solidFill>
            <a:srgbClr val="9A835C"/>
          </a:solidFill>
          <a:ln/>
        </p:spPr>
      </p:sp>
      <p:sp>
        <p:nvSpPr>
          <p:cNvPr id="56" name="Shape 53"/>
          <p:cNvSpPr/>
          <p:nvPr/>
        </p:nvSpPr>
        <p:spPr>
          <a:xfrm>
            <a:off x="9417406" y="2046427"/>
            <a:ext cx="391363" cy="368503"/>
          </a:xfrm>
          <a:prstGeom prst="ellipse">
            <a:avLst/>
          </a:prstGeom>
          <a:solidFill>
            <a:srgbClr val="9A835C"/>
          </a:solidFill>
          <a:ln/>
        </p:spPr>
      </p:sp>
      <p:sp>
        <p:nvSpPr>
          <p:cNvPr id="57" name="Shape 54"/>
          <p:cNvSpPr/>
          <p:nvPr/>
        </p:nvSpPr>
        <p:spPr>
          <a:xfrm>
            <a:off x="5302606" y="2046427"/>
            <a:ext cx="4310482" cy="368503"/>
          </a:xfrm>
          <a:prstGeom prst="rect">
            <a:avLst/>
          </a:prstGeom>
          <a:solidFill>
            <a:srgbClr val="9A835C"/>
          </a:solidFill>
          <a:ln/>
        </p:spPr>
      </p:sp>
      <p:sp>
        <p:nvSpPr>
          <p:cNvPr id="58" name="Shape 55"/>
          <p:cNvSpPr/>
          <p:nvPr/>
        </p:nvSpPr>
        <p:spPr>
          <a:xfrm>
            <a:off x="5106924" y="2231136"/>
            <a:ext cx="4701845" cy="0"/>
          </a:xfrm>
          <a:prstGeom prst="rect">
            <a:avLst/>
          </a:prstGeom>
          <a:solidFill>
            <a:srgbClr val="9A835C"/>
          </a:solidFill>
          <a:ln/>
        </p:spPr>
      </p:sp>
      <p:sp>
        <p:nvSpPr>
          <p:cNvPr id="59" name="Text 56"/>
          <p:cNvSpPr/>
          <p:nvPr/>
        </p:nvSpPr>
        <p:spPr>
          <a:xfrm>
            <a:off x="5552237" y="2046427"/>
            <a:ext cx="269839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② 건설업</a:t>
            </a:r>
            <a:endParaRPr lang="en-US" sz="1620" dirty="0"/>
          </a:p>
        </p:txBody>
      </p:sp>
      <p:sp>
        <p:nvSpPr>
          <p:cNvPr id="60" name="Text 57"/>
          <p:cNvSpPr/>
          <p:nvPr/>
        </p:nvSpPr>
        <p:spPr>
          <a:xfrm>
            <a:off x="5241341" y="2491740"/>
            <a:ext cx="269839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2개 중분류 · 28,593개사</a:t>
            </a:r>
            <a:endParaRPr lang="en-US" sz="1310" dirty="0"/>
          </a:p>
        </p:txBody>
      </p:sp>
      <p:pic>
        <p:nvPicPr>
          <p:cNvPr id="61" name="Image 1" descr="/home/user/kstat-pm/deck/namp-2026/assets/s15-cr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766" y="2008937"/>
            <a:ext cx="1753819" cy="889711"/>
          </a:xfrm>
          <a:prstGeom prst="rect">
            <a:avLst/>
          </a:prstGeom>
        </p:spPr>
      </p:pic>
      <p:sp>
        <p:nvSpPr>
          <p:cNvPr id="62" name="Shape 58"/>
          <p:cNvSpPr/>
          <p:nvPr/>
        </p:nvSpPr>
        <p:spPr>
          <a:xfrm>
            <a:off x="5228539" y="2898648"/>
            <a:ext cx="4459529" cy="915314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228539" y="2898648"/>
            <a:ext cx="60350" cy="915314"/>
          </a:xfrm>
          <a:prstGeom prst="rect">
            <a:avLst/>
          </a:prstGeom>
          <a:solidFill>
            <a:srgbClr val="052976"/>
          </a:solidFill>
          <a:ln/>
        </p:spPr>
      </p:sp>
      <p:sp>
        <p:nvSpPr>
          <p:cNvPr id="64" name="Text 60"/>
          <p:cNvSpPr/>
          <p:nvPr/>
        </p:nvSpPr>
        <p:spPr>
          <a:xfrm>
            <a:off x="5390388" y="2936138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05297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위험 요인</a:t>
            </a:r>
            <a:endParaRPr lang="en-US" sz="1210" dirty="0"/>
          </a:p>
        </p:txBody>
      </p:sp>
      <p:sp>
        <p:nvSpPr>
          <p:cNvPr id="65" name="Text 61"/>
          <p:cNvSpPr/>
          <p:nvPr/>
        </p:nvSpPr>
        <p:spPr>
          <a:xfrm>
            <a:off x="5390388" y="3152851"/>
            <a:ext cx="418886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공사 건별 계약이라 거래 단위를 어디로 잡을지 응답자가 판단하기 어려움</a:t>
            </a:r>
            <a:endParaRPr lang="en-US" sz="10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현장 중심 운영이라 본사 구매 담당자 접촉이 늦어짐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5228539" y="3889858"/>
            <a:ext cx="4459529" cy="559613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228539" y="3889858"/>
            <a:ext cx="60350" cy="559613"/>
          </a:xfrm>
          <a:prstGeom prst="rect">
            <a:avLst/>
          </a:prstGeom>
          <a:solidFill>
            <a:srgbClr val="A88F63"/>
          </a:solidFill>
          <a:ln/>
        </p:spPr>
      </p:sp>
      <p:sp>
        <p:nvSpPr>
          <p:cNvPr id="68" name="Text 64"/>
          <p:cNvSpPr/>
          <p:nvPr/>
        </p:nvSpPr>
        <p:spPr>
          <a:xfrm>
            <a:off x="5390388" y="3928262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A88F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단계</a:t>
            </a:r>
            <a:endParaRPr lang="en-US" sz="1210" dirty="0"/>
          </a:p>
        </p:txBody>
      </p:sp>
      <p:sp>
        <p:nvSpPr>
          <p:cNvPr id="69" name="Text 65"/>
          <p:cNvSpPr/>
          <p:nvPr/>
        </p:nvSpPr>
        <p:spPr>
          <a:xfrm>
            <a:off x="5390388" y="4144061"/>
            <a:ext cx="418886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자재 구매 주체가 원청인지 자사인지 혼동</a:t>
            </a:r>
            <a:endParaRPr lang="en-US" sz="1110" dirty="0"/>
          </a:p>
        </p:txBody>
      </p:sp>
      <p:sp>
        <p:nvSpPr>
          <p:cNvPr id="70" name="Shape 66"/>
          <p:cNvSpPr/>
          <p:nvPr/>
        </p:nvSpPr>
        <p:spPr>
          <a:xfrm>
            <a:off x="5228539" y="4550969"/>
            <a:ext cx="4459529" cy="116951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5228539" y="4550969"/>
            <a:ext cx="60350" cy="1169518"/>
          </a:xfrm>
          <a:prstGeom prst="rect">
            <a:avLst/>
          </a:prstGeom>
          <a:solidFill>
            <a:srgbClr val="2B8DB6"/>
          </a:solidFill>
          <a:ln/>
        </p:spPr>
      </p:sp>
      <p:sp>
        <p:nvSpPr>
          <p:cNvPr id="72" name="Text 68"/>
          <p:cNvSpPr/>
          <p:nvPr/>
        </p:nvSpPr>
        <p:spPr>
          <a:xfrm>
            <a:off x="5390388" y="4589374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2B8DB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대응 전략</a:t>
            </a:r>
            <a:endParaRPr lang="en-US" sz="1210" dirty="0"/>
          </a:p>
        </p:txBody>
      </p:sp>
      <p:sp>
        <p:nvSpPr>
          <p:cNvPr id="73" name="Text 69"/>
          <p:cNvSpPr/>
          <p:nvPr/>
        </p:nvSpPr>
        <p:spPr>
          <a:xfrm>
            <a:off x="5390388" y="4805172"/>
            <a:ext cx="418886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 문항에서 거래 단위를 공사 건 기준으로 안내하고 최근 완료 공사로 시점을 고정</a:t>
            </a:r>
            <a:endParaRPr lang="en-US" sz="10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대표전화 접촉 후 구매 담당자 직통 연락처를 확보하여 재통화 손실을 줄임</a:t>
            </a:r>
            <a:endParaRPr lang="en-US" sz="1000" dirty="0"/>
          </a:p>
        </p:txBody>
      </p:sp>
      <p:sp>
        <p:nvSpPr>
          <p:cNvPr id="74" name="Shape 70"/>
          <p:cNvSpPr/>
          <p:nvPr/>
        </p:nvSpPr>
        <p:spPr>
          <a:xfrm>
            <a:off x="189281" y="5968289"/>
            <a:ext cx="269748" cy="254203"/>
          </a:xfrm>
          <a:prstGeom prst="ellipse">
            <a:avLst/>
          </a:prstGeom>
          <a:solidFill>
            <a:srgbClr val="00194A"/>
          </a:solidFill>
          <a:ln/>
        </p:spPr>
      </p:sp>
      <p:sp>
        <p:nvSpPr>
          <p:cNvPr id="75" name="Shape 71"/>
          <p:cNvSpPr/>
          <p:nvPr/>
        </p:nvSpPr>
        <p:spPr>
          <a:xfrm>
            <a:off x="9572854" y="5968289"/>
            <a:ext cx="269748" cy="254203"/>
          </a:xfrm>
          <a:prstGeom prst="ellipse">
            <a:avLst/>
          </a:prstGeom>
          <a:solidFill>
            <a:srgbClr val="00194A"/>
          </a:solidFill>
          <a:ln/>
        </p:spPr>
      </p:sp>
      <p:sp>
        <p:nvSpPr>
          <p:cNvPr id="76" name="Shape 72"/>
          <p:cNvSpPr/>
          <p:nvPr/>
        </p:nvSpPr>
        <p:spPr>
          <a:xfrm>
            <a:off x="189281" y="6196889"/>
            <a:ext cx="269748" cy="254203"/>
          </a:xfrm>
          <a:prstGeom prst="ellipse">
            <a:avLst/>
          </a:prstGeom>
          <a:solidFill>
            <a:srgbClr val="00194A"/>
          </a:solidFill>
          <a:ln/>
        </p:spPr>
      </p:sp>
      <p:sp>
        <p:nvSpPr>
          <p:cNvPr id="77" name="Shape 73"/>
          <p:cNvSpPr/>
          <p:nvPr/>
        </p:nvSpPr>
        <p:spPr>
          <a:xfrm>
            <a:off x="9572854" y="6196889"/>
            <a:ext cx="269748" cy="254203"/>
          </a:xfrm>
          <a:prstGeom prst="ellipse">
            <a:avLst/>
          </a:prstGeom>
          <a:solidFill>
            <a:srgbClr val="00194A"/>
          </a:solidFill>
          <a:ln/>
        </p:spPr>
      </p:sp>
      <p:sp>
        <p:nvSpPr>
          <p:cNvPr id="78" name="Shape 74"/>
          <p:cNvSpPr/>
          <p:nvPr/>
        </p:nvSpPr>
        <p:spPr>
          <a:xfrm>
            <a:off x="323698" y="5968289"/>
            <a:ext cx="9383573" cy="482803"/>
          </a:xfrm>
          <a:prstGeom prst="rect">
            <a:avLst/>
          </a:prstGeom>
          <a:solidFill>
            <a:srgbClr val="00194A"/>
          </a:solidFill>
          <a:ln/>
        </p:spPr>
      </p:sp>
      <p:sp>
        <p:nvSpPr>
          <p:cNvPr id="79" name="Shape 75"/>
          <p:cNvSpPr/>
          <p:nvPr/>
        </p:nvSpPr>
        <p:spPr>
          <a:xfrm>
            <a:off x="189281" y="6095390"/>
            <a:ext cx="9653321" cy="228600"/>
          </a:xfrm>
          <a:prstGeom prst="rect">
            <a:avLst/>
          </a:prstGeom>
          <a:solidFill>
            <a:srgbClr val="00194A"/>
          </a:solidFill>
          <a:ln/>
        </p:spPr>
      </p:sp>
      <p:sp>
        <p:nvSpPr>
          <p:cNvPr id="80" name="Text 76"/>
          <p:cNvSpPr/>
          <p:nvPr/>
        </p:nvSpPr>
        <p:spPr>
          <a:xfrm>
            <a:off x="391363" y="5968289"/>
            <a:ext cx="924915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적용대상 밀도가 높은 제조업·건설업에 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E50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발송량과 응답지원 자원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을 집중 배분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082" y="146304"/>
            <a:ext cx="472561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13378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2026 </a:t>
            </a:r>
            <a:pPr algn="l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연동제 실태조사 제안서</a:t>
            </a:r>
            <a:endParaRPr lang="en-US" sz="1010" dirty="0"/>
          </a:p>
        </p:txBody>
      </p:sp>
      <p:sp>
        <p:nvSpPr>
          <p:cNvPr id="3" name="Text 1"/>
          <p:cNvSpPr/>
          <p:nvPr/>
        </p:nvSpPr>
        <p:spPr>
          <a:xfrm>
            <a:off x="6751015" y="146304"/>
            <a:ext cx="270022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B9BEC6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|   </a:t>
            </a:r>
            <a:pPr algn="r" indent="0" marL="0">
              <a:lnSpc>
                <a:spcPct val="95000"/>
              </a:lnSpc>
              <a:buNone/>
            </a:pPr>
            <a:r>
              <a:rPr lang="en-US" sz="101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제안개요</a:t>
            </a:r>
            <a:endParaRPr lang="en-US" sz="1010" dirty="0"/>
          </a:p>
        </p:txBody>
      </p:sp>
      <p:sp>
        <p:nvSpPr>
          <p:cNvPr id="4" name="Text 2"/>
          <p:cNvSpPr/>
          <p:nvPr/>
        </p:nvSpPr>
        <p:spPr>
          <a:xfrm>
            <a:off x="189281" y="330098"/>
            <a:ext cx="945123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오인·에너지경비·희소층은 판별 로직을 달리 설계</a:t>
            </a:r>
            <a:endParaRPr lang="en-US" sz="2170" dirty="0"/>
          </a:p>
        </p:txBody>
      </p:sp>
      <p:sp>
        <p:nvSpPr>
          <p:cNvPr id="5" name="Shape 3"/>
          <p:cNvSpPr/>
          <p:nvPr/>
        </p:nvSpPr>
        <p:spPr>
          <a:xfrm flipH="1">
            <a:off x="202082" y="933602"/>
            <a:ext cx="81382" cy="190195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6" name="Text 4"/>
          <p:cNvSpPr/>
          <p:nvPr/>
        </p:nvSpPr>
        <p:spPr>
          <a:xfrm>
            <a:off x="391363" y="907999"/>
            <a:ext cx="60752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③ 정보통신 · ④ 용역 · ⑤ 기타 응답 위험과 대응</a:t>
            </a:r>
            <a:endParaRPr lang="en-US" sz="1460" dirty="0"/>
          </a:p>
        </p:txBody>
      </p:sp>
      <p:sp>
        <p:nvSpPr>
          <p:cNvPr id="7" name="Shape 5"/>
          <p:cNvSpPr/>
          <p:nvPr/>
        </p:nvSpPr>
        <p:spPr>
          <a:xfrm>
            <a:off x="1228954" y="1270102"/>
            <a:ext cx="27432" cy="63459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1228954" y="1270102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1228954" y="1880006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8829446" y="1270102"/>
            <a:ext cx="27432" cy="63459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Shape 9"/>
          <p:cNvSpPr/>
          <p:nvPr/>
        </p:nvSpPr>
        <p:spPr>
          <a:xfrm>
            <a:off x="8681314" y="1270102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1314" y="1880006"/>
            <a:ext cx="175565" cy="2560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1431036" y="1282903"/>
            <a:ext cx="4050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80" dirty="0"/>
          </a:p>
        </p:txBody>
      </p:sp>
      <p:sp>
        <p:nvSpPr>
          <p:cNvPr id="14" name="Text 12"/>
          <p:cNvSpPr/>
          <p:nvPr/>
        </p:nvSpPr>
        <p:spPr>
          <a:xfrm>
            <a:off x="8248802" y="1282903"/>
            <a:ext cx="4050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8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80" dirty="0"/>
          </a:p>
        </p:txBody>
      </p:sp>
      <p:sp>
        <p:nvSpPr>
          <p:cNvPr id="15" name="Text 13"/>
          <p:cNvSpPr/>
          <p:nvPr/>
        </p:nvSpPr>
        <p:spPr>
          <a:xfrm>
            <a:off x="1458468" y="1270102"/>
            <a:ext cx="716889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업종별 오인·조기 이탈·접촉 실패 원인을 분리하고</a:t>
            </a:r>
            <a:endParaRPr lang="en-US" sz="152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2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순서·분기·연락처 전략을 차등화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223114" y="2387498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9252" y="2387498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3114" y="5651906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9252" y="5651906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7297" y="2387498"/>
            <a:ext cx="2936138" cy="34418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3114" y="2476195"/>
            <a:ext cx="3125419" cy="3263494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7" y="2393899"/>
            <a:ext cx="2936138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29514" y="2476195"/>
            <a:ext cx="3111703" cy="3263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35915" y="2089404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25" name="Shape 23"/>
          <p:cNvSpPr/>
          <p:nvPr/>
        </p:nvSpPr>
        <p:spPr>
          <a:xfrm>
            <a:off x="1762049" y="2089404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915" y="2095805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27" name="Shape 25"/>
          <p:cNvSpPr/>
          <p:nvPr/>
        </p:nvSpPr>
        <p:spPr>
          <a:xfrm>
            <a:off x="1762049" y="2095805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28" name="Shape 26"/>
          <p:cNvSpPr/>
          <p:nvPr/>
        </p:nvSpPr>
        <p:spPr>
          <a:xfrm>
            <a:off x="384962" y="2089404"/>
            <a:ext cx="1525219" cy="285293"/>
          </a:xfrm>
          <a:prstGeom prst="rect">
            <a:avLst/>
          </a:prstGeom>
          <a:solidFill>
            <a:srgbClr val="012984"/>
          </a:solidFill>
          <a:ln/>
        </p:spPr>
      </p:sp>
      <p:sp>
        <p:nvSpPr>
          <p:cNvPr id="29" name="Shape 27"/>
          <p:cNvSpPr/>
          <p:nvPr/>
        </p:nvSpPr>
        <p:spPr>
          <a:xfrm>
            <a:off x="235915" y="2228393"/>
            <a:ext cx="1822399" cy="6401"/>
          </a:xfrm>
          <a:prstGeom prst="rect">
            <a:avLst/>
          </a:prstGeom>
          <a:solidFill>
            <a:srgbClr val="012984"/>
          </a:solidFill>
          <a:ln/>
        </p:spPr>
      </p:sp>
      <p:sp>
        <p:nvSpPr>
          <p:cNvPr id="30" name="Text 28"/>
          <p:cNvSpPr/>
          <p:nvPr/>
        </p:nvSpPr>
        <p:spPr>
          <a:xfrm>
            <a:off x="235915" y="2089404"/>
            <a:ext cx="1822399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③ 정보통신</a:t>
            </a:r>
            <a:endParaRPr lang="en-US" sz="1410" dirty="0"/>
          </a:p>
        </p:txBody>
      </p:sp>
      <p:sp>
        <p:nvSpPr>
          <p:cNvPr id="31" name="Text 29"/>
          <p:cNvSpPr/>
          <p:nvPr/>
        </p:nvSpPr>
        <p:spPr>
          <a:xfrm>
            <a:off x="331013" y="2438705"/>
            <a:ext cx="16879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1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1개 대분류 · 18,816개사</a:t>
            </a:r>
            <a:endParaRPr lang="en-US" sz="1110" dirty="0"/>
          </a:p>
        </p:txBody>
      </p:sp>
      <p:pic>
        <p:nvPicPr>
          <p:cNvPr id="32" name="Image 0" descr="/home/user/kstat-pm/deck/namp-2026/assets/s16-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011" y="2108606"/>
            <a:ext cx="1012241" cy="660197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344729" y="2851099"/>
            <a:ext cx="2882189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4729" y="2851099"/>
            <a:ext cx="60350" cy="1028700"/>
          </a:xfrm>
          <a:prstGeom prst="rect">
            <a:avLst/>
          </a:prstGeom>
          <a:solidFill>
            <a:srgbClr val="022B8E"/>
          </a:solidFill>
          <a:ln/>
        </p:spPr>
      </p:sp>
      <p:sp>
        <p:nvSpPr>
          <p:cNvPr id="35" name="Text 32"/>
          <p:cNvSpPr/>
          <p:nvPr/>
        </p:nvSpPr>
        <p:spPr>
          <a:xfrm>
            <a:off x="506578" y="2889504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22B8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위험 요인</a:t>
            </a:r>
            <a:endParaRPr lang="en-US" sz="1110" dirty="0"/>
          </a:p>
        </p:txBody>
      </p:sp>
      <p:sp>
        <p:nvSpPr>
          <p:cNvPr id="36" name="Text 33"/>
          <p:cNvSpPr/>
          <p:nvPr/>
        </p:nvSpPr>
        <p:spPr>
          <a:xfrm>
            <a:off x="506578" y="3066898"/>
            <a:ext cx="2612441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주요 원재료 개념이 약해 적용대상 여부를 스스로 오인할 위험이 가장 큰 층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물품이 아닌 용역 거래가 많아 수탁 여부 판단 오류가 발생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4729" y="3924605"/>
            <a:ext cx="2882189" cy="5084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4729" y="3924605"/>
            <a:ext cx="60350" cy="508406"/>
          </a:xfrm>
          <a:prstGeom prst="rect">
            <a:avLst/>
          </a:prstGeom>
          <a:solidFill>
            <a:srgbClr val="AD9060"/>
          </a:solidFill>
          <a:ln/>
        </p:spPr>
      </p:sp>
      <p:sp>
        <p:nvSpPr>
          <p:cNvPr id="39" name="Text 36"/>
          <p:cNvSpPr/>
          <p:nvPr/>
        </p:nvSpPr>
        <p:spPr>
          <a:xfrm>
            <a:off x="506578" y="3962095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AD906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단계</a:t>
            </a:r>
            <a:endParaRPr lang="en-US" sz="1110" dirty="0"/>
          </a:p>
        </p:txBody>
      </p:sp>
      <p:sp>
        <p:nvSpPr>
          <p:cNvPr id="40" name="Text 37"/>
          <p:cNvSpPr/>
          <p:nvPr/>
        </p:nvSpPr>
        <p:spPr>
          <a:xfrm>
            <a:off x="506578" y="4140403"/>
            <a:ext cx="2612441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대상이 아닌데 대상이라 답하거나 그 반대</a:t>
            </a:r>
            <a:endParaRPr lang="en-US" sz="1060" dirty="0"/>
          </a:p>
        </p:txBody>
      </p:sp>
      <p:sp>
        <p:nvSpPr>
          <p:cNvPr id="41" name="Shape 38"/>
          <p:cNvSpPr/>
          <p:nvPr/>
        </p:nvSpPr>
        <p:spPr>
          <a:xfrm>
            <a:off x="344729" y="4483303"/>
            <a:ext cx="2882189" cy="127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4729" y="4483303"/>
            <a:ext cx="60350" cy="1270102"/>
          </a:xfrm>
          <a:prstGeom prst="rect">
            <a:avLst/>
          </a:prstGeom>
          <a:solidFill>
            <a:srgbClr val="2789B0"/>
          </a:solidFill>
          <a:ln/>
        </p:spPr>
      </p:sp>
      <p:sp>
        <p:nvSpPr>
          <p:cNvPr id="43" name="Text 40"/>
          <p:cNvSpPr/>
          <p:nvPr/>
        </p:nvSpPr>
        <p:spPr>
          <a:xfrm>
            <a:off x="506578" y="4520794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2789B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대응 전략</a:t>
            </a:r>
            <a:endParaRPr lang="en-US" sz="1110" dirty="0"/>
          </a:p>
        </p:txBody>
      </p:sp>
      <p:sp>
        <p:nvSpPr>
          <p:cNvPr id="44" name="Text 41"/>
          <p:cNvSpPr/>
          <p:nvPr/>
        </p:nvSpPr>
        <p:spPr>
          <a:xfrm>
            <a:off x="506578" y="4699102"/>
            <a:ext cx="2612441" cy="100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 구매 여부를 먼저 확인한 뒤 수탁거래 여부를 판단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 결과를 응답자에게 회신하여 오인 응답을 사후에 바로잡음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482950" y="2387498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20002" y="2387498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482950" y="5651906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20002" y="5651906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578047" y="2387498"/>
            <a:ext cx="2936138" cy="34418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482950" y="2476195"/>
            <a:ext cx="3125419" cy="3263494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578047" y="2393899"/>
            <a:ext cx="2936138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3490265" y="2476195"/>
            <a:ext cx="3111703" cy="3263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3496666" y="2089404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54" name="Shape 51"/>
          <p:cNvSpPr/>
          <p:nvPr/>
        </p:nvSpPr>
        <p:spPr>
          <a:xfrm>
            <a:off x="4785970" y="2089404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55" name="Shape 52"/>
          <p:cNvSpPr/>
          <p:nvPr/>
        </p:nvSpPr>
        <p:spPr>
          <a:xfrm>
            <a:off x="3496666" y="2095805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56" name="Shape 53"/>
          <p:cNvSpPr/>
          <p:nvPr/>
        </p:nvSpPr>
        <p:spPr>
          <a:xfrm>
            <a:off x="4785970" y="2095805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57" name="Shape 54"/>
          <p:cNvSpPr/>
          <p:nvPr/>
        </p:nvSpPr>
        <p:spPr>
          <a:xfrm>
            <a:off x="3645713" y="2089404"/>
            <a:ext cx="1289304" cy="285293"/>
          </a:xfrm>
          <a:prstGeom prst="rect">
            <a:avLst/>
          </a:prstGeom>
          <a:solidFill>
            <a:srgbClr val="012984"/>
          </a:solidFill>
          <a:ln/>
        </p:spPr>
      </p:sp>
      <p:sp>
        <p:nvSpPr>
          <p:cNvPr id="58" name="Shape 55"/>
          <p:cNvSpPr/>
          <p:nvPr/>
        </p:nvSpPr>
        <p:spPr>
          <a:xfrm>
            <a:off x="3496666" y="2228393"/>
            <a:ext cx="1586484" cy="6401"/>
          </a:xfrm>
          <a:prstGeom prst="rect">
            <a:avLst/>
          </a:prstGeom>
          <a:solidFill>
            <a:srgbClr val="012984"/>
          </a:solidFill>
          <a:ln/>
        </p:spPr>
      </p:sp>
      <p:sp>
        <p:nvSpPr>
          <p:cNvPr id="59" name="Text 56"/>
          <p:cNvSpPr/>
          <p:nvPr/>
        </p:nvSpPr>
        <p:spPr>
          <a:xfrm>
            <a:off x="3496666" y="2089404"/>
            <a:ext cx="158648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④ 용역</a:t>
            </a:r>
            <a:endParaRPr lang="en-US" sz="1410" dirty="0"/>
          </a:p>
        </p:txBody>
      </p:sp>
      <p:sp>
        <p:nvSpPr>
          <p:cNvPr id="60" name="Text 57"/>
          <p:cNvSpPr/>
          <p:nvPr/>
        </p:nvSpPr>
        <p:spPr>
          <a:xfrm>
            <a:off x="3591763" y="2438705"/>
            <a:ext cx="16879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운수·창고·사업시설관리 ·</a:t>
            </a:r>
            <a:endParaRPr lang="en-US" sz="10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26,065개사</a:t>
            </a:r>
            <a:endParaRPr lang="en-US" sz="1070" dirty="0"/>
          </a:p>
        </p:txBody>
      </p:sp>
      <p:pic>
        <p:nvPicPr>
          <p:cNvPr id="61" name="Image 1" descr="/home/user/kstat-pm/deck/namp-2026/assets/s16-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749" y="2184502"/>
            <a:ext cx="1498702" cy="597103"/>
          </a:xfrm>
          <a:prstGeom prst="rect">
            <a:avLst/>
          </a:prstGeom>
        </p:spPr>
      </p:pic>
      <p:sp>
        <p:nvSpPr>
          <p:cNvPr id="62" name="Shape 58"/>
          <p:cNvSpPr/>
          <p:nvPr/>
        </p:nvSpPr>
        <p:spPr>
          <a:xfrm>
            <a:off x="3604565" y="2851099"/>
            <a:ext cx="2882189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604565" y="2851099"/>
            <a:ext cx="60350" cy="1028700"/>
          </a:xfrm>
          <a:prstGeom prst="rect">
            <a:avLst/>
          </a:prstGeom>
          <a:solidFill>
            <a:srgbClr val="022B8E"/>
          </a:solidFill>
          <a:ln/>
        </p:spPr>
      </p:sp>
      <p:sp>
        <p:nvSpPr>
          <p:cNvPr id="64" name="Text 60"/>
          <p:cNvSpPr/>
          <p:nvPr/>
        </p:nvSpPr>
        <p:spPr>
          <a:xfrm>
            <a:off x="3766414" y="2889504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22B8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위험 요인</a:t>
            </a:r>
            <a:endParaRPr lang="en-US" sz="1110" dirty="0"/>
          </a:p>
        </p:txBody>
      </p:sp>
      <p:sp>
        <p:nvSpPr>
          <p:cNvPr id="65" name="Text 61"/>
          <p:cNvSpPr/>
          <p:nvPr/>
        </p:nvSpPr>
        <p:spPr>
          <a:xfrm>
            <a:off x="3766414" y="3066898"/>
            <a:ext cx="2612441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원재료보다 유류와 전력 비중이 높아 2026년 12월 3일 시행 에너지경비 연동의 주 대상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시행 전이라 이행 실적이 없고 준비도만 조사 가능</a:t>
            </a:r>
            <a:endParaRPr lang="en-US" sz="1000" dirty="0"/>
          </a:p>
        </p:txBody>
      </p:sp>
      <p:sp>
        <p:nvSpPr>
          <p:cNvPr id="66" name="Shape 62"/>
          <p:cNvSpPr/>
          <p:nvPr/>
        </p:nvSpPr>
        <p:spPr>
          <a:xfrm>
            <a:off x="3604565" y="3924605"/>
            <a:ext cx="2882189" cy="5084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604565" y="3924605"/>
            <a:ext cx="60350" cy="508406"/>
          </a:xfrm>
          <a:prstGeom prst="rect">
            <a:avLst/>
          </a:prstGeom>
          <a:solidFill>
            <a:srgbClr val="AD9060"/>
          </a:solidFill>
          <a:ln/>
        </p:spPr>
      </p:sp>
      <p:sp>
        <p:nvSpPr>
          <p:cNvPr id="68" name="Text 64"/>
          <p:cNvSpPr/>
          <p:nvPr/>
        </p:nvSpPr>
        <p:spPr>
          <a:xfrm>
            <a:off x="3766414" y="3962095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AD906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단계</a:t>
            </a:r>
            <a:endParaRPr lang="en-US" sz="1110" dirty="0"/>
          </a:p>
        </p:txBody>
      </p:sp>
      <p:sp>
        <p:nvSpPr>
          <p:cNvPr id="69" name="Text 65"/>
          <p:cNvSpPr/>
          <p:nvPr/>
        </p:nvSpPr>
        <p:spPr>
          <a:xfrm>
            <a:off x="3766414" y="4140403"/>
            <a:ext cx="2612441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 문항에서 해당 없음으로 답해 조기 이탈</a:t>
            </a:r>
            <a:endParaRPr lang="en-US" sz="1000" dirty="0"/>
          </a:p>
        </p:txBody>
      </p:sp>
      <p:sp>
        <p:nvSpPr>
          <p:cNvPr id="70" name="Shape 66"/>
          <p:cNvSpPr/>
          <p:nvPr/>
        </p:nvSpPr>
        <p:spPr>
          <a:xfrm>
            <a:off x="3604565" y="4483303"/>
            <a:ext cx="2882189" cy="127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3604565" y="4483303"/>
            <a:ext cx="60350" cy="1270102"/>
          </a:xfrm>
          <a:prstGeom prst="rect">
            <a:avLst/>
          </a:prstGeom>
          <a:solidFill>
            <a:srgbClr val="2789B0"/>
          </a:solidFill>
          <a:ln/>
        </p:spPr>
      </p:sp>
      <p:sp>
        <p:nvSpPr>
          <p:cNvPr id="72" name="Text 68"/>
          <p:cNvSpPr/>
          <p:nvPr/>
        </p:nvSpPr>
        <p:spPr>
          <a:xfrm>
            <a:off x="3766414" y="4520794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2789B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대응 전략</a:t>
            </a:r>
            <a:endParaRPr lang="en-US" sz="1110" dirty="0"/>
          </a:p>
        </p:txBody>
      </p:sp>
      <p:sp>
        <p:nvSpPr>
          <p:cNvPr id="73" name="Text 69"/>
          <p:cNvSpPr/>
          <p:nvPr/>
        </p:nvSpPr>
        <p:spPr>
          <a:xfrm>
            <a:off x="3766414" y="4699102"/>
            <a:ext cx="2612441" cy="100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원재료가 없어도 에너지경비 문항으로 이어지도록 분기를 설계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조사원 교육에서 에너지경비 연동의 시행일과 조사 범위를 명확히 안내</a:t>
            </a:r>
            <a:endParaRPr lang="en-US" sz="1000" dirty="0"/>
          </a:p>
        </p:txBody>
      </p:sp>
      <p:sp>
        <p:nvSpPr>
          <p:cNvPr id="74" name="Shape 70"/>
          <p:cNvSpPr/>
          <p:nvPr/>
        </p:nvSpPr>
        <p:spPr>
          <a:xfrm>
            <a:off x="6743700" y="2387498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693554" y="2387498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743700" y="5651906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9693554" y="5651906"/>
            <a:ext cx="189281" cy="1773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838798" y="2387498"/>
            <a:ext cx="2949854" cy="34418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6743700" y="2476195"/>
            <a:ext cx="3139135" cy="3263494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6838798" y="2393899"/>
            <a:ext cx="2949854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7"/>
          <p:cNvSpPr/>
          <p:nvPr/>
        </p:nvSpPr>
        <p:spPr>
          <a:xfrm>
            <a:off x="6751015" y="2476195"/>
            <a:ext cx="3125419" cy="3263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78"/>
          <p:cNvSpPr/>
          <p:nvPr/>
        </p:nvSpPr>
        <p:spPr>
          <a:xfrm>
            <a:off x="6757416" y="2089404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83" name="Shape 79"/>
          <p:cNvSpPr/>
          <p:nvPr/>
        </p:nvSpPr>
        <p:spPr>
          <a:xfrm>
            <a:off x="8053121" y="2089404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84" name="Shape 80"/>
          <p:cNvSpPr/>
          <p:nvPr/>
        </p:nvSpPr>
        <p:spPr>
          <a:xfrm>
            <a:off x="6757416" y="2095805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85" name="Shape 81"/>
          <p:cNvSpPr/>
          <p:nvPr/>
        </p:nvSpPr>
        <p:spPr>
          <a:xfrm>
            <a:off x="8053121" y="2095805"/>
            <a:ext cx="297180" cy="279806"/>
          </a:xfrm>
          <a:prstGeom prst="ellipse">
            <a:avLst/>
          </a:prstGeom>
          <a:solidFill>
            <a:srgbClr val="012984"/>
          </a:solidFill>
          <a:ln/>
        </p:spPr>
      </p:sp>
      <p:sp>
        <p:nvSpPr>
          <p:cNvPr id="86" name="Shape 82"/>
          <p:cNvSpPr/>
          <p:nvPr/>
        </p:nvSpPr>
        <p:spPr>
          <a:xfrm>
            <a:off x="6905549" y="2089404"/>
            <a:ext cx="1295705" cy="285293"/>
          </a:xfrm>
          <a:prstGeom prst="rect">
            <a:avLst/>
          </a:prstGeom>
          <a:solidFill>
            <a:srgbClr val="012984"/>
          </a:solidFill>
          <a:ln/>
        </p:spPr>
      </p:sp>
      <p:sp>
        <p:nvSpPr>
          <p:cNvPr id="87" name="Shape 83"/>
          <p:cNvSpPr/>
          <p:nvPr/>
        </p:nvSpPr>
        <p:spPr>
          <a:xfrm>
            <a:off x="6757416" y="2228393"/>
            <a:ext cx="1592885" cy="6401"/>
          </a:xfrm>
          <a:prstGeom prst="rect">
            <a:avLst/>
          </a:prstGeom>
          <a:solidFill>
            <a:srgbClr val="012984"/>
          </a:solidFill>
          <a:ln/>
        </p:spPr>
      </p:sp>
      <p:sp>
        <p:nvSpPr>
          <p:cNvPr id="88" name="Text 84"/>
          <p:cNvSpPr/>
          <p:nvPr/>
        </p:nvSpPr>
        <p:spPr>
          <a:xfrm>
            <a:off x="6757416" y="2089404"/>
            <a:ext cx="1592885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⑤ 기타</a:t>
            </a:r>
            <a:endParaRPr lang="en-US" sz="1410" dirty="0"/>
          </a:p>
        </p:txBody>
      </p:sp>
      <p:sp>
        <p:nvSpPr>
          <p:cNvPr id="89" name="Text 85"/>
          <p:cNvSpPr/>
          <p:nvPr/>
        </p:nvSpPr>
        <p:spPr>
          <a:xfrm>
            <a:off x="6851599" y="2438705"/>
            <a:ext cx="16879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13개 대분류 · 250,847개사</a:t>
            </a:r>
            <a:endParaRPr lang="en-US" sz="1030" dirty="0"/>
          </a:p>
        </p:txBody>
      </p:sp>
      <p:pic>
        <p:nvPicPr>
          <p:cNvPr id="90" name="Image 2" descr="/home/user/kstat-pm/deck/namp-2026/assets/s16-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2031797"/>
            <a:ext cx="1187806" cy="787298"/>
          </a:xfrm>
          <a:prstGeom prst="rect">
            <a:avLst/>
          </a:prstGeom>
        </p:spPr>
      </p:pic>
      <p:sp>
        <p:nvSpPr>
          <p:cNvPr id="91" name="Shape 86"/>
          <p:cNvSpPr/>
          <p:nvPr/>
        </p:nvSpPr>
        <p:spPr>
          <a:xfrm>
            <a:off x="6865315" y="2851099"/>
            <a:ext cx="2895905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6865315" y="2851099"/>
            <a:ext cx="60350" cy="1028700"/>
          </a:xfrm>
          <a:prstGeom prst="rect">
            <a:avLst/>
          </a:prstGeom>
          <a:solidFill>
            <a:srgbClr val="022B8E"/>
          </a:solidFill>
          <a:ln/>
        </p:spPr>
      </p:sp>
      <p:sp>
        <p:nvSpPr>
          <p:cNvPr id="93" name="Text 88"/>
          <p:cNvSpPr/>
          <p:nvPr/>
        </p:nvSpPr>
        <p:spPr>
          <a:xfrm>
            <a:off x="7027164" y="2889504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022B8E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위험 요인</a:t>
            </a:r>
            <a:endParaRPr lang="en-US" sz="1110" dirty="0"/>
          </a:p>
        </p:txBody>
      </p:sp>
      <p:sp>
        <p:nvSpPr>
          <p:cNvPr id="94" name="Text 89"/>
          <p:cNvSpPr/>
          <p:nvPr/>
        </p:nvSpPr>
        <p:spPr>
          <a:xfrm>
            <a:off x="7027164" y="3066898"/>
            <a:ext cx="262615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모집단의 64%를 차지하나 연동 적용대상이 희소하여 판별 단계에서 대부분 종료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전화번호 미보유와 결번 비율이 높은 층이 포함됨</a:t>
            </a:r>
            <a:endParaRPr lang="en-US" sz="1000" dirty="0"/>
          </a:p>
        </p:txBody>
      </p:sp>
      <p:sp>
        <p:nvSpPr>
          <p:cNvPr id="95" name="Shape 90"/>
          <p:cNvSpPr/>
          <p:nvPr/>
        </p:nvSpPr>
        <p:spPr>
          <a:xfrm>
            <a:off x="6865315" y="3924605"/>
            <a:ext cx="2895905" cy="5084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6865315" y="3924605"/>
            <a:ext cx="60350" cy="508406"/>
          </a:xfrm>
          <a:prstGeom prst="rect">
            <a:avLst/>
          </a:prstGeom>
          <a:solidFill>
            <a:srgbClr val="AD9060"/>
          </a:solidFill>
          <a:ln/>
        </p:spPr>
      </p:sp>
      <p:sp>
        <p:nvSpPr>
          <p:cNvPr id="97" name="Text 92"/>
          <p:cNvSpPr/>
          <p:nvPr/>
        </p:nvSpPr>
        <p:spPr>
          <a:xfrm>
            <a:off x="7027164" y="3962095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AD906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판별 단계</a:t>
            </a:r>
            <a:endParaRPr lang="en-US" sz="1110" dirty="0"/>
          </a:p>
        </p:txBody>
      </p:sp>
      <p:sp>
        <p:nvSpPr>
          <p:cNvPr id="98" name="Text 93"/>
          <p:cNvSpPr/>
          <p:nvPr/>
        </p:nvSpPr>
        <p:spPr>
          <a:xfrm>
            <a:off x="7027164" y="4140403"/>
            <a:ext cx="2626157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6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통화 자체가 성립하지 않는 건이 많음</a:t>
            </a:r>
            <a:endParaRPr lang="en-US" sz="1060" dirty="0"/>
          </a:p>
        </p:txBody>
      </p:sp>
      <p:sp>
        <p:nvSpPr>
          <p:cNvPr id="99" name="Shape 94"/>
          <p:cNvSpPr/>
          <p:nvPr/>
        </p:nvSpPr>
        <p:spPr>
          <a:xfrm>
            <a:off x="6865315" y="4483303"/>
            <a:ext cx="2895905" cy="12701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6865315" y="4483303"/>
            <a:ext cx="60350" cy="1270102"/>
          </a:xfrm>
          <a:prstGeom prst="rect">
            <a:avLst/>
          </a:prstGeom>
          <a:solidFill>
            <a:srgbClr val="2789B0"/>
          </a:solidFill>
          <a:ln/>
        </p:spPr>
      </p:sp>
      <p:sp>
        <p:nvSpPr>
          <p:cNvPr id="101" name="Text 96"/>
          <p:cNvSpPr/>
          <p:nvPr/>
        </p:nvSpPr>
        <p:spPr>
          <a:xfrm>
            <a:off x="7027164" y="4520794"/>
            <a:ext cx="148498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2789B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대응 전략</a:t>
            </a:r>
            <a:endParaRPr lang="en-US" sz="1110" dirty="0"/>
          </a:p>
        </p:txBody>
      </p:sp>
      <p:sp>
        <p:nvSpPr>
          <p:cNvPr id="102" name="Text 97"/>
          <p:cNvSpPr/>
          <p:nvPr/>
        </p:nvSpPr>
        <p:spPr>
          <a:xfrm>
            <a:off x="7027164" y="4699102"/>
            <a:ext cx="2626157" cy="100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자사 사업체 DB로 연락처를 현행화하고 휴폐업을 조회하여 통화 성공률을 확보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판별 4문항 2분으로 부담을 최소화하고 대상이 아니면 그 자리에서 종료</a:t>
            </a:r>
            <a:endParaRPr lang="en-US" sz="1000" dirty="0"/>
          </a:p>
          <a:p>
            <a:pPr algn="l" marL="342900" indent="-342900">
              <a:lnSpc>
                <a:spcPct val="98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공표 단위를 유지하기 위한 최소 명부량을 배정</a:t>
            </a:r>
            <a:endParaRPr lang="en-US" sz="1000" dirty="0"/>
          </a:p>
        </p:txBody>
      </p:sp>
      <p:sp>
        <p:nvSpPr>
          <p:cNvPr id="103" name="Shape 98"/>
          <p:cNvSpPr/>
          <p:nvPr/>
        </p:nvSpPr>
        <p:spPr>
          <a:xfrm>
            <a:off x="215798" y="5885993"/>
            <a:ext cx="269748" cy="254203"/>
          </a:xfrm>
          <a:prstGeom prst="ellipse">
            <a:avLst/>
          </a:prstGeom>
          <a:solidFill>
            <a:srgbClr val="292C3A"/>
          </a:solidFill>
          <a:ln/>
        </p:spPr>
      </p:sp>
      <p:sp>
        <p:nvSpPr>
          <p:cNvPr id="104" name="Shape 99"/>
          <p:cNvSpPr/>
          <p:nvPr/>
        </p:nvSpPr>
        <p:spPr>
          <a:xfrm>
            <a:off x="9592970" y="5885993"/>
            <a:ext cx="269748" cy="254203"/>
          </a:xfrm>
          <a:prstGeom prst="ellipse">
            <a:avLst/>
          </a:prstGeom>
          <a:solidFill>
            <a:srgbClr val="292C3A"/>
          </a:solidFill>
          <a:ln/>
        </p:spPr>
      </p:sp>
      <p:sp>
        <p:nvSpPr>
          <p:cNvPr id="105" name="Shape 100"/>
          <p:cNvSpPr/>
          <p:nvPr/>
        </p:nvSpPr>
        <p:spPr>
          <a:xfrm>
            <a:off x="215798" y="6172200"/>
            <a:ext cx="269748" cy="254203"/>
          </a:xfrm>
          <a:prstGeom prst="ellipse">
            <a:avLst/>
          </a:prstGeom>
          <a:solidFill>
            <a:srgbClr val="292C3A"/>
          </a:solidFill>
          <a:ln/>
        </p:spPr>
      </p:sp>
      <p:sp>
        <p:nvSpPr>
          <p:cNvPr id="106" name="Shape 101"/>
          <p:cNvSpPr/>
          <p:nvPr/>
        </p:nvSpPr>
        <p:spPr>
          <a:xfrm>
            <a:off x="9592970" y="6172200"/>
            <a:ext cx="269748" cy="254203"/>
          </a:xfrm>
          <a:prstGeom prst="ellipse">
            <a:avLst/>
          </a:prstGeom>
          <a:solidFill>
            <a:srgbClr val="292C3A"/>
          </a:solidFill>
          <a:ln/>
        </p:spPr>
      </p:sp>
      <p:sp>
        <p:nvSpPr>
          <p:cNvPr id="107" name="Shape 102"/>
          <p:cNvSpPr/>
          <p:nvPr/>
        </p:nvSpPr>
        <p:spPr>
          <a:xfrm>
            <a:off x="351130" y="5885993"/>
            <a:ext cx="9376258" cy="539496"/>
          </a:xfrm>
          <a:prstGeom prst="rect">
            <a:avLst/>
          </a:prstGeom>
          <a:solidFill>
            <a:srgbClr val="292C3A"/>
          </a:solidFill>
          <a:ln/>
        </p:spPr>
      </p:sp>
      <p:sp>
        <p:nvSpPr>
          <p:cNvPr id="108" name="Shape 103"/>
          <p:cNvSpPr/>
          <p:nvPr/>
        </p:nvSpPr>
        <p:spPr>
          <a:xfrm>
            <a:off x="215798" y="6013094"/>
            <a:ext cx="9646920" cy="285293"/>
          </a:xfrm>
          <a:prstGeom prst="rect">
            <a:avLst/>
          </a:prstGeom>
          <a:solidFill>
            <a:srgbClr val="292C3A"/>
          </a:solidFill>
          <a:ln/>
        </p:spPr>
      </p:sp>
      <p:sp>
        <p:nvSpPr>
          <p:cNvPr id="109" name="Text 104"/>
          <p:cNvSpPr/>
          <p:nvPr/>
        </p:nvSpPr>
        <p:spPr>
          <a:xfrm>
            <a:off x="418795" y="5885993"/>
            <a:ext cx="924184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정보통신은 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E50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원재료 확인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· 용역은 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E50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에너지경비 분기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· 기타는 </a:t>
            </a:r>
            <a:pPr algn="ctr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FFE50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연락처 현행화와 2분 판별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2026-08-11T10:09:04Z</dcterms:created>
  <dcterms:modified xsi:type="dcterms:W3CDTF">2026-08-11T10:09:04Z</dcterms:modified>
</cp:coreProperties>
</file>
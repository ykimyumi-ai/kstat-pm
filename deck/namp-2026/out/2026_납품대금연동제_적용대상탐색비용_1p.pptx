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6705570"/>
  <p:notesSz cx="670557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122" y="124358"/>
            <a:ext cx="459120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67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선행조사 한계와 본 조사 해법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87122" y="319126"/>
            <a:ext cx="860907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적용대상 탐색비용은 줄이고, 공표 가능성은 확대</a:t>
            </a:r>
            <a:endParaRPr lang="en-US" sz="2410" dirty="0"/>
          </a:p>
        </p:txBody>
      </p:sp>
      <p:sp>
        <p:nvSpPr>
          <p:cNvPr id="4" name="Shape 2"/>
          <p:cNvSpPr/>
          <p:nvPr/>
        </p:nvSpPr>
        <p:spPr>
          <a:xfrm>
            <a:off x="1796796" y="813816"/>
            <a:ext cx="194767" cy="1837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78394" y="813816"/>
            <a:ext cx="194767" cy="1837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6796" y="1051560"/>
            <a:ext cx="194767" cy="1837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78394" y="1051560"/>
            <a:ext cx="194767" cy="1837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93722" y="813816"/>
            <a:ext cx="6382512" cy="42153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6796" y="906170"/>
            <a:ext cx="6577279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3722" y="816559"/>
            <a:ext cx="6382512" cy="4160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799539" y="906170"/>
            <a:ext cx="6571793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25573" y="813816"/>
            <a:ext cx="5119726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25573" y="1219810"/>
            <a:ext cx="5119726" cy="164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951330" y="824789"/>
            <a:ext cx="626729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연락처 현행화와 제조·건설 집중배분으로 판별조사 명부를 </a:t>
            </a:r>
            <a:pPr algn="ctr"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8.8만</a:t>
            </a:r>
            <a:pPr algn="ctr"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개에서 </a:t>
            </a:r>
            <a:pPr algn="ctr"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4~5만</a:t>
            </a:r>
            <a:pPr algn="ctr"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개로 축소</a:t>
            </a:r>
            <a:endParaRPr lang="en-US" sz="1200" dirty="0"/>
          </a:p>
          <a:p>
            <a:pPr algn="ctr"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적용대상 3,750개사를 확보해 10개 공표 단위와 2027년 승인통계 기반을 마련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257861" y="1297534"/>
            <a:ext cx="209398" cy="224028"/>
          </a:xfrm>
          <a:prstGeom prst="hexagon">
            <a:avLst/>
          </a:prstGeom>
          <a:solidFill>
            <a:srgbClr val="062A63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1" y="1297534"/>
            <a:ext cx="20939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9613" y="1319479"/>
            <a:ext cx="11887" cy="181051"/>
          </a:xfrm>
          <a:prstGeom prst="rect">
            <a:avLst/>
          </a:prstGeom>
          <a:solidFill>
            <a:srgbClr val="A9AEB8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" y="1297534"/>
            <a:ext cx="459120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지금까지의 한계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9846" y="1551737"/>
            <a:ext cx="2809037" cy="221285"/>
          </a:xfrm>
          <a:prstGeom prst="rect">
            <a:avLst/>
          </a:prstGeom>
          <a:solidFill>
            <a:srgbClr val="002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99846" y="1551737"/>
            <a:ext cx="2809037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선행조사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449117" y="1551737"/>
            <a:ext cx="2289658" cy="221285"/>
          </a:xfrm>
          <a:prstGeom prst="rect">
            <a:avLst/>
          </a:prstGeom>
          <a:solidFill>
            <a:srgbClr val="0D3C89"/>
          </a:solidFill>
          <a:ln/>
        </p:spPr>
      </p:sp>
      <p:sp>
        <p:nvSpPr>
          <p:cNvPr id="22" name="Text 20"/>
          <p:cNvSpPr/>
          <p:nvPr/>
        </p:nvSpPr>
        <p:spPr>
          <a:xfrm>
            <a:off x="3449117" y="1551737"/>
            <a:ext cx="228965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확인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793638" y="1551737"/>
            <a:ext cx="3922776" cy="221285"/>
          </a:xfrm>
          <a:prstGeom prst="rect">
            <a:avLst/>
          </a:prstGeom>
          <a:solidFill>
            <a:srgbClr val="696969"/>
          </a:solidFill>
          <a:ln/>
        </p:spPr>
      </p:sp>
      <p:sp>
        <p:nvSpPr>
          <p:cNvPr id="24" name="Text 22"/>
          <p:cNvSpPr/>
          <p:nvPr/>
        </p:nvSpPr>
        <p:spPr>
          <a:xfrm>
            <a:off x="5793638" y="1551737"/>
            <a:ext cx="3922776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미확인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 rot="5400000">
            <a:off x="364846" y="1830629"/>
            <a:ext cx="171907" cy="183794"/>
          </a:xfrm>
          <a:prstGeom prst="hexagon">
            <a:avLst/>
          </a:prstGeom>
          <a:solidFill>
            <a:srgbClr val="062A63"/>
          </a:solidFill>
          <a:ln/>
        </p:spPr>
      </p:sp>
      <p:sp>
        <p:nvSpPr>
          <p:cNvPr id="26" name="Text 24"/>
          <p:cNvSpPr/>
          <p:nvPr/>
        </p:nvSpPr>
        <p:spPr>
          <a:xfrm>
            <a:off x="364846" y="1830629"/>
            <a:ext cx="171907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3991" y="1790395"/>
            <a:ext cx="252557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중기부 납품대금 연동제 실태조사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1977" y="1790395"/>
            <a:ext cx="224393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인지도 63.3% · 체결률 66.2%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9535" y="1790395"/>
            <a:ext cx="335767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적용대상 411개사  —  업종별·규모별 산출 불가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9846" y="2071116"/>
            <a:ext cx="9117482" cy="0"/>
          </a:xfrm>
          <a:prstGeom prst="line">
            <a:avLst/>
          </a:prstGeom>
          <a:noFill/>
          <a:ln w="9525">
            <a:solidFill>
              <a:srgbClr val="CFD2D8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 rot="5400000">
            <a:off x="364846" y="2121408"/>
            <a:ext cx="171907" cy="183794"/>
          </a:xfrm>
          <a:prstGeom prst="hexagon">
            <a:avLst/>
          </a:prstGeom>
          <a:solidFill>
            <a:srgbClr val="062A63"/>
          </a:solidFill>
          <a:ln/>
        </p:spPr>
      </p:sp>
      <p:sp>
        <p:nvSpPr>
          <p:cNvPr id="32" name="Text 30"/>
          <p:cNvSpPr/>
          <p:nvPr/>
        </p:nvSpPr>
        <p:spPr>
          <a:xfrm>
            <a:off x="364846" y="2121408"/>
            <a:ext cx="171907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3991" y="2087575"/>
            <a:ext cx="25255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수탁·위탁거래 정기 실태조사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1977" y="2087575"/>
            <a:ext cx="22439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연동제 이행 점검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39535" y="2087575"/>
            <a:ext cx="3357677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위반의심 기업 적발 목적  —  모집단 대비 비율 미산출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9846" y="2355494"/>
            <a:ext cx="9117482" cy="0"/>
          </a:xfrm>
          <a:prstGeom prst="line">
            <a:avLst/>
          </a:prstGeom>
          <a:noFill/>
          <a:ln w="9525">
            <a:solidFill>
              <a:srgbClr val="CFD2D8"/>
            </a:solidFill>
            <a:prstDash val="sysDash"/>
          </a:ln>
        </p:spPr>
      </p:sp>
      <p:sp>
        <p:nvSpPr>
          <p:cNvPr id="37" name="Shape 35"/>
          <p:cNvSpPr/>
          <p:nvPr/>
        </p:nvSpPr>
        <p:spPr>
          <a:xfrm rot="5400000">
            <a:off x="364846" y="2422246"/>
            <a:ext cx="171907" cy="183794"/>
          </a:xfrm>
          <a:prstGeom prst="hexagon">
            <a:avLst/>
          </a:prstGeom>
          <a:solidFill>
            <a:srgbClr val="062A63"/>
          </a:solidFill>
          <a:ln/>
        </p:spPr>
      </p:sp>
      <p:sp>
        <p:nvSpPr>
          <p:cNvPr id="38" name="Text 36"/>
          <p:cNvSpPr/>
          <p:nvPr/>
        </p:nvSpPr>
        <p:spPr>
          <a:xfrm>
            <a:off x="364846" y="2422246"/>
            <a:ext cx="171907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3991" y="2371039"/>
            <a:ext cx="252557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하도급거래 실태조사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1977" y="2371039"/>
            <a:ext cx="22439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하도급법 위반 전반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39535" y="2371039"/>
            <a:ext cx="33576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도입·이행·회피 미세분  —  처분 목적의 방어적 응답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9846" y="2673706"/>
            <a:ext cx="9117482" cy="10973"/>
          </a:xfrm>
          <a:prstGeom prst="rect">
            <a:avLst/>
          </a:prstGeom>
          <a:solidFill>
            <a:srgbClr val="C6C9CF"/>
          </a:solidFill>
          <a:ln/>
        </p:spPr>
      </p:sp>
      <p:sp>
        <p:nvSpPr>
          <p:cNvPr id="43" name="Shape 41"/>
          <p:cNvSpPr/>
          <p:nvPr/>
        </p:nvSpPr>
        <p:spPr>
          <a:xfrm>
            <a:off x="272491" y="2887675"/>
            <a:ext cx="171907" cy="161849"/>
          </a:xfrm>
          <a:prstGeom prst="ellipse">
            <a:avLst/>
          </a:prstGeom>
          <a:solidFill>
            <a:srgbClr val="F8F8F8"/>
          </a:solidFill>
          <a:ln/>
        </p:spPr>
      </p:sp>
      <p:sp>
        <p:nvSpPr>
          <p:cNvPr id="44" name="Shape 42"/>
          <p:cNvSpPr/>
          <p:nvPr/>
        </p:nvSpPr>
        <p:spPr>
          <a:xfrm>
            <a:off x="4146804" y="2887675"/>
            <a:ext cx="171907" cy="161849"/>
          </a:xfrm>
          <a:prstGeom prst="ellipse">
            <a:avLst/>
          </a:prstGeom>
          <a:solidFill>
            <a:srgbClr val="F8F8F8"/>
          </a:solidFill>
          <a:ln/>
        </p:spPr>
      </p:sp>
      <p:sp>
        <p:nvSpPr>
          <p:cNvPr id="45" name="Shape 43"/>
          <p:cNvSpPr/>
          <p:nvPr/>
        </p:nvSpPr>
        <p:spPr>
          <a:xfrm>
            <a:off x="272491" y="4302252"/>
            <a:ext cx="171907" cy="161849"/>
          </a:xfrm>
          <a:prstGeom prst="ellipse">
            <a:avLst/>
          </a:prstGeom>
          <a:solidFill>
            <a:srgbClr val="F8F8F8"/>
          </a:solidFill>
          <a:ln/>
        </p:spPr>
      </p:sp>
      <p:sp>
        <p:nvSpPr>
          <p:cNvPr id="46" name="Shape 44"/>
          <p:cNvSpPr/>
          <p:nvPr/>
        </p:nvSpPr>
        <p:spPr>
          <a:xfrm>
            <a:off x="4146804" y="4302252"/>
            <a:ext cx="171907" cy="161849"/>
          </a:xfrm>
          <a:prstGeom prst="ellipse">
            <a:avLst/>
          </a:prstGeom>
          <a:solidFill>
            <a:srgbClr val="F8F8F8"/>
          </a:solidFill>
          <a:ln/>
        </p:spPr>
      </p:sp>
      <p:sp>
        <p:nvSpPr>
          <p:cNvPr id="47" name="Shape 45"/>
          <p:cNvSpPr/>
          <p:nvPr/>
        </p:nvSpPr>
        <p:spPr>
          <a:xfrm>
            <a:off x="358445" y="2887675"/>
            <a:ext cx="3874313" cy="1576426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8" name="Shape 46"/>
          <p:cNvSpPr/>
          <p:nvPr/>
        </p:nvSpPr>
        <p:spPr>
          <a:xfrm>
            <a:off x="272491" y="2969057"/>
            <a:ext cx="4046220" cy="141366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7"/>
          <p:cNvSpPr/>
          <p:nvPr/>
        </p:nvSpPr>
        <p:spPr>
          <a:xfrm>
            <a:off x="1271016" y="2785262"/>
            <a:ext cx="241402" cy="226771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50" name="Shape 48"/>
          <p:cNvSpPr/>
          <p:nvPr/>
        </p:nvSpPr>
        <p:spPr>
          <a:xfrm>
            <a:off x="3067812" y="2785262"/>
            <a:ext cx="241402" cy="226771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51" name="Shape 49"/>
          <p:cNvSpPr/>
          <p:nvPr/>
        </p:nvSpPr>
        <p:spPr>
          <a:xfrm>
            <a:off x="1271016" y="2788006"/>
            <a:ext cx="241402" cy="226771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52" name="Shape 50"/>
          <p:cNvSpPr/>
          <p:nvPr/>
        </p:nvSpPr>
        <p:spPr>
          <a:xfrm>
            <a:off x="3067812" y="2788006"/>
            <a:ext cx="241402" cy="226771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53" name="Shape 51"/>
          <p:cNvSpPr/>
          <p:nvPr/>
        </p:nvSpPr>
        <p:spPr>
          <a:xfrm>
            <a:off x="1391717" y="2785262"/>
            <a:ext cx="1796796" cy="229514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54" name="Shape 52"/>
          <p:cNvSpPr/>
          <p:nvPr/>
        </p:nvSpPr>
        <p:spPr>
          <a:xfrm>
            <a:off x="1271016" y="2898648"/>
            <a:ext cx="2037283" cy="2743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55" name="Text 53"/>
          <p:cNvSpPr/>
          <p:nvPr/>
        </p:nvSpPr>
        <p:spPr>
          <a:xfrm>
            <a:off x="1271016" y="2785262"/>
            <a:ext cx="2037283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왜 확인되지 못했는가</a:t>
            </a:r>
            <a:endParaRPr lang="en-US" sz="1140" dirty="0"/>
          </a:p>
        </p:txBody>
      </p:sp>
      <p:sp>
        <p:nvSpPr>
          <p:cNvPr id="56" name="Text 54"/>
          <p:cNvSpPr/>
          <p:nvPr/>
        </p:nvSpPr>
        <p:spPr>
          <a:xfrm>
            <a:off x="307238" y="3314700"/>
            <a:ext cx="1090879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12,000</a:t>
            </a:r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개사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307238" y="3531413"/>
            <a:ext cx="109087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발송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492301" y="3282696"/>
            <a:ext cx="861365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적용대상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492301" y="3455518"/>
            <a:ext cx="861365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411</a:t>
            </a:r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개사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2568550" y="3258007"/>
            <a:ext cx="544982" cy="5138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8550" y="3258007"/>
            <a:ext cx="544982" cy="513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8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3.4%</a:t>
            </a:r>
            <a:endParaRPr lang="en-US" sz="1080" dirty="0"/>
          </a:p>
        </p:txBody>
      </p:sp>
      <p:sp>
        <p:nvSpPr>
          <p:cNvPr id="62" name="Text 60"/>
          <p:cNvSpPr/>
          <p:nvPr/>
        </p:nvSpPr>
        <p:spPr>
          <a:xfrm>
            <a:off x="3294583" y="3228746"/>
            <a:ext cx="109087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기존 방식이면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294583" y="3396082"/>
            <a:ext cx="1090879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88,000</a:t>
            </a:r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개사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3294583" y="3622853"/>
            <a:ext cx="1090879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접촉 필요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351483" y="3439058"/>
            <a:ext cx="135331" cy="118872"/>
          </a:xfrm>
          <a:prstGeom prst="rightArrow">
            <a:avLst/>
          </a:prstGeom>
          <a:solidFill>
            <a:srgbClr val="B4801F"/>
          </a:solidFill>
          <a:ln/>
        </p:spPr>
      </p:sp>
      <p:sp>
        <p:nvSpPr>
          <p:cNvPr id="66" name="Shape 64"/>
          <p:cNvSpPr/>
          <p:nvPr/>
        </p:nvSpPr>
        <p:spPr>
          <a:xfrm>
            <a:off x="2304288" y="3439058"/>
            <a:ext cx="135331" cy="118872"/>
          </a:xfrm>
          <a:prstGeom prst="rightArrow">
            <a:avLst/>
          </a:prstGeom>
          <a:solidFill>
            <a:srgbClr val="B4801F"/>
          </a:solidFill>
          <a:ln/>
        </p:spPr>
      </p:sp>
      <p:sp>
        <p:nvSpPr>
          <p:cNvPr id="67" name="Shape 65"/>
          <p:cNvSpPr/>
          <p:nvPr/>
        </p:nvSpPr>
        <p:spPr>
          <a:xfrm>
            <a:off x="3216859" y="3439058"/>
            <a:ext cx="135331" cy="118872"/>
          </a:xfrm>
          <a:prstGeom prst="rightArrow">
            <a:avLst/>
          </a:prstGeom>
          <a:solidFill>
            <a:srgbClr val="B4801F"/>
          </a:solidFill>
          <a:ln/>
        </p:spPr>
      </p:sp>
      <p:sp>
        <p:nvSpPr>
          <p:cNvPr id="68" name="Shape 66"/>
          <p:cNvSpPr/>
          <p:nvPr/>
        </p:nvSpPr>
        <p:spPr>
          <a:xfrm>
            <a:off x="717804" y="3961181"/>
            <a:ext cx="3128162" cy="8230"/>
          </a:xfrm>
          <a:prstGeom prst="rect">
            <a:avLst/>
          </a:prstGeom>
          <a:solidFill>
            <a:srgbClr val="CFD2D8"/>
          </a:solidFill>
          <a:ln/>
        </p:spPr>
      </p:sp>
      <p:sp>
        <p:nvSpPr>
          <p:cNvPr id="69" name="Shape 67"/>
          <p:cNvSpPr/>
          <p:nvPr/>
        </p:nvSpPr>
        <p:spPr>
          <a:xfrm>
            <a:off x="717804" y="3899002"/>
            <a:ext cx="8230" cy="70409"/>
          </a:xfrm>
          <a:prstGeom prst="rect">
            <a:avLst/>
          </a:prstGeom>
          <a:solidFill>
            <a:srgbClr val="CFD2D8"/>
          </a:solidFill>
          <a:ln/>
        </p:spPr>
      </p:sp>
      <p:sp>
        <p:nvSpPr>
          <p:cNvPr id="70" name="Shape 68"/>
          <p:cNvSpPr/>
          <p:nvPr/>
        </p:nvSpPr>
        <p:spPr>
          <a:xfrm>
            <a:off x="3836822" y="3899002"/>
            <a:ext cx="8230" cy="70409"/>
          </a:xfrm>
          <a:prstGeom prst="rect">
            <a:avLst/>
          </a:prstGeom>
          <a:solidFill>
            <a:srgbClr val="CFD2D8"/>
          </a:solidFill>
          <a:ln/>
        </p:spPr>
      </p:sp>
      <p:sp>
        <p:nvSpPr>
          <p:cNvPr id="71" name="Shape 69"/>
          <p:cNvSpPr/>
          <p:nvPr/>
        </p:nvSpPr>
        <p:spPr>
          <a:xfrm>
            <a:off x="2275942" y="3961181"/>
            <a:ext cx="8230" cy="81382"/>
          </a:xfrm>
          <a:prstGeom prst="rect">
            <a:avLst/>
          </a:prstGeom>
          <a:solidFill>
            <a:srgbClr val="CFD2D8"/>
          </a:solidFill>
          <a:ln/>
        </p:spPr>
      </p:sp>
      <p:sp>
        <p:nvSpPr>
          <p:cNvPr id="72" name="Text 70"/>
          <p:cNvSpPr/>
          <p:nvPr/>
        </p:nvSpPr>
        <p:spPr>
          <a:xfrm>
            <a:off x="430682" y="4088282"/>
            <a:ext cx="3730752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적용대상을 찾아내는 비용이 커 본 사업 예산으로는 성립 불가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74413" y="2887675"/>
            <a:ext cx="171907" cy="16184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45091" y="2887675"/>
            <a:ext cx="171907" cy="16184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74413" y="4320540"/>
            <a:ext cx="171907" cy="16184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45091" y="4320540"/>
            <a:ext cx="171907" cy="16184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61281" y="2887675"/>
            <a:ext cx="4970678" cy="15956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74413" y="2969057"/>
            <a:ext cx="5142586" cy="1432865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61281" y="2890418"/>
            <a:ext cx="4970678" cy="15901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4678070" y="2969057"/>
            <a:ext cx="5137099" cy="14328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6135624" y="2785262"/>
            <a:ext cx="241402" cy="226771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82" name="Shape 80"/>
          <p:cNvSpPr/>
          <p:nvPr/>
        </p:nvSpPr>
        <p:spPr>
          <a:xfrm>
            <a:off x="7989113" y="2785262"/>
            <a:ext cx="241402" cy="226771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83" name="Shape 81"/>
          <p:cNvSpPr/>
          <p:nvPr/>
        </p:nvSpPr>
        <p:spPr>
          <a:xfrm>
            <a:off x="6135624" y="2788006"/>
            <a:ext cx="241402" cy="226771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84" name="Shape 82"/>
          <p:cNvSpPr/>
          <p:nvPr/>
        </p:nvSpPr>
        <p:spPr>
          <a:xfrm>
            <a:off x="7989113" y="2788006"/>
            <a:ext cx="241402" cy="226771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85" name="Shape 83"/>
          <p:cNvSpPr/>
          <p:nvPr/>
        </p:nvSpPr>
        <p:spPr>
          <a:xfrm>
            <a:off x="6256325" y="2785262"/>
            <a:ext cx="1853489" cy="229514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86" name="Shape 84"/>
          <p:cNvSpPr/>
          <p:nvPr/>
        </p:nvSpPr>
        <p:spPr>
          <a:xfrm>
            <a:off x="6135624" y="2898648"/>
            <a:ext cx="2094890" cy="2743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87" name="Text 85"/>
          <p:cNvSpPr/>
          <p:nvPr/>
        </p:nvSpPr>
        <p:spPr>
          <a:xfrm>
            <a:off x="6135624" y="2785262"/>
            <a:ext cx="2094890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 조사가 푸는 방법</a:t>
            </a:r>
            <a:endParaRPr lang="en-US" sz="1140" dirty="0"/>
          </a:p>
        </p:txBody>
      </p:sp>
      <p:sp>
        <p:nvSpPr>
          <p:cNvPr id="88" name="Shape 86"/>
          <p:cNvSpPr/>
          <p:nvPr/>
        </p:nvSpPr>
        <p:spPr>
          <a:xfrm>
            <a:off x="4800600" y="3071470"/>
            <a:ext cx="115214" cy="10789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901891" y="3071470"/>
            <a:ext cx="115214" cy="10789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00600" y="4088282"/>
            <a:ext cx="115214" cy="10789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01891" y="4088282"/>
            <a:ext cx="115214" cy="10789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58207" y="3071470"/>
            <a:ext cx="2100377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800600" y="3125419"/>
            <a:ext cx="2215591" cy="1016813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858207" y="3074213"/>
            <a:ext cx="2100377" cy="1119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4804258" y="3125419"/>
            <a:ext cx="2210105" cy="1016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94"/>
          <p:cNvSpPr/>
          <p:nvPr/>
        </p:nvSpPr>
        <p:spPr>
          <a:xfrm rot="5400000">
            <a:off x="5478170" y="3114446"/>
            <a:ext cx="160934" cy="172822"/>
          </a:xfrm>
          <a:prstGeom prst="hexagon">
            <a:avLst/>
          </a:prstGeom>
          <a:solidFill>
            <a:srgbClr val="062A63"/>
          </a:solidFill>
          <a:ln/>
        </p:spPr>
      </p:sp>
      <p:sp>
        <p:nvSpPr>
          <p:cNvPr id="97" name="Text 95"/>
          <p:cNvSpPr/>
          <p:nvPr/>
        </p:nvSpPr>
        <p:spPr>
          <a:xfrm>
            <a:off x="5478170" y="3114446"/>
            <a:ext cx="160934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679338" y="3114446"/>
            <a:ext cx="168158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연락처 현행화</a:t>
            </a:r>
            <a:endParaRPr lang="en-US" sz="1030" dirty="0"/>
          </a:p>
        </p:txBody>
      </p:sp>
      <p:sp>
        <p:nvSpPr>
          <p:cNvPr id="99" name="Text 97"/>
          <p:cNvSpPr/>
          <p:nvPr/>
        </p:nvSpPr>
        <p:spPr>
          <a:xfrm>
            <a:off x="4858207" y="3342132"/>
            <a:ext cx="2100377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SBR 명부 56.4% 부재·결번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973422" y="3560674"/>
            <a:ext cx="1870862" cy="8230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101" name="Text 99"/>
          <p:cNvSpPr/>
          <p:nvPr/>
        </p:nvSpPr>
        <p:spPr>
          <a:xfrm>
            <a:off x="4858207" y="3607308"/>
            <a:ext cx="2100377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자사 사업체 DB로 현행화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4973422" y="3834079"/>
            <a:ext cx="1870862" cy="8230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845759" y="3861511"/>
            <a:ext cx="126187" cy="92354"/>
          </a:xfrm>
          <a:prstGeom prst="downArrow">
            <a:avLst/>
          </a:prstGeom>
          <a:solidFill>
            <a:srgbClr val="D3D6DC"/>
          </a:solidFill>
          <a:ln/>
        </p:spPr>
      </p:sp>
      <p:sp>
        <p:nvSpPr>
          <p:cNvPr id="104" name="Text 102"/>
          <p:cNvSpPr/>
          <p:nvPr/>
        </p:nvSpPr>
        <p:spPr>
          <a:xfrm>
            <a:off x="4858207" y="3963924"/>
            <a:ext cx="2100377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유효 연락처 </a:t>
            </a:r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90%</a:t>
            </a:r>
            <a:pPr algn="ctr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관리</a:t>
            </a:r>
            <a:endParaRPr lang="en-US" sz="1030" dirty="0"/>
          </a:p>
        </p:txBody>
      </p:sp>
      <p:sp>
        <p:nvSpPr>
          <p:cNvPr id="105" name="Shape 103"/>
          <p:cNvSpPr/>
          <p:nvPr/>
        </p:nvSpPr>
        <p:spPr>
          <a:xfrm>
            <a:off x="7085686" y="3071470"/>
            <a:ext cx="115214" cy="10789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573768" y="3071470"/>
            <a:ext cx="115214" cy="10789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085686" y="4088282"/>
            <a:ext cx="115214" cy="10789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573768" y="4088282"/>
            <a:ext cx="115214" cy="10789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142378" y="3071470"/>
            <a:ext cx="248808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85686" y="3125419"/>
            <a:ext cx="2603297" cy="1016813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142378" y="3074213"/>
            <a:ext cx="2488082" cy="1119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088429" y="3125419"/>
            <a:ext cx="2596896" cy="1016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Shape 111"/>
          <p:cNvSpPr/>
          <p:nvPr/>
        </p:nvSpPr>
        <p:spPr>
          <a:xfrm rot="5400000">
            <a:off x="7956194" y="3114446"/>
            <a:ext cx="160934" cy="172822"/>
          </a:xfrm>
          <a:prstGeom prst="hexagon">
            <a:avLst/>
          </a:prstGeom>
          <a:solidFill>
            <a:srgbClr val="062A63"/>
          </a:solidFill>
          <a:ln/>
        </p:spPr>
      </p:sp>
      <p:sp>
        <p:nvSpPr>
          <p:cNvPr id="114" name="Text 112"/>
          <p:cNvSpPr/>
          <p:nvPr/>
        </p:nvSpPr>
        <p:spPr>
          <a:xfrm>
            <a:off x="7956194" y="3114446"/>
            <a:ext cx="160934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8157362" y="3114446"/>
            <a:ext cx="1875434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집중 배분</a:t>
            </a:r>
            <a:endParaRPr lang="en-US" sz="1030" dirty="0"/>
          </a:p>
        </p:txBody>
      </p:sp>
      <p:sp>
        <p:nvSpPr>
          <p:cNvPr id="116" name="Text 114"/>
          <p:cNvSpPr/>
          <p:nvPr/>
        </p:nvSpPr>
        <p:spPr>
          <a:xfrm>
            <a:off x="7142378" y="3342132"/>
            <a:ext cx="2488082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제조업·건설업에 명부 집중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7257593" y="3560674"/>
            <a:ext cx="2258568" cy="8230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118" name="Text 116"/>
          <p:cNvSpPr/>
          <p:nvPr/>
        </p:nvSpPr>
        <p:spPr>
          <a:xfrm>
            <a:off x="7142378" y="3607308"/>
            <a:ext cx="2488082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적용대상 비율 전국 평균의 1.6~2.0배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7257593" y="3834079"/>
            <a:ext cx="2258568" cy="8230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120" name="Shape 118"/>
          <p:cNvSpPr/>
          <p:nvPr/>
        </p:nvSpPr>
        <p:spPr>
          <a:xfrm>
            <a:off x="8323783" y="3861511"/>
            <a:ext cx="126187" cy="92354"/>
          </a:xfrm>
          <a:prstGeom prst="downArrow">
            <a:avLst/>
          </a:prstGeom>
          <a:solidFill>
            <a:srgbClr val="D3D6DC"/>
          </a:solidFill>
          <a:ln/>
        </p:spPr>
      </p:sp>
      <p:sp>
        <p:nvSpPr>
          <p:cNvPr id="121" name="Text 119"/>
          <p:cNvSpPr/>
          <p:nvPr/>
        </p:nvSpPr>
        <p:spPr>
          <a:xfrm>
            <a:off x="7142378" y="3963924"/>
            <a:ext cx="2488082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3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설계가중으로 전국 대표성 유지</a:t>
            </a:r>
            <a:endParaRPr lang="en-US" sz="1030" dirty="0"/>
          </a:p>
        </p:txBody>
      </p:sp>
      <p:sp>
        <p:nvSpPr>
          <p:cNvPr id="122" name="Shape 120"/>
          <p:cNvSpPr/>
          <p:nvPr/>
        </p:nvSpPr>
        <p:spPr>
          <a:xfrm>
            <a:off x="4678070" y="4231843"/>
            <a:ext cx="4764024" cy="224028"/>
          </a:xfrm>
          <a:prstGeom prst="rect">
            <a:avLst/>
          </a:prstGeom>
          <a:solidFill>
            <a:srgbClr val="AF7E22"/>
          </a:solidFill>
          <a:ln/>
        </p:spPr>
      </p:sp>
      <p:sp>
        <p:nvSpPr>
          <p:cNvPr id="123" name="Shape 121"/>
          <p:cNvSpPr/>
          <p:nvPr/>
        </p:nvSpPr>
        <p:spPr>
          <a:xfrm rot="5400000">
            <a:off x="9441180" y="4231843"/>
            <a:ext cx="287122" cy="224028"/>
          </a:xfrm>
          <a:prstGeom prst="triangle">
            <a:avLst/>
          </a:prstGeom>
          <a:solidFill>
            <a:srgbClr val="AF7E22"/>
          </a:solidFill>
          <a:ln/>
        </p:spPr>
      </p:sp>
      <p:sp>
        <p:nvSpPr>
          <p:cNvPr id="124" name="Text 122"/>
          <p:cNvSpPr/>
          <p:nvPr/>
        </p:nvSpPr>
        <p:spPr>
          <a:xfrm>
            <a:off x="4678070" y="4231843"/>
            <a:ext cx="476402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판별조사  명부 88,000개사  →  40,000~50,000개사</a:t>
            </a:r>
            <a:endParaRPr lang="en-US" sz="1160" dirty="0"/>
          </a:p>
        </p:txBody>
      </p:sp>
      <p:sp>
        <p:nvSpPr>
          <p:cNvPr id="125" name="Shape 123"/>
          <p:cNvSpPr/>
          <p:nvPr/>
        </p:nvSpPr>
        <p:spPr>
          <a:xfrm rot="5400000">
            <a:off x="257861" y="4577486"/>
            <a:ext cx="201168" cy="216713"/>
          </a:xfrm>
          <a:prstGeom prst="hexagon">
            <a:avLst/>
          </a:prstGeom>
          <a:solidFill>
            <a:srgbClr val="062A63"/>
          </a:solidFill>
          <a:ln/>
        </p:spPr>
      </p:sp>
      <p:sp>
        <p:nvSpPr>
          <p:cNvPr id="126" name="Text 124"/>
          <p:cNvSpPr/>
          <p:nvPr/>
        </p:nvSpPr>
        <p:spPr>
          <a:xfrm>
            <a:off x="257861" y="4577486"/>
            <a:ext cx="201168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551383" y="4599432"/>
            <a:ext cx="11887" cy="172822"/>
          </a:xfrm>
          <a:prstGeom prst="rect">
            <a:avLst/>
          </a:prstGeom>
          <a:solidFill>
            <a:srgbClr val="A9AEB8"/>
          </a:solidFill>
          <a:ln/>
        </p:spPr>
      </p:sp>
      <p:sp>
        <p:nvSpPr>
          <p:cNvPr id="128" name="Text 126"/>
          <p:cNvSpPr/>
          <p:nvPr/>
        </p:nvSpPr>
        <p:spPr>
          <a:xfrm>
            <a:off x="637337" y="4577486"/>
            <a:ext cx="4591202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그래서 무엇이 달라지는가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241402" y="473202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379269" y="473202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41402" y="558607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379269" y="558607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92608" y="4732020"/>
            <a:ext cx="2137867" cy="95189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41402" y="4780483"/>
            <a:ext cx="2241194" cy="854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2608" y="4734763"/>
            <a:ext cx="2137867" cy="9464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Shape 134"/>
          <p:cNvSpPr/>
          <p:nvPr/>
        </p:nvSpPr>
        <p:spPr>
          <a:xfrm>
            <a:off x="244145" y="4780483"/>
            <a:ext cx="2235708" cy="854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5"/>
          <p:cNvSpPr/>
          <p:nvPr/>
        </p:nvSpPr>
        <p:spPr>
          <a:xfrm>
            <a:off x="241402" y="4828946"/>
            <a:ext cx="2241194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적용대상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315468" y="5034686"/>
            <a:ext cx="2092147" cy="823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9" name="Text 137"/>
          <p:cNvSpPr/>
          <p:nvPr/>
        </p:nvSpPr>
        <p:spPr>
          <a:xfrm>
            <a:off x="331013" y="5072177"/>
            <a:ext cx="8961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Before</a:t>
            </a:r>
            <a:endParaRPr lang="en-US" sz="1000" dirty="0"/>
          </a:p>
        </p:txBody>
      </p:sp>
      <p:sp>
        <p:nvSpPr>
          <p:cNvPr id="140" name="Text 138"/>
          <p:cNvSpPr/>
          <p:nvPr/>
        </p:nvSpPr>
        <p:spPr>
          <a:xfrm>
            <a:off x="1495958" y="5072177"/>
            <a:ext cx="8961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After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315468" y="5237683"/>
            <a:ext cx="2092147" cy="823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42" name="Text 140"/>
          <p:cNvSpPr/>
          <p:nvPr/>
        </p:nvSpPr>
        <p:spPr>
          <a:xfrm>
            <a:off x="286207" y="5277917"/>
            <a:ext cx="94091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411개사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1271930" y="5402275"/>
            <a:ext cx="179222" cy="118872"/>
          </a:xfrm>
          <a:prstGeom prst="rightArrow">
            <a:avLst/>
          </a:prstGeom>
          <a:solidFill>
            <a:srgbClr val="B4801F"/>
          </a:solidFill>
          <a:ln/>
        </p:spPr>
      </p:sp>
      <p:sp>
        <p:nvSpPr>
          <p:cNvPr id="144" name="Text 142"/>
          <p:cNvSpPr/>
          <p:nvPr/>
        </p:nvSpPr>
        <p:spPr>
          <a:xfrm>
            <a:off x="1495958" y="5277917"/>
            <a:ext cx="94091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3,750개사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2525573" y="473202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858207" y="473202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525573" y="558607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858207" y="558607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576779" y="4732020"/>
            <a:ext cx="2332634" cy="95189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525573" y="4780483"/>
            <a:ext cx="2435962" cy="854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576779" y="4734763"/>
            <a:ext cx="2332634" cy="9464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2" name="Shape 150"/>
          <p:cNvSpPr/>
          <p:nvPr/>
        </p:nvSpPr>
        <p:spPr>
          <a:xfrm>
            <a:off x="2528316" y="4780483"/>
            <a:ext cx="2430475" cy="854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51"/>
          <p:cNvSpPr/>
          <p:nvPr/>
        </p:nvSpPr>
        <p:spPr>
          <a:xfrm>
            <a:off x="2525573" y="4828946"/>
            <a:ext cx="2435962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공표 단위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2599639" y="5034686"/>
            <a:ext cx="2286914" cy="823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55" name="Text 153"/>
          <p:cNvSpPr/>
          <p:nvPr/>
        </p:nvSpPr>
        <p:spPr>
          <a:xfrm>
            <a:off x="2622499" y="5072177"/>
            <a:ext cx="974750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Before</a:t>
            </a:r>
            <a:endParaRPr lang="en-US" sz="1000" dirty="0"/>
          </a:p>
        </p:txBody>
      </p:sp>
      <p:sp>
        <p:nvSpPr>
          <p:cNvPr id="156" name="Text 154"/>
          <p:cNvSpPr/>
          <p:nvPr/>
        </p:nvSpPr>
        <p:spPr>
          <a:xfrm>
            <a:off x="3889858" y="5072177"/>
            <a:ext cx="974750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After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2599639" y="5237683"/>
            <a:ext cx="2286914" cy="823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58" name="Text 156"/>
          <p:cNvSpPr/>
          <p:nvPr/>
        </p:nvSpPr>
        <p:spPr>
          <a:xfrm>
            <a:off x="2574036" y="5277917"/>
            <a:ext cx="1023214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전국 1개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3645713" y="5402275"/>
            <a:ext cx="194767" cy="118872"/>
          </a:xfrm>
          <a:prstGeom prst="rightArrow">
            <a:avLst/>
          </a:prstGeom>
          <a:solidFill>
            <a:srgbClr val="B4801F"/>
          </a:solidFill>
          <a:ln/>
        </p:spPr>
      </p:sp>
      <p:sp>
        <p:nvSpPr>
          <p:cNvPr id="160" name="Text 158"/>
          <p:cNvSpPr/>
          <p:nvPr/>
        </p:nvSpPr>
        <p:spPr>
          <a:xfrm>
            <a:off x="3889858" y="5277917"/>
            <a:ext cx="1023214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업종 5구분 ×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규모 2구분, 10개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5004511" y="473202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306056" y="473202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004511" y="558607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306056" y="558607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056632" y="4732020"/>
            <a:ext cx="2301545" cy="95189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004511" y="4780483"/>
            <a:ext cx="2404872" cy="854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056632" y="4734763"/>
            <a:ext cx="2301545" cy="9464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007254" y="4780483"/>
            <a:ext cx="2399386" cy="854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Text 167"/>
          <p:cNvSpPr/>
          <p:nvPr/>
        </p:nvSpPr>
        <p:spPr>
          <a:xfrm>
            <a:off x="5004511" y="4828946"/>
            <a:ext cx="2404872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확인 범위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5079492" y="5034686"/>
            <a:ext cx="2255825" cy="823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71" name="Text 169"/>
          <p:cNvSpPr/>
          <p:nvPr/>
        </p:nvSpPr>
        <p:spPr>
          <a:xfrm>
            <a:off x="5101438" y="5072177"/>
            <a:ext cx="961949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Before</a:t>
            </a:r>
            <a:endParaRPr lang="en-US" sz="1000" dirty="0"/>
          </a:p>
        </p:txBody>
      </p:sp>
      <p:sp>
        <p:nvSpPr>
          <p:cNvPr id="172" name="Text 170"/>
          <p:cNvSpPr/>
          <p:nvPr/>
        </p:nvSpPr>
        <p:spPr>
          <a:xfrm>
            <a:off x="6351422" y="5072177"/>
            <a:ext cx="961949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After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5079492" y="5237683"/>
            <a:ext cx="2255825" cy="823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74" name="Text 172"/>
          <p:cNvSpPr/>
          <p:nvPr/>
        </p:nvSpPr>
        <p:spPr>
          <a:xfrm>
            <a:off x="5052974" y="5277917"/>
            <a:ext cx="101041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체결까지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6110935" y="5402275"/>
            <a:ext cx="192024" cy="118872"/>
          </a:xfrm>
          <a:prstGeom prst="rightArrow">
            <a:avLst/>
          </a:prstGeom>
          <a:solidFill>
            <a:srgbClr val="B4801F"/>
          </a:solidFill>
          <a:ln/>
        </p:spPr>
      </p:sp>
      <p:sp>
        <p:nvSpPr>
          <p:cNvPr id="176" name="Text 174"/>
          <p:cNvSpPr/>
          <p:nvPr/>
        </p:nvSpPr>
        <p:spPr>
          <a:xfrm>
            <a:off x="6351422" y="5277917"/>
            <a:ext cx="101041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체결 · 이행 ·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회피 · 반영률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7461504" y="473202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751162" y="473202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61504" y="558607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751162" y="5586070"/>
            <a:ext cx="103327" cy="9692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512710" y="4732020"/>
            <a:ext cx="2289658" cy="95189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61504" y="4780483"/>
            <a:ext cx="2392985" cy="854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512710" y="4734763"/>
            <a:ext cx="2289658" cy="9464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4" name="Shape 182"/>
          <p:cNvSpPr/>
          <p:nvPr/>
        </p:nvSpPr>
        <p:spPr>
          <a:xfrm>
            <a:off x="7464247" y="4780483"/>
            <a:ext cx="2387498" cy="854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5" name="Text 183"/>
          <p:cNvSpPr/>
          <p:nvPr/>
        </p:nvSpPr>
        <p:spPr>
          <a:xfrm>
            <a:off x="7461504" y="4828946"/>
            <a:ext cx="2392985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86" name="Shape 184"/>
          <p:cNvSpPr/>
          <p:nvPr/>
        </p:nvSpPr>
        <p:spPr>
          <a:xfrm>
            <a:off x="7535570" y="5034686"/>
            <a:ext cx="2243938" cy="823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87" name="Text 185"/>
          <p:cNvSpPr/>
          <p:nvPr/>
        </p:nvSpPr>
        <p:spPr>
          <a:xfrm>
            <a:off x="7556602" y="5072177"/>
            <a:ext cx="957377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Before</a:t>
            </a:r>
            <a:endParaRPr lang="en-US" sz="1000" dirty="0"/>
          </a:p>
        </p:txBody>
      </p:sp>
      <p:sp>
        <p:nvSpPr>
          <p:cNvPr id="188" name="Text 186"/>
          <p:cNvSpPr/>
          <p:nvPr/>
        </p:nvSpPr>
        <p:spPr>
          <a:xfrm>
            <a:off x="8802014" y="5072177"/>
            <a:ext cx="957377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After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7535570" y="5237683"/>
            <a:ext cx="2243938" cy="823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90" name="Text 188"/>
          <p:cNvSpPr/>
          <p:nvPr/>
        </p:nvSpPr>
        <p:spPr>
          <a:xfrm>
            <a:off x="7509053" y="5277917"/>
            <a:ext cx="1004926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단발 조사</a:t>
            </a:r>
            <a:endParaRPr lang="en-US" sz="1000" dirty="0"/>
          </a:p>
        </p:txBody>
      </p:sp>
      <p:sp>
        <p:nvSpPr>
          <p:cNvPr id="191" name="Shape 189"/>
          <p:cNvSpPr/>
          <p:nvPr/>
        </p:nvSpPr>
        <p:spPr>
          <a:xfrm>
            <a:off x="8562442" y="5402275"/>
            <a:ext cx="191110" cy="118872"/>
          </a:xfrm>
          <a:prstGeom prst="rightArrow">
            <a:avLst/>
          </a:prstGeom>
          <a:solidFill>
            <a:srgbClr val="B4801F"/>
          </a:solidFill>
          <a:ln/>
        </p:spPr>
      </p:sp>
      <p:sp>
        <p:nvSpPr>
          <p:cNvPr id="192" name="Text 190"/>
          <p:cNvSpPr/>
          <p:nvPr/>
        </p:nvSpPr>
        <p:spPr>
          <a:xfrm>
            <a:off x="8802014" y="5277917"/>
            <a:ext cx="1004926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2027년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승인통계 편입 기반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252374" y="5867705"/>
            <a:ext cx="252374" cy="237744"/>
          </a:xfrm>
          <a:prstGeom prst="ellipse">
            <a:avLst/>
          </a:prstGeom>
          <a:solidFill>
            <a:srgbClr val="292C33"/>
          </a:solidFill>
          <a:ln/>
        </p:spPr>
      </p:sp>
      <p:sp>
        <p:nvSpPr>
          <p:cNvPr id="194" name="Shape 192"/>
          <p:cNvSpPr/>
          <p:nvPr/>
        </p:nvSpPr>
        <p:spPr>
          <a:xfrm>
            <a:off x="9584741" y="5867705"/>
            <a:ext cx="252374" cy="237744"/>
          </a:xfrm>
          <a:prstGeom prst="ellipse">
            <a:avLst/>
          </a:prstGeom>
          <a:solidFill>
            <a:srgbClr val="292C33"/>
          </a:solidFill>
          <a:ln/>
        </p:spPr>
      </p:sp>
      <p:sp>
        <p:nvSpPr>
          <p:cNvPr id="195" name="Shape 193"/>
          <p:cNvSpPr/>
          <p:nvPr/>
        </p:nvSpPr>
        <p:spPr>
          <a:xfrm>
            <a:off x="252374" y="6332220"/>
            <a:ext cx="252374" cy="237744"/>
          </a:xfrm>
          <a:prstGeom prst="ellipse">
            <a:avLst/>
          </a:prstGeom>
          <a:solidFill>
            <a:srgbClr val="292C33"/>
          </a:solidFill>
          <a:ln/>
        </p:spPr>
      </p:sp>
      <p:sp>
        <p:nvSpPr>
          <p:cNvPr id="196" name="Shape 194"/>
          <p:cNvSpPr/>
          <p:nvPr/>
        </p:nvSpPr>
        <p:spPr>
          <a:xfrm>
            <a:off x="9584741" y="6332220"/>
            <a:ext cx="252374" cy="237744"/>
          </a:xfrm>
          <a:prstGeom prst="ellipse">
            <a:avLst/>
          </a:prstGeom>
          <a:solidFill>
            <a:srgbClr val="292C33"/>
          </a:solidFill>
          <a:ln/>
        </p:spPr>
      </p:sp>
      <p:sp>
        <p:nvSpPr>
          <p:cNvPr id="197" name="Shape 195"/>
          <p:cNvSpPr/>
          <p:nvPr/>
        </p:nvSpPr>
        <p:spPr>
          <a:xfrm>
            <a:off x="378562" y="5867705"/>
            <a:ext cx="9332366" cy="703174"/>
          </a:xfrm>
          <a:prstGeom prst="rect">
            <a:avLst/>
          </a:prstGeom>
          <a:solidFill>
            <a:srgbClr val="292C33"/>
          </a:solidFill>
          <a:ln/>
        </p:spPr>
      </p:sp>
      <p:sp>
        <p:nvSpPr>
          <p:cNvPr id="198" name="Shape 196"/>
          <p:cNvSpPr/>
          <p:nvPr/>
        </p:nvSpPr>
        <p:spPr>
          <a:xfrm>
            <a:off x="252374" y="5986577"/>
            <a:ext cx="9584741" cy="465430"/>
          </a:xfrm>
          <a:prstGeom prst="rect">
            <a:avLst/>
          </a:prstGeom>
          <a:solidFill>
            <a:srgbClr val="292C33"/>
          </a:solidFill>
          <a:ln/>
        </p:spPr>
      </p:sp>
      <p:sp>
        <p:nvSpPr>
          <p:cNvPr id="199" name="Text 197"/>
          <p:cNvSpPr/>
          <p:nvPr/>
        </p:nvSpPr>
        <p:spPr>
          <a:xfrm>
            <a:off x="574243" y="5948172"/>
            <a:ext cx="8941918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적용대상 탐색비용은 낮추고, 공표 범위와 정책 활용성은 확대</a:t>
            </a:r>
            <a:endParaRPr lang="en-US" sz="1680" dirty="0"/>
          </a:p>
        </p:txBody>
      </p:sp>
      <p:sp>
        <p:nvSpPr>
          <p:cNvPr id="200" name="Text 198"/>
          <p:cNvSpPr/>
          <p:nvPr/>
        </p:nvSpPr>
        <p:spPr>
          <a:xfrm>
            <a:off x="574243" y="6251753"/>
            <a:ext cx="8941918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DC8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명부 4~5만으로 유효표본 3,000개사 확보와 승인통계 편입 기반을 동시에 달성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케이스탯리서치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납품대금 연동제 실태조사 제안서</dc:title>
  <dc:subject>PptxGenJS Presentation</dc:subject>
  <dc:creator>케이스탯리서치</dc:creator>
  <cp:lastModifiedBy>케이스탯리서치</cp:lastModifiedBy>
  <cp:revision>1</cp:revision>
  <dcterms:created xsi:type="dcterms:W3CDTF">2026-08-12T01:37:17Z</dcterms:created>
  <dcterms:modified xsi:type="dcterms:W3CDTF">2026-08-12T01:37:17Z</dcterms:modified>
</cp:coreProperties>
</file>
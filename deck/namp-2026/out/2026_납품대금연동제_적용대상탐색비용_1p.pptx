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122" y="124358"/>
            <a:ext cx="4591202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67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 한계와 본 조사 해법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87122" y="319126"/>
            <a:ext cx="860907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줄이고, 공표 가능성은 확대</a:t>
            </a:r>
            <a:endParaRPr lang="en-US" sz="2410" dirty="0"/>
          </a:p>
        </p:txBody>
      </p:sp>
      <p:sp>
        <p:nvSpPr>
          <p:cNvPr id="4" name="Shape 2"/>
          <p:cNvSpPr/>
          <p:nvPr/>
        </p:nvSpPr>
        <p:spPr>
          <a:xfrm>
            <a:off x="1796796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78394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96796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394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3722" y="813816"/>
            <a:ext cx="6382512" cy="4215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6796" y="906170"/>
            <a:ext cx="6577279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93722" y="816559"/>
            <a:ext cx="6382512" cy="4160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9539" y="906170"/>
            <a:ext cx="6571793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25573" y="813816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525573" y="1219810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951330" y="824789"/>
            <a:ext cx="626729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제조·건설 집중배분으로 판별조사 명부를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8.8만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개에서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개로 축소</a:t>
            </a:r>
            <a:endParaRPr lang="en-US" sz="1200" dirty="0"/>
          </a:p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3,750개사를 확보해 10개 공표 단위와 2027년 승인통계 기반을 마련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257861" y="1297534"/>
            <a:ext cx="209398" cy="224028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6" name="Text 14"/>
          <p:cNvSpPr/>
          <p:nvPr/>
        </p:nvSpPr>
        <p:spPr>
          <a:xfrm>
            <a:off x="257861" y="1297534"/>
            <a:ext cx="20939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9613" y="1319479"/>
            <a:ext cx="11887" cy="181051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8" name="Text 16"/>
          <p:cNvSpPr/>
          <p:nvPr/>
        </p:nvSpPr>
        <p:spPr>
          <a:xfrm>
            <a:off x="645566" y="1297534"/>
            <a:ext cx="459120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지금까지의 한계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solidFill>
            <a:srgbClr val="0025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solidFill>
            <a:srgbClr val="0D3C89"/>
          </a:solidFill>
          <a:ln/>
        </p:spPr>
      </p:sp>
      <p:sp>
        <p:nvSpPr>
          <p:cNvPr id="22" name="Text 20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solidFill>
            <a:srgbClr val="696969"/>
          </a:solidFill>
          <a:ln/>
        </p:spPr>
      </p:sp>
      <p:sp>
        <p:nvSpPr>
          <p:cNvPr id="24" name="Text 22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미확인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 rot="5400000">
            <a:off x="364846" y="1830629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26" name="Text 24"/>
          <p:cNvSpPr/>
          <p:nvPr/>
        </p:nvSpPr>
        <p:spPr>
          <a:xfrm>
            <a:off x="364846" y="1830629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3991" y="1790395"/>
            <a:ext cx="252557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중기부 납품대금 연동제 실태조사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1977" y="1790395"/>
            <a:ext cx="224393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인지도 63.3% · 체결률 66.2%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9535" y="1790395"/>
            <a:ext cx="335767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411개사  —  업종별·규모별 산출 불가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9846" y="2071116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1" name="Shape 29"/>
          <p:cNvSpPr/>
          <p:nvPr/>
        </p:nvSpPr>
        <p:spPr>
          <a:xfrm rot="5400000">
            <a:off x="364846" y="2121408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2" name="Text 30"/>
          <p:cNvSpPr/>
          <p:nvPr/>
        </p:nvSpPr>
        <p:spPr>
          <a:xfrm>
            <a:off x="364846" y="2121408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3991" y="2087575"/>
            <a:ext cx="252557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71977" y="2087575"/>
            <a:ext cx="224393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연동제 이행 점검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39535" y="2087575"/>
            <a:ext cx="335767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적발 목적  —  모집단 대비 비율 미산출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9846" y="2355494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7" name="Shape 35"/>
          <p:cNvSpPr/>
          <p:nvPr/>
        </p:nvSpPr>
        <p:spPr>
          <a:xfrm rot="5400000">
            <a:off x="364846" y="2422246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8" name="Text 36"/>
          <p:cNvSpPr/>
          <p:nvPr/>
        </p:nvSpPr>
        <p:spPr>
          <a:xfrm>
            <a:off x="364846" y="2422246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3991" y="2371039"/>
            <a:ext cx="252557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하도급거래 실태조사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1977" y="2371039"/>
            <a:ext cx="224393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위반 전반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39535" y="2371039"/>
            <a:ext cx="335767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도입·이행·회피 미세분  —  처분 목적의 방어적 응답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9846" y="2673706"/>
            <a:ext cx="9117482" cy="10973"/>
          </a:xfrm>
          <a:prstGeom prst="rect">
            <a:avLst/>
          </a:prstGeom>
          <a:solidFill>
            <a:srgbClr val="C6C9CF"/>
          </a:solidFill>
          <a:ln/>
        </p:spPr>
      </p:sp>
      <p:sp>
        <p:nvSpPr>
          <p:cNvPr id="43" name="Shape 41"/>
          <p:cNvSpPr/>
          <p:nvPr/>
        </p:nvSpPr>
        <p:spPr>
          <a:xfrm>
            <a:off x="272491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4" name="Shape 42"/>
          <p:cNvSpPr/>
          <p:nvPr/>
        </p:nvSpPr>
        <p:spPr>
          <a:xfrm>
            <a:off x="4146804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72491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146804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58445" y="2887675"/>
            <a:ext cx="3874313" cy="1576426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72491" y="2969057"/>
            <a:ext cx="4046220" cy="1413662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271016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0" name="Shape 48"/>
          <p:cNvSpPr/>
          <p:nvPr/>
        </p:nvSpPr>
        <p:spPr>
          <a:xfrm>
            <a:off x="3067812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71016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2" name="Shape 50"/>
          <p:cNvSpPr/>
          <p:nvPr/>
        </p:nvSpPr>
        <p:spPr>
          <a:xfrm>
            <a:off x="3067812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3" name="Shape 51"/>
          <p:cNvSpPr/>
          <p:nvPr/>
        </p:nvSpPr>
        <p:spPr>
          <a:xfrm>
            <a:off x="1391717" y="2785262"/>
            <a:ext cx="179679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71016" y="2898648"/>
            <a:ext cx="2037283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5" name="Text 53"/>
          <p:cNvSpPr/>
          <p:nvPr/>
        </p:nvSpPr>
        <p:spPr>
          <a:xfrm>
            <a:off x="1271016" y="2785262"/>
            <a:ext cx="20372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확인되지 못했는가</a:t>
            </a:r>
            <a:endParaRPr lang="en-US" sz="1140" dirty="0"/>
          </a:p>
        </p:txBody>
      </p:sp>
      <p:sp>
        <p:nvSpPr>
          <p:cNvPr id="56" name="Text 54"/>
          <p:cNvSpPr/>
          <p:nvPr/>
        </p:nvSpPr>
        <p:spPr>
          <a:xfrm>
            <a:off x="307238" y="3314700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307238" y="353141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492301" y="3282696"/>
            <a:ext cx="861365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492301" y="3455518"/>
            <a:ext cx="8613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411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8550" y="3258007"/>
            <a:ext cx="544982" cy="51389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8550" y="3258007"/>
            <a:ext cx="544982" cy="513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3.4%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3294583" y="3228746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기존 방식이면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294583" y="3396082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88,000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3294583" y="362285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 필요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351483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6" name="Shape 64"/>
          <p:cNvSpPr/>
          <p:nvPr/>
        </p:nvSpPr>
        <p:spPr>
          <a:xfrm>
            <a:off x="2304288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7" name="Shape 65"/>
          <p:cNvSpPr/>
          <p:nvPr/>
        </p:nvSpPr>
        <p:spPr>
          <a:xfrm>
            <a:off x="3216859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804" y="3961181"/>
            <a:ext cx="3128162" cy="8230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69" name="Shape 67"/>
          <p:cNvSpPr/>
          <p:nvPr/>
        </p:nvSpPr>
        <p:spPr>
          <a:xfrm>
            <a:off x="717804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0" name="Shape 68"/>
          <p:cNvSpPr/>
          <p:nvPr/>
        </p:nvSpPr>
        <p:spPr>
          <a:xfrm>
            <a:off x="3836822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942" y="3961181"/>
            <a:ext cx="8230" cy="81382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2" name="Text 70"/>
          <p:cNvSpPr/>
          <p:nvPr/>
        </p:nvSpPr>
        <p:spPr>
          <a:xfrm>
            <a:off x="430682" y="4088282"/>
            <a:ext cx="373075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적용대상을 찾아내는 비용이 커 본 사업 예산으로는 성립 불가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674413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45091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74413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45091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61281" y="2887675"/>
            <a:ext cx="4970678" cy="15956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74413" y="2969057"/>
            <a:ext cx="5142586" cy="1432865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61281" y="2890418"/>
            <a:ext cx="4970678" cy="15901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4678070" y="2969057"/>
            <a:ext cx="5137099" cy="14328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9"/>
          <p:cNvSpPr/>
          <p:nvPr/>
        </p:nvSpPr>
        <p:spPr>
          <a:xfrm>
            <a:off x="6135624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2" name="Shape 80"/>
          <p:cNvSpPr/>
          <p:nvPr/>
        </p:nvSpPr>
        <p:spPr>
          <a:xfrm>
            <a:off x="7989113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3" name="Shape 81"/>
          <p:cNvSpPr/>
          <p:nvPr/>
        </p:nvSpPr>
        <p:spPr>
          <a:xfrm>
            <a:off x="6135624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7989113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6256325" y="2785262"/>
            <a:ext cx="1853489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6135624" y="2898648"/>
            <a:ext cx="2094890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7" name="Text 85"/>
          <p:cNvSpPr/>
          <p:nvPr/>
        </p:nvSpPr>
        <p:spPr>
          <a:xfrm>
            <a:off x="6135624" y="2785262"/>
            <a:ext cx="209489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조사가 푸는 방법</a:t>
            </a:r>
            <a:endParaRPr lang="en-US" sz="1140" dirty="0"/>
          </a:p>
        </p:txBody>
      </p:sp>
      <p:sp>
        <p:nvSpPr>
          <p:cNvPr id="88" name="Shape 86"/>
          <p:cNvSpPr/>
          <p:nvPr/>
        </p:nvSpPr>
        <p:spPr>
          <a:xfrm>
            <a:off x="4800600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901891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800600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901891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858207" y="3071470"/>
            <a:ext cx="2100377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800600" y="3125419"/>
            <a:ext cx="2215591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58207" y="3074213"/>
            <a:ext cx="2100377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4804258" y="3125419"/>
            <a:ext cx="2210105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5478170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97" name="Text 95"/>
          <p:cNvSpPr/>
          <p:nvPr/>
        </p:nvSpPr>
        <p:spPr>
          <a:xfrm>
            <a:off x="5478170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79338" y="3114446"/>
            <a:ext cx="168158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</a:t>
            </a:r>
            <a:endParaRPr lang="en-US" sz="1030" dirty="0"/>
          </a:p>
        </p:txBody>
      </p:sp>
      <p:sp>
        <p:nvSpPr>
          <p:cNvPr id="99" name="Text 97"/>
          <p:cNvSpPr/>
          <p:nvPr/>
        </p:nvSpPr>
        <p:spPr>
          <a:xfrm>
            <a:off x="4858207" y="3342132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56.4% 부재·결번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4973422" y="3560674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1" name="Text 99"/>
          <p:cNvSpPr/>
          <p:nvPr/>
        </p:nvSpPr>
        <p:spPr>
          <a:xfrm>
            <a:off x="4858207" y="3607308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현행화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4973422" y="3834079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45759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04" name="Text 102"/>
          <p:cNvSpPr/>
          <p:nvPr/>
        </p:nvSpPr>
        <p:spPr>
          <a:xfrm>
            <a:off x="4858207" y="3963924"/>
            <a:ext cx="2100377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 연락처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</a:t>
            </a:r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관리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>
            <a:off x="7085686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573768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85686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73768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142378" y="3071470"/>
            <a:ext cx="2488082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085686" y="3125419"/>
            <a:ext cx="2603297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42378" y="3074213"/>
            <a:ext cx="2488082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88429" y="3125419"/>
            <a:ext cx="2596896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hape 111"/>
          <p:cNvSpPr/>
          <p:nvPr/>
        </p:nvSpPr>
        <p:spPr>
          <a:xfrm rot="5400000">
            <a:off x="7956194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956194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8157362" y="3114446"/>
            <a:ext cx="18754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집중 배분</a:t>
            </a:r>
            <a:endParaRPr lang="en-US" sz="1030" dirty="0"/>
          </a:p>
        </p:txBody>
      </p:sp>
      <p:sp>
        <p:nvSpPr>
          <p:cNvPr id="116" name="Text 114"/>
          <p:cNvSpPr/>
          <p:nvPr/>
        </p:nvSpPr>
        <p:spPr>
          <a:xfrm>
            <a:off x="7142378" y="3342132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제조업·건설업에 명부 집중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257593" y="3560674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18" name="Text 116"/>
          <p:cNvSpPr/>
          <p:nvPr/>
        </p:nvSpPr>
        <p:spPr>
          <a:xfrm>
            <a:off x="7142378" y="3607308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비율 전국 평균의 1.6~2.0배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7257593" y="3834079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323783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21" name="Text 119"/>
          <p:cNvSpPr/>
          <p:nvPr/>
        </p:nvSpPr>
        <p:spPr>
          <a:xfrm>
            <a:off x="7142378" y="3963924"/>
            <a:ext cx="2488082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설계가중으로 전국 대표성 유지</a:t>
            </a:r>
            <a:endParaRPr lang="en-US" sz="1030" dirty="0"/>
          </a:p>
        </p:txBody>
      </p:sp>
      <p:sp>
        <p:nvSpPr>
          <p:cNvPr id="122" name="Shape 120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solidFill>
            <a:srgbClr val="AF7E22"/>
          </a:solidFill>
          <a:ln/>
        </p:spPr>
      </p:sp>
      <p:sp>
        <p:nvSpPr>
          <p:cNvPr id="123" name="Shape 121"/>
          <p:cNvSpPr/>
          <p:nvPr/>
        </p:nvSpPr>
        <p:spPr>
          <a:xfrm rot="5400000">
            <a:off x="9441180" y="4231843"/>
            <a:ext cx="287122" cy="224028"/>
          </a:xfrm>
          <a:prstGeom prst="triangle">
            <a:avLst/>
          </a:prstGeom>
          <a:solidFill>
            <a:srgbClr val="AF7E22"/>
          </a:solidFill>
          <a:ln/>
        </p:spPr>
      </p:sp>
      <p:sp>
        <p:nvSpPr>
          <p:cNvPr id="124" name="Text 122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 명부 88,000개사  →  40,000~50,000개사</a:t>
            </a:r>
            <a:endParaRPr lang="en-US" sz="1160" dirty="0"/>
          </a:p>
        </p:txBody>
      </p:sp>
      <p:sp>
        <p:nvSpPr>
          <p:cNvPr id="125" name="Shape 123"/>
          <p:cNvSpPr/>
          <p:nvPr/>
        </p:nvSpPr>
        <p:spPr>
          <a:xfrm rot="5400000">
            <a:off x="257861" y="4577486"/>
            <a:ext cx="201168" cy="216713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26" name="Text 124"/>
          <p:cNvSpPr/>
          <p:nvPr/>
        </p:nvSpPr>
        <p:spPr>
          <a:xfrm>
            <a:off x="257861" y="4577486"/>
            <a:ext cx="201168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551383" y="4599432"/>
            <a:ext cx="11887" cy="172822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28" name="Text 126"/>
          <p:cNvSpPr/>
          <p:nvPr/>
        </p:nvSpPr>
        <p:spPr>
          <a:xfrm>
            <a:off x="637337" y="4577486"/>
            <a:ext cx="4591202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그래서 무엇이 달라지는가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24140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79269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4140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379269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92608" y="4732020"/>
            <a:ext cx="2137867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41402" y="4780483"/>
            <a:ext cx="2241194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2608" y="4734763"/>
            <a:ext cx="2137867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44145" y="4780483"/>
            <a:ext cx="223570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5"/>
          <p:cNvSpPr/>
          <p:nvPr/>
        </p:nvSpPr>
        <p:spPr>
          <a:xfrm>
            <a:off x="241402" y="4828946"/>
            <a:ext cx="2241194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15468" y="5034686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39" name="Text 137"/>
          <p:cNvSpPr/>
          <p:nvPr/>
        </p:nvSpPr>
        <p:spPr>
          <a:xfrm>
            <a:off x="331013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1495958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15468" y="5237683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42" name="Text 140"/>
          <p:cNvSpPr/>
          <p:nvPr/>
        </p:nvSpPr>
        <p:spPr>
          <a:xfrm>
            <a:off x="286207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411개사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1271930" y="5402275"/>
            <a:ext cx="179222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44" name="Text 142"/>
          <p:cNvSpPr/>
          <p:nvPr/>
        </p:nvSpPr>
        <p:spPr>
          <a:xfrm>
            <a:off x="1495958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3,750개사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2525573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858207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525573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858207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576779" y="4732020"/>
            <a:ext cx="2332634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525573" y="4780483"/>
            <a:ext cx="243596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576779" y="4734763"/>
            <a:ext cx="2332634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528316" y="4780483"/>
            <a:ext cx="2430475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1"/>
          <p:cNvSpPr/>
          <p:nvPr/>
        </p:nvSpPr>
        <p:spPr>
          <a:xfrm>
            <a:off x="2525573" y="4828946"/>
            <a:ext cx="243596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599639" y="5034686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5" name="Text 153"/>
          <p:cNvSpPr/>
          <p:nvPr/>
        </p:nvSpPr>
        <p:spPr>
          <a:xfrm>
            <a:off x="2622499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3889858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2599639" y="5237683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8" name="Text 156"/>
          <p:cNvSpPr/>
          <p:nvPr/>
        </p:nvSpPr>
        <p:spPr>
          <a:xfrm>
            <a:off x="2574036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1개</a:t>
            </a:r>
            <a:endParaRPr lang="en-US" sz="1000" dirty="0"/>
          </a:p>
        </p:txBody>
      </p:sp>
      <p:sp>
        <p:nvSpPr>
          <p:cNvPr id="159" name="Shape 157"/>
          <p:cNvSpPr/>
          <p:nvPr/>
        </p:nvSpPr>
        <p:spPr>
          <a:xfrm>
            <a:off x="3645713" y="5402275"/>
            <a:ext cx="194767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60" name="Text 158"/>
          <p:cNvSpPr/>
          <p:nvPr/>
        </p:nvSpPr>
        <p:spPr>
          <a:xfrm>
            <a:off x="3889858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5구분 ×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 2구분, 10개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5004511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306056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004511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306056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056632" y="4732020"/>
            <a:ext cx="2301545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004511" y="4780483"/>
            <a:ext cx="240487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056632" y="4734763"/>
            <a:ext cx="2301545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007254" y="4780483"/>
            <a:ext cx="2399386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/>
          <p:nvPr/>
        </p:nvSpPr>
        <p:spPr>
          <a:xfrm>
            <a:off x="5004511" y="4828946"/>
            <a:ext cx="240487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 범위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5079492" y="5034686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1" name="Text 169"/>
          <p:cNvSpPr/>
          <p:nvPr/>
        </p:nvSpPr>
        <p:spPr>
          <a:xfrm>
            <a:off x="5101438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72" name="Text 170"/>
          <p:cNvSpPr/>
          <p:nvPr/>
        </p:nvSpPr>
        <p:spPr>
          <a:xfrm>
            <a:off x="6351422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73" name="Shape 171"/>
          <p:cNvSpPr/>
          <p:nvPr/>
        </p:nvSpPr>
        <p:spPr>
          <a:xfrm>
            <a:off x="5079492" y="5237683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4" name="Text 172"/>
          <p:cNvSpPr/>
          <p:nvPr/>
        </p:nvSpPr>
        <p:spPr>
          <a:xfrm>
            <a:off x="5052974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체결까지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6110935" y="5402275"/>
            <a:ext cx="192024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76" name="Text 174"/>
          <p:cNvSpPr/>
          <p:nvPr/>
        </p:nvSpPr>
        <p:spPr>
          <a:xfrm>
            <a:off x="6351422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체결 · 이행 ·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 · 반영률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7461504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75116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61504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75116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512710" y="4732020"/>
            <a:ext cx="2289658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461504" y="4780483"/>
            <a:ext cx="2392985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512710" y="4734763"/>
            <a:ext cx="2289658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4247" y="4780483"/>
            <a:ext cx="238749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5" name="Text 183"/>
          <p:cNvSpPr/>
          <p:nvPr/>
        </p:nvSpPr>
        <p:spPr>
          <a:xfrm>
            <a:off x="7461504" y="4828946"/>
            <a:ext cx="2392985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535570" y="5034686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87" name="Text 185"/>
          <p:cNvSpPr/>
          <p:nvPr/>
        </p:nvSpPr>
        <p:spPr>
          <a:xfrm>
            <a:off x="7556602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8802014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89" name="Shape 187"/>
          <p:cNvSpPr/>
          <p:nvPr/>
        </p:nvSpPr>
        <p:spPr>
          <a:xfrm>
            <a:off x="7535570" y="5237683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90" name="Text 188"/>
          <p:cNvSpPr/>
          <p:nvPr/>
        </p:nvSpPr>
        <p:spPr>
          <a:xfrm>
            <a:off x="7509053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단발 조사</a:t>
            </a:r>
            <a:endParaRPr lang="en-US" sz="1000" dirty="0"/>
          </a:p>
        </p:txBody>
      </p:sp>
      <p:sp>
        <p:nvSpPr>
          <p:cNvPr id="191" name="Shape 189"/>
          <p:cNvSpPr/>
          <p:nvPr/>
        </p:nvSpPr>
        <p:spPr>
          <a:xfrm>
            <a:off x="8562442" y="5402275"/>
            <a:ext cx="191110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92" name="Text 190"/>
          <p:cNvSpPr/>
          <p:nvPr/>
        </p:nvSpPr>
        <p:spPr>
          <a:xfrm>
            <a:off x="8802014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승인통계 편입 기반</a:t>
            </a:r>
            <a:endParaRPr lang="en-US" sz="1000" dirty="0"/>
          </a:p>
        </p:txBody>
      </p:sp>
      <p:sp>
        <p:nvSpPr>
          <p:cNvPr id="193" name="Shape 191"/>
          <p:cNvSpPr/>
          <p:nvPr/>
        </p:nvSpPr>
        <p:spPr>
          <a:xfrm>
            <a:off x="252374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584741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52374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584741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378562" y="5867705"/>
            <a:ext cx="9332366" cy="703174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52374" y="5986577"/>
            <a:ext cx="9584741" cy="465430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9" name="Text 197"/>
          <p:cNvSpPr/>
          <p:nvPr/>
        </p:nvSpPr>
        <p:spPr>
          <a:xfrm>
            <a:off x="574243" y="5948172"/>
            <a:ext cx="8941918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낮추고, 공표 범위와 정책 활용성은 확대</a:t>
            </a:r>
            <a:endParaRPr lang="en-US" sz="1680" dirty="0"/>
          </a:p>
        </p:txBody>
      </p:sp>
      <p:sp>
        <p:nvSpPr>
          <p:cNvPr id="200" name="Text 198"/>
          <p:cNvSpPr/>
          <p:nvPr/>
        </p:nvSpPr>
        <p:spPr>
          <a:xfrm>
            <a:off x="574243" y="6251753"/>
            <a:ext cx="894191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5DC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4~5만으로 유효표본 3,000개사 확보와 승인통계 편입 기반을 동시에 달성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2026-08-12T01:29:03Z</dcterms:created>
  <dcterms:modified xsi:type="dcterms:W3CDTF">2026-08-12T01:29:03Z</dcterms:modified>
</cp:coreProperties>
</file>
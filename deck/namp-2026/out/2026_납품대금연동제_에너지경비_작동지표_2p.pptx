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058400" cy="6705570"/>
  <p:notesSz cx="670557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958" y="39319"/>
            <a:ext cx="785835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에너지경비 연동 대비 문항 설계</a:t>
            </a:r>
            <a:endParaRPr lang="en-US" sz="2710" dirty="0"/>
          </a:p>
        </p:txBody>
      </p:sp>
      <p:sp>
        <p:nvSpPr>
          <p:cNvPr id="3" name="Shape 1"/>
          <p:cNvSpPr/>
          <p:nvPr/>
        </p:nvSpPr>
        <p:spPr>
          <a:xfrm flipH="1">
            <a:off x="144475" y="589788"/>
            <a:ext cx="78638" cy="202997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4" name="Text 2"/>
          <p:cNvSpPr/>
          <p:nvPr/>
        </p:nvSpPr>
        <p:spPr>
          <a:xfrm>
            <a:off x="340157" y="563270"/>
            <a:ext cx="58933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원재료·에너지경비 분리 측정</a:t>
            </a:r>
            <a:endParaRPr lang="en-US" sz="1510" dirty="0"/>
          </a:p>
        </p:txBody>
      </p:sp>
      <p:sp>
        <p:nvSpPr>
          <p:cNvPr id="5" name="Shape 3"/>
          <p:cNvSpPr/>
          <p:nvPr/>
        </p:nvSpPr>
        <p:spPr>
          <a:xfrm>
            <a:off x="917143" y="890626"/>
            <a:ext cx="26518" cy="44531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6" name="Shape 4"/>
          <p:cNvSpPr/>
          <p:nvPr/>
        </p:nvSpPr>
        <p:spPr>
          <a:xfrm>
            <a:off x="917143" y="890626"/>
            <a:ext cx="124358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7" name="Shape 5"/>
          <p:cNvSpPr/>
          <p:nvPr/>
        </p:nvSpPr>
        <p:spPr>
          <a:xfrm>
            <a:off x="917143" y="1309421"/>
            <a:ext cx="124358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8" name="Shape 6"/>
          <p:cNvSpPr/>
          <p:nvPr/>
        </p:nvSpPr>
        <p:spPr>
          <a:xfrm>
            <a:off x="9600286" y="890626"/>
            <a:ext cx="26518" cy="445313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9" name="Shape 7"/>
          <p:cNvSpPr/>
          <p:nvPr/>
        </p:nvSpPr>
        <p:spPr>
          <a:xfrm>
            <a:off x="9501530" y="890626"/>
            <a:ext cx="124358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0" name="Shape 8"/>
          <p:cNvSpPr/>
          <p:nvPr/>
        </p:nvSpPr>
        <p:spPr>
          <a:xfrm>
            <a:off x="9501530" y="1309421"/>
            <a:ext cx="124358" cy="26518"/>
          </a:xfrm>
          <a:prstGeom prst="rect">
            <a:avLst/>
          </a:prstGeom>
          <a:solidFill>
            <a:srgbClr val="DDE1E8"/>
          </a:solidFill>
          <a:ln/>
        </p:spPr>
      </p:sp>
      <p:sp>
        <p:nvSpPr>
          <p:cNvPr id="11" name="Text 9"/>
          <p:cNvSpPr/>
          <p:nvPr/>
        </p:nvSpPr>
        <p:spPr>
          <a:xfrm>
            <a:off x="1112825" y="903427"/>
            <a:ext cx="39319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4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340" dirty="0"/>
          </a:p>
        </p:txBody>
      </p:sp>
      <p:sp>
        <p:nvSpPr>
          <p:cNvPr id="12" name="Text 10"/>
          <p:cNvSpPr/>
          <p:nvPr/>
        </p:nvSpPr>
        <p:spPr>
          <a:xfrm>
            <a:off x="9037015" y="903427"/>
            <a:ext cx="39319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4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340" dirty="0"/>
          </a:p>
        </p:txBody>
      </p:sp>
      <p:sp>
        <p:nvSpPr>
          <p:cNvPr id="13" name="Text 11"/>
          <p:cNvSpPr/>
          <p:nvPr/>
        </p:nvSpPr>
        <p:spPr>
          <a:xfrm>
            <a:off x="1178662" y="890626"/>
            <a:ext cx="8185709" cy="44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2026년 12월 3일 에너지경비 연동 시행에 대비해, 원재료와 에너지경비를 병렬로 측정</a:t>
            </a:r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하는 문항을 미리 설계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8036" y="1518818"/>
            <a:ext cx="5789066" cy="2999232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1362456" y="1394460"/>
            <a:ext cx="275234" cy="2752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6" name="Shape 14"/>
          <p:cNvSpPr/>
          <p:nvPr/>
        </p:nvSpPr>
        <p:spPr>
          <a:xfrm>
            <a:off x="3830422" y="1394460"/>
            <a:ext cx="275234" cy="2752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" name="Shape 15"/>
          <p:cNvSpPr/>
          <p:nvPr/>
        </p:nvSpPr>
        <p:spPr>
          <a:xfrm>
            <a:off x="1362456" y="1394460"/>
            <a:ext cx="275234" cy="2752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" name="Shape 16"/>
          <p:cNvSpPr/>
          <p:nvPr/>
        </p:nvSpPr>
        <p:spPr>
          <a:xfrm>
            <a:off x="3830422" y="1394460"/>
            <a:ext cx="275234" cy="275234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1499616" y="1394460"/>
            <a:ext cx="2468880" cy="275234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1362456" y="1532534"/>
            <a:ext cx="2744114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1" name="Text 19"/>
          <p:cNvSpPr/>
          <p:nvPr/>
        </p:nvSpPr>
        <p:spPr>
          <a:xfrm>
            <a:off x="1362456" y="1394460"/>
            <a:ext cx="2744114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측정 문항 3종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45313" y="1781251"/>
            <a:ext cx="235915" cy="275234"/>
          </a:xfrm>
          <a:prstGeom prst="hexagon">
            <a:avLst/>
          </a:prstGeom>
          <a:solidFill>
            <a:srgbClr val="053576"/>
          </a:solidFill>
          <a:ln/>
        </p:spPr>
      </p:sp>
      <p:sp>
        <p:nvSpPr>
          <p:cNvPr id="23" name="Text 21"/>
          <p:cNvSpPr/>
          <p:nvPr/>
        </p:nvSpPr>
        <p:spPr>
          <a:xfrm>
            <a:off x="445313" y="1781251"/>
            <a:ext cx="235915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4789" y="1741932"/>
            <a:ext cx="1014984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6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에너지경비</a:t>
            </a:r>
            <a:endParaRPr lang="en-US" sz="156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6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비중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1905610" y="1729130"/>
            <a:ext cx="265176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원가구조를 재료비·노무비·에너지경비·기타 4구분으로 기재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모르는 항목은 ‘모름’ 또는 10%p 구간으로 응답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합계는 시스템 처리, 정확 %는 선택 입력</a:t>
            </a:r>
            <a:endParaRPr lang="en-US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납품대금 10% 기준 충족 여부 포함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83887" y="1611173"/>
            <a:ext cx="10058" cy="936346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7" name="Shape 25"/>
          <p:cNvSpPr/>
          <p:nvPr/>
        </p:nvSpPr>
        <p:spPr>
          <a:xfrm>
            <a:off x="4996282" y="1774850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0914" y="1774850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29" name="Shape 27"/>
          <p:cNvSpPr/>
          <p:nvPr/>
        </p:nvSpPr>
        <p:spPr>
          <a:xfrm>
            <a:off x="4996282" y="1774850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0914" y="1774850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31" name="Shape 29"/>
          <p:cNvSpPr/>
          <p:nvPr/>
        </p:nvSpPr>
        <p:spPr>
          <a:xfrm>
            <a:off x="5081321" y="1774850"/>
            <a:ext cx="484632" cy="1700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32" name="Shape 30"/>
          <p:cNvSpPr/>
          <p:nvPr/>
        </p:nvSpPr>
        <p:spPr>
          <a:xfrm>
            <a:off x="4996282" y="1859890"/>
            <a:ext cx="654710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33" name="Text 31"/>
          <p:cNvSpPr/>
          <p:nvPr/>
        </p:nvSpPr>
        <p:spPr>
          <a:xfrm>
            <a:off x="4996282" y="1774850"/>
            <a:ext cx="65471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설계 근거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23206" y="1964131"/>
            <a:ext cx="1401775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법률 제21191호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제2조제12호의2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납품대금 10% 이상인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주요 에너지경비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5313" y="2638958"/>
            <a:ext cx="5474513" cy="1005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36" name="Shape 34"/>
          <p:cNvSpPr/>
          <p:nvPr/>
        </p:nvSpPr>
        <p:spPr>
          <a:xfrm>
            <a:off x="445313" y="2763317"/>
            <a:ext cx="235915" cy="275234"/>
          </a:xfrm>
          <a:prstGeom prst="hexagon">
            <a:avLst/>
          </a:prstGeom>
          <a:solidFill>
            <a:srgbClr val="053576"/>
          </a:solidFill>
          <a:ln/>
        </p:spPr>
      </p:sp>
      <p:sp>
        <p:nvSpPr>
          <p:cNvPr id="37" name="Text 35"/>
          <p:cNvSpPr/>
          <p:nvPr/>
        </p:nvSpPr>
        <p:spPr>
          <a:xfrm>
            <a:off x="445313" y="2763317"/>
            <a:ext cx="235915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4789" y="2711196"/>
            <a:ext cx="101498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6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사용량 계측</a:t>
            </a:r>
            <a:endParaRPr lang="en-US" sz="1560" dirty="0"/>
          </a:p>
        </p:txBody>
      </p:sp>
      <p:sp>
        <p:nvSpPr>
          <p:cNvPr id="39" name="Text 37"/>
          <p:cNvSpPr/>
          <p:nvPr/>
        </p:nvSpPr>
        <p:spPr>
          <a:xfrm>
            <a:off x="1905610" y="2671877"/>
            <a:ext cx="2651760" cy="733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① 독립 계량기로 품목별 계측 가능</a:t>
            </a:r>
            <a:endParaRPr lang="en-US" sz="100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② 가동시간·설비용량으로 간접 추정</a:t>
            </a:r>
            <a:endParaRPr lang="en-US" sz="100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③ 작업장 합산 고지로 품목별 계측 불가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83887" y="2730398"/>
            <a:ext cx="10058" cy="615391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41" name="Shape 39"/>
          <p:cNvSpPr/>
          <p:nvPr/>
        </p:nvSpPr>
        <p:spPr>
          <a:xfrm>
            <a:off x="4996282" y="2723998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0914" y="2723998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3" name="Shape 41"/>
          <p:cNvSpPr/>
          <p:nvPr/>
        </p:nvSpPr>
        <p:spPr>
          <a:xfrm>
            <a:off x="4996282" y="2723998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0914" y="2723998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5" name="Shape 43"/>
          <p:cNvSpPr/>
          <p:nvPr/>
        </p:nvSpPr>
        <p:spPr>
          <a:xfrm>
            <a:off x="5081321" y="2723998"/>
            <a:ext cx="484632" cy="1700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6" name="Shape 44"/>
          <p:cNvSpPr/>
          <p:nvPr/>
        </p:nvSpPr>
        <p:spPr>
          <a:xfrm>
            <a:off x="4996282" y="2809037"/>
            <a:ext cx="654710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7" name="Text 45"/>
          <p:cNvSpPr/>
          <p:nvPr/>
        </p:nvSpPr>
        <p:spPr>
          <a:xfrm>
            <a:off x="4996282" y="2723998"/>
            <a:ext cx="65471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설계 근거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23206" y="2920594"/>
            <a:ext cx="14017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연동 산식 적용의 전제 조건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간접비 성격상 품목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배분이 관건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5313" y="3438144"/>
            <a:ext cx="5474513" cy="1005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50" name="Shape 48"/>
          <p:cNvSpPr/>
          <p:nvPr/>
        </p:nvSpPr>
        <p:spPr>
          <a:xfrm>
            <a:off x="445313" y="3556102"/>
            <a:ext cx="235915" cy="275234"/>
          </a:xfrm>
          <a:prstGeom prst="hexagon">
            <a:avLst/>
          </a:prstGeom>
          <a:solidFill>
            <a:srgbClr val="053576"/>
          </a:solidFill>
          <a:ln/>
        </p:spPr>
      </p:sp>
      <p:sp>
        <p:nvSpPr>
          <p:cNvPr id="51" name="Text 49"/>
          <p:cNvSpPr/>
          <p:nvPr/>
        </p:nvSpPr>
        <p:spPr>
          <a:xfrm>
            <a:off x="445313" y="3556102"/>
            <a:ext cx="235915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24789" y="3510382"/>
            <a:ext cx="1014984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6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기준지표·</a:t>
            </a:r>
            <a:endParaRPr lang="en-US" sz="156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6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조정요건</a:t>
            </a:r>
            <a:endParaRPr lang="en-US" sz="1560" dirty="0"/>
          </a:p>
        </p:txBody>
      </p:sp>
      <p:sp>
        <p:nvSpPr>
          <p:cNvPr id="53" name="Text 51"/>
          <p:cNvSpPr/>
          <p:nvPr/>
        </p:nvSpPr>
        <p:spPr>
          <a:xfrm>
            <a:off x="1905610" y="3471062"/>
            <a:ext cx="26517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연동 대상 에너지원: 산업용 전력·도시가스 등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기준지표: 한국전력공사 전기요금표·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           한국가스공사 도시가스 도매요금 고시 등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조사표 확정 시 최신 고시 확인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조정 임계 변동률·조정주기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83887" y="3529584"/>
            <a:ext cx="10058" cy="897026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55" name="Shape 53"/>
          <p:cNvSpPr/>
          <p:nvPr/>
        </p:nvSpPr>
        <p:spPr>
          <a:xfrm>
            <a:off x="4996282" y="3548786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6" name="Shape 54"/>
          <p:cNvSpPr/>
          <p:nvPr/>
        </p:nvSpPr>
        <p:spPr>
          <a:xfrm>
            <a:off x="5480914" y="3548786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7" name="Shape 55"/>
          <p:cNvSpPr/>
          <p:nvPr/>
        </p:nvSpPr>
        <p:spPr>
          <a:xfrm>
            <a:off x="4996282" y="3548786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8" name="Shape 56"/>
          <p:cNvSpPr/>
          <p:nvPr/>
        </p:nvSpPr>
        <p:spPr>
          <a:xfrm>
            <a:off x="5480914" y="3548786"/>
            <a:ext cx="170078" cy="1700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59" name="Shape 57"/>
          <p:cNvSpPr/>
          <p:nvPr/>
        </p:nvSpPr>
        <p:spPr>
          <a:xfrm>
            <a:off x="5081321" y="3548786"/>
            <a:ext cx="484632" cy="1700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60" name="Shape 58"/>
          <p:cNvSpPr/>
          <p:nvPr/>
        </p:nvSpPr>
        <p:spPr>
          <a:xfrm>
            <a:off x="4996282" y="3634740"/>
            <a:ext cx="654710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61" name="Text 59"/>
          <p:cNvSpPr/>
          <p:nvPr/>
        </p:nvSpPr>
        <p:spPr>
          <a:xfrm>
            <a:off x="4996282" y="3548786"/>
            <a:ext cx="654710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설계 근거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623206" y="3745382"/>
            <a:ext cx="1401775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약정서 필수 기재사항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원재료 문항과 동일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구조로 설계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53582" y="1518818"/>
            <a:ext cx="3490265" cy="2999232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64" name="Shape 62"/>
          <p:cNvSpPr/>
          <p:nvPr/>
        </p:nvSpPr>
        <p:spPr>
          <a:xfrm>
            <a:off x="6456578" y="1394460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5" name="Shape 63"/>
          <p:cNvSpPr/>
          <p:nvPr/>
        </p:nvSpPr>
        <p:spPr>
          <a:xfrm>
            <a:off x="8846820" y="1394460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6" name="Shape 64"/>
          <p:cNvSpPr/>
          <p:nvPr/>
        </p:nvSpPr>
        <p:spPr>
          <a:xfrm>
            <a:off x="6456578" y="1394460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7" name="Shape 65"/>
          <p:cNvSpPr/>
          <p:nvPr/>
        </p:nvSpPr>
        <p:spPr>
          <a:xfrm>
            <a:off x="8846820" y="1394460"/>
            <a:ext cx="281635" cy="281635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68" name="Shape 66"/>
          <p:cNvSpPr/>
          <p:nvPr/>
        </p:nvSpPr>
        <p:spPr>
          <a:xfrm>
            <a:off x="6597396" y="1394460"/>
            <a:ext cx="2390242" cy="28163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69" name="Shape 67"/>
          <p:cNvSpPr/>
          <p:nvPr/>
        </p:nvSpPr>
        <p:spPr>
          <a:xfrm>
            <a:off x="6456578" y="1535278"/>
            <a:ext cx="2671877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70" name="Text 68"/>
          <p:cNvSpPr/>
          <p:nvPr/>
        </p:nvSpPr>
        <p:spPr>
          <a:xfrm>
            <a:off x="6456578" y="1394460"/>
            <a:ext cx="2671877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증빙·부담 관리 2종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6398057" y="1787652"/>
            <a:ext cx="235915" cy="275234"/>
          </a:xfrm>
          <a:prstGeom prst="hexagon">
            <a:avLst/>
          </a:prstGeom>
          <a:solidFill>
            <a:srgbClr val="053576"/>
          </a:solidFill>
          <a:ln/>
        </p:spPr>
      </p:sp>
      <p:sp>
        <p:nvSpPr>
          <p:cNvPr id="72" name="Text 70"/>
          <p:cNvSpPr/>
          <p:nvPr/>
        </p:nvSpPr>
        <p:spPr>
          <a:xfrm>
            <a:off x="6398057" y="1787652"/>
            <a:ext cx="235915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6744614" y="1787652"/>
            <a:ext cx="248808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증빙 애로</a:t>
            </a:r>
            <a:endParaRPr lang="en-US" sz="1560" dirty="0"/>
          </a:p>
        </p:txBody>
      </p:sp>
      <p:sp>
        <p:nvSpPr>
          <p:cNvPr id="74" name="Text 72"/>
          <p:cNvSpPr/>
          <p:nvPr/>
        </p:nvSpPr>
        <p:spPr>
          <a:xfrm>
            <a:off x="6528816" y="2029968"/>
            <a:ext cx="3097073" cy="6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① 공통 사용분의 품목별 배분 곤란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② 위탁기업 요구 수준의 객관적 증빙 불가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③ 신뢰할 단가 추이 표준지표 부재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508699" y="2711196"/>
            <a:ext cx="183794" cy="18379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6" name="Shape 74"/>
          <p:cNvSpPr/>
          <p:nvPr/>
        </p:nvSpPr>
        <p:spPr>
          <a:xfrm>
            <a:off x="7000646" y="2711196"/>
            <a:ext cx="183794" cy="18379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7" name="Shape 75"/>
          <p:cNvSpPr/>
          <p:nvPr/>
        </p:nvSpPr>
        <p:spPr>
          <a:xfrm>
            <a:off x="6508699" y="2711196"/>
            <a:ext cx="183794" cy="18379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8" name="Shape 76"/>
          <p:cNvSpPr/>
          <p:nvPr/>
        </p:nvSpPr>
        <p:spPr>
          <a:xfrm>
            <a:off x="7000646" y="2711196"/>
            <a:ext cx="183794" cy="18379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79" name="Shape 77"/>
          <p:cNvSpPr/>
          <p:nvPr/>
        </p:nvSpPr>
        <p:spPr>
          <a:xfrm>
            <a:off x="6601054" y="2711196"/>
            <a:ext cx="491033" cy="183794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0" name="Shape 78"/>
          <p:cNvSpPr/>
          <p:nvPr/>
        </p:nvSpPr>
        <p:spPr>
          <a:xfrm>
            <a:off x="6508699" y="2802636"/>
            <a:ext cx="674827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1" name="Text 79"/>
          <p:cNvSpPr/>
          <p:nvPr/>
        </p:nvSpPr>
        <p:spPr>
          <a:xfrm>
            <a:off x="6508699" y="2711196"/>
            <a:ext cx="674827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설계 근거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82282" y="2645359"/>
            <a:ext cx="2383841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주조·열처리 등 뿌리기업은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에너지경비 증빙이 곤란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391656" y="2894076"/>
            <a:ext cx="3221431" cy="1005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84" name="Shape 82"/>
          <p:cNvSpPr/>
          <p:nvPr/>
        </p:nvSpPr>
        <p:spPr>
          <a:xfrm>
            <a:off x="6398057" y="3110789"/>
            <a:ext cx="235915" cy="275234"/>
          </a:xfrm>
          <a:prstGeom prst="hexagon">
            <a:avLst/>
          </a:prstGeom>
          <a:solidFill>
            <a:srgbClr val="053576"/>
          </a:solidFill>
          <a:ln/>
        </p:spPr>
      </p:sp>
      <p:sp>
        <p:nvSpPr>
          <p:cNvPr id="85" name="Text 83"/>
          <p:cNvSpPr/>
          <p:nvPr/>
        </p:nvSpPr>
        <p:spPr>
          <a:xfrm>
            <a:off x="6398057" y="3110789"/>
            <a:ext cx="235915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150" dirty="0"/>
          </a:p>
        </p:txBody>
      </p:sp>
      <p:sp>
        <p:nvSpPr>
          <p:cNvPr id="86" name="Text 84"/>
          <p:cNvSpPr/>
          <p:nvPr/>
        </p:nvSpPr>
        <p:spPr>
          <a:xfrm>
            <a:off x="6744614" y="3110789"/>
            <a:ext cx="248808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6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부담·회피</a:t>
            </a:r>
            <a:endParaRPr lang="en-US" sz="1560" dirty="0"/>
          </a:p>
        </p:txBody>
      </p:sp>
      <p:sp>
        <p:nvSpPr>
          <p:cNvPr id="87" name="Text 85"/>
          <p:cNvSpPr/>
          <p:nvPr/>
        </p:nvSpPr>
        <p:spPr>
          <a:xfrm>
            <a:off x="6528816" y="3332988"/>
            <a:ext cx="3097073" cy="78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에너지경비 상승의 경영 영향(5점 척도)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원재료비 대비 부담 크기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에너지경비 연동 요구에 따른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미연동 강요·거래 불이익 경험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508699" y="4171493"/>
            <a:ext cx="183794" cy="18379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9" name="Shape 87"/>
          <p:cNvSpPr/>
          <p:nvPr/>
        </p:nvSpPr>
        <p:spPr>
          <a:xfrm>
            <a:off x="7000646" y="4171493"/>
            <a:ext cx="183794" cy="18379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90" name="Shape 88"/>
          <p:cNvSpPr/>
          <p:nvPr/>
        </p:nvSpPr>
        <p:spPr>
          <a:xfrm>
            <a:off x="6508699" y="4171493"/>
            <a:ext cx="183794" cy="18379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91" name="Shape 89"/>
          <p:cNvSpPr/>
          <p:nvPr/>
        </p:nvSpPr>
        <p:spPr>
          <a:xfrm>
            <a:off x="7000646" y="4171493"/>
            <a:ext cx="183794" cy="183794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92" name="Shape 90"/>
          <p:cNvSpPr/>
          <p:nvPr/>
        </p:nvSpPr>
        <p:spPr>
          <a:xfrm>
            <a:off x="6601054" y="4171493"/>
            <a:ext cx="491033" cy="183794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93" name="Shape 91"/>
          <p:cNvSpPr/>
          <p:nvPr/>
        </p:nvSpPr>
        <p:spPr>
          <a:xfrm>
            <a:off x="6508699" y="4262933"/>
            <a:ext cx="674827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94" name="Text 92"/>
          <p:cNvSpPr/>
          <p:nvPr/>
        </p:nvSpPr>
        <p:spPr>
          <a:xfrm>
            <a:off x="6508699" y="4171493"/>
            <a:ext cx="674827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설계 근거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282282" y="4105656"/>
            <a:ext cx="2383841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주조·열처리 등 뿌리업종은</a:t>
            </a:r>
            <a:endParaRPr lang="en-US" sz="1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에너지경비 비중이 상대적으로 높음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42316" y="4780483"/>
            <a:ext cx="9528048" cy="1466698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7" name="Shape 95"/>
          <p:cNvSpPr/>
          <p:nvPr/>
        </p:nvSpPr>
        <p:spPr>
          <a:xfrm>
            <a:off x="3084271" y="4656125"/>
            <a:ext cx="288036" cy="28803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8" name="Shape 96"/>
          <p:cNvSpPr/>
          <p:nvPr/>
        </p:nvSpPr>
        <p:spPr>
          <a:xfrm>
            <a:off x="6227978" y="4656125"/>
            <a:ext cx="288036" cy="28803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99" name="Shape 97"/>
          <p:cNvSpPr/>
          <p:nvPr/>
        </p:nvSpPr>
        <p:spPr>
          <a:xfrm>
            <a:off x="3084271" y="4656125"/>
            <a:ext cx="288036" cy="28803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0" name="Shape 98"/>
          <p:cNvSpPr/>
          <p:nvPr/>
        </p:nvSpPr>
        <p:spPr>
          <a:xfrm>
            <a:off x="6227978" y="4656125"/>
            <a:ext cx="288036" cy="288036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1" name="Shape 99"/>
          <p:cNvSpPr/>
          <p:nvPr/>
        </p:nvSpPr>
        <p:spPr>
          <a:xfrm>
            <a:off x="3228746" y="4656125"/>
            <a:ext cx="3143707" cy="288036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084271" y="4799686"/>
            <a:ext cx="3431743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03" name="Text 101"/>
          <p:cNvSpPr/>
          <p:nvPr/>
        </p:nvSpPr>
        <p:spPr>
          <a:xfrm>
            <a:off x="3084271" y="4656125"/>
            <a:ext cx="343174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시행 전 준비도 측정 원칙</a:t>
            </a:r>
            <a:endParaRPr lang="en-US" sz="1460" dirty="0"/>
          </a:p>
        </p:txBody>
      </p:sp>
      <p:sp>
        <p:nvSpPr>
          <p:cNvPr id="104" name="Shape 102"/>
          <p:cNvSpPr/>
          <p:nvPr/>
        </p:nvSpPr>
        <p:spPr>
          <a:xfrm>
            <a:off x="418795" y="4970678"/>
            <a:ext cx="222199" cy="24871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05" name="Text 103"/>
          <p:cNvSpPr/>
          <p:nvPr/>
        </p:nvSpPr>
        <p:spPr>
          <a:xfrm>
            <a:off x="418795" y="4970678"/>
            <a:ext cx="222199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90" dirty="0"/>
          </a:p>
        </p:txBody>
      </p:sp>
      <p:sp>
        <p:nvSpPr>
          <p:cNvPr id="106" name="Text 104"/>
          <p:cNvSpPr/>
          <p:nvPr/>
        </p:nvSpPr>
        <p:spPr>
          <a:xfrm>
            <a:off x="720547" y="4944161"/>
            <a:ext cx="26197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준비도 중심 측정</a:t>
            </a:r>
            <a:endParaRPr lang="en-US" sz="1350" dirty="0"/>
          </a:p>
        </p:txBody>
      </p:sp>
      <p:sp>
        <p:nvSpPr>
          <p:cNvPr id="107" name="Text 105"/>
          <p:cNvSpPr/>
          <p:nvPr/>
        </p:nvSpPr>
        <p:spPr>
          <a:xfrm>
            <a:off x="399593" y="5238598"/>
            <a:ext cx="2881274" cy="98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조사기간이 시행일(2026.12.3) 이전이므로 이행 실적이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아니라 준비도를 측정. 처벌·적발을 연상시키는 문항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대신 원가 인프라 진단 중심의 가치중립적 구성으로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방어적 응답을 차단하고, 내년 본조사에서는 본지표로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전환. 준비도 5개 문항군과 이행 실적 지표의</a:t>
            </a:r>
            <a:endParaRPr lang="en-US" sz="1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1:1 매핑표를 최종보고에 첨부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3287268" y="4924044"/>
            <a:ext cx="10058" cy="1217981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450946" y="5002682"/>
            <a:ext cx="222199" cy="24871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10" name="Text 108"/>
          <p:cNvSpPr/>
          <p:nvPr/>
        </p:nvSpPr>
        <p:spPr>
          <a:xfrm>
            <a:off x="3450946" y="5002682"/>
            <a:ext cx="222199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90" dirty="0"/>
          </a:p>
        </p:txBody>
      </p:sp>
      <p:sp>
        <p:nvSpPr>
          <p:cNvPr id="111" name="Text 109"/>
          <p:cNvSpPr/>
          <p:nvPr/>
        </p:nvSpPr>
        <p:spPr>
          <a:xfrm>
            <a:off x="3752698" y="4977079"/>
            <a:ext cx="1538935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병렬 정의·수집</a:t>
            </a:r>
            <a:endParaRPr lang="en-US" sz="1350" dirty="0"/>
          </a:p>
        </p:txBody>
      </p:sp>
      <p:sp>
        <p:nvSpPr>
          <p:cNvPr id="112" name="Text 110"/>
          <p:cNvSpPr/>
          <p:nvPr/>
        </p:nvSpPr>
        <p:spPr>
          <a:xfrm>
            <a:off x="3431743" y="5310835"/>
            <a:ext cx="1800454" cy="917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원재료 기반 조사대상과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에너지경비 포함 조사대상을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병렬로 정의·구분 수집하여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확대 이후에도 시계열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연속성 확보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5298034" y="4924044"/>
            <a:ext cx="10058" cy="1217981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526634" y="5002682"/>
            <a:ext cx="222199" cy="24871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15" name="Text 113"/>
          <p:cNvSpPr/>
          <p:nvPr/>
        </p:nvSpPr>
        <p:spPr>
          <a:xfrm>
            <a:off x="5526634" y="5002682"/>
            <a:ext cx="222199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90" dirty="0"/>
          </a:p>
        </p:txBody>
      </p:sp>
      <p:sp>
        <p:nvSpPr>
          <p:cNvPr id="116" name="Text 114"/>
          <p:cNvSpPr/>
          <p:nvPr/>
        </p:nvSpPr>
        <p:spPr>
          <a:xfrm>
            <a:off x="5828386" y="4977079"/>
            <a:ext cx="16504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업종별 분리 제시</a:t>
            </a:r>
            <a:endParaRPr lang="en-US" sz="1350" dirty="0"/>
          </a:p>
        </p:txBody>
      </p:sp>
      <p:sp>
        <p:nvSpPr>
          <p:cNvPr id="117" name="Text 115"/>
          <p:cNvSpPr/>
          <p:nvPr/>
        </p:nvSpPr>
        <p:spPr>
          <a:xfrm>
            <a:off x="5507431" y="5337353"/>
            <a:ext cx="191201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에너지경비 비중은 업종 중분류별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편차가 크므로, 제조 중분류 단위로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별도 집계해 뿌리업종을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분리 제시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7485278" y="4924044"/>
            <a:ext cx="10058" cy="1217981"/>
          </a:xfrm>
          <a:prstGeom prst="rect">
            <a:avLst/>
          </a:prstGeom>
          <a:solidFill>
            <a:srgbClr val="DCE0E6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753198" y="4983480"/>
            <a:ext cx="222199" cy="24871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20" name="Text 118"/>
          <p:cNvSpPr/>
          <p:nvPr/>
        </p:nvSpPr>
        <p:spPr>
          <a:xfrm>
            <a:off x="7753198" y="4983480"/>
            <a:ext cx="222199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90" dirty="0"/>
          </a:p>
        </p:txBody>
      </p:sp>
      <p:sp>
        <p:nvSpPr>
          <p:cNvPr id="121" name="Text 119"/>
          <p:cNvSpPr/>
          <p:nvPr/>
        </p:nvSpPr>
        <p:spPr>
          <a:xfrm>
            <a:off x="8054950" y="4956962"/>
            <a:ext cx="16504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문항 확정 절차</a:t>
            </a:r>
            <a:endParaRPr lang="en-US" sz="1350" dirty="0"/>
          </a:p>
        </p:txBody>
      </p:sp>
      <p:sp>
        <p:nvSpPr>
          <p:cNvPr id="122" name="Text 120"/>
          <p:cNvSpPr/>
          <p:nvPr/>
        </p:nvSpPr>
        <p:spPr>
          <a:xfrm>
            <a:off x="7733995" y="5330038"/>
            <a:ext cx="1912010" cy="89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문항 확정 전 소관부처 고시·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하위법령 제정 상황을 재확인하여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조사표에 반영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248717" y="6325819"/>
            <a:ext cx="949513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출처: 법률 제21191호(2025.12.2 공포, 에너지경비 연동 2026.12.3 시행)</a:t>
            </a:r>
            <a:endParaRPr lang="en-US" sz="10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" y="26518"/>
            <a:ext cx="7858354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작동 지표 산출 기준</a:t>
            </a:r>
            <a:endParaRPr lang="en-US" sz="2860" dirty="0"/>
          </a:p>
        </p:txBody>
      </p:sp>
      <p:sp>
        <p:nvSpPr>
          <p:cNvPr id="3" name="Shape 1"/>
          <p:cNvSpPr/>
          <p:nvPr/>
        </p:nvSpPr>
        <p:spPr>
          <a:xfrm flipH="1">
            <a:off x="117958" y="576072"/>
            <a:ext cx="78638" cy="202997"/>
          </a:xfrm>
          <a:prstGeom prst="parallelogram">
            <a:avLst/>
          </a:prstGeom>
          <a:solidFill>
            <a:srgbClr val="606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229514" y="576072"/>
            <a:ext cx="78638" cy="202997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5" name="Text 3"/>
          <p:cNvSpPr/>
          <p:nvPr/>
        </p:nvSpPr>
        <p:spPr>
          <a:xfrm>
            <a:off x="405994" y="550469"/>
            <a:ext cx="58933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도입·이행·회피·반영 지표 정의</a:t>
            </a:r>
            <a:endParaRPr lang="en-US" sz="1610" dirty="0"/>
          </a:p>
        </p:txBody>
      </p:sp>
      <p:sp>
        <p:nvSpPr>
          <p:cNvPr id="6" name="Shape 4"/>
          <p:cNvSpPr/>
          <p:nvPr/>
        </p:nvSpPr>
        <p:spPr>
          <a:xfrm>
            <a:off x="956462" y="870509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84894" y="870509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6462" y="1093622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84894" y="1093622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5101" y="870509"/>
            <a:ext cx="8028432" cy="3794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6462" y="949147"/>
            <a:ext cx="8185709" cy="22219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5101" y="877824"/>
            <a:ext cx="8028432" cy="3666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62863" y="949147"/>
            <a:ext cx="8172907" cy="2221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" y="897026"/>
            <a:ext cx="393192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2265" dirty="0"/>
          </a:p>
        </p:txBody>
      </p:sp>
      <p:sp>
        <p:nvSpPr>
          <p:cNvPr id="15" name="Text 13"/>
          <p:cNvSpPr/>
          <p:nvPr/>
        </p:nvSpPr>
        <p:spPr>
          <a:xfrm>
            <a:off x="8643823" y="897026"/>
            <a:ext cx="393192" cy="22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65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2265" dirty="0"/>
          </a:p>
        </p:txBody>
      </p:sp>
      <p:sp>
        <p:nvSpPr>
          <p:cNvPr id="16" name="Text 14"/>
          <p:cNvSpPr/>
          <p:nvPr/>
        </p:nvSpPr>
        <p:spPr>
          <a:xfrm>
            <a:off x="1217981" y="870509"/>
            <a:ext cx="7661758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도입률 · 이행률 · 회피율 · 반영률의 </a:t>
            </a:r>
            <a:pPr algn="ctr" indent="0" marL="0">
              <a:lnSpc>
                <a:spcPct val="115000"/>
              </a:lnSpc>
              <a:buNone/>
            </a:pPr>
            <a:r>
              <a:rPr lang="en-US" sz="14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분자와 분모, </a:t>
            </a:r>
            <a:pPr algn="ctr" indent="0" marL="0">
              <a:lnSpc>
                <a:spcPct val="115000"/>
              </a:lnSpc>
              <a:buNone/>
            </a:pPr>
            <a:r>
              <a:rPr lang="en-US" sz="14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기준시점, 제외규칙을 미리 확정해 </a:t>
            </a:r>
            <a:pPr algn="ctr" indent="0" marL="0">
              <a:lnSpc>
                <a:spcPct val="115000"/>
              </a:lnSpc>
              <a:buNone/>
            </a:pPr>
            <a:r>
              <a:rPr lang="en-US" sz="14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산출 기준을 고정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117958" y="1479499"/>
            <a:ext cx="6102706" cy="3156509"/>
          </a:xfrm>
          <a:prstGeom prst="rect">
            <a:avLst/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26134" y="1355141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9" name="Shape 17"/>
          <p:cNvSpPr/>
          <p:nvPr/>
        </p:nvSpPr>
        <p:spPr>
          <a:xfrm>
            <a:off x="4171493" y="1355141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0" name="Shape 18"/>
          <p:cNvSpPr/>
          <p:nvPr/>
        </p:nvSpPr>
        <p:spPr>
          <a:xfrm>
            <a:off x="1526134" y="1355141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1" name="Shape 19"/>
          <p:cNvSpPr/>
          <p:nvPr/>
        </p:nvSpPr>
        <p:spPr>
          <a:xfrm>
            <a:off x="4171493" y="1355141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22" name="Shape 20"/>
          <p:cNvSpPr/>
          <p:nvPr/>
        </p:nvSpPr>
        <p:spPr>
          <a:xfrm>
            <a:off x="1653235" y="1355141"/>
            <a:ext cx="2645359" cy="25511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3" name="Shape 21"/>
          <p:cNvSpPr/>
          <p:nvPr/>
        </p:nvSpPr>
        <p:spPr>
          <a:xfrm>
            <a:off x="1526134" y="1483157"/>
            <a:ext cx="2901391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4" name="Text 22"/>
          <p:cNvSpPr/>
          <p:nvPr/>
        </p:nvSpPr>
        <p:spPr>
          <a:xfrm>
            <a:off x="1526134" y="1355141"/>
            <a:ext cx="2901391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핵심 작동지표 4종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48717" y="2979115"/>
            <a:ext cx="5841187" cy="1005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6" name="Shape 24"/>
          <p:cNvSpPr/>
          <p:nvPr/>
        </p:nvSpPr>
        <p:spPr>
          <a:xfrm>
            <a:off x="3300070" y="1636776"/>
            <a:ext cx="10058" cy="281543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554" y="1696212"/>
            <a:ext cx="17647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8" name="Text 26"/>
          <p:cNvSpPr/>
          <p:nvPr/>
        </p:nvSpPr>
        <p:spPr>
          <a:xfrm>
            <a:off x="314554" y="1696212"/>
            <a:ext cx="17647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" y="1663294"/>
            <a:ext cx="2736799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도입률</a:t>
            </a:r>
            <a:endParaRPr lang="en-US" sz="1610" dirty="0"/>
          </a:p>
        </p:txBody>
      </p:sp>
      <p:sp>
        <p:nvSpPr>
          <p:cNvPr id="30" name="Shape 28"/>
          <p:cNvSpPr/>
          <p:nvPr/>
        </p:nvSpPr>
        <p:spPr>
          <a:xfrm>
            <a:off x="196596" y="19513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29991" y="19513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6596" y="2029968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29991" y="2029968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1518" y="1951330"/>
            <a:ext cx="2933395" cy="20939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6596" y="2017166"/>
            <a:ext cx="3065069" cy="7863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1518" y="1957730"/>
            <a:ext cx="2933395" cy="1965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02997" y="2017166"/>
            <a:ext cx="3051353" cy="7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09398" y="1951330"/>
            <a:ext cx="3038551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연동약정 체결 기업수 ÷ 연동 적용대상 기업수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09398" y="2253082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0" name="Shape 38"/>
          <p:cNvSpPr/>
          <p:nvPr/>
        </p:nvSpPr>
        <p:spPr>
          <a:xfrm>
            <a:off x="621792" y="2253082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1" name="Shape 39"/>
          <p:cNvSpPr/>
          <p:nvPr/>
        </p:nvSpPr>
        <p:spPr>
          <a:xfrm>
            <a:off x="209398" y="2253082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2" name="Shape 40"/>
          <p:cNvSpPr/>
          <p:nvPr/>
        </p:nvSpPr>
        <p:spPr>
          <a:xfrm>
            <a:off x="621792" y="2253082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43" name="Shape 41"/>
          <p:cNvSpPr/>
          <p:nvPr/>
        </p:nvSpPr>
        <p:spPr>
          <a:xfrm>
            <a:off x="291694" y="2253082"/>
            <a:ext cx="412394" cy="1636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4" name="Shape 42"/>
          <p:cNvSpPr/>
          <p:nvPr/>
        </p:nvSpPr>
        <p:spPr>
          <a:xfrm>
            <a:off x="209398" y="2334463"/>
            <a:ext cx="576072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45" name="Text 43"/>
          <p:cNvSpPr/>
          <p:nvPr/>
        </p:nvSpPr>
        <p:spPr>
          <a:xfrm>
            <a:off x="209398" y="2253082"/>
            <a:ext cx="576072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기준·제외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88036" y="2423160"/>
            <a:ext cx="299923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2025.12.31 기준</a:t>
            </a:r>
            <a:endParaRPr lang="en-US" sz="1000" dirty="0"/>
          </a:p>
          <a:p>
            <a:pPr algn="l" marL="342900" indent="-342900">
              <a:lnSpc>
                <a:spcPct val="103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창업 1년 미만·휴업 제외</a:t>
            </a:r>
            <a:endParaRPr lang="en-US" sz="10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체결여부 ‘모름’은 분자·분모 제외 후 제외율 공표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65906" y="1702613"/>
            <a:ext cx="17647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48" name="Text 46"/>
          <p:cNvSpPr/>
          <p:nvPr/>
        </p:nvSpPr>
        <p:spPr>
          <a:xfrm>
            <a:off x="3365906" y="1702613"/>
            <a:ext cx="17647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41141" y="1669694"/>
            <a:ext cx="248808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이행률</a:t>
            </a:r>
            <a:endParaRPr lang="en-US" sz="1610" dirty="0"/>
          </a:p>
        </p:txBody>
      </p:sp>
      <p:sp>
        <p:nvSpPr>
          <p:cNvPr id="50" name="Shape 48"/>
          <p:cNvSpPr/>
          <p:nvPr/>
        </p:nvSpPr>
        <p:spPr>
          <a:xfrm>
            <a:off x="3353105" y="19513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7783" y="195133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53105" y="2029968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7783" y="2029968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18027" y="1951330"/>
            <a:ext cx="2684678" cy="20939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53105" y="2017166"/>
            <a:ext cx="2815438" cy="7863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18027" y="1957730"/>
            <a:ext cx="2684678" cy="1965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3359506" y="2017166"/>
            <a:ext cx="2802636" cy="7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3365906" y="1951330"/>
            <a:ext cx="278983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실제 대금조정·지급 기업수 ÷ 연동약정 체결 기업수</a:t>
            </a:r>
            <a:endParaRPr lang="en-US" sz="1010" dirty="0"/>
          </a:p>
        </p:txBody>
      </p:sp>
      <p:sp>
        <p:nvSpPr>
          <p:cNvPr id="59" name="Shape 57"/>
          <p:cNvSpPr/>
          <p:nvPr/>
        </p:nvSpPr>
        <p:spPr>
          <a:xfrm>
            <a:off x="3365906" y="2253082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0" name="Shape 58"/>
          <p:cNvSpPr/>
          <p:nvPr/>
        </p:nvSpPr>
        <p:spPr>
          <a:xfrm>
            <a:off x="3778301" y="2253082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1" name="Shape 59"/>
          <p:cNvSpPr/>
          <p:nvPr/>
        </p:nvSpPr>
        <p:spPr>
          <a:xfrm>
            <a:off x="3365906" y="2253082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2" name="Shape 60"/>
          <p:cNvSpPr/>
          <p:nvPr/>
        </p:nvSpPr>
        <p:spPr>
          <a:xfrm>
            <a:off x="3778301" y="2253082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63" name="Shape 61"/>
          <p:cNvSpPr/>
          <p:nvPr/>
        </p:nvSpPr>
        <p:spPr>
          <a:xfrm>
            <a:off x="3448202" y="2253082"/>
            <a:ext cx="412394" cy="1636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64" name="Shape 62"/>
          <p:cNvSpPr/>
          <p:nvPr/>
        </p:nvSpPr>
        <p:spPr>
          <a:xfrm>
            <a:off x="3365906" y="2334463"/>
            <a:ext cx="576072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65" name="Text 63"/>
          <p:cNvSpPr/>
          <p:nvPr/>
        </p:nvSpPr>
        <p:spPr>
          <a:xfrm>
            <a:off x="3365906" y="2253082"/>
            <a:ext cx="576072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기준·제외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418027" y="2423160"/>
            <a:ext cx="275051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2025년 중 조정요건 1회 이상 발생 기업 한정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14554" y="3057754"/>
            <a:ext cx="17647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68" name="Text 66"/>
          <p:cNvSpPr/>
          <p:nvPr/>
        </p:nvSpPr>
        <p:spPr>
          <a:xfrm>
            <a:off x="314554" y="3057754"/>
            <a:ext cx="17647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89788" y="3025750"/>
            <a:ext cx="2736799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회피율</a:t>
            </a:r>
            <a:endParaRPr lang="en-US" sz="1610" dirty="0"/>
          </a:p>
        </p:txBody>
      </p:sp>
      <p:sp>
        <p:nvSpPr>
          <p:cNvPr id="70" name="Shape 68"/>
          <p:cNvSpPr/>
          <p:nvPr/>
        </p:nvSpPr>
        <p:spPr>
          <a:xfrm>
            <a:off x="196596" y="330738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29991" y="330738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6596" y="3385109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129991" y="3385109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1518" y="3307385"/>
            <a:ext cx="2933395" cy="20939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96596" y="3372307"/>
            <a:ext cx="3065069" cy="7863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1518" y="3313786"/>
            <a:ext cx="2933395" cy="1965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202997" y="3372307"/>
            <a:ext cx="3051353" cy="7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209398" y="3307385"/>
            <a:ext cx="3038551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예외요건 미충족 미체결·탈법행위 경험 ÷ 연동 적용대상</a:t>
            </a:r>
            <a:endParaRPr lang="en-US" sz="1010" dirty="0"/>
          </a:p>
        </p:txBody>
      </p:sp>
      <p:sp>
        <p:nvSpPr>
          <p:cNvPr id="79" name="Shape 77"/>
          <p:cNvSpPr/>
          <p:nvPr/>
        </p:nvSpPr>
        <p:spPr>
          <a:xfrm>
            <a:off x="209398" y="3575304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0" name="Shape 78"/>
          <p:cNvSpPr/>
          <p:nvPr/>
        </p:nvSpPr>
        <p:spPr>
          <a:xfrm>
            <a:off x="621792" y="3575304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1" name="Shape 79"/>
          <p:cNvSpPr/>
          <p:nvPr/>
        </p:nvSpPr>
        <p:spPr>
          <a:xfrm>
            <a:off x="209398" y="3575304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2" name="Shape 80"/>
          <p:cNvSpPr/>
          <p:nvPr/>
        </p:nvSpPr>
        <p:spPr>
          <a:xfrm>
            <a:off x="621792" y="3575304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83" name="Shape 81"/>
          <p:cNvSpPr/>
          <p:nvPr/>
        </p:nvSpPr>
        <p:spPr>
          <a:xfrm>
            <a:off x="291694" y="3575304"/>
            <a:ext cx="412394" cy="1636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4" name="Shape 82"/>
          <p:cNvSpPr/>
          <p:nvPr/>
        </p:nvSpPr>
        <p:spPr>
          <a:xfrm>
            <a:off x="209398" y="3657600"/>
            <a:ext cx="576072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85" name="Text 83"/>
          <p:cNvSpPr/>
          <p:nvPr/>
        </p:nvSpPr>
        <p:spPr>
          <a:xfrm>
            <a:off x="209398" y="3575304"/>
            <a:ext cx="576072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기준·제외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88036" y="3732581"/>
            <a:ext cx="2999232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쪼개기 포함</a:t>
            </a:r>
            <a:endParaRPr lang="en-US" sz="1000" dirty="0"/>
          </a:p>
          <a:p>
            <a:pPr algn="l" marL="342900" indent="-3429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미연동 유도·회유는 2026.6.3 시행이므로 조사시점 경험 기준 별도 집계</a:t>
            </a:r>
            <a:endParaRPr lang="en-US" sz="1000" dirty="0"/>
          </a:p>
          <a:p>
            <a:pPr algn="l" marL="342900" indent="-3429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정당한 예외 제외</a:t>
            </a:r>
            <a:endParaRPr lang="en-US" sz="1000" dirty="0"/>
          </a:p>
          <a:p>
            <a:pPr algn="l" marL="342900" indent="-342900">
              <a:lnSpc>
                <a:spcPct val="95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두 사유에 모두 해당하는 기업은 1개사로 계산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365906" y="3057754"/>
            <a:ext cx="17647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88" name="Text 86"/>
          <p:cNvSpPr/>
          <p:nvPr/>
        </p:nvSpPr>
        <p:spPr>
          <a:xfrm>
            <a:off x="3365906" y="3057754"/>
            <a:ext cx="17647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3641141" y="3025750"/>
            <a:ext cx="248808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반영률</a:t>
            </a:r>
            <a:endParaRPr lang="en-US" sz="1610" dirty="0"/>
          </a:p>
        </p:txBody>
      </p:sp>
      <p:sp>
        <p:nvSpPr>
          <p:cNvPr id="90" name="Shape 88"/>
          <p:cNvSpPr/>
          <p:nvPr/>
        </p:nvSpPr>
        <p:spPr>
          <a:xfrm>
            <a:off x="3353105" y="330738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037783" y="330738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53105" y="3385109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037783" y="3385109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18027" y="3307385"/>
            <a:ext cx="2684678" cy="20939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53105" y="3372307"/>
            <a:ext cx="2815438" cy="7863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18027" y="3313786"/>
            <a:ext cx="2684678" cy="1965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3359506" y="3372307"/>
            <a:ext cx="2802636" cy="7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3365906" y="3307385"/>
            <a:ext cx="278983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대금조정액 ÷ 주요 원재료 가격변동액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365906" y="3575304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00" name="Shape 98"/>
          <p:cNvSpPr/>
          <p:nvPr/>
        </p:nvSpPr>
        <p:spPr>
          <a:xfrm>
            <a:off x="3778301" y="3575304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01" name="Shape 99"/>
          <p:cNvSpPr/>
          <p:nvPr/>
        </p:nvSpPr>
        <p:spPr>
          <a:xfrm>
            <a:off x="3365906" y="3575304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778301" y="3575304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448202" y="3575304"/>
            <a:ext cx="412394" cy="1636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365906" y="3657600"/>
            <a:ext cx="576072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05" name="Text 103"/>
          <p:cNvSpPr/>
          <p:nvPr/>
        </p:nvSpPr>
        <p:spPr>
          <a:xfrm>
            <a:off x="3365906" y="3575304"/>
            <a:ext cx="576072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기준·제외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3418027" y="3732581"/>
            <a:ext cx="2750515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6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100% 초과 시 재확인</a:t>
            </a:r>
            <a:endParaRPr lang="en-US" sz="1000" dirty="0"/>
          </a:p>
          <a:p>
            <a:pPr algn="l" marL="342900" indent="-342900">
              <a:lnSpc>
                <a:spcPct val="106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품목별 가중평균</a:t>
            </a:r>
            <a:endParaRPr lang="en-US" sz="1000" dirty="0"/>
          </a:p>
          <a:p>
            <a:pPr algn="l" marL="342900" indent="-342900">
              <a:lnSpc>
                <a:spcPct val="106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가격 하락으로 조정액이 음수인 건은 하락 연동으로 분리 집계하고 반영률 산출에서 제외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6259982" y="1479499"/>
            <a:ext cx="3680460" cy="3156509"/>
          </a:xfrm>
          <a:prstGeom prst="rect">
            <a:avLst/>
          </a:prstGeom>
          <a:solidFill>
            <a:srgbClr val="FCFDFE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555334" y="1355141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265615" y="1355141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555334" y="1355141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265615" y="1355141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682435" y="1355141"/>
            <a:ext cx="2711196" cy="25511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555334" y="1483157"/>
            <a:ext cx="2966314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14" name="Text 112"/>
          <p:cNvSpPr/>
          <p:nvPr/>
        </p:nvSpPr>
        <p:spPr>
          <a:xfrm>
            <a:off x="6555334" y="1355141"/>
            <a:ext cx="2966314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보완지표 3종</a:t>
            </a:r>
            <a:endParaRPr lang="en-US" sz="1350" dirty="0"/>
          </a:p>
        </p:txBody>
      </p:sp>
      <p:sp>
        <p:nvSpPr>
          <p:cNvPr id="115" name="Shape 113"/>
          <p:cNvSpPr/>
          <p:nvPr/>
        </p:nvSpPr>
        <p:spPr>
          <a:xfrm>
            <a:off x="6423660" y="1696212"/>
            <a:ext cx="17647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16" name="Text 114"/>
          <p:cNvSpPr/>
          <p:nvPr/>
        </p:nvSpPr>
        <p:spPr>
          <a:xfrm>
            <a:off x="6423660" y="1696212"/>
            <a:ext cx="17647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6698894" y="1663294"/>
            <a:ext cx="3012034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체감효과</a:t>
            </a:r>
            <a:endParaRPr lang="en-US" sz="1610" dirty="0"/>
          </a:p>
        </p:txBody>
      </p:sp>
      <p:sp>
        <p:nvSpPr>
          <p:cNvPr id="118" name="Shape 116"/>
          <p:cNvSpPr/>
          <p:nvPr/>
        </p:nvSpPr>
        <p:spPr>
          <a:xfrm>
            <a:off x="6423660" y="1932127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534449" y="1932127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423660" y="2010766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534449" y="2010766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489497" y="1932127"/>
            <a:ext cx="3110789" cy="20939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423660" y="1997050"/>
            <a:ext cx="3241548" cy="7863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489497" y="1938528"/>
            <a:ext cx="3110789" cy="1965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430975" y="1997050"/>
            <a:ext cx="3228746" cy="7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37376" y="1932127"/>
            <a:ext cx="321503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 전후 경영상태 변화 5점 척도 평균</a:t>
            </a:r>
            <a:endParaRPr lang="en-US" sz="1150" dirty="0"/>
          </a:p>
        </p:txBody>
      </p:sp>
      <p:sp>
        <p:nvSpPr>
          <p:cNvPr id="127" name="Shape 125"/>
          <p:cNvSpPr/>
          <p:nvPr/>
        </p:nvSpPr>
        <p:spPr>
          <a:xfrm>
            <a:off x="6410858" y="2220163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823253" y="2220163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410858" y="2220163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823253" y="2220163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493154" y="2220163"/>
            <a:ext cx="412394" cy="1636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410858" y="2301545"/>
            <a:ext cx="576072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33" name="Text 131"/>
          <p:cNvSpPr/>
          <p:nvPr/>
        </p:nvSpPr>
        <p:spPr>
          <a:xfrm>
            <a:off x="6410858" y="2220163"/>
            <a:ext cx="576072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기준·제외</a:t>
            </a:r>
            <a:endParaRPr lang="en-US" sz="1000" dirty="0"/>
          </a:p>
        </p:txBody>
      </p:sp>
      <p:sp>
        <p:nvSpPr>
          <p:cNvPr id="134" name="Text 132"/>
          <p:cNvSpPr/>
          <p:nvPr/>
        </p:nvSpPr>
        <p:spPr>
          <a:xfrm>
            <a:off x="7059168" y="2213762"/>
            <a:ext cx="2606040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2025.12.31 기준 도입기업 한정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무응답 제외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6377940" y="2593238"/>
            <a:ext cx="3471062" cy="1005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423660" y="2665476"/>
            <a:ext cx="17647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37" name="Text 135"/>
          <p:cNvSpPr/>
          <p:nvPr/>
        </p:nvSpPr>
        <p:spPr>
          <a:xfrm>
            <a:off x="6423660" y="2665476"/>
            <a:ext cx="17647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6698894" y="2632558"/>
            <a:ext cx="3012034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제도 인지율</a:t>
            </a:r>
            <a:endParaRPr lang="en-US" sz="1610" dirty="0"/>
          </a:p>
        </p:txBody>
      </p:sp>
      <p:sp>
        <p:nvSpPr>
          <p:cNvPr id="139" name="Shape 137"/>
          <p:cNvSpPr/>
          <p:nvPr/>
        </p:nvSpPr>
        <p:spPr>
          <a:xfrm>
            <a:off x="6423660" y="2901391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534449" y="2901391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23660" y="297911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534449" y="2979115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489497" y="2901391"/>
            <a:ext cx="3110789" cy="20939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423660" y="2966314"/>
            <a:ext cx="3241548" cy="7863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489497" y="2907792"/>
            <a:ext cx="3110789" cy="1965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Shape 144"/>
          <p:cNvSpPr/>
          <p:nvPr/>
        </p:nvSpPr>
        <p:spPr>
          <a:xfrm>
            <a:off x="6430975" y="2966314"/>
            <a:ext cx="3228746" cy="7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37376" y="2901391"/>
            <a:ext cx="321503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인지 기업수 ÷ 전체 응답기업수</a:t>
            </a:r>
            <a:endParaRPr lang="en-US" sz="1150" dirty="0"/>
          </a:p>
        </p:txBody>
      </p:sp>
      <p:sp>
        <p:nvSpPr>
          <p:cNvPr id="148" name="Shape 146"/>
          <p:cNvSpPr/>
          <p:nvPr/>
        </p:nvSpPr>
        <p:spPr>
          <a:xfrm>
            <a:off x="6410858" y="3195828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823253" y="3195828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50" name="Shape 148"/>
          <p:cNvSpPr/>
          <p:nvPr/>
        </p:nvSpPr>
        <p:spPr>
          <a:xfrm>
            <a:off x="6410858" y="3195828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51" name="Shape 149"/>
          <p:cNvSpPr/>
          <p:nvPr/>
        </p:nvSpPr>
        <p:spPr>
          <a:xfrm>
            <a:off x="6823253" y="3195828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6493154" y="3195828"/>
            <a:ext cx="412394" cy="1636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53" name="Shape 151"/>
          <p:cNvSpPr/>
          <p:nvPr/>
        </p:nvSpPr>
        <p:spPr>
          <a:xfrm>
            <a:off x="6410858" y="3277210"/>
            <a:ext cx="576072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54" name="Text 152"/>
          <p:cNvSpPr/>
          <p:nvPr/>
        </p:nvSpPr>
        <p:spPr>
          <a:xfrm>
            <a:off x="6410858" y="3195828"/>
            <a:ext cx="576072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기준·제외</a:t>
            </a:r>
            <a:endParaRPr lang="en-US" sz="1000" dirty="0"/>
          </a:p>
        </p:txBody>
      </p:sp>
      <p:sp>
        <p:nvSpPr>
          <p:cNvPr id="155" name="Text 153"/>
          <p:cNvSpPr/>
          <p:nvPr/>
        </p:nvSpPr>
        <p:spPr>
          <a:xfrm>
            <a:off x="7059168" y="3189427"/>
            <a:ext cx="2606040" cy="3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조사시점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선행조사 63.3%와 분모 대응 병기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6377940" y="3556102"/>
            <a:ext cx="3471062" cy="10058"/>
          </a:xfrm>
          <a:prstGeom prst="rect">
            <a:avLst/>
          </a:prstGeom>
          <a:solidFill>
            <a:srgbClr val="E4E7EC"/>
          </a:solidFill>
          <a:ln/>
        </p:spPr>
      </p:sp>
      <p:sp>
        <p:nvSpPr>
          <p:cNvPr id="157" name="Shape 155"/>
          <p:cNvSpPr/>
          <p:nvPr/>
        </p:nvSpPr>
        <p:spPr>
          <a:xfrm>
            <a:off x="6423660" y="3627425"/>
            <a:ext cx="176479" cy="202997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58" name="Text 156"/>
          <p:cNvSpPr/>
          <p:nvPr/>
        </p:nvSpPr>
        <p:spPr>
          <a:xfrm>
            <a:off x="6423660" y="3627425"/>
            <a:ext cx="176479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1000" dirty="0"/>
          </a:p>
        </p:txBody>
      </p:sp>
      <p:sp>
        <p:nvSpPr>
          <p:cNvPr id="159" name="Text 157"/>
          <p:cNvSpPr/>
          <p:nvPr/>
        </p:nvSpPr>
        <p:spPr>
          <a:xfrm>
            <a:off x="6698894" y="3595421"/>
            <a:ext cx="3012034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에너지 연동 적용대상률</a:t>
            </a:r>
            <a:endParaRPr lang="en-US" sz="1610" dirty="0"/>
          </a:p>
        </p:txBody>
      </p:sp>
      <p:sp>
        <p:nvSpPr>
          <p:cNvPr id="160" name="Shape 158"/>
          <p:cNvSpPr/>
          <p:nvPr/>
        </p:nvSpPr>
        <p:spPr>
          <a:xfrm>
            <a:off x="6423660" y="386334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534449" y="3863340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23660" y="3941978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34449" y="3941978"/>
            <a:ext cx="130759" cy="13075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89497" y="3863340"/>
            <a:ext cx="3110789" cy="20939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23660" y="3929177"/>
            <a:ext cx="3241548" cy="78638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1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89497" y="3869741"/>
            <a:ext cx="3110789" cy="1965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7" name="Shape 165"/>
          <p:cNvSpPr/>
          <p:nvPr/>
        </p:nvSpPr>
        <p:spPr>
          <a:xfrm>
            <a:off x="6430975" y="3929177"/>
            <a:ext cx="3228746" cy="7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37376" y="3863340"/>
            <a:ext cx="321503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에너지경비 10%↑ &amp; 1억원·90일 충족 ÷ 연동 적용대상</a:t>
            </a:r>
            <a:endParaRPr lang="en-US" sz="1030" dirty="0"/>
          </a:p>
        </p:txBody>
      </p:sp>
      <p:sp>
        <p:nvSpPr>
          <p:cNvPr id="169" name="Shape 167"/>
          <p:cNvSpPr/>
          <p:nvPr/>
        </p:nvSpPr>
        <p:spPr>
          <a:xfrm>
            <a:off x="6410858" y="4151376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70" name="Shape 168"/>
          <p:cNvSpPr/>
          <p:nvPr/>
        </p:nvSpPr>
        <p:spPr>
          <a:xfrm>
            <a:off x="6823253" y="4151376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71" name="Shape 169"/>
          <p:cNvSpPr/>
          <p:nvPr/>
        </p:nvSpPr>
        <p:spPr>
          <a:xfrm>
            <a:off x="6410858" y="4151376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6823253" y="4151376"/>
            <a:ext cx="163678" cy="163678"/>
          </a:xfrm>
          <a:prstGeom prst="ellipse">
            <a:avLst/>
          </a:prstGeom>
          <a:solidFill>
            <a:srgbClr val="B08D4C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493154" y="4151376"/>
            <a:ext cx="412394" cy="163678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410858" y="4233672"/>
            <a:ext cx="576072" cy="0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75" name="Text 173"/>
          <p:cNvSpPr/>
          <p:nvPr/>
        </p:nvSpPr>
        <p:spPr>
          <a:xfrm>
            <a:off x="6410858" y="4151376"/>
            <a:ext cx="576072" cy="16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기준·제외</a:t>
            </a:r>
            <a:endParaRPr lang="en-US" sz="1000" dirty="0"/>
          </a:p>
        </p:txBody>
      </p:sp>
      <p:sp>
        <p:nvSpPr>
          <p:cNvPr id="176" name="Text 174"/>
          <p:cNvSpPr/>
          <p:nvPr/>
        </p:nvSpPr>
        <p:spPr>
          <a:xfrm>
            <a:off x="7059168" y="4144975"/>
            <a:ext cx="2606040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조사시점 준비도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뿌리업종 분리 산출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117958" y="4871923"/>
            <a:ext cx="9828886" cy="1526134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78" name="Shape 176"/>
          <p:cNvSpPr/>
          <p:nvPr/>
        </p:nvSpPr>
        <p:spPr>
          <a:xfrm>
            <a:off x="3104388" y="4741164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79" name="Shape 177"/>
          <p:cNvSpPr/>
          <p:nvPr/>
        </p:nvSpPr>
        <p:spPr>
          <a:xfrm>
            <a:off x="6292901" y="4741164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0" name="Shape 178"/>
          <p:cNvSpPr/>
          <p:nvPr/>
        </p:nvSpPr>
        <p:spPr>
          <a:xfrm>
            <a:off x="3104388" y="4741164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1" name="Shape 179"/>
          <p:cNvSpPr/>
          <p:nvPr/>
        </p:nvSpPr>
        <p:spPr>
          <a:xfrm>
            <a:off x="6292901" y="4741164"/>
            <a:ext cx="255118" cy="255118"/>
          </a:xfrm>
          <a:prstGeom prst="ellipse">
            <a:avLst/>
          </a:prstGeom>
          <a:solidFill>
            <a:srgbClr val="053576"/>
          </a:solidFill>
          <a:ln/>
        </p:spPr>
      </p:sp>
      <p:sp>
        <p:nvSpPr>
          <p:cNvPr id="182" name="Shape 180"/>
          <p:cNvSpPr/>
          <p:nvPr/>
        </p:nvSpPr>
        <p:spPr>
          <a:xfrm>
            <a:off x="3231490" y="4741164"/>
            <a:ext cx="3189427" cy="255118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83" name="Shape 181"/>
          <p:cNvSpPr/>
          <p:nvPr/>
        </p:nvSpPr>
        <p:spPr>
          <a:xfrm>
            <a:off x="3104388" y="4869180"/>
            <a:ext cx="3444545" cy="0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84" name="Text 182"/>
          <p:cNvSpPr/>
          <p:nvPr/>
        </p:nvSpPr>
        <p:spPr>
          <a:xfrm>
            <a:off x="3104388" y="4741164"/>
            <a:ext cx="3444545" cy="2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공표 · 산출 원칙</a:t>
            </a:r>
            <a:endParaRPr lang="en-US" sz="1460" dirty="0"/>
          </a:p>
        </p:txBody>
      </p:sp>
      <p:sp>
        <p:nvSpPr>
          <p:cNvPr id="185" name="Shape 183"/>
          <p:cNvSpPr/>
          <p:nvPr/>
        </p:nvSpPr>
        <p:spPr>
          <a:xfrm>
            <a:off x="255118" y="5081321"/>
            <a:ext cx="32918" cy="1152144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86" name="Shape 184"/>
          <p:cNvSpPr/>
          <p:nvPr/>
        </p:nvSpPr>
        <p:spPr>
          <a:xfrm>
            <a:off x="412394" y="5120640"/>
            <a:ext cx="170078" cy="19019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87" name="Text 185"/>
          <p:cNvSpPr/>
          <p:nvPr/>
        </p:nvSpPr>
        <p:spPr>
          <a:xfrm>
            <a:off x="412394" y="5120640"/>
            <a:ext cx="17007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86"/>
          <p:cNvSpPr/>
          <p:nvPr/>
        </p:nvSpPr>
        <p:spPr>
          <a:xfrm>
            <a:off x="661111" y="5101438"/>
            <a:ext cx="1964131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선행지표 대응</a:t>
            </a:r>
            <a:endParaRPr lang="en-US" sz="1250" dirty="0"/>
          </a:p>
        </p:txBody>
      </p:sp>
      <p:sp>
        <p:nvSpPr>
          <p:cNvPr id="189" name="Text 187"/>
          <p:cNvSpPr/>
          <p:nvPr/>
        </p:nvSpPr>
        <p:spPr>
          <a:xfrm>
            <a:off x="412394" y="5383073"/>
            <a:ext cx="22265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선행조사의 ‘체결률’과 ‘의무 준수율’은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같은 응답기업을 분모로 하되 분자가 달라,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보고서에 각 지표의 산출 기준을 함께 적음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2659075" y="5081321"/>
            <a:ext cx="32918" cy="1152144"/>
          </a:xfrm>
          <a:prstGeom prst="rect">
            <a:avLst/>
          </a:prstGeom>
          <a:solidFill>
            <a:srgbClr val="B08D4C"/>
          </a:solidFill>
          <a:ln/>
        </p:spPr>
      </p:sp>
      <p:sp>
        <p:nvSpPr>
          <p:cNvPr id="191" name="Shape 189"/>
          <p:cNvSpPr/>
          <p:nvPr/>
        </p:nvSpPr>
        <p:spPr>
          <a:xfrm>
            <a:off x="2815438" y="5120640"/>
            <a:ext cx="170078" cy="19019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92" name="Text 190"/>
          <p:cNvSpPr/>
          <p:nvPr/>
        </p:nvSpPr>
        <p:spPr>
          <a:xfrm>
            <a:off x="2815438" y="5120640"/>
            <a:ext cx="17007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193" name="Text 191"/>
          <p:cNvSpPr/>
          <p:nvPr/>
        </p:nvSpPr>
        <p:spPr>
          <a:xfrm>
            <a:off x="3065069" y="5101438"/>
            <a:ext cx="1964131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공표 단위</a:t>
            </a:r>
            <a:endParaRPr lang="en-US" sz="1250" dirty="0"/>
          </a:p>
        </p:txBody>
      </p:sp>
      <p:sp>
        <p:nvSpPr>
          <p:cNvPr id="194" name="Text 192"/>
          <p:cNvSpPr/>
          <p:nvPr/>
        </p:nvSpPr>
        <p:spPr>
          <a:xfrm>
            <a:off x="2815438" y="5383073"/>
            <a:ext cx="22265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이행률은 분모가 체결기업으로 좁아지므로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총 단위로는 공표하지 않고, 조사업종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5구분 × 규모 2의 10개 공표 단위까지만 공표</a:t>
            </a:r>
            <a:endParaRPr lang="en-US" sz="1000" dirty="0"/>
          </a:p>
        </p:txBody>
      </p:sp>
      <p:sp>
        <p:nvSpPr>
          <p:cNvPr id="195" name="Shape 193"/>
          <p:cNvSpPr/>
          <p:nvPr/>
        </p:nvSpPr>
        <p:spPr>
          <a:xfrm>
            <a:off x="5087722" y="5081321"/>
            <a:ext cx="32918" cy="1152144"/>
          </a:xfrm>
          <a:prstGeom prst="rect">
            <a:avLst/>
          </a:prstGeom>
          <a:solidFill>
            <a:srgbClr val="5BA3D0"/>
          </a:solidFill>
          <a:ln/>
        </p:spPr>
      </p:sp>
      <p:sp>
        <p:nvSpPr>
          <p:cNvPr id="196" name="Shape 194"/>
          <p:cNvSpPr/>
          <p:nvPr/>
        </p:nvSpPr>
        <p:spPr>
          <a:xfrm>
            <a:off x="5244998" y="5120640"/>
            <a:ext cx="170078" cy="19019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197" name="Text 195"/>
          <p:cNvSpPr/>
          <p:nvPr/>
        </p:nvSpPr>
        <p:spPr>
          <a:xfrm>
            <a:off x="5244998" y="5120640"/>
            <a:ext cx="17007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198" name="Text 196"/>
          <p:cNvSpPr/>
          <p:nvPr/>
        </p:nvSpPr>
        <p:spPr>
          <a:xfrm>
            <a:off x="5493715" y="5101438"/>
            <a:ext cx="1964131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기준시점·최소표본</a:t>
            </a:r>
            <a:endParaRPr lang="en-US" sz="1250" dirty="0"/>
          </a:p>
        </p:txBody>
      </p:sp>
      <p:sp>
        <p:nvSpPr>
          <p:cNvPr id="199" name="Text 197"/>
          <p:cNvSpPr/>
          <p:nvPr/>
        </p:nvSpPr>
        <p:spPr>
          <a:xfrm>
            <a:off x="5244998" y="5383073"/>
            <a:ext cx="22265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기준시점은 2025.12.31 실태와 조사시점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준비도 2종으로 구분 표기하며, 최소 공표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표본은 분모 30개사. 미달 셀은 병합표로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인접 층 통합</a:t>
            </a:r>
            <a:endParaRPr lang="en-US" sz="1000" dirty="0"/>
          </a:p>
        </p:txBody>
      </p:sp>
      <p:sp>
        <p:nvSpPr>
          <p:cNvPr id="200" name="Shape 198"/>
          <p:cNvSpPr/>
          <p:nvPr/>
        </p:nvSpPr>
        <p:spPr>
          <a:xfrm>
            <a:off x="7452360" y="5081321"/>
            <a:ext cx="32918" cy="1152144"/>
          </a:xfrm>
          <a:prstGeom prst="rect">
            <a:avLst/>
          </a:prstGeom>
          <a:solidFill>
            <a:srgbClr val="052A77"/>
          </a:solidFill>
          <a:ln/>
        </p:spPr>
      </p:sp>
      <p:sp>
        <p:nvSpPr>
          <p:cNvPr id="201" name="Shape 199"/>
          <p:cNvSpPr/>
          <p:nvPr/>
        </p:nvSpPr>
        <p:spPr>
          <a:xfrm>
            <a:off x="7609637" y="5120640"/>
            <a:ext cx="170078" cy="190195"/>
          </a:xfrm>
          <a:prstGeom prst="rect">
            <a:avLst/>
          </a:prstGeom>
          <a:solidFill>
            <a:srgbClr val="053576"/>
          </a:solidFill>
          <a:ln/>
        </p:spPr>
      </p:sp>
      <p:sp>
        <p:nvSpPr>
          <p:cNvPr id="202" name="Text 200"/>
          <p:cNvSpPr/>
          <p:nvPr/>
        </p:nvSpPr>
        <p:spPr>
          <a:xfrm>
            <a:off x="7609637" y="5120640"/>
            <a:ext cx="17007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000" dirty="0"/>
          </a:p>
        </p:txBody>
      </p:sp>
      <p:sp>
        <p:nvSpPr>
          <p:cNvPr id="203" name="Text 201"/>
          <p:cNvSpPr/>
          <p:nvPr/>
        </p:nvSpPr>
        <p:spPr>
          <a:xfrm>
            <a:off x="7858354" y="5101438"/>
            <a:ext cx="1964131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52A77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분모·확정 원칙</a:t>
            </a:r>
            <a:endParaRPr lang="en-US" sz="1250" dirty="0"/>
          </a:p>
        </p:txBody>
      </p:sp>
      <p:sp>
        <p:nvSpPr>
          <p:cNvPr id="204" name="Text 202"/>
          <p:cNvSpPr/>
          <p:nvPr/>
        </p:nvSpPr>
        <p:spPr>
          <a:xfrm>
            <a:off x="7609637" y="5383073"/>
            <a:ext cx="22265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미도입 사유 분모는 체결여부 ‘아니오’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응답기업으로 하고 ‘모름’ 기업은 별도 표기.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지표 정의서는 착수보고 시 발주기관과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확정하며, 확정 이후 산출 기준은 조사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종료까지 변경하지 않음</a:t>
            </a:r>
            <a:endParaRPr lang="en-US" sz="1000" dirty="0"/>
          </a:p>
        </p:txBody>
      </p:sp>
      <p:sp>
        <p:nvSpPr>
          <p:cNvPr id="205" name="Text 203"/>
          <p:cNvSpPr/>
          <p:nvPr/>
        </p:nvSpPr>
        <p:spPr>
          <a:xfrm>
            <a:off x="144475" y="6456578"/>
            <a:ext cx="949513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dirty="0">
                <a:solidFill>
                  <a:srgbClr val="60606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※ 공표 셀 기준은 승인 협의 시 현행 지침으로 확인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케이스탯리서치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납품대금 연동제 실태조사 제안서</dc:title>
  <dc:subject>PptxGenJS Presentation</dc:subject>
  <dc:creator>케이스탯리서치</dc:creator>
  <cp:lastModifiedBy>케이스탯리서치</cp:lastModifiedBy>
  <cp:revision>1</cp:revision>
  <dcterms:created xsi:type="dcterms:W3CDTF">2026-08-11T01:29:56Z</dcterms:created>
  <dcterms:modified xsi:type="dcterms:W3CDTF">2026-08-11T01:29:56Z</dcterms:modified>
</cp:coreProperties>
</file>
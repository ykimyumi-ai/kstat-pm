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7958" y="39319"/>
            <a:ext cx="785835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대비 문항 설계</a:t>
            </a:r>
            <a:endParaRPr lang="en-US" sz="2710" dirty="0"/>
          </a:p>
        </p:txBody>
      </p:sp>
      <p:sp>
        <p:nvSpPr>
          <p:cNvPr id="3" name="Shape 1"/>
          <p:cNvSpPr/>
          <p:nvPr/>
        </p:nvSpPr>
        <p:spPr>
          <a:xfrm flipH="1">
            <a:off x="144475" y="58978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40157" y="56327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원재료·에너지경비 분리 측정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917143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917143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17143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600286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501530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01530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111282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340" dirty="0"/>
          </a:p>
        </p:txBody>
      </p:sp>
      <p:sp>
        <p:nvSpPr>
          <p:cNvPr id="12" name="Text 10"/>
          <p:cNvSpPr/>
          <p:nvPr/>
        </p:nvSpPr>
        <p:spPr>
          <a:xfrm>
            <a:off x="903701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340" dirty="0"/>
          </a:p>
        </p:txBody>
      </p:sp>
      <p:sp>
        <p:nvSpPr>
          <p:cNvPr id="13" name="Text 11"/>
          <p:cNvSpPr/>
          <p:nvPr/>
        </p:nvSpPr>
        <p:spPr>
          <a:xfrm>
            <a:off x="1178662" y="890626"/>
            <a:ext cx="8185709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12월 3일 에너지경비 연동 시행에 대비해, 원재료와 에너지경비를 병렬로 측정</a:t>
            </a:r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하는 문항을 미리 설계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88036" y="1518818"/>
            <a:ext cx="5789066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499616" y="1394460"/>
            <a:ext cx="246888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362456" y="1532534"/>
            <a:ext cx="27441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1362456" y="1394460"/>
            <a:ext cx="274411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측정 문항 3종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45313" y="1781251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445313" y="1781251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4789" y="174193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비중</a:t>
            </a:r>
            <a:endParaRPr lang="en-US" sz="1560" dirty="0"/>
          </a:p>
        </p:txBody>
      </p:sp>
      <p:sp>
        <p:nvSpPr>
          <p:cNvPr id="25" name="Text 23"/>
          <p:cNvSpPr/>
          <p:nvPr/>
        </p:nvSpPr>
        <p:spPr>
          <a:xfrm>
            <a:off x="1905610" y="1729130"/>
            <a:ext cx="265176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원가구조를 재료비·노무비·에너지경비·기타 4구분으로 기재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모르는 항목은 ‘모름’ 또는 10%p 구간으로 응답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합계는 시스템 처리, 정확 %는 선택 입력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기준 충족 여부 포함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83887" y="1611173"/>
            <a:ext cx="10058" cy="93634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27" name="Shape 25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5081321" y="1774850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>
            <a:off x="4996282" y="185989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4996282" y="1774850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23206" y="1964131"/>
            <a:ext cx="1401775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법률 제21191호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제2조제12호의2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이상인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에너지경비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45313" y="2638958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6" name="Shape 34"/>
          <p:cNvSpPr/>
          <p:nvPr/>
        </p:nvSpPr>
        <p:spPr>
          <a:xfrm>
            <a:off x="445313" y="2763317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37" name="Text 35"/>
          <p:cNvSpPr/>
          <p:nvPr/>
        </p:nvSpPr>
        <p:spPr>
          <a:xfrm>
            <a:off x="445313" y="2763317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4789" y="2711196"/>
            <a:ext cx="101498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사용량 계측</a:t>
            </a:r>
            <a:endParaRPr lang="en-US" sz="1560" dirty="0"/>
          </a:p>
        </p:txBody>
      </p:sp>
      <p:sp>
        <p:nvSpPr>
          <p:cNvPr id="39" name="Text 37"/>
          <p:cNvSpPr/>
          <p:nvPr/>
        </p:nvSpPr>
        <p:spPr>
          <a:xfrm>
            <a:off x="1905610" y="2671877"/>
            <a:ext cx="2651760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독립 계량기로 품목별 계측 가능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가동시간·설비용량으로 간접 추정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작업장 합산 고지로 품목별 계측 불가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83887" y="2730398"/>
            <a:ext cx="10058" cy="615391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1" name="Shape 39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5" name="Shape 43"/>
          <p:cNvSpPr/>
          <p:nvPr/>
        </p:nvSpPr>
        <p:spPr>
          <a:xfrm>
            <a:off x="5081321" y="2723998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Shape 44"/>
          <p:cNvSpPr/>
          <p:nvPr/>
        </p:nvSpPr>
        <p:spPr>
          <a:xfrm>
            <a:off x="4996282" y="2809037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7" name="Text 45"/>
          <p:cNvSpPr/>
          <p:nvPr/>
        </p:nvSpPr>
        <p:spPr>
          <a:xfrm>
            <a:off x="4996282" y="2723998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623206" y="2920594"/>
            <a:ext cx="140177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산식 적용의 전제 조건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간접비 성격상 품목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배분이 관건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5313" y="3438144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50" name="Shape 48"/>
          <p:cNvSpPr/>
          <p:nvPr/>
        </p:nvSpPr>
        <p:spPr>
          <a:xfrm>
            <a:off x="445313" y="355610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51" name="Text 49"/>
          <p:cNvSpPr/>
          <p:nvPr/>
        </p:nvSpPr>
        <p:spPr>
          <a:xfrm>
            <a:off x="445313" y="355610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824789" y="351038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기준지표·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조정요건</a:t>
            </a:r>
            <a:endParaRPr lang="en-US" sz="1560" dirty="0"/>
          </a:p>
        </p:txBody>
      </p:sp>
      <p:sp>
        <p:nvSpPr>
          <p:cNvPr id="53" name="Text 51"/>
          <p:cNvSpPr/>
          <p:nvPr/>
        </p:nvSpPr>
        <p:spPr>
          <a:xfrm>
            <a:off x="1905610" y="3471062"/>
            <a:ext cx="2651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대상 에너지원: 산업용 전력·도시가스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기준지표: 한국전력공사 전기요금표·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         한국가스공사 도시가스 도매요금 고시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확정 시 최신 고시 확인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조정 임계 변동률·조정주기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83887" y="3529584"/>
            <a:ext cx="10058" cy="89702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6" name="Shape 54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7" name="Shape 55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8" name="Shape 56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9" name="Shape 57"/>
          <p:cNvSpPr/>
          <p:nvPr/>
        </p:nvSpPr>
        <p:spPr>
          <a:xfrm>
            <a:off x="5081321" y="3548786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4996282" y="363474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1" name="Text 59"/>
          <p:cNvSpPr/>
          <p:nvPr/>
        </p:nvSpPr>
        <p:spPr>
          <a:xfrm>
            <a:off x="4996282" y="3548786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623206" y="3745382"/>
            <a:ext cx="1401775" cy="720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필수 기재사항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문항과 동일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구조로 설계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253582" y="1518818"/>
            <a:ext cx="3490265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6597396" y="1394460"/>
            <a:ext cx="239024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6456578" y="1535278"/>
            <a:ext cx="267187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6456578" y="1394460"/>
            <a:ext cx="267187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증빙·부담 관리 2종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6398057" y="178765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6398057" y="178765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6744614" y="1787652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 애로</a:t>
            </a:r>
            <a:endParaRPr lang="en-US" sz="1560" dirty="0"/>
          </a:p>
        </p:txBody>
      </p:sp>
      <p:sp>
        <p:nvSpPr>
          <p:cNvPr id="74" name="Text 72"/>
          <p:cNvSpPr/>
          <p:nvPr/>
        </p:nvSpPr>
        <p:spPr>
          <a:xfrm>
            <a:off x="6528816" y="2029968"/>
            <a:ext cx="3097073" cy="602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공통 사용분의 품목별 배분 곤란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위탁기업 요구 수준의 객관적 증빙 불가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신뢰할 단가 추이 표준지표 부재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6601054" y="2711196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508699" y="2802636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6508699" y="2711196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7282282" y="2645359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뿌리기업은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증빙이 곤란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391656" y="2894076"/>
            <a:ext cx="3221431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84" name="Shape 82"/>
          <p:cNvSpPr/>
          <p:nvPr/>
        </p:nvSpPr>
        <p:spPr>
          <a:xfrm>
            <a:off x="6398057" y="3110789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6398057" y="3110789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6744614" y="3110789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부담·회피</a:t>
            </a:r>
            <a:endParaRPr lang="en-US" sz="1560" dirty="0"/>
          </a:p>
        </p:txBody>
      </p:sp>
      <p:sp>
        <p:nvSpPr>
          <p:cNvPr id="87" name="Text 85"/>
          <p:cNvSpPr/>
          <p:nvPr/>
        </p:nvSpPr>
        <p:spPr>
          <a:xfrm>
            <a:off x="6528816" y="3332988"/>
            <a:ext cx="3097073" cy="78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상승의 경영 영향(5점 척도)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원재료비 대비 부담 크기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연동 요구에 따른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강요·거래 불이익 경험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2" name="Shape 90"/>
          <p:cNvSpPr/>
          <p:nvPr/>
        </p:nvSpPr>
        <p:spPr>
          <a:xfrm>
            <a:off x="6601054" y="4171493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3" name="Shape 91"/>
          <p:cNvSpPr/>
          <p:nvPr/>
        </p:nvSpPr>
        <p:spPr>
          <a:xfrm>
            <a:off x="6508699" y="4262933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4" name="Text 92"/>
          <p:cNvSpPr/>
          <p:nvPr/>
        </p:nvSpPr>
        <p:spPr>
          <a:xfrm>
            <a:off x="6508699" y="4171493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7282282" y="4105656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뿌리업종은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비중이 상대적으로 높음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242316" y="4780483"/>
            <a:ext cx="9528048" cy="146669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7" name="Shape 95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228746" y="4656125"/>
            <a:ext cx="3143707" cy="28803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4271" y="4799686"/>
            <a:ext cx="343174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3" name="Text 101"/>
          <p:cNvSpPr/>
          <p:nvPr/>
        </p:nvSpPr>
        <p:spPr>
          <a:xfrm>
            <a:off x="3084271" y="4656125"/>
            <a:ext cx="343174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시행 전 준비도 측정 원칙</a:t>
            </a:r>
            <a:endParaRPr lang="en-US" sz="1460" dirty="0"/>
          </a:p>
        </p:txBody>
      </p:sp>
      <p:sp>
        <p:nvSpPr>
          <p:cNvPr id="104" name="Shape 102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5" name="Text 103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90" dirty="0"/>
          </a:p>
        </p:txBody>
      </p:sp>
      <p:sp>
        <p:nvSpPr>
          <p:cNvPr id="106" name="Text 104"/>
          <p:cNvSpPr/>
          <p:nvPr/>
        </p:nvSpPr>
        <p:spPr>
          <a:xfrm>
            <a:off x="720547" y="4944161"/>
            <a:ext cx="261975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준비도 중심 측정</a:t>
            </a:r>
            <a:endParaRPr lang="en-US" sz="1350" dirty="0"/>
          </a:p>
        </p:txBody>
      </p:sp>
      <p:sp>
        <p:nvSpPr>
          <p:cNvPr id="107" name="Text 105"/>
          <p:cNvSpPr/>
          <p:nvPr/>
        </p:nvSpPr>
        <p:spPr>
          <a:xfrm>
            <a:off x="399593" y="5238598"/>
            <a:ext cx="2881274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조사기간이 시행일(2026.12.3) 이전이므로 이행 실적이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아니라 준비도를 측정. 처벌·적발을 연상시키는 문항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대신 원가 인프라 진단 중심의 가치중립적 구성으로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방어적 응답을 차단하고, 내년 본조사에서는 본지표로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전환. 준비도 5개 문항군과 이행 실적 지표의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1:1 매핑표를 최종보고에 첨부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328726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90" dirty="0"/>
          </a:p>
        </p:txBody>
      </p:sp>
      <p:sp>
        <p:nvSpPr>
          <p:cNvPr id="111" name="Text 109"/>
          <p:cNvSpPr/>
          <p:nvPr/>
        </p:nvSpPr>
        <p:spPr>
          <a:xfrm>
            <a:off x="3752698" y="4977079"/>
            <a:ext cx="1538935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병렬 정의·수집</a:t>
            </a:r>
            <a:endParaRPr lang="en-US" sz="1350" dirty="0"/>
          </a:p>
        </p:txBody>
      </p:sp>
      <p:sp>
        <p:nvSpPr>
          <p:cNvPr id="112" name="Text 110"/>
          <p:cNvSpPr/>
          <p:nvPr/>
        </p:nvSpPr>
        <p:spPr>
          <a:xfrm>
            <a:off x="3431743" y="5310835"/>
            <a:ext cx="1800454" cy="91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기반 조사대상과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포함 조사대상을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병렬로 정의·구분 수집하여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확대 이후에도 시계열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연속성 확보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298034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5" name="Text 113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90" dirty="0"/>
          </a:p>
        </p:txBody>
      </p:sp>
      <p:sp>
        <p:nvSpPr>
          <p:cNvPr id="116" name="Text 114"/>
          <p:cNvSpPr/>
          <p:nvPr/>
        </p:nvSpPr>
        <p:spPr>
          <a:xfrm>
            <a:off x="5828386" y="4977079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분리 제시</a:t>
            </a:r>
            <a:endParaRPr lang="en-US" sz="1350" dirty="0"/>
          </a:p>
        </p:txBody>
      </p:sp>
      <p:sp>
        <p:nvSpPr>
          <p:cNvPr id="117" name="Text 115"/>
          <p:cNvSpPr/>
          <p:nvPr/>
        </p:nvSpPr>
        <p:spPr>
          <a:xfrm>
            <a:off x="5507431" y="5337353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비중은 업종 중분류별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편차가 크므로, 제조 중분류 단위로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별도 집계해 뿌리업종을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분리 제시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48527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0" name="Text 118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90" dirty="0"/>
          </a:p>
        </p:txBody>
      </p:sp>
      <p:sp>
        <p:nvSpPr>
          <p:cNvPr id="121" name="Text 119"/>
          <p:cNvSpPr/>
          <p:nvPr/>
        </p:nvSpPr>
        <p:spPr>
          <a:xfrm>
            <a:off x="8054950" y="4956962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확정 절차</a:t>
            </a:r>
            <a:endParaRPr lang="en-US" sz="1350" dirty="0"/>
          </a:p>
        </p:txBody>
      </p:sp>
      <p:sp>
        <p:nvSpPr>
          <p:cNvPr id="122" name="Text 120"/>
          <p:cNvSpPr/>
          <p:nvPr/>
        </p:nvSpPr>
        <p:spPr>
          <a:xfrm>
            <a:off x="7733995" y="5330038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 확정 전 소관부처 고시·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하위법령 제정 상황을 재확인하여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조사표에 반영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248717" y="632581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법률 제21191호(2025.12.2 공포, 에너지경비 연동 2026.12.3 시행)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" y="26518"/>
            <a:ext cx="7858354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작동 지표 산출 기준</a:t>
            </a:r>
            <a:endParaRPr lang="en-US" sz="2860" dirty="0"/>
          </a:p>
        </p:txBody>
      </p:sp>
      <p:sp>
        <p:nvSpPr>
          <p:cNvPr id="3" name="Shape 1"/>
          <p:cNvSpPr/>
          <p:nvPr/>
        </p:nvSpPr>
        <p:spPr>
          <a:xfrm flipH="1">
            <a:off x="117958" y="576072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229514" y="576072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05994" y="55046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도입·이행·회피·반영 지표 정의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956462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84894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6462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84894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5101" y="870509"/>
            <a:ext cx="8028432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6462" y="949147"/>
            <a:ext cx="8185709" cy="22219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5101" y="877824"/>
            <a:ext cx="8028432" cy="3666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62863" y="949147"/>
            <a:ext cx="8172907" cy="22219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0704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8643823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6" name="Text 14"/>
          <p:cNvSpPr/>
          <p:nvPr/>
        </p:nvSpPr>
        <p:spPr>
          <a:xfrm>
            <a:off x="1217981" y="870509"/>
            <a:ext cx="766175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 · 이행률 · 회피율 · 반영률의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분자와 분모,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기준시점, 제외규칙을 미리 확정해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기준을 고정</a:t>
            </a:r>
            <a:endParaRPr lang="en-US" sz="1410" dirty="0"/>
          </a:p>
        </p:txBody>
      </p:sp>
      <p:sp>
        <p:nvSpPr>
          <p:cNvPr id="17" name="Shape 15"/>
          <p:cNvSpPr/>
          <p:nvPr/>
        </p:nvSpPr>
        <p:spPr>
          <a:xfrm>
            <a:off x="117958" y="1479499"/>
            <a:ext cx="6102706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1653235" y="1355141"/>
            <a:ext cx="2645359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1526134" y="1483157"/>
            <a:ext cx="290139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1526134" y="1355141"/>
            <a:ext cx="2901391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작동지표 4종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48717" y="2979115"/>
            <a:ext cx="5841187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6" name="Shape 24"/>
          <p:cNvSpPr/>
          <p:nvPr/>
        </p:nvSpPr>
        <p:spPr>
          <a:xfrm>
            <a:off x="3300070" y="1636776"/>
            <a:ext cx="10058" cy="281543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7" name="Shape 25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Text 26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9788" y="1663294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</a:t>
            </a:r>
            <a:endParaRPr lang="en-US" sz="1610" dirty="0"/>
          </a:p>
        </p:txBody>
      </p:sp>
      <p:sp>
        <p:nvSpPr>
          <p:cNvPr id="30" name="Shape 28"/>
          <p:cNvSpPr/>
          <p:nvPr/>
        </p:nvSpPr>
        <p:spPr>
          <a:xfrm>
            <a:off x="196596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29991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6596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29991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1518" y="1951330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6596" y="2017166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1518" y="1957730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202997" y="2017166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209398" y="1951330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연동약정 체결 기업수 ÷ 연동 적용대상 기업수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291694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209398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5" name="Text 43"/>
          <p:cNvSpPr/>
          <p:nvPr/>
        </p:nvSpPr>
        <p:spPr>
          <a:xfrm>
            <a:off x="209398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88036" y="2423160"/>
            <a:ext cx="299923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창업 1년 미만·휴업 제외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체결여부 ‘모름’은 분자·분모 제외 후 제외율 공표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641141" y="1669694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이행률</a:t>
            </a:r>
            <a:endParaRPr lang="en-US" sz="1610" dirty="0"/>
          </a:p>
        </p:txBody>
      </p:sp>
      <p:sp>
        <p:nvSpPr>
          <p:cNvPr id="50" name="Shape 48"/>
          <p:cNvSpPr/>
          <p:nvPr/>
        </p:nvSpPr>
        <p:spPr>
          <a:xfrm>
            <a:off x="3353105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037783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53105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37783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18027" y="1951330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53105" y="2017166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18027" y="1957730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Shape 55"/>
          <p:cNvSpPr/>
          <p:nvPr/>
        </p:nvSpPr>
        <p:spPr>
          <a:xfrm>
            <a:off x="3359506" y="2017166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3365906" y="1951330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실제 대금조정·지급 기업수 ÷ 연동약정 체결 기업수</a:t>
            </a:r>
            <a:endParaRPr lang="en-US" sz="1010" dirty="0"/>
          </a:p>
        </p:txBody>
      </p:sp>
      <p:sp>
        <p:nvSpPr>
          <p:cNvPr id="59" name="Shape 57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1" name="Shape 59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3448202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3365906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5" name="Text 63"/>
          <p:cNvSpPr/>
          <p:nvPr/>
        </p:nvSpPr>
        <p:spPr>
          <a:xfrm>
            <a:off x="3365906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418027" y="2423160"/>
            <a:ext cx="2750515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2025년 중 조정요건 1회 이상 발생 기업 한정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8" name="Text 66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89788" y="3025750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회피율</a:t>
            </a:r>
            <a:endParaRPr lang="en-US" sz="1610" dirty="0"/>
          </a:p>
        </p:txBody>
      </p:sp>
      <p:sp>
        <p:nvSpPr>
          <p:cNvPr id="70" name="Shape 68"/>
          <p:cNvSpPr/>
          <p:nvPr/>
        </p:nvSpPr>
        <p:spPr>
          <a:xfrm>
            <a:off x="196596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129991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6596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129991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61518" y="3307385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96596" y="3372307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1518" y="3313786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202997" y="3372307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209398" y="3307385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예외요건 미충족 미체결·탈법행위 경험 ÷ 연동 적용대상</a:t>
            </a:r>
            <a:endParaRPr lang="en-US" sz="1010" dirty="0"/>
          </a:p>
        </p:txBody>
      </p:sp>
      <p:sp>
        <p:nvSpPr>
          <p:cNvPr id="79" name="Shape 77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291694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209398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209398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288036" y="3732581"/>
            <a:ext cx="2999232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쪼개기 포함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유도·회유는 2026.6.3 시행이므로 조사시점 경험 기준 별도 집계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정당한 예외 제외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두 사유에 모두 해당하는 기업은 1개사로 계산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Text 86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641141" y="3025750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반영률</a:t>
            </a:r>
            <a:endParaRPr lang="en-US" sz="1610" dirty="0"/>
          </a:p>
        </p:txBody>
      </p:sp>
      <p:sp>
        <p:nvSpPr>
          <p:cNvPr id="90" name="Shape 88"/>
          <p:cNvSpPr/>
          <p:nvPr/>
        </p:nvSpPr>
        <p:spPr>
          <a:xfrm>
            <a:off x="3353105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37783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53105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37783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418027" y="3307385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3105" y="3372307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18027" y="3313786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Shape 95"/>
          <p:cNvSpPr/>
          <p:nvPr/>
        </p:nvSpPr>
        <p:spPr>
          <a:xfrm>
            <a:off x="3359506" y="3372307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/>
          <p:nvPr/>
        </p:nvSpPr>
        <p:spPr>
          <a:xfrm>
            <a:off x="3365906" y="3307385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대금조정액 ÷ 주요 원재료 가격변동액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448202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65906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5" name="Text 103"/>
          <p:cNvSpPr/>
          <p:nvPr/>
        </p:nvSpPr>
        <p:spPr>
          <a:xfrm>
            <a:off x="3365906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3418027" y="3732581"/>
            <a:ext cx="2750515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100% 초과 시 재확인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품목별 가중평균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가격 하락으로 조정액이 음수인 건은 하락 연동으로 분리 집계하고 반영률 산출에서 제외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259982" y="1479499"/>
            <a:ext cx="3680460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682435" y="1355141"/>
            <a:ext cx="2711196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555334" y="1483157"/>
            <a:ext cx="29663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6555334" y="1355141"/>
            <a:ext cx="296631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보완지표 3종</a:t>
            </a:r>
            <a:endParaRPr lang="en-US" sz="1350" dirty="0"/>
          </a:p>
        </p:txBody>
      </p:sp>
      <p:sp>
        <p:nvSpPr>
          <p:cNvPr id="115" name="Shape 113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6698894" y="1663294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체감효과</a:t>
            </a:r>
            <a:endParaRPr lang="en-US" sz="1610" dirty="0"/>
          </a:p>
        </p:txBody>
      </p:sp>
      <p:sp>
        <p:nvSpPr>
          <p:cNvPr id="118" name="Shape 116"/>
          <p:cNvSpPr/>
          <p:nvPr/>
        </p:nvSpPr>
        <p:spPr>
          <a:xfrm>
            <a:off x="6423660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534449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23660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534449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489497" y="1932127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423660" y="1997050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489497" y="1938528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30975" y="1997050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6" name="Text 124"/>
          <p:cNvSpPr/>
          <p:nvPr/>
        </p:nvSpPr>
        <p:spPr>
          <a:xfrm>
            <a:off x="6437376" y="1932127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 전후 경영상태 변화 5점 척도 평균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493154" y="2220163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410858" y="2301545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3" name="Text 131"/>
          <p:cNvSpPr/>
          <p:nvPr/>
        </p:nvSpPr>
        <p:spPr>
          <a:xfrm>
            <a:off x="6410858" y="2220163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7059168" y="2213762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 도입기업 한정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제외</a:t>
            </a:r>
            <a:endParaRPr lang="en-US" sz="1000" dirty="0"/>
          </a:p>
        </p:txBody>
      </p:sp>
      <p:sp>
        <p:nvSpPr>
          <p:cNvPr id="135" name="Shape 133"/>
          <p:cNvSpPr/>
          <p:nvPr/>
        </p:nvSpPr>
        <p:spPr>
          <a:xfrm>
            <a:off x="6377940" y="2593238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37" name="Text 135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6698894" y="2632558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인지율</a:t>
            </a:r>
            <a:endParaRPr lang="en-US" sz="1610" dirty="0"/>
          </a:p>
        </p:txBody>
      </p:sp>
      <p:sp>
        <p:nvSpPr>
          <p:cNvPr id="139" name="Shape 137"/>
          <p:cNvSpPr/>
          <p:nvPr/>
        </p:nvSpPr>
        <p:spPr>
          <a:xfrm>
            <a:off x="6423660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534449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423660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34449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89497" y="2901391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23660" y="2966314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89497" y="2907792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30975" y="2966314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7" name="Text 145"/>
          <p:cNvSpPr/>
          <p:nvPr/>
        </p:nvSpPr>
        <p:spPr>
          <a:xfrm>
            <a:off x="6437376" y="2901391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인지 기업수 ÷ 전체 응답기업수</a:t>
            </a:r>
            <a:endParaRPr lang="en-US" sz="1150" dirty="0"/>
          </a:p>
        </p:txBody>
      </p:sp>
      <p:sp>
        <p:nvSpPr>
          <p:cNvPr id="148" name="Shape 146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493154" y="3195828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410858" y="327721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4" name="Text 152"/>
          <p:cNvSpPr/>
          <p:nvPr/>
        </p:nvSpPr>
        <p:spPr>
          <a:xfrm>
            <a:off x="6410858" y="3195828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55" name="Text 153"/>
          <p:cNvSpPr/>
          <p:nvPr/>
        </p:nvSpPr>
        <p:spPr>
          <a:xfrm>
            <a:off x="7059168" y="3189427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 63.3%와 분모 대응 병기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6377940" y="3556102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6698894" y="3595421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 연동 적용대상률</a:t>
            </a:r>
            <a:endParaRPr lang="en-US" sz="1610" dirty="0"/>
          </a:p>
        </p:txBody>
      </p:sp>
      <p:sp>
        <p:nvSpPr>
          <p:cNvPr id="160" name="Shape 158"/>
          <p:cNvSpPr/>
          <p:nvPr/>
        </p:nvSpPr>
        <p:spPr>
          <a:xfrm>
            <a:off x="6423660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534449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423660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534449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489497" y="3863340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423660" y="3929177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489497" y="3869741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430975" y="3929177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/>
          <p:nvPr/>
        </p:nvSpPr>
        <p:spPr>
          <a:xfrm>
            <a:off x="6437376" y="3863340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10%↑ &amp; 1억원·90일 충족 ÷ 연동 적용대상</a:t>
            </a:r>
            <a:endParaRPr lang="en-US" sz="1030" dirty="0"/>
          </a:p>
        </p:txBody>
      </p:sp>
      <p:sp>
        <p:nvSpPr>
          <p:cNvPr id="169" name="Shape 167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93154" y="4151376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10858" y="4233672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5" name="Text 173"/>
          <p:cNvSpPr/>
          <p:nvPr/>
        </p:nvSpPr>
        <p:spPr>
          <a:xfrm>
            <a:off x="6410858" y="4151376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76" name="Text 174"/>
          <p:cNvSpPr/>
          <p:nvPr/>
        </p:nvSpPr>
        <p:spPr>
          <a:xfrm>
            <a:off x="7059168" y="4144975"/>
            <a:ext cx="2606040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 준비도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뿌리업종 분리 산출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17958" y="4871923"/>
            <a:ext cx="9828886" cy="15261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231490" y="4741164"/>
            <a:ext cx="3189427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104388" y="4869180"/>
            <a:ext cx="34445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4" name="Text 182"/>
          <p:cNvSpPr/>
          <p:nvPr/>
        </p:nvSpPr>
        <p:spPr>
          <a:xfrm>
            <a:off x="3104388" y="4741164"/>
            <a:ext cx="3444545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· 산출 원칙</a:t>
            </a:r>
            <a:endParaRPr lang="en-US" sz="1460" dirty="0"/>
          </a:p>
        </p:txBody>
      </p:sp>
      <p:sp>
        <p:nvSpPr>
          <p:cNvPr id="185" name="Shape 183"/>
          <p:cNvSpPr/>
          <p:nvPr/>
        </p:nvSpPr>
        <p:spPr>
          <a:xfrm>
            <a:off x="255118" y="5081321"/>
            <a:ext cx="32918" cy="115214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7" name="Text 185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88" name="Text 186"/>
          <p:cNvSpPr/>
          <p:nvPr/>
        </p:nvSpPr>
        <p:spPr>
          <a:xfrm>
            <a:off x="661111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선행지표 대응</a:t>
            </a:r>
            <a:endParaRPr lang="en-US" sz="1250" dirty="0"/>
          </a:p>
        </p:txBody>
      </p:sp>
      <p:sp>
        <p:nvSpPr>
          <p:cNvPr id="189" name="Text 187"/>
          <p:cNvSpPr/>
          <p:nvPr/>
        </p:nvSpPr>
        <p:spPr>
          <a:xfrm>
            <a:off x="412394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선행조사의 ‘체결률’과 ‘의무 준수율’은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같은 응답기업을 분모로 하되 분자가 달라,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보고서에 각 지표의 산출 기준을 함께 적음</a:t>
            </a:r>
            <a:endParaRPr lang="en-US" sz="1000" dirty="0"/>
          </a:p>
        </p:txBody>
      </p:sp>
      <p:sp>
        <p:nvSpPr>
          <p:cNvPr id="190" name="Shape 188"/>
          <p:cNvSpPr/>
          <p:nvPr/>
        </p:nvSpPr>
        <p:spPr>
          <a:xfrm>
            <a:off x="2659075" y="5081321"/>
            <a:ext cx="32918" cy="115214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91" name="Shape 189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2" name="Text 190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93" name="Text 191"/>
          <p:cNvSpPr/>
          <p:nvPr/>
        </p:nvSpPr>
        <p:spPr>
          <a:xfrm>
            <a:off x="3065069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단위</a:t>
            </a:r>
            <a:endParaRPr lang="en-US" sz="1250" dirty="0"/>
          </a:p>
        </p:txBody>
      </p:sp>
      <p:sp>
        <p:nvSpPr>
          <p:cNvPr id="194" name="Text 192"/>
          <p:cNvSpPr/>
          <p:nvPr/>
        </p:nvSpPr>
        <p:spPr>
          <a:xfrm>
            <a:off x="281543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이행률은 분모가 체결기업으로 좁아지므로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총 단위로는 공표하지 않고, 조사업종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5구분 × 규모 2의 10개 공표 단위까지만 공표</a:t>
            </a:r>
            <a:endParaRPr lang="en-US" sz="1000" dirty="0"/>
          </a:p>
        </p:txBody>
      </p:sp>
      <p:sp>
        <p:nvSpPr>
          <p:cNvPr id="195" name="Shape 193"/>
          <p:cNvSpPr/>
          <p:nvPr/>
        </p:nvSpPr>
        <p:spPr>
          <a:xfrm>
            <a:off x="5087722" y="5081321"/>
            <a:ext cx="32918" cy="1152144"/>
          </a:xfrm>
          <a:prstGeom prst="rect">
            <a:avLst/>
          </a:prstGeom>
          <a:solidFill>
            <a:srgbClr val="5BA3D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7" name="Text 195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98" name="Text 196"/>
          <p:cNvSpPr/>
          <p:nvPr/>
        </p:nvSpPr>
        <p:spPr>
          <a:xfrm>
            <a:off x="5493715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기준시점·최소표본</a:t>
            </a:r>
            <a:endParaRPr lang="en-US" sz="1250" dirty="0"/>
          </a:p>
        </p:txBody>
      </p:sp>
      <p:sp>
        <p:nvSpPr>
          <p:cNvPr id="199" name="Text 197"/>
          <p:cNvSpPr/>
          <p:nvPr/>
        </p:nvSpPr>
        <p:spPr>
          <a:xfrm>
            <a:off x="524499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기준시점은 2025.12.31 실태와 조사시점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준비도 2종으로 구분 표기하며, 최소 공표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표본은 분모 30개사. 미달 셀은 병합표로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인접 층 통합</a:t>
            </a:r>
            <a:endParaRPr lang="en-US" sz="1000" dirty="0"/>
          </a:p>
        </p:txBody>
      </p:sp>
      <p:sp>
        <p:nvSpPr>
          <p:cNvPr id="200" name="Shape 198"/>
          <p:cNvSpPr/>
          <p:nvPr/>
        </p:nvSpPr>
        <p:spPr>
          <a:xfrm>
            <a:off x="7452360" y="5081321"/>
            <a:ext cx="32918" cy="1152144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2" name="Text 200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7858354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분모·확정 원칙</a:t>
            </a:r>
            <a:endParaRPr lang="en-US" sz="1250" dirty="0"/>
          </a:p>
        </p:txBody>
      </p:sp>
      <p:sp>
        <p:nvSpPr>
          <p:cNvPr id="204" name="Text 202"/>
          <p:cNvSpPr/>
          <p:nvPr/>
        </p:nvSpPr>
        <p:spPr>
          <a:xfrm>
            <a:off x="7609637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 사유 분모는 체결여부 ‘아니오’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응답기업으로 하고 ‘모름’ 기업은 별도 표기.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정의서는 착수보고 시 발주기관과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확정하며, 확정 이후 산출 기준은 조사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종료까지 변경하지 않음</a:t>
            </a:r>
            <a:endParaRPr lang="en-US" sz="1000" dirty="0"/>
          </a:p>
        </p:txBody>
      </p:sp>
      <p:sp>
        <p:nvSpPr>
          <p:cNvPr id="205" name="Text 203"/>
          <p:cNvSpPr/>
          <p:nvPr/>
        </p:nvSpPr>
        <p:spPr>
          <a:xfrm>
            <a:off x="144475" y="6456578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공표 셀 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2026-08-12T01:37:16Z</dcterms:created>
  <dcterms:modified xsi:type="dcterms:W3CDTF">2026-08-12T01:37:16Z</dcterms:modified>
</cp:coreProperties>
</file>
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쓰는 정책 판단 자료로 제공</a:t>
            </a:r>
            <a:endParaRPr lang="en-US" sz="229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23951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97434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기대성과 및 활용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591056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69694" y="753466"/>
            <a:ext cx="6719011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1056" y="832104"/>
            <a:ext cx="6876288" cy="47183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69694" y="759866"/>
            <a:ext cx="6719011" cy="6153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597457" y="832104"/>
            <a:ext cx="6862572" cy="47183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696212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15" dirty="0"/>
          </a:p>
        </p:txBody>
      </p:sp>
      <p:sp>
        <p:nvSpPr>
          <p:cNvPr id="14" name="Text 12"/>
          <p:cNvSpPr/>
          <p:nvPr/>
        </p:nvSpPr>
        <p:spPr>
          <a:xfrm>
            <a:off x="7968996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15" dirty="0"/>
          </a:p>
        </p:txBody>
      </p:sp>
      <p:sp>
        <p:nvSpPr>
          <p:cNvPr id="15" name="Text 13"/>
          <p:cNvSpPr/>
          <p:nvPr/>
        </p:nvSpPr>
        <p:spPr>
          <a:xfrm>
            <a:off x="2089404" y="753466"/>
            <a:ext cx="5880506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쓸 수 있는 형태로 정리하여 제공</a:t>
            </a:r>
            <a:endParaRPr lang="en-US" sz="141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성과보고와 제도 개선 논의의 근거로 활용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9" name="Shape 17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486814"/>
            <a:ext cx="4040734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195" y="1611173"/>
            <a:ext cx="4289450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2" name="Text 20"/>
          <p:cNvSpPr/>
          <p:nvPr/>
        </p:nvSpPr>
        <p:spPr>
          <a:xfrm>
            <a:off x="190195" y="1486814"/>
            <a:ext cx="428945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최종보고서에 포함하는 정책 판단 자료 4종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36415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5" name="Shape 23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6" name="Shape 24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7" name="Shape 25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8" name="Shape 26"/>
          <p:cNvSpPr/>
          <p:nvPr/>
        </p:nvSpPr>
        <p:spPr>
          <a:xfrm>
            <a:off x="4878324" y="1486814"/>
            <a:ext cx="4701845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3966" y="1611173"/>
            <a:ext cx="4950562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30" name="Text 28"/>
          <p:cNvSpPr/>
          <p:nvPr/>
        </p:nvSpPr>
        <p:spPr>
          <a:xfrm>
            <a:off x="4753966" y="1486814"/>
            <a:ext cx="495056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재단의 활용 시점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462211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209398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3809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4" name="Shape 32"/>
          <p:cNvSpPr/>
          <p:nvPr/>
        </p:nvSpPr>
        <p:spPr>
          <a:xfrm>
            <a:off x="209398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4413809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6" name="Shape 34"/>
          <p:cNvSpPr/>
          <p:nvPr/>
        </p:nvSpPr>
        <p:spPr>
          <a:xfrm>
            <a:off x="288036" y="1839773"/>
            <a:ext cx="4204411" cy="29864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7" name="Shape 35"/>
          <p:cNvSpPr/>
          <p:nvPr/>
        </p:nvSpPr>
        <p:spPr>
          <a:xfrm>
            <a:off x="209398" y="1918411"/>
            <a:ext cx="4361688" cy="282915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Shape 36"/>
          <p:cNvSpPr/>
          <p:nvPr/>
        </p:nvSpPr>
        <p:spPr>
          <a:xfrm>
            <a:off x="2416759" y="1944929"/>
            <a:ext cx="0" cy="2750515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39" name="Shape 37"/>
          <p:cNvSpPr/>
          <p:nvPr/>
        </p:nvSpPr>
        <p:spPr>
          <a:xfrm>
            <a:off x="308153" y="3345790"/>
            <a:ext cx="4151376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40" name="Shape 38"/>
          <p:cNvSpPr/>
          <p:nvPr/>
        </p:nvSpPr>
        <p:spPr>
          <a:xfrm rot="5400000">
            <a:off x="347472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1" name="Text 39"/>
          <p:cNvSpPr/>
          <p:nvPr/>
        </p:nvSpPr>
        <p:spPr>
          <a:xfrm>
            <a:off x="347472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654710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취약 지점 진단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47472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4" name="Text 42"/>
          <p:cNvSpPr/>
          <p:nvPr/>
        </p:nvSpPr>
        <p:spPr>
          <a:xfrm>
            <a:off x="432511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이행률이 전국 평균보다 낮은 업종과 회피율이 높은 업종을 표로 제시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각 업종의 생산원가구조와 거래 조건에서 원인이 어디에 있는지 함께 서술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 rot="5400000">
            <a:off x="2541118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6" name="Text 44"/>
          <p:cNvSpPr/>
          <p:nvPr/>
        </p:nvSpPr>
        <p:spPr>
          <a:xfrm>
            <a:off x="2541118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47" name="Text 45"/>
          <p:cNvSpPr/>
          <p:nvPr/>
        </p:nvSpPr>
        <p:spPr>
          <a:xfrm>
            <a:off x="2848356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2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표준 연동산식 설계 기초 자료</a:t>
            </a:r>
            <a:endParaRPr lang="en-US" sz="1120" dirty="0"/>
          </a:p>
        </p:txBody>
      </p:sp>
      <p:sp>
        <p:nvSpPr>
          <p:cNvPr id="48" name="Shape 46"/>
          <p:cNvSpPr/>
          <p:nvPr/>
        </p:nvSpPr>
        <p:spPr>
          <a:xfrm>
            <a:off x="2541118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9" name="Text 47"/>
          <p:cNvSpPr/>
          <p:nvPr/>
        </p:nvSpPr>
        <p:spPr>
          <a:xfrm>
            <a:off x="2626157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 생산원가구조와 주요 원재료 의존도, 에너지경비 비중을 산출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특성에 맞는 연동 산식과 조정 주기 설계의 근거로 제공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 rot="5400000">
            <a:off x="347472" y="3457346"/>
            <a:ext cx="2752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51" name="Text 49"/>
          <p:cNvSpPr/>
          <p:nvPr/>
        </p:nvSpPr>
        <p:spPr>
          <a:xfrm>
            <a:off x="347472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52" name="Text 50"/>
          <p:cNvSpPr/>
          <p:nvPr/>
        </p:nvSpPr>
        <p:spPr>
          <a:xfrm>
            <a:off x="654710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8F602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우선순위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47472" y="3856939"/>
            <a:ext cx="19202" cy="929945"/>
          </a:xfrm>
          <a:prstGeom prst="rect">
            <a:avLst/>
          </a:prstGeom>
          <a:solidFill>
            <a:srgbClr val="8F6023"/>
          </a:solidFill>
          <a:ln/>
        </p:spPr>
      </p:sp>
      <p:sp>
        <p:nvSpPr>
          <p:cNvPr id="54" name="Text 52"/>
          <p:cNvSpPr/>
          <p:nvPr/>
        </p:nvSpPr>
        <p:spPr>
          <a:xfrm>
            <a:off x="432511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미체결 사유와 제도 애로 응답을 업종별로 교차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어느 지점을 먼저 손봐야 효과가 큰지 순서를 제시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rot="5400000">
            <a:off x="2541118" y="3457346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56" name="Text 54"/>
          <p:cNvSpPr/>
          <p:nvPr/>
        </p:nvSpPr>
        <p:spPr>
          <a:xfrm>
            <a:off x="2541118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2848356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설계 제언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1118" y="3856939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59" name="Text 57"/>
          <p:cNvSpPr/>
          <p:nvPr/>
        </p:nvSpPr>
        <p:spPr>
          <a:xfrm>
            <a:off x="2626157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이번 조사에서 확인된 응답 편차와 문항 반응을 근거로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차년도 조사표와 표본 규모 조정안을 제시</a:t>
            </a:r>
            <a:endParaRPr lang="en-US" sz="1000" dirty="0"/>
          </a:p>
        </p:txBody>
      </p:sp>
      <p:pic>
        <p:nvPicPr>
          <p:cNvPr id="60" name="Image 0" descr="s18-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734763"/>
            <a:ext cx="1676095" cy="1014984"/>
          </a:xfrm>
          <a:prstGeom prst="rect">
            <a:avLst/>
          </a:prstGeom>
        </p:spPr>
      </p:pic>
      <p:sp>
        <p:nvSpPr>
          <p:cNvPr id="61" name="Shape 58"/>
          <p:cNvSpPr/>
          <p:nvPr/>
        </p:nvSpPr>
        <p:spPr>
          <a:xfrm>
            <a:off x="5048402" y="1807769"/>
            <a:ext cx="0" cy="2854757"/>
          </a:xfrm>
          <a:prstGeom prst="line">
            <a:avLst/>
          </a:prstGeom>
          <a:noFill/>
          <a:ln w="19050">
            <a:solidFill>
              <a:srgbClr val="7B829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799686" y="233812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3" name="Shape 60"/>
          <p:cNvSpPr/>
          <p:nvPr/>
        </p:nvSpPr>
        <p:spPr>
          <a:xfrm>
            <a:off x="5009998" y="229880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4" name="Shape 61"/>
          <p:cNvSpPr/>
          <p:nvPr/>
        </p:nvSpPr>
        <p:spPr>
          <a:xfrm>
            <a:off x="4799686" y="309067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5" name="Shape 62"/>
          <p:cNvSpPr/>
          <p:nvPr/>
        </p:nvSpPr>
        <p:spPr>
          <a:xfrm>
            <a:off x="5009998" y="3051353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6" name="Shape 63"/>
          <p:cNvSpPr/>
          <p:nvPr/>
        </p:nvSpPr>
        <p:spPr>
          <a:xfrm>
            <a:off x="4799686" y="364754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7" name="Shape 64"/>
          <p:cNvSpPr/>
          <p:nvPr/>
        </p:nvSpPr>
        <p:spPr>
          <a:xfrm>
            <a:off x="5009998" y="360822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8" name="Shape 65"/>
          <p:cNvSpPr/>
          <p:nvPr/>
        </p:nvSpPr>
        <p:spPr>
          <a:xfrm>
            <a:off x="4799686" y="420441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9" name="Shape 66"/>
          <p:cNvSpPr/>
          <p:nvPr/>
        </p:nvSpPr>
        <p:spPr>
          <a:xfrm>
            <a:off x="5009998" y="416509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70" name="Shape 67"/>
          <p:cNvSpPr/>
          <p:nvPr/>
        </p:nvSpPr>
        <p:spPr>
          <a:xfrm rot="5400000">
            <a:off x="4917643" y="1847088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71" name="Text 68"/>
          <p:cNvSpPr/>
          <p:nvPr/>
        </p:nvSpPr>
        <p:spPr>
          <a:xfrm>
            <a:off x="4917643" y="184708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72" name="Shape 69"/>
          <p:cNvSpPr/>
          <p:nvPr/>
        </p:nvSpPr>
        <p:spPr>
          <a:xfrm>
            <a:off x="635873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3" name="Shape 70"/>
          <p:cNvSpPr/>
          <p:nvPr/>
        </p:nvSpPr>
        <p:spPr>
          <a:xfrm>
            <a:off x="766815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4" name="Text 71"/>
          <p:cNvSpPr/>
          <p:nvPr/>
        </p:nvSpPr>
        <p:spPr>
          <a:xfrm>
            <a:off x="5383073" y="187909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5383073" y="201716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90" dirty="0"/>
          </a:p>
        </p:txBody>
      </p:sp>
      <p:sp>
        <p:nvSpPr>
          <p:cNvPr id="76" name="Text 73"/>
          <p:cNvSpPr/>
          <p:nvPr/>
        </p:nvSpPr>
        <p:spPr>
          <a:xfrm>
            <a:off x="6508699" y="187909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6508699" y="201716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 작성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798918" y="185348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7798918" y="199064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수식이 포함된 엑셀 대시보드를 제출하여 재단이 직접 조건을 바꿔 재집계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 rot="5400000">
            <a:off x="4917643" y="2442362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81" name="Text 78"/>
          <p:cNvSpPr/>
          <p:nvPr/>
        </p:nvSpPr>
        <p:spPr>
          <a:xfrm>
            <a:off x="4917643" y="2442362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82" name="Shape 79"/>
          <p:cNvSpPr/>
          <p:nvPr/>
        </p:nvSpPr>
        <p:spPr>
          <a:xfrm>
            <a:off x="635873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3" name="Shape 80"/>
          <p:cNvSpPr/>
          <p:nvPr/>
        </p:nvSpPr>
        <p:spPr>
          <a:xfrm>
            <a:off x="766815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4" name="Text 81"/>
          <p:cNvSpPr/>
          <p:nvPr/>
        </p:nvSpPr>
        <p:spPr>
          <a:xfrm>
            <a:off x="5383073" y="247528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5383073" y="261244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국회 질의와</a:t>
            </a:r>
            <a:endParaRPr lang="en-US" sz="109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언론 대응</a:t>
            </a:r>
            <a:endParaRPr lang="en-US" sz="1090" dirty="0"/>
          </a:p>
        </p:txBody>
      </p:sp>
      <p:sp>
        <p:nvSpPr>
          <p:cNvPr id="86" name="Text 83"/>
          <p:cNvSpPr/>
          <p:nvPr/>
        </p:nvSpPr>
        <p:spPr>
          <a:xfrm>
            <a:off x="6508699" y="247528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87" name="Text 84"/>
          <p:cNvSpPr/>
          <p:nvPr/>
        </p:nvSpPr>
        <p:spPr>
          <a:xfrm>
            <a:off x="6508699" y="261244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수치 확인과</a:t>
            </a:r>
            <a:endParaRPr lang="en-US" sz="10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답변 작성</a:t>
            </a:r>
            <a:endParaRPr lang="en-US" sz="1000" dirty="0"/>
          </a:p>
        </p:txBody>
      </p:sp>
      <p:sp>
        <p:nvSpPr>
          <p:cNvPr id="88" name="Text 85"/>
          <p:cNvSpPr/>
          <p:nvPr/>
        </p:nvSpPr>
        <p:spPr>
          <a:xfrm>
            <a:off x="7798918" y="2448763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89" name="Text 86"/>
          <p:cNvSpPr/>
          <p:nvPr/>
        </p:nvSpPr>
        <p:spPr>
          <a:xfrm>
            <a:off x="7798918" y="2573122"/>
            <a:ext cx="202996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 착수,</a:t>
            </a:r>
            <a:endParaRPr lang="en-US" sz="1000" dirty="0"/>
          </a:p>
        </p:txBody>
      </p:sp>
      <p:sp>
        <p:nvSpPr>
          <p:cNvPr id="90" name="Text 87"/>
          <p:cNvSpPr/>
          <p:nvPr/>
        </p:nvSpPr>
        <p:spPr>
          <a:xfrm>
            <a:off x="7798918" y="2717597"/>
            <a:ext cx="2029968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1차 회신, 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확정 자료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 rot="5400000">
            <a:off x="4917643" y="3195828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92" name="Text 89"/>
          <p:cNvSpPr/>
          <p:nvPr/>
        </p:nvSpPr>
        <p:spPr>
          <a:xfrm>
            <a:off x="4917643" y="319582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93" name="Shape 90"/>
          <p:cNvSpPr/>
          <p:nvPr/>
        </p:nvSpPr>
        <p:spPr>
          <a:xfrm>
            <a:off x="635873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4" name="Shape 91"/>
          <p:cNvSpPr/>
          <p:nvPr/>
        </p:nvSpPr>
        <p:spPr>
          <a:xfrm>
            <a:off x="766815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2"/>
          <p:cNvSpPr/>
          <p:nvPr/>
        </p:nvSpPr>
        <p:spPr>
          <a:xfrm>
            <a:off x="5383073" y="3228746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96" name="Text 93"/>
          <p:cNvSpPr/>
          <p:nvPr/>
        </p:nvSpPr>
        <p:spPr>
          <a:xfrm>
            <a:off x="5383073" y="336590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논의</a:t>
            </a:r>
            <a:endParaRPr lang="en-US" sz="1090" dirty="0"/>
          </a:p>
        </p:txBody>
      </p:sp>
      <p:sp>
        <p:nvSpPr>
          <p:cNvPr id="97" name="Text 94"/>
          <p:cNvSpPr/>
          <p:nvPr/>
        </p:nvSpPr>
        <p:spPr>
          <a:xfrm>
            <a:off x="6508699" y="3228746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98" name="Text 95"/>
          <p:cNvSpPr/>
          <p:nvPr/>
        </p:nvSpPr>
        <p:spPr>
          <a:xfrm>
            <a:off x="6508699" y="336590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소관부처 협의</a:t>
            </a:r>
            <a:endParaRPr lang="en-US" sz="1000" dirty="0"/>
          </a:p>
        </p:txBody>
      </p:sp>
      <p:sp>
        <p:nvSpPr>
          <p:cNvPr id="99" name="Text 96"/>
          <p:cNvSpPr/>
          <p:nvPr/>
        </p:nvSpPr>
        <p:spPr>
          <a:xfrm>
            <a:off x="7798918" y="320222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00" name="Text 97"/>
          <p:cNvSpPr/>
          <p:nvPr/>
        </p:nvSpPr>
        <p:spPr>
          <a:xfrm>
            <a:off x="7798918" y="333938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취약 업종 점검표와 표준 연동산식 기초 자료를 근거로 제공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 rot="5400000">
            <a:off x="4917643" y="3751783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102" name="Text 99"/>
          <p:cNvSpPr/>
          <p:nvPr/>
        </p:nvSpPr>
        <p:spPr>
          <a:xfrm>
            <a:off x="4917643" y="375178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103" name="Shape 100"/>
          <p:cNvSpPr/>
          <p:nvPr/>
        </p:nvSpPr>
        <p:spPr>
          <a:xfrm>
            <a:off x="635873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66815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5" name="Text 102"/>
          <p:cNvSpPr/>
          <p:nvPr/>
        </p:nvSpPr>
        <p:spPr>
          <a:xfrm>
            <a:off x="5383073" y="378470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06" name="Text 103"/>
          <p:cNvSpPr/>
          <p:nvPr/>
        </p:nvSpPr>
        <p:spPr>
          <a:xfrm>
            <a:off x="5383073" y="392277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발주</a:t>
            </a:r>
            <a:endParaRPr lang="en-US" sz="1030" dirty="0"/>
          </a:p>
        </p:txBody>
      </p:sp>
      <p:sp>
        <p:nvSpPr>
          <p:cNvPr id="107" name="Text 104"/>
          <p:cNvSpPr/>
          <p:nvPr/>
        </p:nvSpPr>
        <p:spPr>
          <a:xfrm>
            <a:off x="6508699" y="378470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08" name="Text 105"/>
          <p:cNvSpPr/>
          <p:nvPr/>
        </p:nvSpPr>
        <p:spPr>
          <a:xfrm>
            <a:off x="6508699" y="392277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설계</a:t>
            </a:r>
            <a:endParaRPr lang="en-US" sz="1000" dirty="0"/>
          </a:p>
        </p:txBody>
      </p:sp>
      <p:sp>
        <p:nvSpPr>
          <p:cNvPr id="109" name="Text 106"/>
          <p:cNvSpPr/>
          <p:nvPr/>
        </p:nvSpPr>
        <p:spPr>
          <a:xfrm>
            <a:off x="7798918" y="3759098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10" name="Text 107"/>
          <p:cNvSpPr/>
          <p:nvPr/>
        </p:nvSpPr>
        <p:spPr>
          <a:xfrm>
            <a:off x="7798918" y="389625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조사표와 지표 정의서, 표본설계 명세를 그대로 이어 쓸 수 있는 형태로 납품</a:t>
            </a:r>
            <a:endParaRPr lang="en-US" sz="1000" dirty="0"/>
          </a:p>
        </p:txBody>
      </p:sp>
      <p:sp>
        <p:nvSpPr>
          <p:cNvPr id="111" name="Shape 108"/>
          <p:cNvSpPr/>
          <p:nvPr/>
        </p:nvSpPr>
        <p:spPr>
          <a:xfrm rot="5400000">
            <a:off x="4917643" y="4308653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112" name="Text 109"/>
          <p:cNvSpPr/>
          <p:nvPr/>
        </p:nvSpPr>
        <p:spPr>
          <a:xfrm>
            <a:off x="4917643" y="430865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040" dirty="0"/>
          </a:p>
        </p:txBody>
      </p:sp>
      <p:sp>
        <p:nvSpPr>
          <p:cNvPr id="113" name="Shape 110"/>
          <p:cNvSpPr/>
          <p:nvPr/>
        </p:nvSpPr>
        <p:spPr>
          <a:xfrm>
            <a:off x="635873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4" name="Shape 111"/>
          <p:cNvSpPr/>
          <p:nvPr/>
        </p:nvSpPr>
        <p:spPr>
          <a:xfrm>
            <a:off x="766815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5" name="Text 112"/>
          <p:cNvSpPr/>
          <p:nvPr/>
        </p:nvSpPr>
        <p:spPr>
          <a:xfrm>
            <a:off x="5383073" y="434157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16" name="Text 113"/>
          <p:cNvSpPr/>
          <p:nvPr/>
        </p:nvSpPr>
        <p:spPr>
          <a:xfrm>
            <a:off x="5383073" y="447873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종료 후 1년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6508699" y="434157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18" name="Text 115"/>
          <p:cNvSpPr/>
          <p:nvPr/>
        </p:nvSpPr>
        <p:spPr>
          <a:xfrm>
            <a:off x="6508699" y="447873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확인</a:t>
            </a:r>
            <a:endParaRPr lang="en-US" sz="1000" dirty="0"/>
          </a:p>
        </p:txBody>
      </p:sp>
      <p:sp>
        <p:nvSpPr>
          <p:cNvPr id="119" name="Text 116"/>
          <p:cNvSpPr/>
          <p:nvPr/>
        </p:nvSpPr>
        <p:spPr>
          <a:xfrm>
            <a:off x="7798918" y="4315054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20" name="Text 117"/>
          <p:cNvSpPr/>
          <p:nvPr/>
        </p:nvSpPr>
        <p:spPr>
          <a:xfrm>
            <a:off x="7798918" y="445312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연구팀의 잔여 가동시간으로 대응, 추가 비용 미발생</a:t>
            </a:r>
            <a:endParaRPr lang="en-US" sz="1000" dirty="0"/>
          </a:p>
        </p:txBody>
      </p:sp>
      <p:sp>
        <p:nvSpPr>
          <p:cNvPr id="121" name="Shape 118"/>
          <p:cNvSpPr/>
          <p:nvPr/>
        </p:nvSpPr>
        <p:spPr>
          <a:xfrm>
            <a:off x="202997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159191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3" name="Shape 120"/>
          <p:cNvSpPr/>
          <p:nvPr/>
        </p:nvSpPr>
        <p:spPr>
          <a:xfrm>
            <a:off x="202997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159191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5" name="Shape 122"/>
          <p:cNvSpPr/>
          <p:nvPr/>
        </p:nvSpPr>
        <p:spPr>
          <a:xfrm>
            <a:off x="308153" y="4956962"/>
            <a:ext cx="7956194" cy="6940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6" name="Shape 123"/>
          <p:cNvSpPr/>
          <p:nvPr/>
        </p:nvSpPr>
        <p:spPr>
          <a:xfrm>
            <a:off x="202997" y="5062118"/>
            <a:ext cx="8165592" cy="4846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7" name="Shape 124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8" name="Shape 125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1" name="Shape 128"/>
          <p:cNvSpPr/>
          <p:nvPr/>
        </p:nvSpPr>
        <p:spPr>
          <a:xfrm>
            <a:off x="347472" y="5127041"/>
            <a:ext cx="1230782" cy="314554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2" name="Shape 129"/>
          <p:cNvSpPr/>
          <p:nvPr/>
        </p:nvSpPr>
        <p:spPr>
          <a:xfrm>
            <a:off x="190195" y="5284318"/>
            <a:ext cx="1545336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3" name="Text 130"/>
          <p:cNvSpPr/>
          <p:nvPr/>
        </p:nvSpPr>
        <p:spPr>
          <a:xfrm>
            <a:off x="190195" y="5127041"/>
            <a:ext cx="154533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수행지원 10점</a:t>
            </a:r>
            <a:endParaRPr lang="en-US" sz="1250" dirty="0"/>
          </a:p>
        </p:txBody>
      </p:sp>
      <p:sp>
        <p:nvSpPr>
          <p:cNvPr id="134" name="Shape 131"/>
          <p:cNvSpPr/>
          <p:nvPr/>
        </p:nvSpPr>
        <p:spPr>
          <a:xfrm>
            <a:off x="1571854" y="523859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5" name="Shape 132"/>
          <p:cNvSpPr/>
          <p:nvPr/>
        </p:nvSpPr>
        <p:spPr>
          <a:xfrm>
            <a:off x="3778301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sp>
        <p:nvSpPr>
          <p:cNvPr id="136" name="Shape 133"/>
          <p:cNvSpPr/>
          <p:nvPr/>
        </p:nvSpPr>
        <p:spPr>
          <a:xfrm>
            <a:off x="5886907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pic>
        <p:nvPicPr>
          <p:cNvPr id="137" name="Image 1" descr="s18-icon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050" y="5042002"/>
            <a:ext cx="503834" cy="511150"/>
          </a:xfrm>
          <a:prstGeom prst="rect">
            <a:avLst/>
          </a:prstGeom>
        </p:spPr>
      </p:pic>
      <p:sp>
        <p:nvSpPr>
          <p:cNvPr id="138" name="Text 134"/>
          <p:cNvSpPr/>
          <p:nvPr/>
        </p:nvSpPr>
        <p:spPr>
          <a:xfrm>
            <a:off x="2606040" y="5101438"/>
            <a:ext cx="110002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수식 포함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엑셀 대시보드</a:t>
            </a:r>
            <a:endParaRPr lang="en-US" sz="1200" dirty="0"/>
          </a:p>
        </p:txBody>
      </p:sp>
      <p:pic>
        <p:nvPicPr>
          <p:cNvPr id="139" name="Image 2" descr="s18-icon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734" y="5042002"/>
            <a:ext cx="503834" cy="511150"/>
          </a:xfrm>
          <a:prstGeom prst="rect">
            <a:avLst/>
          </a:prstGeom>
        </p:spPr>
      </p:pic>
      <p:sp>
        <p:nvSpPr>
          <p:cNvPr id="140" name="Text 135"/>
          <p:cNvSpPr/>
          <p:nvPr/>
        </p:nvSpPr>
        <p:spPr>
          <a:xfrm>
            <a:off x="4656125" y="5101438"/>
            <a:ext cx="11521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3·7영업일 대응</a:t>
            </a:r>
            <a:endParaRPr lang="en-US" sz="1200" dirty="0"/>
          </a:p>
        </p:txBody>
      </p:sp>
      <p:pic>
        <p:nvPicPr>
          <p:cNvPr id="141" name="Image 3" descr="s18-icon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305" y="5042002"/>
            <a:ext cx="503834" cy="511150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6705295" y="5101438"/>
            <a:ext cx="157185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종료 후 1년 무상 지원</a:t>
            </a:r>
            <a:endParaRPr lang="en-US" sz="1200" dirty="0"/>
          </a:p>
        </p:txBody>
      </p:sp>
      <p:sp>
        <p:nvSpPr>
          <p:cNvPr id="143" name="Shape 137"/>
          <p:cNvSpPr/>
          <p:nvPr/>
        </p:nvSpPr>
        <p:spPr>
          <a:xfrm>
            <a:off x="170078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4" name="Shape 138"/>
          <p:cNvSpPr/>
          <p:nvPr/>
        </p:nvSpPr>
        <p:spPr>
          <a:xfrm>
            <a:off x="9625889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5" name="Shape 139"/>
          <p:cNvSpPr/>
          <p:nvPr/>
        </p:nvSpPr>
        <p:spPr>
          <a:xfrm>
            <a:off x="170078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6" name="Shape 140"/>
          <p:cNvSpPr/>
          <p:nvPr/>
        </p:nvSpPr>
        <p:spPr>
          <a:xfrm>
            <a:off x="9625889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7" name="Shape 141"/>
          <p:cNvSpPr/>
          <p:nvPr/>
        </p:nvSpPr>
        <p:spPr>
          <a:xfrm>
            <a:off x="300838" y="5749747"/>
            <a:ext cx="9455810" cy="805586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8" name="Shape 142"/>
          <p:cNvSpPr/>
          <p:nvPr/>
        </p:nvSpPr>
        <p:spPr>
          <a:xfrm>
            <a:off x="170078" y="5880506"/>
            <a:ext cx="9718243" cy="543154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9" name="Text 143"/>
          <p:cNvSpPr/>
          <p:nvPr/>
        </p:nvSpPr>
        <p:spPr>
          <a:xfrm>
            <a:off x="393192" y="5853989"/>
            <a:ext cx="904981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보고서 제출에서 끝나지 않고, 성과보고 · 현안 대응 · 제도 개선 · 차년도 설계까지 활용</a:t>
            </a:r>
            <a:endParaRPr lang="en-US" sz="1410" dirty="0"/>
          </a:p>
        </p:txBody>
      </p:sp>
      <p:sp>
        <p:nvSpPr>
          <p:cNvPr id="150" name="Text 144"/>
          <p:cNvSpPr/>
          <p:nvPr/>
        </p:nvSpPr>
        <p:spPr>
          <a:xfrm>
            <a:off x="393192" y="6155741"/>
            <a:ext cx="904981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7D2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직접 재집계하고 필요한 시점에 바로 확인할 수 있는 실행형 결과물로 납품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6479" y="65837"/>
            <a:ext cx="785835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책임과 투입체계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56327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536753"/>
            <a:ext cx="523859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조직도 및 업무분장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826971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2790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6971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52790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610" y="759866"/>
            <a:ext cx="6325819" cy="45811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6971" y="838505"/>
            <a:ext cx="6483096" cy="300838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610" y="766267"/>
            <a:ext cx="6325819" cy="4453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833372" y="838505"/>
            <a:ext cx="6470294" cy="3008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932127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7812634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2232965" y="759866"/>
            <a:ext cx="5671109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단계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를 명시하여 책임 소재를 분명히 함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2229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94653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68066" y="1362456"/>
            <a:ext cx="3392424" cy="65471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2229" y="1427378"/>
            <a:ext cx="3523183" cy="523951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68066" y="1368857"/>
            <a:ext cx="3392424" cy="6419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8630" y="1427378"/>
            <a:ext cx="3510382" cy="52395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5" name="Shape 23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02229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594653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8066" y="1362456"/>
            <a:ext cx="3392424" cy="229514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2229" y="1427378"/>
            <a:ext cx="3523183" cy="97841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2229" y="1476756"/>
            <a:ext cx="3523183" cy="114300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1" name="Text 29"/>
          <p:cNvSpPr/>
          <p:nvPr/>
        </p:nvSpPr>
        <p:spPr>
          <a:xfrm>
            <a:off x="3202229" y="1362456"/>
            <a:ext cx="35231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</a:t>
            </a:r>
            <a:endParaRPr lang="en-US" sz="1090" dirty="0"/>
          </a:p>
        </p:txBody>
      </p:sp>
      <p:sp>
        <p:nvSpPr>
          <p:cNvPr id="32" name="Text 30"/>
          <p:cNvSpPr/>
          <p:nvPr/>
        </p:nvSpPr>
        <p:spPr>
          <a:xfrm>
            <a:off x="3260750" y="1630375"/>
            <a:ext cx="6025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하동균</a:t>
            </a:r>
            <a:endParaRPr lang="en-US" sz="1460" dirty="0"/>
          </a:p>
        </p:txBody>
      </p:sp>
      <p:sp>
        <p:nvSpPr>
          <p:cNvPr id="33" name="Shape 31"/>
          <p:cNvSpPr/>
          <p:nvPr/>
        </p:nvSpPr>
        <p:spPr>
          <a:xfrm>
            <a:off x="3929177" y="1682496"/>
            <a:ext cx="8230" cy="242316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34" name="Text 32"/>
          <p:cNvSpPr/>
          <p:nvPr/>
        </p:nvSpPr>
        <p:spPr>
          <a:xfrm>
            <a:off x="3981298" y="1630375"/>
            <a:ext cx="206928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총괄 · 발주기관 협의 · 최종보고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89904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6" name="Shape 34"/>
          <p:cNvSpPr/>
          <p:nvPr/>
        </p:nvSpPr>
        <p:spPr>
          <a:xfrm>
            <a:off x="6548018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7" name="Shape 35"/>
          <p:cNvSpPr/>
          <p:nvPr/>
        </p:nvSpPr>
        <p:spPr>
          <a:xfrm>
            <a:off x="6089904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548018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142025" y="1682496"/>
            <a:ext cx="458114" cy="242316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089904" y="1735531"/>
            <a:ext cx="563270" cy="137160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1" name="Text 39"/>
          <p:cNvSpPr/>
          <p:nvPr/>
        </p:nvSpPr>
        <p:spPr>
          <a:xfrm>
            <a:off x="6089904" y="1682496"/>
            <a:ext cx="56327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7870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31813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43707" y="2213762"/>
            <a:ext cx="3653942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77870" y="2278685"/>
            <a:ext cx="3784702" cy="511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43707" y="2220163"/>
            <a:ext cx="3653942" cy="6281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3084271" y="2278685"/>
            <a:ext cx="3771900" cy="511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1" name="Shape 49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2" name="Shape 50"/>
          <p:cNvSpPr/>
          <p:nvPr/>
        </p:nvSpPr>
        <p:spPr>
          <a:xfrm>
            <a:off x="3077870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3" name="Shape 51"/>
          <p:cNvSpPr/>
          <p:nvPr/>
        </p:nvSpPr>
        <p:spPr>
          <a:xfrm>
            <a:off x="6731813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4" name="Shape 52"/>
          <p:cNvSpPr/>
          <p:nvPr/>
        </p:nvSpPr>
        <p:spPr>
          <a:xfrm>
            <a:off x="3143707" y="2213762"/>
            <a:ext cx="3653942" cy="235915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5" name="Shape 53"/>
          <p:cNvSpPr/>
          <p:nvPr/>
        </p:nvSpPr>
        <p:spPr>
          <a:xfrm>
            <a:off x="3077870" y="2278685"/>
            <a:ext cx="3784702" cy="105156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6" name="Shape 54"/>
          <p:cNvSpPr/>
          <p:nvPr/>
        </p:nvSpPr>
        <p:spPr>
          <a:xfrm>
            <a:off x="3077870" y="2330806"/>
            <a:ext cx="3784702" cy="117958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7" name="Text 55"/>
          <p:cNvSpPr/>
          <p:nvPr/>
        </p:nvSpPr>
        <p:spPr>
          <a:xfrm>
            <a:off x="3077870" y="2213762"/>
            <a:ext cx="3784702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 책임(PM)</a:t>
            </a:r>
            <a:endParaRPr lang="en-US" sz="1090" dirty="0"/>
          </a:p>
        </p:txBody>
      </p:sp>
      <p:sp>
        <p:nvSpPr>
          <p:cNvPr id="58" name="Text 56"/>
          <p:cNvSpPr/>
          <p:nvPr/>
        </p:nvSpPr>
        <p:spPr>
          <a:xfrm>
            <a:off x="3129991" y="2488082"/>
            <a:ext cx="55046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김유미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3706063" y="2541118"/>
            <a:ext cx="8230" cy="222199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60" name="Text 58"/>
          <p:cNvSpPr/>
          <p:nvPr/>
        </p:nvSpPr>
        <p:spPr>
          <a:xfrm>
            <a:off x="3759098" y="2488082"/>
            <a:ext cx="247528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설계 · 일정과 품질 관리 · 수시 요청 대응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267298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98894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3" name="Shape 61"/>
          <p:cNvSpPr/>
          <p:nvPr/>
        </p:nvSpPr>
        <p:spPr>
          <a:xfrm>
            <a:off x="6267298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4" name="Shape 62"/>
          <p:cNvSpPr/>
          <p:nvPr/>
        </p:nvSpPr>
        <p:spPr>
          <a:xfrm>
            <a:off x="6698894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5" name="Shape 63"/>
          <p:cNvSpPr/>
          <p:nvPr/>
        </p:nvSpPr>
        <p:spPr>
          <a:xfrm>
            <a:off x="6319418" y="2533802"/>
            <a:ext cx="432511" cy="235915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6" name="Shape 64"/>
          <p:cNvSpPr/>
          <p:nvPr/>
        </p:nvSpPr>
        <p:spPr>
          <a:xfrm>
            <a:off x="6267298" y="2586838"/>
            <a:ext cx="536753" cy="130759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7" name="Text 65"/>
          <p:cNvSpPr/>
          <p:nvPr/>
        </p:nvSpPr>
        <p:spPr>
          <a:xfrm>
            <a:off x="6267298" y="2533802"/>
            <a:ext cx="53675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970678" y="2017166"/>
            <a:ext cx="0" cy="19659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970678" y="2854757"/>
            <a:ext cx="0" cy="157277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342339" y="3012034"/>
            <a:ext cx="7392924" cy="0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42339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817620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53582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35263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0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48763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50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48763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50876" y="3353105"/>
            <a:ext cx="236372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5039" y="3418027"/>
            <a:ext cx="2495398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50876" y="3359506"/>
            <a:ext cx="236372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91440" y="3418027"/>
            <a:ext cx="248168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Shape 81"/>
          <p:cNvSpPr/>
          <p:nvPr/>
        </p:nvSpPr>
        <p:spPr>
          <a:xfrm>
            <a:off x="857707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161757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857707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161757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" y="3254350"/>
            <a:ext cx="75986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8" name="Shape 86"/>
          <p:cNvSpPr/>
          <p:nvPr/>
        </p:nvSpPr>
        <p:spPr>
          <a:xfrm>
            <a:off x="857707" y="3365906"/>
            <a:ext cx="982066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9" name="Text 87"/>
          <p:cNvSpPr/>
          <p:nvPr/>
        </p:nvSpPr>
        <p:spPr>
          <a:xfrm>
            <a:off x="857707" y="3254350"/>
            <a:ext cx="982066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연구·분석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124358" y="3529584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전영일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497434" y="3529584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기획과 결과 분석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126541" y="3588106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93" name="Text 91"/>
          <p:cNvSpPr/>
          <p:nvPr/>
        </p:nvSpPr>
        <p:spPr>
          <a:xfrm>
            <a:off x="1152144" y="3529584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조사항목 설계 · 지표 정의서 · 결과 분석과 보고서 작성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202448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5" name="Shape 93"/>
          <p:cNvSpPr/>
          <p:nvPr/>
        </p:nvSpPr>
        <p:spPr>
          <a:xfrm>
            <a:off x="243596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6" name="Shape 94"/>
          <p:cNvSpPr/>
          <p:nvPr/>
        </p:nvSpPr>
        <p:spPr>
          <a:xfrm>
            <a:off x="202448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7" name="Shape 95"/>
          <p:cNvSpPr/>
          <p:nvPr/>
        </p:nvSpPr>
        <p:spPr>
          <a:xfrm>
            <a:off x="243596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8" name="Shape 96"/>
          <p:cNvSpPr/>
          <p:nvPr/>
        </p:nvSpPr>
        <p:spPr>
          <a:xfrm>
            <a:off x="2076602" y="369417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99" name="Shape 97"/>
          <p:cNvSpPr/>
          <p:nvPr/>
        </p:nvSpPr>
        <p:spPr>
          <a:xfrm>
            <a:off x="2024482" y="3746297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00" name="Text 98"/>
          <p:cNvSpPr/>
          <p:nvPr/>
        </p:nvSpPr>
        <p:spPr>
          <a:xfrm>
            <a:off x="2024482" y="369417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150876" y="4258361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02" name="Text 100"/>
          <p:cNvSpPr/>
          <p:nvPr/>
        </p:nvSpPr>
        <p:spPr>
          <a:xfrm>
            <a:off x="124358" y="4291279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공원식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97434" y="4291279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결과 검증과 재무정보 연계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126541" y="4349801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05" name="Text 103"/>
          <p:cNvSpPr/>
          <p:nvPr/>
        </p:nvSpPr>
        <p:spPr>
          <a:xfrm>
            <a:off x="1152144" y="4291279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응답값 교차검증 · 재무정보 대조 · 이상치 판정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202448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43596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02448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43596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076602" y="4455871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024482" y="4507992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2" name="Text 110"/>
          <p:cNvSpPr/>
          <p:nvPr/>
        </p:nvSpPr>
        <p:spPr>
          <a:xfrm>
            <a:off x="2024482" y="4455871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150876" y="5020056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14" name="Text 112"/>
          <p:cNvSpPr/>
          <p:nvPr/>
        </p:nvSpPr>
        <p:spPr>
          <a:xfrm>
            <a:off x="124358" y="505297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강지현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97434" y="5052974"/>
            <a:ext cx="60259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연구분석 보조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1126541" y="511149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17" name="Text 115"/>
          <p:cNvSpPr/>
          <p:nvPr/>
        </p:nvSpPr>
        <p:spPr>
          <a:xfrm>
            <a:off x="1152144" y="5052974"/>
            <a:ext cx="83210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 작성 보조 · 자료 정리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202448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43596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02448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43596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076602" y="514258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024482" y="5194706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4" name="Text 122"/>
          <p:cNvSpPr/>
          <p:nvPr/>
        </p:nvSpPr>
        <p:spPr>
          <a:xfrm>
            <a:off x="2024482" y="514258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2626157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944161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626157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944161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91079" y="3353105"/>
            <a:ext cx="231800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626157" y="3418027"/>
            <a:ext cx="2448763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91079" y="3359506"/>
            <a:ext cx="231800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632558" y="3418027"/>
            <a:ext cx="243596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287268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32174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287268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2174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398825" y="3254350"/>
            <a:ext cx="844906" cy="229514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287268" y="3365906"/>
            <a:ext cx="1067105" cy="6401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9" name="Text 137"/>
          <p:cNvSpPr/>
          <p:nvPr/>
        </p:nvSpPr>
        <p:spPr>
          <a:xfrm>
            <a:off x="3287268" y="3254350"/>
            <a:ext cx="1067105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실사·홍보</a:t>
            </a:r>
            <a:endParaRPr lang="en-US" sz="1150" dirty="0"/>
          </a:p>
        </p:txBody>
      </p:sp>
      <p:sp>
        <p:nvSpPr>
          <p:cNvPr id="140" name="Text 138"/>
          <p:cNvSpPr/>
          <p:nvPr/>
        </p:nvSpPr>
        <p:spPr>
          <a:xfrm>
            <a:off x="2665476" y="3529584"/>
            <a:ext cx="340157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김은진</a:t>
            </a:r>
            <a:endParaRPr lang="en-US" sz="1000" dirty="0"/>
          </a:p>
        </p:txBody>
      </p:sp>
      <p:sp>
        <p:nvSpPr>
          <p:cNvPr id="141" name="Text 139"/>
          <p:cNvSpPr/>
          <p:nvPr/>
        </p:nvSpPr>
        <p:spPr>
          <a:xfrm>
            <a:off x="3038551" y="3529584"/>
            <a:ext cx="536753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총괄 관리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3601822" y="3588106"/>
            <a:ext cx="8230" cy="537667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43" name="Text 141"/>
          <p:cNvSpPr/>
          <p:nvPr/>
        </p:nvSpPr>
        <p:spPr>
          <a:xfrm>
            <a:off x="3627425" y="3529584"/>
            <a:ext cx="747979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본조사 실사 총괄 · 조사원 교육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4415638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931359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415638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931359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467758" y="3674059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415638" y="3726180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50" name="Text 148"/>
          <p:cNvSpPr/>
          <p:nvPr/>
        </p:nvSpPr>
        <p:spPr>
          <a:xfrm>
            <a:off x="4415638" y="3674059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51" name="Shape 149"/>
          <p:cNvSpPr/>
          <p:nvPr/>
        </p:nvSpPr>
        <p:spPr>
          <a:xfrm>
            <a:off x="2691079" y="4218127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52" name="Text 150"/>
          <p:cNvSpPr/>
          <p:nvPr/>
        </p:nvSpPr>
        <p:spPr>
          <a:xfrm>
            <a:off x="2665476" y="4251046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김영미</a:t>
            </a:r>
            <a:endParaRPr lang="en-US" sz="1000" dirty="0"/>
          </a:p>
        </p:txBody>
      </p:sp>
      <p:sp>
        <p:nvSpPr>
          <p:cNvPr id="153" name="Text 151"/>
          <p:cNvSpPr/>
          <p:nvPr/>
        </p:nvSpPr>
        <p:spPr>
          <a:xfrm>
            <a:off x="3038551" y="4251046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사업체조사 관리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601822" y="4309567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55" name="Text 153"/>
          <p:cNvSpPr/>
          <p:nvPr/>
        </p:nvSpPr>
        <p:spPr>
          <a:xfrm>
            <a:off x="3627425" y="4251046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CATI 운영 · 통화 모니터링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415638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931359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15638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931359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467758" y="4263847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415638" y="4315968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2" name="Text 160"/>
          <p:cNvSpPr/>
          <p:nvPr/>
        </p:nvSpPr>
        <p:spPr>
          <a:xfrm>
            <a:off x="4415638" y="4263847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D+5주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63" name="Shape 161"/>
          <p:cNvSpPr/>
          <p:nvPr/>
        </p:nvSpPr>
        <p:spPr>
          <a:xfrm>
            <a:off x="2691079" y="4638751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64" name="Text 162"/>
          <p:cNvSpPr/>
          <p:nvPr/>
        </p:nvSpPr>
        <p:spPr>
          <a:xfrm>
            <a:off x="2665476" y="4671670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이하나</a:t>
            </a:r>
            <a:endParaRPr lang="en-US" sz="1000" dirty="0"/>
          </a:p>
        </p:txBody>
      </p:sp>
      <p:sp>
        <p:nvSpPr>
          <p:cNvPr id="165" name="Text 163"/>
          <p:cNvSpPr/>
          <p:nvPr/>
        </p:nvSpPr>
        <p:spPr>
          <a:xfrm>
            <a:off x="3038551" y="4671670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 검증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3601822" y="4731106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67" name="Text 165"/>
          <p:cNvSpPr/>
          <p:nvPr/>
        </p:nvSpPr>
        <p:spPr>
          <a:xfrm>
            <a:off x="3627425" y="4671670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 · 미응답 관리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4415638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31359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415638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931359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467758" y="4685386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415638" y="4737506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4" name="Text 172"/>
          <p:cNvSpPr/>
          <p:nvPr/>
        </p:nvSpPr>
        <p:spPr>
          <a:xfrm>
            <a:off x="4415638" y="4685386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D+6주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2691079" y="5060290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76" name="Text 174"/>
          <p:cNvSpPr/>
          <p:nvPr/>
        </p:nvSpPr>
        <p:spPr>
          <a:xfrm>
            <a:off x="2665476" y="5093208"/>
            <a:ext cx="34015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유주희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3038551" y="5093208"/>
            <a:ext cx="53675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홍보자료</a:t>
            </a:r>
            <a:endParaRPr lang="en-US" sz="1000" dirty="0"/>
          </a:p>
        </p:txBody>
      </p:sp>
      <p:sp>
        <p:nvSpPr>
          <p:cNvPr id="178" name="Shape 176"/>
          <p:cNvSpPr/>
          <p:nvPr/>
        </p:nvSpPr>
        <p:spPr>
          <a:xfrm>
            <a:off x="3601822" y="5151730"/>
            <a:ext cx="8230" cy="387706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79" name="Text 177"/>
          <p:cNvSpPr/>
          <p:nvPr/>
        </p:nvSpPr>
        <p:spPr>
          <a:xfrm>
            <a:off x="3627425" y="5093208"/>
            <a:ext cx="747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협조공문과 안내자료 디자인</a:t>
            </a:r>
            <a:endParaRPr lang="en-US" sz="1000" dirty="0"/>
          </a:p>
        </p:txBody>
      </p:sp>
      <p:sp>
        <p:nvSpPr>
          <p:cNvPr id="180" name="Shape 178"/>
          <p:cNvSpPr/>
          <p:nvPr/>
        </p:nvSpPr>
        <p:spPr>
          <a:xfrm>
            <a:off x="4415638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931359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415638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931359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4" name="Shape 182"/>
          <p:cNvSpPr/>
          <p:nvPr/>
        </p:nvSpPr>
        <p:spPr>
          <a:xfrm>
            <a:off x="4467758" y="5162702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415638" y="5214823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6" name="Text 184"/>
          <p:cNvSpPr/>
          <p:nvPr/>
        </p:nvSpPr>
        <p:spPr>
          <a:xfrm>
            <a:off x="4415638" y="5162702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D+4주</a:t>
            </a:r>
            <a:endParaRPr lang="en-US" sz="1000" dirty="0"/>
          </a:p>
        </p:txBody>
      </p:sp>
      <p:sp>
        <p:nvSpPr>
          <p:cNvPr id="187" name="Shape 185"/>
          <p:cNvSpPr/>
          <p:nvPr/>
        </p:nvSpPr>
        <p:spPr>
          <a:xfrm>
            <a:off x="51142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33440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1142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33440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180076" y="3353105"/>
            <a:ext cx="2220163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114239" y="3418027"/>
            <a:ext cx="2350922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180076" y="3359506"/>
            <a:ext cx="2220163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120640" y="3418027"/>
            <a:ext cx="2338121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677510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613855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677510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13855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789066" y="3254350"/>
            <a:ext cx="9363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677510" y="3365906"/>
            <a:ext cx="1159459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1" name="Text 199"/>
          <p:cNvSpPr/>
          <p:nvPr/>
        </p:nvSpPr>
        <p:spPr>
          <a:xfrm>
            <a:off x="5677510" y="3254350"/>
            <a:ext cx="1159459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자료처리·검증</a:t>
            </a:r>
            <a:endParaRPr lang="en-US" sz="1150" dirty="0"/>
          </a:p>
        </p:txBody>
      </p:sp>
      <p:sp>
        <p:nvSpPr>
          <p:cNvPr id="202" name="Text 200"/>
          <p:cNvSpPr/>
          <p:nvPr/>
        </p:nvSpPr>
        <p:spPr>
          <a:xfrm>
            <a:off x="5153558" y="352958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진병운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5526634" y="3529584"/>
            <a:ext cx="49743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 총괄</a:t>
            </a:r>
            <a:endParaRPr lang="en-US" sz="1000" dirty="0"/>
          </a:p>
        </p:txBody>
      </p:sp>
      <p:sp>
        <p:nvSpPr>
          <p:cNvPr id="204" name="Shape 202"/>
          <p:cNvSpPr/>
          <p:nvPr/>
        </p:nvSpPr>
        <p:spPr>
          <a:xfrm>
            <a:off x="6050585" y="358810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05" name="Text 203"/>
          <p:cNvSpPr/>
          <p:nvPr/>
        </p:nvSpPr>
        <p:spPr>
          <a:xfrm>
            <a:off x="6077102" y="3529584"/>
            <a:ext cx="689458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데이터 검증 체계 운영</a:t>
            </a:r>
            <a:endParaRPr lang="en-US" sz="1000" dirty="0"/>
          </a:p>
        </p:txBody>
      </p:sp>
      <p:sp>
        <p:nvSpPr>
          <p:cNvPr id="206" name="Shape 204"/>
          <p:cNvSpPr/>
          <p:nvPr/>
        </p:nvSpPr>
        <p:spPr>
          <a:xfrm>
            <a:off x="6805879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7" name="Shape 205"/>
          <p:cNvSpPr/>
          <p:nvPr/>
        </p:nvSpPr>
        <p:spPr>
          <a:xfrm>
            <a:off x="7321601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805879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9" name="Shape 207"/>
          <p:cNvSpPr/>
          <p:nvPr/>
        </p:nvSpPr>
        <p:spPr>
          <a:xfrm>
            <a:off x="7321601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858000" y="361919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805879" y="367131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2" name="Text 210"/>
          <p:cNvSpPr/>
          <p:nvPr/>
        </p:nvSpPr>
        <p:spPr>
          <a:xfrm>
            <a:off x="6805879" y="361919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13" name="Shape 211"/>
          <p:cNvSpPr/>
          <p:nvPr/>
        </p:nvSpPr>
        <p:spPr>
          <a:xfrm>
            <a:off x="5180076" y="4108399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14" name="Text 212"/>
          <p:cNvSpPr/>
          <p:nvPr/>
        </p:nvSpPr>
        <p:spPr>
          <a:xfrm>
            <a:off x="5153558" y="4141318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김진영</a:t>
            </a:r>
            <a:endParaRPr lang="en-US" sz="1000" dirty="0"/>
          </a:p>
        </p:txBody>
      </p:sp>
      <p:sp>
        <p:nvSpPr>
          <p:cNvPr id="215" name="Text 213"/>
          <p:cNvSpPr/>
          <p:nvPr/>
        </p:nvSpPr>
        <p:spPr>
          <a:xfrm>
            <a:off x="5526634" y="4141318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에디팅과 코딩 관리</a:t>
            </a:r>
            <a:endParaRPr lang="en-US" sz="1000" dirty="0"/>
          </a:p>
        </p:txBody>
      </p:sp>
      <p:sp>
        <p:nvSpPr>
          <p:cNvPr id="216" name="Shape 214"/>
          <p:cNvSpPr/>
          <p:nvPr/>
        </p:nvSpPr>
        <p:spPr>
          <a:xfrm>
            <a:off x="6050585" y="4199839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17" name="Text 215"/>
          <p:cNvSpPr/>
          <p:nvPr/>
        </p:nvSpPr>
        <p:spPr>
          <a:xfrm>
            <a:off x="6077102" y="4141318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정제 · 코드값 부여</a:t>
            </a:r>
            <a:endParaRPr lang="en-US" sz="1000" dirty="0"/>
          </a:p>
        </p:txBody>
      </p:sp>
      <p:sp>
        <p:nvSpPr>
          <p:cNvPr id="218" name="Shape 216"/>
          <p:cNvSpPr/>
          <p:nvPr/>
        </p:nvSpPr>
        <p:spPr>
          <a:xfrm>
            <a:off x="6805879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321601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805879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321601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858000" y="4305910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805879" y="4358030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4" name="Text 222"/>
          <p:cNvSpPr/>
          <p:nvPr/>
        </p:nvSpPr>
        <p:spPr>
          <a:xfrm>
            <a:off x="6805879" y="4305910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225" name="Shape 223"/>
          <p:cNvSpPr/>
          <p:nvPr/>
        </p:nvSpPr>
        <p:spPr>
          <a:xfrm>
            <a:off x="5180076" y="4870094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26" name="Text 224"/>
          <p:cNvSpPr/>
          <p:nvPr/>
        </p:nvSpPr>
        <p:spPr>
          <a:xfrm>
            <a:off x="5153558" y="4903013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이환</a:t>
            </a:r>
            <a:endParaRPr lang="en-US" sz="1150" dirty="0"/>
          </a:p>
        </p:txBody>
      </p:sp>
      <p:sp>
        <p:nvSpPr>
          <p:cNvPr id="227" name="Text 225"/>
          <p:cNvSpPr/>
          <p:nvPr/>
        </p:nvSpPr>
        <p:spPr>
          <a:xfrm>
            <a:off x="5526634" y="4903013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데이터 검증과 자료처리</a:t>
            </a:r>
            <a:endParaRPr lang="en-US" sz="1000" dirty="0"/>
          </a:p>
        </p:txBody>
      </p:sp>
      <p:sp>
        <p:nvSpPr>
          <p:cNvPr id="228" name="Shape 226"/>
          <p:cNvSpPr/>
          <p:nvPr/>
        </p:nvSpPr>
        <p:spPr>
          <a:xfrm>
            <a:off x="6050585" y="4961534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29" name="Text 227"/>
          <p:cNvSpPr/>
          <p:nvPr/>
        </p:nvSpPr>
        <p:spPr>
          <a:xfrm>
            <a:off x="6077102" y="4903013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내검 규칙 적용 · 가중치 산정</a:t>
            </a:r>
            <a:endParaRPr lang="en-US" sz="1000" dirty="0"/>
          </a:p>
        </p:txBody>
      </p:sp>
      <p:sp>
        <p:nvSpPr>
          <p:cNvPr id="230" name="Shape 228"/>
          <p:cNvSpPr/>
          <p:nvPr/>
        </p:nvSpPr>
        <p:spPr>
          <a:xfrm>
            <a:off x="6805879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321601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2" name="Shape 230"/>
          <p:cNvSpPr/>
          <p:nvPr/>
        </p:nvSpPr>
        <p:spPr>
          <a:xfrm>
            <a:off x="6805879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321601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4" name="Shape 232"/>
          <p:cNvSpPr/>
          <p:nvPr/>
        </p:nvSpPr>
        <p:spPr>
          <a:xfrm>
            <a:off x="6858000" y="506760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805879" y="511972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6" name="Text 234"/>
          <p:cNvSpPr/>
          <p:nvPr/>
        </p:nvSpPr>
        <p:spPr>
          <a:xfrm>
            <a:off x="6805879" y="506760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37" name="Shape 235"/>
          <p:cNvSpPr/>
          <p:nvPr/>
        </p:nvSpPr>
        <p:spPr>
          <a:xfrm>
            <a:off x="7517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9803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517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803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7583119" y="3353105"/>
            <a:ext cx="2285086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7517282" y="3418027"/>
            <a:ext cx="2416759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7583119" y="3359506"/>
            <a:ext cx="2285086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524598" y="3418027"/>
            <a:ext cx="2403043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133588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07633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133588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07633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9" name="Shape 247"/>
          <p:cNvSpPr/>
          <p:nvPr/>
        </p:nvSpPr>
        <p:spPr>
          <a:xfrm>
            <a:off x="8244230" y="3254350"/>
            <a:ext cx="9427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0" name="Shape 248"/>
          <p:cNvSpPr/>
          <p:nvPr/>
        </p:nvSpPr>
        <p:spPr>
          <a:xfrm>
            <a:off x="8133588" y="3365906"/>
            <a:ext cx="1165860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1" name="Text 249"/>
          <p:cNvSpPr/>
          <p:nvPr/>
        </p:nvSpPr>
        <p:spPr>
          <a:xfrm>
            <a:off x="8133588" y="3254350"/>
            <a:ext cx="116586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시스템·명부</a:t>
            </a:r>
            <a:endParaRPr lang="en-US" sz="1150" dirty="0"/>
          </a:p>
        </p:txBody>
      </p:sp>
      <p:sp>
        <p:nvSpPr>
          <p:cNvPr id="252" name="Text 250"/>
          <p:cNvSpPr/>
          <p:nvPr/>
        </p:nvSpPr>
        <p:spPr>
          <a:xfrm>
            <a:off x="7556602" y="3529584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박진오</a:t>
            </a:r>
            <a:endParaRPr lang="en-US" sz="1000" dirty="0"/>
          </a:p>
        </p:txBody>
      </p:sp>
      <p:sp>
        <p:nvSpPr>
          <p:cNvPr id="253" name="Text 251"/>
          <p:cNvSpPr/>
          <p:nvPr/>
        </p:nvSpPr>
        <p:spPr>
          <a:xfrm>
            <a:off x="7930591" y="3529584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조사 시스템 개발</a:t>
            </a:r>
            <a:endParaRPr lang="en-US" sz="1000" dirty="0"/>
          </a:p>
        </p:txBody>
      </p:sp>
      <p:sp>
        <p:nvSpPr>
          <p:cNvPr id="254" name="Shape 252"/>
          <p:cNvSpPr/>
          <p:nvPr/>
        </p:nvSpPr>
        <p:spPr>
          <a:xfrm>
            <a:off x="8513064" y="3588106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55" name="Text 253"/>
          <p:cNvSpPr/>
          <p:nvPr/>
        </p:nvSpPr>
        <p:spPr>
          <a:xfrm>
            <a:off x="8539582" y="3529584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페이지 구축 · 사전 입력 구현</a:t>
            </a:r>
            <a:endParaRPr lang="en-US" sz="1000" dirty="0"/>
          </a:p>
        </p:txBody>
      </p:sp>
      <p:sp>
        <p:nvSpPr>
          <p:cNvPr id="256" name="Shape 254"/>
          <p:cNvSpPr/>
          <p:nvPr/>
        </p:nvSpPr>
        <p:spPr>
          <a:xfrm>
            <a:off x="9346082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789566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8" name="Shape 256"/>
          <p:cNvSpPr/>
          <p:nvPr/>
        </p:nvSpPr>
        <p:spPr>
          <a:xfrm>
            <a:off x="9346082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789566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0" name="Shape 258"/>
          <p:cNvSpPr/>
          <p:nvPr/>
        </p:nvSpPr>
        <p:spPr>
          <a:xfrm>
            <a:off x="9398203" y="3846881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1" name="Shape 259"/>
          <p:cNvSpPr/>
          <p:nvPr/>
        </p:nvSpPr>
        <p:spPr>
          <a:xfrm>
            <a:off x="9346082" y="3899916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2" name="Text 260"/>
          <p:cNvSpPr/>
          <p:nvPr/>
        </p:nvSpPr>
        <p:spPr>
          <a:xfrm>
            <a:off x="9346082" y="3846881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D+6주</a:t>
            </a:r>
            <a:endParaRPr lang="en-US" sz="1000" dirty="0"/>
          </a:p>
        </p:txBody>
      </p:sp>
      <p:sp>
        <p:nvSpPr>
          <p:cNvPr id="263" name="Shape 261"/>
          <p:cNvSpPr/>
          <p:nvPr/>
        </p:nvSpPr>
        <p:spPr>
          <a:xfrm>
            <a:off x="7583119" y="4564685"/>
            <a:ext cx="2285086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64" name="Text 262"/>
          <p:cNvSpPr/>
          <p:nvPr/>
        </p:nvSpPr>
        <p:spPr>
          <a:xfrm>
            <a:off x="7556602" y="4596689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김동철</a:t>
            </a:r>
            <a:endParaRPr lang="en-US" sz="1000" dirty="0"/>
          </a:p>
        </p:txBody>
      </p:sp>
      <p:sp>
        <p:nvSpPr>
          <p:cNvPr id="265" name="Text 263"/>
          <p:cNvSpPr/>
          <p:nvPr/>
        </p:nvSpPr>
        <p:spPr>
          <a:xfrm>
            <a:off x="7930591" y="4596689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표본명부 관리</a:t>
            </a:r>
            <a:endParaRPr lang="en-US" sz="1000" dirty="0"/>
          </a:p>
        </p:txBody>
      </p:sp>
      <p:sp>
        <p:nvSpPr>
          <p:cNvPr id="266" name="Shape 264"/>
          <p:cNvSpPr/>
          <p:nvPr/>
        </p:nvSpPr>
        <p:spPr>
          <a:xfrm>
            <a:off x="8513064" y="4656125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67" name="Text 265"/>
          <p:cNvSpPr/>
          <p:nvPr/>
        </p:nvSpPr>
        <p:spPr>
          <a:xfrm>
            <a:off x="8539582" y="4596689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현행화 · 연락처 확보 관리</a:t>
            </a:r>
            <a:endParaRPr lang="en-US" sz="1000" dirty="0"/>
          </a:p>
        </p:txBody>
      </p:sp>
      <p:sp>
        <p:nvSpPr>
          <p:cNvPr id="268" name="Shape 266"/>
          <p:cNvSpPr/>
          <p:nvPr/>
        </p:nvSpPr>
        <p:spPr>
          <a:xfrm>
            <a:off x="9346082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9" name="Shape 267"/>
          <p:cNvSpPr/>
          <p:nvPr/>
        </p:nvSpPr>
        <p:spPr>
          <a:xfrm>
            <a:off x="9789566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0" name="Shape 268"/>
          <p:cNvSpPr/>
          <p:nvPr/>
        </p:nvSpPr>
        <p:spPr>
          <a:xfrm>
            <a:off x="9346082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789566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2" name="Shape 270"/>
          <p:cNvSpPr/>
          <p:nvPr/>
        </p:nvSpPr>
        <p:spPr>
          <a:xfrm>
            <a:off x="9398203" y="4914900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346082" y="4967021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4" name="Text 272"/>
          <p:cNvSpPr/>
          <p:nvPr/>
        </p:nvSpPr>
        <p:spPr>
          <a:xfrm>
            <a:off x="9346082" y="4914900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D+8주</a:t>
            </a:r>
            <a:endParaRPr lang="en-US" sz="1000" dirty="0"/>
          </a:p>
        </p:txBody>
      </p:sp>
      <p:sp>
        <p:nvSpPr>
          <p:cNvPr id="275" name="Shape 273"/>
          <p:cNvSpPr/>
          <p:nvPr/>
        </p:nvSpPr>
        <p:spPr>
          <a:xfrm>
            <a:off x="288036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547250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288036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547250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05994" y="5723230"/>
            <a:ext cx="9259214" cy="700430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288036" y="5841187"/>
            <a:ext cx="9495130" cy="464515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589788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2" name="Shape 280"/>
          <p:cNvSpPr/>
          <p:nvPr/>
        </p:nvSpPr>
        <p:spPr>
          <a:xfrm>
            <a:off x="9410090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3" name="Text 281"/>
          <p:cNvSpPr/>
          <p:nvPr/>
        </p:nvSpPr>
        <p:spPr>
          <a:xfrm>
            <a:off x="785470" y="5801868"/>
            <a:ext cx="850026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책임과 PM이 전 기간을 관리하고, 연구 · 실사 · 자료처리 · 시스템 기능을 단계별로 투입</a:t>
            </a:r>
            <a:endParaRPr lang="en-US" sz="1410" dirty="0"/>
          </a:p>
        </p:txBody>
      </p:sp>
      <p:sp>
        <p:nvSpPr>
          <p:cNvPr id="284" name="Text 282"/>
          <p:cNvSpPr/>
          <p:nvPr/>
        </p:nvSpPr>
        <p:spPr>
          <a:xfrm>
            <a:off x="785470" y="6077102"/>
            <a:ext cx="8500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8E37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시점을 사전에 고정하여 일정 · 품질 · 산출물의 책임 소재를 명확화</a:t>
            </a:r>
            <a:endParaRPr lang="en-US" sz="14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2026-08-12T01:47:00Z</dcterms:created>
  <dcterms:modified xsi:type="dcterms:W3CDTF">2026-08-12T01:47:00Z</dcterms:modified>
</cp:coreProperties>
</file>
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058400" cy="6705570"/>
  <p:notesSz cx="670557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398" y="91440"/>
            <a:ext cx="851306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조사 결과를 재단이 바로 쓰는 정책 판단 자료로 제공</a:t>
            </a:r>
            <a:endParaRPr lang="en-US" sz="2290" dirty="0"/>
          </a:p>
        </p:txBody>
      </p:sp>
      <p:sp>
        <p:nvSpPr>
          <p:cNvPr id="3" name="Shape 1"/>
          <p:cNvSpPr/>
          <p:nvPr/>
        </p:nvSpPr>
        <p:spPr>
          <a:xfrm flipH="1">
            <a:off x="183794" y="523951"/>
            <a:ext cx="78638" cy="170078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4" name="Text 2"/>
          <p:cNvSpPr/>
          <p:nvPr/>
        </p:nvSpPr>
        <p:spPr>
          <a:xfrm>
            <a:off x="327355" y="497434"/>
            <a:ext cx="589330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② 기대성과 및 활용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1591056" y="753466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10067" y="753466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91056" y="1224382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10067" y="1224382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69694" y="753466"/>
            <a:ext cx="6719011" cy="628193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91056" y="832104"/>
            <a:ext cx="6876288" cy="47183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69694" y="759866"/>
            <a:ext cx="6719011" cy="6153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597457" y="832104"/>
            <a:ext cx="6862572" cy="4718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696212" y="779069"/>
            <a:ext cx="393192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1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115" dirty="0"/>
          </a:p>
        </p:txBody>
      </p:sp>
      <p:sp>
        <p:nvSpPr>
          <p:cNvPr id="14" name="Text 12"/>
          <p:cNvSpPr/>
          <p:nvPr/>
        </p:nvSpPr>
        <p:spPr>
          <a:xfrm>
            <a:off x="7968996" y="779069"/>
            <a:ext cx="393192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1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115" dirty="0"/>
          </a:p>
        </p:txBody>
      </p:sp>
      <p:sp>
        <p:nvSpPr>
          <p:cNvPr id="15" name="Text 13"/>
          <p:cNvSpPr/>
          <p:nvPr/>
        </p:nvSpPr>
        <p:spPr>
          <a:xfrm>
            <a:off x="2089404" y="753466"/>
            <a:ext cx="5880506" cy="628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4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조사 결과를 재단이 바로 쓸 수 있는 형태로 정리하여 제공</a:t>
            </a:r>
            <a:endParaRPr lang="en-US" sz="141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4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정책 성과보고와 제도 개선 논의의 근거로 활용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190195" y="1486814"/>
            <a:ext cx="248717" cy="248717"/>
          </a:xfrm>
          <a:prstGeom prst="ellipse">
            <a:avLst/>
          </a:prstGeom>
          <a:solidFill>
            <a:srgbClr val="00277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30014" y="1486814"/>
            <a:ext cx="248717" cy="248717"/>
          </a:xfrm>
          <a:prstGeom prst="ellipse">
            <a:avLst/>
          </a:prstGeom>
          <a:solidFill>
            <a:srgbClr val="00277A"/>
          </a:solidFill>
          <a:ln/>
        </p:spPr>
      </p:sp>
      <p:sp>
        <p:nvSpPr>
          <p:cNvPr id="18" name="Shape 16"/>
          <p:cNvSpPr/>
          <p:nvPr/>
        </p:nvSpPr>
        <p:spPr>
          <a:xfrm>
            <a:off x="190195" y="1486814"/>
            <a:ext cx="248717" cy="248717"/>
          </a:xfrm>
          <a:prstGeom prst="ellipse">
            <a:avLst/>
          </a:prstGeom>
          <a:solidFill>
            <a:srgbClr val="00277A"/>
          </a:solidFill>
          <a:ln/>
        </p:spPr>
      </p:sp>
      <p:sp>
        <p:nvSpPr>
          <p:cNvPr id="19" name="Shape 17"/>
          <p:cNvSpPr/>
          <p:nvPr/>
        </p:nvSpPr>
        <p:spPr>
          <a:xfrm>
            <a:off x="4230014" y="1486814"/>
            <a:ext cx="248717" cy="248717"/>
          </a:xfrm>
          <a:prstGeom prst="ellipse">
            <a:avLst/>
          </a:prstGeom>
          <a:solidFill>
            <a:srgbClr val="00277A"/>
          </a:solidFill>
          <a:ln/>
        </p:spPr>
      </p:sp>
      <p:sp>
        <p:nvSpPr>
          <p:cNvPr id="20" name="Shape 18"/>
          <p:cNvSpPr/>
          <p:nvPr/>
        </p:nvSpPr>
        <p:spPr>
          <a:xfrm>
            <a:off x="314554" y="1486814"/>
            <a:ext cx="4040734" cy="248717"/>
          </a:xfrm>
          <a:prstGeom prst="rect">
            <a:avLst/>
          </a:prstGeom>
          <a:solidFill>
            <a:srgbClr val="00277A"/>
          </a:solidFill>
          <a:ln/>
        </p:spPr>
      </p:sp>
      <p:sp>
        <p:nvSpPr>
          <p:cNvPr id="21" name="Shape 19"/>
          <p:cNvSpPr/>
          <p:nvPr/>
        </p:nvSpPr>
        <p:spPr>
          <a:xfrm>
            <a:off x="190195" y="1611173"/>
            <a:ext cx="4289450" cy="0"/>
          </a:xfrm>
          <a:prstGeom prst="rect">
            <a:avLst/>
          </a:prstGeom>
          <a:solidFill>
            <a:srgbClr val="00277A"/>
          </a:solidFill>
          <a:ln/>
        </p:spPr>
      </p:sp>
      <p:sp>
        <p:nvSpPr>
          <p:cNvPr id="22" name="Text 20"/>
          <p:cNvSpPr/>
          <p:nvPr/>
        </p:nvSpPr>
        <p:spPr>
          <a:xfrm>
            <a:off x="190195" y="1486814"/>
            <a:ext cx="428945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최종보고서에 포함하는 정책 판단 자료 4종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36415" y="1558138"/>
            <a:ext cx="105156" cy="10515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3966" y="1486814"/>
            <a:ext cx="248717" cy="248717"/>
          </a:xfrm>
          <a:prstGeom prst="ellipse">
            <a:avLst/>
          </a:prstGeom>
          <a:solidFill>
            <a:srgbClr val="00277A"/>
          </a:solidFill>
          <a:ln/>
        </p:spPr>
      </p:sp>
      <p:sp>
        <p:nvSpPr>
          <p:cNvPr id="25" name="Shape 23"/>
          <p:cNvSpPr/>
          <p:nvPr/>
        </p:nvSpPr>
        <p:spPr>
          <a:xfrm>
            <a:off x="9455810" y="1486814"/>
            <a:ext cx="248717" cy="248717"/>
          </a:xfrm>
          <a:prstGeom prst="ellipse">
            <a:avLst/>
          </a:prstGeom>
          <a:solidFill>
            <a:srgbClr val="00277A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3966" y="1486814"/>
            <a:ext cx="248717" cy="248717"/>
          </a:xfrm>
          <a:prstGeom prst="ellipse">
            <a:avLst/>
          </a:prstGeom>
          <a:solidFill>
            <a:srgbClr val="00277A"/>
          </a:solidFill>
          <a:ln/>
        </p:spPr>
      </p:sp>
      <p:sp>
        <p:nvSpPr>
          <p:cNvPr id="27" name="Shape 25"/>
          <p:cNvSpPr/>
          <p:nvPr/>
        </p:nvSpPr>
        <p:spPr>
          <a:xfrm>
            <a:off x="9455810" y="1486814"/>
            <a:ext cx="248717" cy="248717"/>
          </a:xfrm>
          <a:prstGeom prst="ellipse">
            <a:avLst/>
          </a:prstGeom>
          <a:solidFill>
            <a:srgbClr val="00277A"/>
          </a:solidFill>
          <a:ln/>
        </p:spPr>
      </p:sp>
      <p:sp>
        <p:nvSpPr>
          <p:cNvPr id="28" name="Shape 26"/>
          <p:cNvSpPr/>
          <p:nvPr/>
        </p:nvSpPr>
        <p:spPr>
          <a:xfrm>
            <a:off x="4878324" y="1486814"/>
            <a:ext cx="4701845" cy="248717"/>
          </a:xfrm>
          <a:prstGeom prst="rect">
            <a:avLst/>
          </a:prstGeom>
          <a:solidFill>
            <a:srgbClr val="00277A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3966" y="1611173"/>
            <a:ext cx="4950562" cy="0"/>
          </a:xfrm>
          <a:prstGeom prst="rect">
            <a:avLst/>
          </a:prstGeom>
          <a:solidFill>
            <a:srgbClr val="00277A"/>
          </a:solidFill>
          <a:ln/>
        </p:spPr>
      </p:sp>
      <p:sp>
        <p:nvSpPr>
          <p:cNvPr id="30" name="Text 28"/>
          <p:cNvSpPr/>
          <p:nvPr/>
        </p:nvSpPr>
        <p:spPr>
          <a:xfrm>
            <a:off x="4753966" y="1486814"/>
            <a:ext cx="495056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재단의 활용 시점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462211" y="1558138"/>
            <a:ext cx="105156" cy="10515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09398" y="1839773"/>
            <a:ext cx="157277" cy="157277"/>
          </a:xfrm>
          <a:prstGeom prst="ellipse">
            <a:avLst/>
          </a:prstGeom>
          <a:solidFill>
            <a:srgbClr val="F7F7F7"/>
          </a:solidFill>
          <a:ln/>
        </p:spPr>
      </p:sp>
      <p:sp>
        <p:nvSpPr>
          <p:cNvPr id="33" name="Shape 31"/>
          <p:cNvSpPr/>
          <p:nvPr/>
        </p:nvSpPr>
        <p:spPr>
          <a:xfrm>
            <a:off x="4413809" y="1839773"/>
            <a:ext cx="157277" cy="157277"/>
          </a:xfrm>
          <a:prstGeom prst="ellipse">
            <a:avLst/>
          </a:prstGeom>
          <a:solidFill>
            <a:srgbClr val="F7F7F7"/>
          </a:solidFill>
          <a:ln/>
        </p:spPr>
      </p:sp>
      <p:sp>
        <p:nvSpPr>
          <p:cNvPr id="34" name="Shape 32"/>
          <p:cNvSpPr/>
          <p:nvPr/>
        </p:nvSpPr>
        <p:spPr>
          <a:xfrm>
            <a:off x="209398" y="4668926"/>
            <a:ext cx="157277" cy="157277"/>
          </a:xfrm>
          <a:prstGeom prst="ellipse">
            <a:avLst/>
          </a:prstGeom>
          <a:solidFill>
            <a:srgbClr val="F7F7F7"/>
          </a:solidFill>
          <a:ln/>
        </p:spPr>
      </p:sp>
      <p:sp>
        <p:nvSpPr>
          <p:cNvPr id="35" name="Shape 33"/>
          <p:cNvSpPr/>
          <p:nvPr/>
        </p:nvSpPr>
        <p:spPr>
          <a:xfrm>
            <a:off x="4413809" y="4668926"/>
            <a:ext cx="157277" cy="157277"/>
          </a:xfrm>
          <a:prstGeom prst="ellipse">
            <a:avLst/>
          </a:prstGeom>
          <a:solidFill>
            <a:srgbClr val="F7F7F7"/>
          </a:solidFill>
          <a:ln/>
        </p:spPr>
      </p:sp>
      <p:sp>
        <p:nvSpPr>
          <p:cNvPr id="36" name="Shape 34"/>
          <p:cNvSpPr/>
          <p:nvPr/>
        </p:nvSpPr>
        <p:spPr>
          <a:xfrm>
            <a:off x="288036" y="1839773"/>
            <a:ext cx="4204411" cy="298643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7" name="Shape 35"/>
          <p:cNvSpPr/>
          <p:nvPr/>
        </p:nvSpPr>
        <p:spPr>
          <a:xfrm>
            <a:off x="209398" y="1918411"/>
            <a:ext cx="4361688" cy="282915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Shape 36"/>
          <p:cNvSpPr/>
          <p:nvPr/>
        </p:nvSpPr>
        <p:spPr>
          <a:xfrm>
            <a:off x="2416759" y="1944929"/>
            <a:ext cx="0" cy="2750515"/>
          </a:xfrm>
          <a:prstGeom prst="line">
            <a:avLst/>
          </a:prstGeom>
          <a:noFill/>
          <a:ln w="9525">
            <a:solidFill>
              <a:srgbClr val="CFD3DA"/>
            </a:solidFill>
            <a:prstDash val="sysDash"/>
          </a:ln>
        </p:spPr>
      </p:sp>
      <p:sp>
        <p:nvSpPr>
          <p:cNvPr id="39" name="Shape 37"/>
          <p:cNvSpPr/>
          <p:nvPr/>
        </p:nvSpPr>
        <p:spPr>
          <a:xfrm>
            <a:off x="308153" y="3345790"/>
            <a:ext cx="4151376" cy="0"/>
          </a:xfrm>
          <a:prstGeom prst="line">
            <a:avLst/>
          </a:prstGeom>
          <a:noFill/>
          <a:ln w="9525">
            <a:solidFill>
              <a:srgbClr val="CFD3DA"/>
            </a:solidFill>
            <a:prstDash val="sysDash"/>
          </a:ln>
        </p:spPr>
      </p:sp>
      <p:sp>
        <p:nvSpPr>
          <p:cNvPr id="40" name="Shape 38"/>
          <p:cNvSpPr/>
          <p:nvPr/>
        </p:nvSpPr>
        <p:spPr>
          <a:xfrm rot="5400000">
            <a:off x="347472" y="1944929"/>
            <a:ext cx="275234" cy="308153"/>
          </a:xfrm>
          <a:prstGeom prst="hexagon">
            <a:avLst/>
          </a:prstGeom>
          <a:solidFill>
            <a:srgbClr val="0A2A78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" y="1944929"/>
            <a:ext cx="275234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01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654710" y="1957730"/>
            <a:ext cx="1794053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C247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업종별 취약 지점 진단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7472" y="2344522"/>
            <a:ext cx="19202" cy="929945"/>
          </a:xfrm>
          <a:prstGeom prst="rect">
            <a:avLst/>
          </a:prstGeom>
          <a:solidFill>
            <a:srgbClr val="0A2A78"/>
          </a:solidFill>
          <a:ln/>
        </p:spPr>
      </p:sp>
      <p:sp>
        <p:nvSpPr>
          <p:cNvPr id="44" name="Text 42"/>
          <p:cNvSpPr/>
          <p:nvPr/>
        </p:nvSpPr>
        <p:spPr>
          <a:xfrm>
            <a:off x="432511" y="2318004"/>
            <a:ext cx="1932127" cy="98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이행률이 전국 평균보다 낮은 업종과 회피율이 높은 업종을 표로 제시</a:t>
            </a:r>
            <a:endParaRPr lang="en-US" sz="1000" dirty="0"/>
          </a:p>
          <a:p>
            <a:pPr algn="l" marL="342900" indent="-342900">
              <a:lnSpc>
                <a:spcPct val="106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각 업종의 생산원가구조와 거래 조건에서 원인이 어디에 있는지 함께 서술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 rot="5400000">
            <a:off x="2541118" y="1944929"/>
            <a:ext cx="275234" cy="308153"/>
          </a:xfrm>
          <a:prstGeom prst="hexagon">
            <a:avLst/>
          </a:prstGeom>
          <a:solidFill>
            <a:srgbClr val="0A2A78"/>
          </a:solidFill>
          <a:ln/>
        </p:spPr>
      </p:sp>
      <p:sp>
        <p:nvSpPr>
          <p:cNvPr id="46" name="Text 44"/>
          <p:cNvSpPr/>
          <p:nvPr/>
        </p:nvSpPr>
        <p:spPr>
          <a:xfrm>
            <a:off x="2541118" y="1944929"/>
            <a:ext cx="275234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02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2848356" y="1957730"/>
            <a:ext cx="1794053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0" b="1" dirty="0">
                <a:solidFill>
                  <a:srgbClr val="0C247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표준 연동산식 설계 기초 자료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2541118" y="2344522"/>
            <a:ext cx="19202" cy="929945"/>
          </a:xfrm>
          <a:prstGeom prst="rect">
            <a:avLst/>
          </a:prstGeom>
          <a:solidFill>
            <a:srgbClr val="0A2A78"/>
          </a:solidFill>
          <a:ln/>
        </p:spPr>
      </p:sp>
      <p:sp>
        <p:nvSpPr>
          <p:cNvPr id="49" name="Text 47"/>
          <p:cNvSpPr/>
          <p:nvPr/>
        </p:nvSpPr>
        <p:spPr>
          <a:xfrm>
            <a:off x="2626157" y="2318004"/>
            <a:ext cx="1932127" cy="98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업종별 생산원가구조와 주요 원재료 의존도, 에너지경비 비중을 산출</a:t>
            </a:r>
            <a:endParaRPr lang="en-US" sz="1000" dirty="0"/>
          </a:p>
          <a:p>
            <a:pPr algn="l" marL="342900" indent="-342900">
              <a:lnSpc>
                <a:spcPct val="106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업종 특성에 맞는 연동 산식과 조정 주기 설계의 근거로 제공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 rot="5400000">
            <a:off x="347472" y="3457346"/>
            <a:ext cx="275234" cy="308153"/>
          </a:xfrm>
          <a:prstGeom prst="hexagon">
            <a:avLst/>
          </a:prstGeom>
          <a:solidFill>
            <a:srgbClr val="8F6023"/>
          </a:solidFill>
          <a:ln/>
        </p:spPr>
      </p:sp>
      <p:sp>
        <p:nvSpPr>
          <p:cNvPr id="51" name="Text 49"/>
          <p:cNvSpPr/>
          <p:nvPr/>
        </p:nvSpPr>
        <p:spPr>
          <a:xfrm>
            <a:off x="347472" y="3457346"/>
            <a:ext cx="275234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03</a:t>
            </a:r>
            <a:endParaRPr lang="en-US" sz="1040" dirty="0"/>
          </a:p>
        </p:txBody>
      </p:sp>
      <p:sp>
        <p:nvSpPr>
          <p:cNvPr id="52" name="Text 50"/>
          <p:cNvSpPr/>
          <p:nvPr/>
        </p:nvSpPr>
        <p:spPr>
          <a:xfrm>
            <a:off x="654710" y="3471062"/>
            <a:ext cx="1794053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8F602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제도 개선 우선순위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47472" y="3856939"/>
            <a:ext cx="19202" cy="929945"/>
          </a:xfrm>
          <a:prstGeom prst="rect">
            <a:avLst/>
          </a:prstGeom>
          <a:solidFill>
            <a:srgbClr val="8F6023"/>
          </a:solidFill>
          <a:ln/>
        </p:spPr>
      </p:sp>
      <p:sp>
        <p:nvSpPr>
          <p:cNvPr id="54" name="Text 52"/>
          <p:cNvSpPr/>
          <p:nvPr/>
        </p:nvSpPr>
        <p:spPr>
          <a:xfrm>
            <a:off x="432511" y="3830422"/>
            <a:ext cx="1932127" cy="98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미체결 사유와 제도 애로 응답을 업종별로 교차</a:t>
            </a:r>
            <a:endParaRPr lang="en-US" sz="1000" dirty="0"/>
          </a:p>
          <a:p>
            <a:pPr algn="l" marL="342900" indent="-342900">
              <a:lnSpc>
                <a:spcPct val="106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어느 지점을 먼저 손봐야 효과가 큰지 순서를 제시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 rot="5400000">
            <a:off x="2541118" y="3457346"/>
            <a:ext cx="275234" cy="308153"/>
          </a:xfrm>
          <a:prstGeom prst="hexagon">
            <a:avLst/>
          </a:prstGeom>
          <a:solidFill>
            <a:srgbClr val="0A2A78"/>
          </a:solidFill>
          <a:ln/>
        </p:spPr>
      </p:sp>
      <p:sp>
        <p:nvSpPr>
          <p:cNvPr id="56" name="Text 54"/>
          <p:cNvSpPr/>
          <p:nvPr/>
        </p:nvSpPr>
        <p:spPr>
          <a:xfrm>
            <a:off x="2541118" y="3457346"/>
            <a:ext cx="275234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04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2848356" y="3471062"/>
            <a:ext cx="1794053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C247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차년도 조사 설계 제언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541118" y="3856939"/>
            <a:ext cx="19202" cy="929945"/>
          </a:xfrm>
          <a:prstGeom prst="rect">
            <a:avLst/>
          </a:prstGeom>
          <a:solidFill>
            <a:srgbClr val="0A2A78"/>
          </a:solidFill>
          <a:ln/>
        </p:spPr>
      </p:sp>
      <p:sp>
        <p:nvSpPr>
          <p:cNvPr id="59" name="Text 57"/>
          <p:cNvSpPr/>
          <p:nvPr/>
        </p:nvSpPr>
        <p:spPr>
          <a:xfrm>
            <a:off x="2626157" y="3830422"/>
            <a:ext cx="1932127" cy="98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이번 조사에서 확인된 응답 편차와 문항 반응을 근거로</a:t>
            </a:r>
            <a:endParaRPr lang="en-US" sz="1000" dirty="0"/>
          </a:p>
          <a:p>
            <a:pPr algn="l" marL="342900" indent="-342900">
              <a:lnSpc>
                <a:spcPct val="106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차년도 조사표와 표본 규모 조정안을 제시</a:t>
            </a:r>
            <a:endParaRPr lang="en-US" sz="1000" dirty="0"/>
          </a:p>
        </p:txBody>
      </p:sp>
      <p:pic>
        <p:nvPicPr>
          <p:cNvPr id="60" name="Image 0" descr="/home/user/kstat-pm/deck/namp-2026/assets/s18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305" y="4734763"/>
            <a:ext cx="1676095" cy="1014984"/>
          </a:xfrm>
          <a:prstGeom prst="rect">
            <a:avLst/>
          </a:prstGeom>
        </p:spPr>
      </p:pic>
      <p:sp>
        <p:nvSpPr>
          <p:cNvPr id="61" name="Shape 58"/>
          <p:cNvSpPr/>
          <p:nvPr/>
        </p:nvSpPr>
        <p:spPr>
          <a:xfrm>
            <a:off x="5048402" y="1807769"/>
            <a:ext cx="0" cy="2854757"/>
          </a:xfrm>
          <a:prstGeom prst="line">
            <a:avLst/>
          </a:prstGeom>
          <a:noFill/>
          <a:ln w="19050">
            <a:solidFill>
              <a:srgbClr val="7B829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799686" y="2338121"/>
            <a:ext cx="4944161" cy="0"/>
          </a:xfrm>
          <a:prstGeom prst="line">
            <a:avLst/>
          </a:prstGeom>
          <a:noFill/>
          <a:ln w="9525">
            <a:solidFill>
              <a:srgbClr val="CFD3DA"/>
            </a:solidFill>
            <a:prstDash val="sysDash"/>
          </a:ln>
        </p:spPr>
      </p:sp>
      <p:sp>
        <p:nvSpPr>
          <p:cNvPr id="63" name="Shape 60"/>
          <p:cNvSpPr/>
          <p:nvPr/>
        </p:nvSpPr>
        <p:spPr>
          <a:xfrm>
            <a:off x="5009998" y="2298802"/>
            <a:ext cx="78638" cy="78638"/>
          </a:xfrm>
          <a:prstGeom prst="ellipse">
            <a:avLst/>
          </a:prstGeom>
          <a:solidFill>
            <a:srgbClr val="25397E"/>
          </a:solidFill>
          <a:ln/>
        </p:spPr>
      </p:sp>
      <p:sp>
        <p:nvSpPr>
          <p:cNvPr id="64" name="Shape 61"/>
          <p:cNvSpPr/>
          <p:nvPr/>
        </p:nvSpPr>
        <p:spPr>
          <a:xfrm>
            <a:off x="4799686" y="3090672"/>
            <a:ext cx="4944161" cy="0"/>
          </a:xfrm>
          <a:prstGeom prst="line">
            <a:avLst/>
          </a:prstGeom>
          <a:noFill/>
          <a:ln w="9525">
            <a:solidFill>
              <a:srgbClr val="CFD3DA"/>
            </a:solidFill>
            <a:prstDash val="sysDash"/>
          </a:ln>
        </p:spPr>
      </p:sp>
      <p:sp>
        <p:nvSpPr>
          <p:cNvPr id="65" name="Shape 62"/>
          <p:cNvSpPr/>
          <p:nvPr/>
        </p:nvSpPr>
        <p:spPr>
          <a:xfrm>
            <a:off x="5009998" y="3051353"/>
            <a:ext cx="78638" cy="78638"/>
          </a:xfrm>
          <a:prstGeom prst="ellipse">
            <a:avLst/>
          </a:prstGeom>
          <a:solidFill>
            <a:srgbClr val="25397E"/>
          </a:solidFill>
          <a:ln/>
        </p:spPr>
      </p:sp>
      <p:sp>
        <p:nvSpPr>
          <p:cNvPr id="66" name="Shape 63"/>
          <p:cNvSpPr/>
          <p:nvPr/>
        </p:nvSpPr>
        <p:spPr>
          <a:xfrm>
            <a:off x="4799686" y="3647542"/>
            <a:ext cx="4944161" cy="0"/>
          </a:xfrm>
          <a:prstGeom prst="line">
            <a:avLst/>
          </a:prstGeom>
          <a:noFill/>
          <a:ln w="9525">
            <a:solidFill>
              <a:srgbClr val="CFD3DA"/>
            </a:solidFill>
            <a:prstDash val="sysDash"/>
          </a:ln>
        </p:spPr>
      </p:sp>
      <p:sp>
        <p:nvSpPr>
          <p:cNvPr id="67" name="Shape 64"/>
          <p:cNvSpPr/>
          <p:nvPr/>
        </p:nvSpPr>
        <p:spPr>
          <a:xfrm>
            <a:off x="5009998" y="3608222"/>
            <a:ext cx="78638" cy="78638"/>
          </a:xfrm>
          <a:prstGeom prst="ellipse">
            <a:avLst/>
          </a:prstGeom>
          <a:solidFill>
            <a:srgbClr val="25397E"/>
          </a:solidFill>
          <a:ln/>
        </p:spPr>
      </p:sp>
      <p:sp>
        <p:nvSpPr>
          <p:cNvPr id="68" name="Shape 65"/>
          <p:cNvSpPr/>
          <p:nvPr/>
        </p:nvSpPr>
        <p:spPr>
          <a:xfrm>
            <a:off x="4799686" y="4204411"/>
            <a:ext cx="4944161" cy="0"/>
          </a:xfrm>
          <a:prstGeom prst="line">
            <a:avLst/>
          </a:prstGeom>
          <a:noFill/>
          <a:ln w="9525">
            <a:solidFill>
              <a:srgbClr val="CFD3DA"/>
            </a:solidFill>
            <a:prstDash val="sysDash"/>
          </a:ln>
        </p:spPr>
      </p:sp>
      <p:sp>
        <p:nvSpPr>
          <p:cNvPr id="69" name="Shape 66"/>
          <p:cNvSpPr/>
          <p:nvPr/>
        </p:nvSpPr>
        <p:spPr>
          <a:xfrm>
            <a:off x="5009998" y="4165092"/>
            <a:ext cx="78638" cy="78638"/>
          </a:xfrm>
          <a:prstGeom prst="ellipse">
            <a:avLst/>
          </a:prstGeom>
          <a:solidFill>
            <a:srgbClr val="25397E"/>
          </a:solidFill>
          <a:ln/>
        </p:spPr>
      </p:sp>
      <p:sp>
        <p:nvSpPr>
          <p:cNvPr id="70" name="Shape 67"/>
          <p:cNvSpPr/>
          <p:nvPr/>
        </p:nvSpPr>
        <p:spPr>
          <a:xfrm rot="5400000">
            <a:off x="4917643" y="1847088"/>
            <a:ext cx="268834" cy="308153"/>
          </a:xfrm>
          <a:prstGeom prst="hexagon">
            <a:avLst/>
          </a:prstGeom>
          <a:solidFill>
            <a:srgbClr val="0A2A78"/>
          </a:solidFill>
          <a:ln/>
        </p:spPr>
      </p:sp>
      <p:sp>
        <p:nvSpPr>
          <p:cNvPr id="71" name="Text 68"/>
          <p:cNvSpPr/>
          <p:nvPr/>
        </p:nvSpPr>
        <p:spPr>
          <a:xfrm>
            <a:off x="4917643" y="1847088"/>
            <a:ext cx="268834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01</a:t>
            </a:r>
            <a:endParaRPr lang="en-US" sz="1040" dirty="0"/>
          </a:p>
        </p:txBody>
      </p:sp>
      <p:sp>
        <p:nvSpPr>
          <p:cNvPr id="72" name="Shape 69"/>
          <p:cNvSpPr/>
          <p:nvPr/>
        </p:nvSpPr>
        <p:spPr>
          <a:xfrm>
            <a:off x="6358738" y="1839773"/>
            <a:ext cx="8230" cy="379476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73" name="Shape 70"/>
          <p:cNvSpPr/>
          <p:nvPr/>
        </p:nvSpPr>
        <p:spPr>
          <a:xfrm>
            <a:off x="7668158" y="1839773"/>
            <a:ext cx="8230" cy="379476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74" name="Text 71"/>
          <p:cNvSpPr/>
          <p:nvPr/>
        </p:nvSpPr>
        <p:spPr>
          <a:xfrm>
            <a:off x="5383073" y="1879092"/>
            <a:ext cx="92994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시점</a:t>
            </a:r>
            <a:endParaRPr lang="en-US" sz="1000" dirty="0"/>
          </a:p>
        </p:txBody>
      </p:sp>
      <p:sp>
        <p:nvSpPr>
          <p:cNvPr id="75" name="Text 72"/>
          <p:cNvSpPr/>
          <p:nvPr/>
        </p:nvSpPr>
        <p:spPr>
          <a:xfrm>
            <a:off x="5383073" y="2017166"/>
            <a:ext cx="92994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최종보고 시</a:t>
            </a:r>
            <a:endParaRPr lang="en-US" sz="1090" dirty="0"/>
          </a:p>
        </p:txBody>
      </p:sp>
      <p:sp>
        <p:nvSpPr>
          <p:cNvPr id="76" name="Text 73"/>
          <p:cNvSpPr/>
          <p:nvPr/>
        </p:nvSpPr>
        <p:spPr>
          <a:xfrm>
            <a:off x="6508699" y="1879092"/>
            <a:ext cx="111282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재단이 하는 일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6508699" y="2017166"/>
            <a:ext cx="111282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정책 성과보고 작성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7798918" y="1853489"/>
            <a:ext cx="2029968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C247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본사 지원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7798918" y="1990649"/>
            <a:ext cx="2029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수식이 포함된 엑셀 대시보드를 제출하여 재단이 직접 조건을 바꿔 재집계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 rot="5400000">
            <a:off x="4917643" y="2442362"/>
            <a:ext cx="268834" cy="308153"/>
          </a:xfrm>
          <a:prstGeom prst="hexagon">
            <a:avLst/>
          </a:prstGeom>
          <a:solidFill>
            <a:srgbClr val="0A2A78"/>
          </a:solidFill>
          <a:ln/>
        </p:spPr>
      </p:sp>
      <p:sp>
        <p:nvSpPr>
          <p:cNvPr id="81" name="Text 78"/>
          <p:cNvSpPr/>
          <p:nvPr/>
        </p:nvSpPr>
        <p:spPr>
          <a:xfrm>
            <a:off x="4917643" y="2442362"/>
            <a:ext cx="268834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02</a:t>
            </a:r>
            <a:endParaRPr lang="en-US" sz="1040" dirty="0"/>
          </a:p>
        </p:txBody>
      </p:sp>
      <p:sp>
        <p:nvSpPr>
          <p:cNvPr id="82" name="Shape 79"/>
          <p:cNvSpPr/>
          <p:nvPr/>
        </p:nvSpPr>
        <p:spPr>
          <a:xfrm>
            <a:off x="6358738" y="2442362"/>
            <a:ext cx="8230" cy="517550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83" name="Shape 80"/>
          <p:cNvSpPr/>
          <p:nvPr/>
        </p:nvSpPr>
        <p:spPr>
          <a:xfrm>
            <a:off x="7668158" y="2442362"/>
            <a:ext cx="8230" cy="517550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84" name="Text 81"/>
          <p:cNvSpPr/>
          <p:nvPr/>
        </p:nvSpPr>
        <p:spPr>
          <a:xfrm>
            <a:off x="5383073" y="2475281"/>
            <a:ext cx="92994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시점</a:t>
            </a:r>
            <a:endParaRPr lang="en-US" sz="1000" dirty="0"/>
          </a:p>
        </p:txBody>
      </p:sp>
      <p:sp>
        <p:nvSpPr>
          <p:cNvPr id="85" name="Text 82"/>
          <p:cNvSpPr/>
          <p:nvPr/>
        </p:nvSpPr>
        <p:spPr>
          <a:xfrm>
            <a:off x="5383073" y="2612441"/>
            <a:ext cx="92994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국회 질의와</a:t>
            </a:r>
            <a:endParaRPr lang="en-US" sz="109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언론 대응</a:t>
            </a:r>
            <a:endParaRPr lang="en-US" sz="1090" dirty="0"/>
          </a:p>
        </p:txBody>
      </p:sp>
      <p:sp>
        <p:nvSpPr>
          <p:cNvPr id="86" name="Text 83"/>
          <p:cNvSpPr/>
          <p:nvPr/>
        </p:nvSpPr>
        <p:spPr>
          <a:xfrm>
            <a:off x="6508699" y="2475281"/>
            <a:ext cx="111282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재단이 하는 일</a:t>
            </a:r>
            <a:endParaRPr lang="en-US" sz="1000" dirty="0"/>
          </a:p>
        </p:txBody>
      </p:sp>
      <p:sp>
        <p:nvSpPr>
          <p:cNvPr id="87" name="Text 84"/>
          <p:cNvSpPr/>
          <p:nvPr/>
        </p:nvSpPr>
        <p:spPr>
          <a:xfrm>
            <a:off x="6508699" y="2612441"/>
            <a:ext cx="111282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수치 확인과</a:t>
            </a:r>
            <a:endParaRPr lang="en-US" sz="1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답변 작성</a:t>
            </a:r>
            <a:endParaRPr lang="en-US" sz="1000" dirty="0"/>
          </a:p>
        </p:txBody>
      </p:sp>
      <p:sp>
        <p:nvSpPr>
          <p:cNvPr id="88" name="Text 85"/>
          <p:cNvSpPr/>
          <p:nvPr/>
        </p:nvSpPr>
        <p:spPr>
          <a:xfrm>
            <a:off x="7798918" y="2448763"/>
            <a:ext cx="2029968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C247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본사 지원</a:t>
            </a:r>
            <a:endParaRPr lang="en-US" sz="1000" dirty="0"/>
          </a:p>
        </p:txBody>
      </p:sp>
      <p:sp>
        <p:nvSpPr>
          <p:cNvPr id="89" name="Text 86"/>
          <p:cNvSpPr/>
          <p:nvPr/>
        </p:nvSpPr>
        <p:spPr>
          <a:xfrm>
            <a:off x="7798918" y="2573122"/>
            <a:ext cx="2029968" cy="1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접수 당일 착수,</a:t>
            </a:r>
            <a:endParaRPr lang="en-US" sz="1000" dirty="0"/>
          </a:p>
        </p:txBody>
      </p:sp>
      <p:sp>
        <p:nvSpPr>
          <p:cNvPr id="90" name="Text 87"/>
          <p:cNvSpPr/>
          <p:nvPr/>
        </p:nvSpPr>
        <p:spPr>
          <a:xfrm>
            <a:off x="7798918" y="2717597"/>
            <a:ext cx="202996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90" b="1" dirty="0">
                <a:solidFill>
                  <a:srgbClr val="0C247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pPr algn="l" indent="0" marL="0">
              <a:lnSpc>
                <a:spcPct val="106000"/>
              </a:lnSpc>
              <a:buNone/>
            </a:pPr>
            <a:r>
              <a:rPr lang="en-US" sz="1090" b="1" dirty="0">
                <a:solidFill>
                  <a:srgbClr val="0C247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영업일</a:t>
            </a:r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이내 1차 회신, </a:t>
            </a:r>
            <a:pPr algn="l" indent="0" marL="0">
              <a:lnSpc>
                <a:spcPct val="106000"/>
              </a:lnSpc>
              <a:buNone/>
            </a:pPr>
            <a:r>
              <a:rPr lang="en-US" sz="1090" b="1" dirty="0">
                <a:solidFill>
                  <a:srgbClr val="0C247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</a:t>
            </a:r>
            <a:pPr algn="l" indent="0" marL="0">
              <a:lnSpc>
                <a:spcPct val="106000"/>
              </a:lnSpc>
              <a:buNone/>
            </a:pPr>
            <a:r>
              <a:rPr lang="en-US" sz="1090" b="1" dirty="0">
                <a:solidFill>
                  <a:srgbClr val="0C247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영업일</a:t>
            </a:r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이내 확정 자료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 rot="5400000">
            <a:off x="4917643" y="3195828"/>
            <a:ext cx="268834" cy="308153"/>
          </a:xfrm>
          <a:prstGeom prst="hexagon">
            <a:avLst/>
          </a:prstGeom>
          <a:solidFill>
            <a:srgbClr val="8F6023"/>
          </a:solidFill>
          <a:ln/>
        </p:spPr>
      </p:sp>
      <p:sp>
        <p:nvSpPr>
          <p:cNvPr id="92" name="Text 89"/>
          <p:cNvSpPr/>
          <p:nvPr/>
        </p:nvSpPr>
        <p:spPr>
          <a:xfrm>
            <a:off x="4917643" y="3195828"/>
            <a:ext cx="268834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03</a:t>
            </a:r>
            <a:endParaRPr lang="en-US" sz="1040" dirty="0"/>
          </a:p>
        </p:txBody>
      </p:sp>
      <p:sp>
        <p:nvSpPr>
          <p:cNvPr id="93" name="Shape 90"/>
          <p:cNvSpPr/>
          <p:nvPr/>
        </p:nvSpPr>
        <p:spPr>
          <a:xfrm>
            <a:off x="6358738" y="3195828"/>
            <a:ext cx="8230" cy="333756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94" name="Shape 91"/>
          <p:cNvSpPr/>
          <p:nvPr/>
        </p:nvSpPr>
        <p:spPr>
          <a:xfrm>
            <a:off x="7668158" y="3195828"/>
            <a:ext cx="8230" cy="333756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95" name="Text 92"/>
          <p:cNvSpPr/>
          <p:nvPr/>
        </p:nvSpPr>
        <p:spPr>
          <a:xfrm>
            <a:off x="5383073" y="3228746"/>
            <a:ext cx="92994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시점</a:t>
            </a:r>
            <a:endParaRPr lang="en-US" sz="1000" dirty="0"/>
          </a:p>
        </p:txBody>
      </p:sp>
      <p:sp>
        <p:nvSpPr>
          <p:cNvPr id="96" name="Text 93"/>
          <p:cNvSpPr/>
          <p:nvPr/>
        </p:nvSpPr>
        <p:spPr>
          <a:xfrm>
            <a:off x="5383073" y="3365906"/>
            <a:ext cx="92994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제도 개선 논의</a:t>
            </a:r>
            <a:endParaRPr lang="en-US" sz="1090" dirty="0"/>
          </a:p>
        </p:txBody>
      </p:sp>
      <p:sp>
        <p:nvSpPr>
          <p:cNvPr id="97" name="Text 94"/>
          <p:cNvSpPr/>
          <p:nvPr/>
        </p:nvSpPr>
        <p:spPr>
          <a:xfrm>
            <a:off x="6508699" y="3228746"/>
            <a:ext cx="111282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재단이 하는 일</a:t>
            </a:r>
            <a:endParaRPr lang="en-US" sz="1000" dirty="0"/>
          </a:p>
        </p:txBody>
      </p:sp>
      <p:sp>
        <p:nvSpPr>
          <p:cNvPr id="98" name="Text 95"/>
          <p:cNvSpPr/>
          <p:nvPr/>
        </p:nvSpPr>
        <p:spPr>
          <a:xfrm>
            <a:off x="6508699" y="3365906"/>
            <a:ext cx="111282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소관부처 협의</a:t>
            </a:r>
            <a:endParaRPr lang="en-US" sz="1000" dirty="0"/>
          </a:p>
        </p:txBody>
      </p:sp>
      <p:sp>
        <p:nvSpPr>
          <p:cNvPr id="99" name="Text 96"/>
          <p:cNvSpPr/>
          <p:nvPr/>
        </p:nvSpPr>
        <p:spPr>
          <a:xfrm>
            <a:off x="7798918" y="3202229"/>
            <a:ext cx="2029968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C247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본사 지원</a:t>
            </a:r>
            <a:endParaRPr lang="en-US" sz="1000" dirty="0"/>
          </a:p>
        </p:txBody>
      </p:sp>
      <p:sp>
        <p:nvSpPr>
          <p:cNvPr id="100" name="Text 97"/>
          <p:cNvSpPr/>
          <p:nvPr/>
        </p:nvSpPr>
        <p:spPr>
          <a:xfrm>
            <a:off x="7798918" y="3339389"/>
            <a:ext cx="2029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취약 업종 점검표와 표준 연동산식 기초 자료를 근거로 제공</a:t>
            </a:r>
            <a:endParaRPr lang="en-US" sz="1000" dirty="0"/>
          </a:p>
        </p:txBody>
      </p:sp>
      <p:sp>
        <p:nvSpPr>
          <p:cNvPr id="101" name="Shape 98"/>
          <p:cNvSpPr/>
          <p:nvPr/>
        </p:nvSpPr>
        <p:spPr>
          <a:xfrm rot="5400000">
            <a:off x="4917643" y="3751783"/>
            <a:ext cx="268834" cy="308153"/>
          </a:xfrm>
          <a:prstGeom prst="hexagon">
            <a:avLst/>
          </a:prstGeom>
          <a:solidFill>
            <a:srgbClr val="0A2A78"/>
          </a:solidFill>
          <a:ln/>
        </p:spPr>
      </p:sp>
      <p:sp>
        <p:nvSpPr>
          <p:cNvPr id="102" name="Text 99"/>
          <p:cNvSpPr/>
          <p:nvPr/>
        </p:nvSpPr>
        <p:spPr>
          <a:xfrm>
            <a:off x="4917643" y="3751783"/>
            <a:ext cx="268834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04</a:t>
            </a:r>
            <a:endParaRPr lang="en-US" sz="1040" dirty="0"/>
          </a:p>
        </p:txBody>
      </p:sp>
      <p:sp>
        <p:nvSpPr>
          <p:cNvPr id="103" name="Shape 100"/>
          <p:cNvSpPr/>
          <p:nvPr/>
        </p:nvSpPr>
        <p:spPr>
          <a:xfrm>
            <a:off x="6358738" y="3751783"/>
            <a:ext cx="8230" cy="333756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104" name="Shape 101"/>
          <p:cNvSpPr/>
          <p:nvPr/>
        </p:nvSpPr>
        <p:spPr>
          <a:xfrm>
            <a:off x="7668158" y="3751783"/>
            <a:ext cx="8230" cy="333756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105" name="Text 102"/>
          <p:cNvSpPr/>
          <p:nvPr/>
        </p:nvSpPr>
        <p:spPr>
          <a:xfrm>
            <a:off x="5383073" y="3784702"/>
            <a:ext cx="92994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시점</a:t>
            </a:r>
            <a:endParaRPr lang="en-US" sz="1000" dirty="0"/>
          </a:p>
        </p:txBody>
      </p:sp>
      <p:sp>
        <p:nvSpPr>
          <p:cNvPr id="106" name="Text 103"/>
          <p:cNvSpPr/>
          <p:nvPr/>
        </p:nvSpPr>
        <p:spPr>
          <a:xfrm>
            <a:off x="5383073" y="3922776"/>
            <a:ext cx="92994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차년도 조사 발주</a:t>
            </a:r>
            <a:endParaRPr lang="en-US" sz="1030" dirty="0"/>
          </a:p>
        </p:txBody>
      </p:sp>
      <p:sp>
        <p:nvSpPr>
          <p:cNvPr id="107" name="Text 104"/>
          <p:cNvSpPr/>
          <p:nvPr/>
        </p:nvSpPr>
        <p:spPr>
          <a:xfrm>
            <a:off x="6508699" y="3784702"/>
            <a:ext cx="111282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재단이 하는 일</a:t>
            </a:r>
            <a:endParaRPr lang="en-US" sz="1000" dirty="0"/>
          </a:p>
        </p:txBody>
      </p:sp>
      <p:sp>
        <p:nvSpPr>
          <p:cNvPr id="108" name="Text 105"/>
          <p:cNvSpPr/>
          <p:nvPr/>
        </p:nvSpPr>
        <p:spPr>
          <a:xfrm>
            <a:off x="6508699" y="3922776"/>
            <a:ext cx="111282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과업 설계</a:t>
            </a:r>
            <a:endParaRPr lang="en-US" sz="1000" dirty="0"/>
          </a:p>
        </p:txBody>
      </p:sp>
      <p:sp>
        <p:nvSpPr>
          <p:cNvPr id="109" name="Text 106"/>
          <p:cNvSpPr/>
          <p:nvPr/>
        </p:nvSpPr>
        <p:spPr>
          <a:xfrm>
            <a:off x="7798918" y="3759098"/>
            <a:ext cx="2029968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C247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본사 지원</a:t>
            </a:r>
            <a:endParaRPr lang="en-US" sz="1000" dirty="0"/>
          </a:p>
        </p:txBody>
      </p:sp>
      <p:sp>
        <p:nvSpPr>
          <p:cNvPr id="110" name="Text 107"/>
          <p:cNvSpPr/>
          <p:nvPr/>
        </p:nvSpPr>
        <p:spPr>
          <a:xfrm>
            <a:off x="7798918" y="3896258"/>
            <a:ext cx="2029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조사표와 지표 정의서, 표본설계 명세를 그대로 이어 쓸 수 있는 형태로 납품</a:t>
            </a:r>
            <a:endParaRPr lang="en-US" sz="1000" dirty="0"/>
          </a:p>
        </p:txBody>
      </p:sp>
      <p:sp>
        <p:nvSpPr>
          <p:cNvPr id="111" name="Shape 108"/>
          <p:cNvSpPr/>
          <p:nvPr/>
        </p:nvSpPr>
        <p:spPr>
          <a:xfrm rot="5400000">
            <a:off x="4917643" y="4308653"/>
            <a:ext cx="268834" cy="308153"/>
          </a:xfrm>
          <a:prstGeom prst="hexagon">
            <a:avLst/>
          </a:prstGeom>
          <a:solidFill>
            <a:srgbClr val="8F6023"/>
          </a:solidFill>
          <a:ln/>
        </p:spPr>
      </p:sp>
      <p:sp>
        <p:nvSpPr>
          <p:cNvPr id="112" name="Text 109"/>
          <p:cNvSpPr/>
          <p:nvPr/>
        </p:nvSpPr>
        <p:spPr>
          <a:xfrm>
            <a:off x="4917643" y="4308653"/>
            <a:ext cx="268834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05</a:t>
            </a:r>
            <a:endParaRPr lang="en-US" sz="1040" dirty="0"/>
          </a:p>
        </p:txBody>
      </p:sp>
      <p:sp>
        <p:nvSpPr>
          <p:cNvPr id="113" name="Shape 110"/>
          <p:cNvSpPr/>
          <p:nvPr/>
        </p:nvSpPr>
        <p:spPr>
          <a:xfrm>
            <a:off x="6358738" y="4308653"/>
            <a:ext cx="8230" cy="373075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114" name="Shape 111"/>
          <p:cNvSpPr/>
          <p:nvPr/>
        </p:nvSpPr>
        <p:spPr>
          <a:xfrm>
            <a:off x="7668158" y="4308653"/>
            <a:ext cx="8230" cy="373075"/>
          </a:xfrm>
          <a:prstGeom prst="rect">
            <a:avLst/>
          </a:prstGeom>
          <a:solidFill>
            <a:srgbClr val="D3D7DE"/>
          </a:solidFill>
          <a:ln/>
        </p:spPr>
      </p:sp>
      <p:sp>
        <p:nvSpPr>
          <p:cNvPr id="115" name="Text 112"/>
          <p:cNvSpPr/>
          <p:nvPr/>
        </p:nvSpPr>
        <p:spPr>
          <a:xfrm>
            <a:off x="5383073" y="4341571"/>
            <a:ext cx="92994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시점</a:t>
            </a:r>
            <a:endParaRPr lang="en-US" sz="1000" dirty="0"/>
          </a:p>
        </p:txBody>
      </p:sp>
      <p:sp>
        <p:nvSpPr>
          <p:cNvPr id="116" name="Text 113"/>
          <p:cNvSpPr/>
          <p:nvPr/>
        </p:nvSpPr>
        <p:spPr>
          <a:xfrm>
            <a:off x="5383073" y="4478731"/>
            <a:ext cx="92994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과업 종료 후 1년</a:t>
            </a:r>
            <a:endParaRPr lang="en-US" sz="1000" dirty="0"/>
          </a:p>
        </p:txBody>
      </p:sp>
      <p:sp>
        <p:nvSpPr>
          <p:cNvPr id="117" name="Text 114"/>
          <p:cNvSpPr/>
          <p:nvPr/>
        </p:nvSpPr>
        <p:spPr>
          <a:xfrm>
            <a:off x="6508699" y="4341571"/>
            <a:ext cx="111282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재단이 하는 일</a:t>
            </a:r>
            <a:endParaRPr lang="en-US" sz="1000" dirty="0"/>
          </a:p>
        </p:txBody>
      </p:sp>
      <p:sp>
        <p:nvSpPr>
          <p:cNvPr id="118" name="Text 115"/>
          <p:cNvSpPr/>
          <p:nvPr/>
        </p:nvSpPr>
        <p:spPr>
          <a:xfrm>
            <a:off x="6508699" y="4478731"/>
            <a:ext cx="111282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추가 확인</a:t>
            </a:r>
            <a:endParaRPr lang="en-US" sz="1000" dirty="0"/>
          </a:p>
        </p:txBody>
      </p:sp>
      <p:sp>
        <p:nvSpPr>
          <p:cNvPr id="119" name="Text 116"/>
          <p:cNvSpPr/>
          <p:nvPr/>
        </p:nvSpPr>
        <p:spPr>
          <a:xfrm>
            <a:off x="7798918" y="4315054"/>
            <a:ext cx="2029968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C247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본사 지원</a:t>
            </a:r>
            <a:endParaRPr lang="en-US" sz="1000" dirty="0"/>
          </a:p>
        </p:txBody>
      </p:sp>
      <p:sp>
        <p:nvSpPr>
          <p:cNvPr id="120" name="Text 117"/>
          <p:cNvSpPr/>
          <p:nvPr/>
        </p:nvSpPr>
        <p:spPr>
          <a:xfrm>
            <a:off x="7798918" y="4453128"/>
            <a:ext cx="20299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기투입 연구팀의 잔여 가동시간으로 대응, 추가 비용 미발생</a:t>
            </a:r>
            <a:endParaRPr lang="en-US" sz="1000" dirty="0"/>
          </a:p>
        </p:txBody>
      </p:sp>
      <p:sp>
        <p:nvSpPr>
          <p:cNvPr id="121" name="Shape 118"/>
          <p:cNvSpPr/>
          <p:nvPr/>
        </p:nvSpPr>
        <p:spPr>
          <a:xfrm>
            <a:off x="202997" y="4956962"/>
            <a:ext cx="209398" cy="209398"/>
          </a:xfrm>
          <a:prstGeom prst="ellipse">
            <a:avLst/>
          </a:prstGeom>
          <a:solidFill>
            <a:srgbClr val="F7F7F7"/>
          </a:solidFill>
          <a:ln/>
        </p:spPr>
      </p:sp>
      <p:sp>
        <p:nvSpPr>
          <p:cNvPr id="122" name="Shape 119"/>
          <p:cNvSpPr/>
          <p:nvPr/>
        </p:nvSpPr>
        <p:spPr>
          <a:xfrm>
            <a:off x="8159191" y="4956962"/>
            <a:ext cx="209398" cy="209398"/>
          </a:xfrm>
          <a:prstGeom prst="ellipse">
            <a:avLst/>
          </a:prstGeom>
          <a:solidFill>
            <a:srgbClr val="F7F7F7"/>
          </a:solidFill>
          <a:ln/>
        </p:spPr>
      </p:sp>
      <p:sp>
        <p:nvSpPr>
          <p:cNvPr id="123" name="Shape 120"/>
          <p:cNvSpPr/>
          <p:nvPr/>
        </p:nvSpPr>
        <p:spPr>
          <a:xfrm>
            <a:off x="202997" y="5441594"/>
            <a:ext cx="209398" cy="209398"/>
          </a:xfrm>
          <a:prstGeom prst="ellipse">
            <a:avLst/>
          </a:prstGeom>
          <a:solidFill>
            <a:srgbClr val="F7F7F7"/>
          </a:solidFill>
          <a:ln/>
        </p:spPr>
      </p:sp>
      <p:sp>
        <p:nvSpPr>
          <p:cNvPr id="124" name="Shape 121"/>
          <p:cNvSpPr/>
          <p:nvPr/>
        </p:nvSpPr>
        <p:spPr>
          <a:xfrm>
            <a:off x="8159191" y="5441594"/>
            <a:ext cx="209398" cy="209398"/>
          </a:xfrm>
          <a:prstGeom prst="ellipse">
            <a:avLst/>
          </a:prstGeom>
          <a:solidFill>
            <a:srgbClr val="F7F7F7"/>
          </a:solidFill>
          <a:ln/>
        </p:spPr>
      </p:sp>
      <p:sp>
        <p:nvSpPr>
          <p:cNvPr id="125" name="Shape 122"/>
          <p:cNvSpPr/>
          <p:nvPr/>
        </p:nvSpPr>
        <p:spPr>
          <a:xfrm>
            <a:off x="308153" y="4956962"/>
            <a:ext cx="7956194" cy="69403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6" name="Shape 123"/>
          <p:cNvSpPr/>
          <p:nvPr/>
        </p:nvSpPr>
        <p:spPr>
          <a:xfrm>
            <a:off x="202997" y="5062118"/>
            <a:ext cx="8165592" cy="4846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7" name="Shape 124"/>
          <p:cNvSpPr/>
          <p:nvPr/>
        </p:nvSpPr>
        <p:spPr>
          <a:xfrm>
            <a:off x="190195" y="5127041"/>
            <a:ext cx="314554" cy="314554"/>
          </a:xfrm>
          <a:prstGeom prst="ellipse">
            <a:avLst/>
          </a:prstGeom>
          <a:solidFill>
            <a:srgbClr val="00277A"/>
          </a:solidFill>
          <a:ln/>
        </p:spPr>
      </p:sp>
      <p:sp>
        <p:nvSpPr>
          <p:cNvPr id="128" name="Shape 125"/>
          <p:cNvSpPr/>
          <p:nvPr/>
        </p:nvSpPr>
        <p:spPr>
          <a:xfrm>
            <a:off x="1420978" y="5127041"/>
            <a:ext cx="314554" cy="314554"/>
          </a:xfrm>
          <a:prstGeom prst="ellipse">
            <a:avLst/>
          </a:prstGeom>
          <a:solidFill>
            <a:srgbClr val="00277A"/>
          </a:solidFill>
          <a:ln/>
        </p:spPr>
      </p:sp>
      <p:sp>
        <p:nvSpPr>
          <p:cNvPr id="129" name="Shape 126"/>
          <p:cNvSpPr/>
          <p:nvPr/>
        </p:nvSpPr>
        <p:spPr>
          <a:xfrm>
            <a:off x="190195" y="5127041"/>
            <a:ext cx="314554" cy="314554"/>
          </a:xfrm>
          <a:prstGeom prst="ellipse">
            <a:avLst/>
          </a:prstGeom>
          <a:solidFill>
            <a:srgbClr val="00277A"/>
          </a:solidFill>
          <a:ln/>
        </p:spPr>
      </p:sp>
      <p:sp>
        <p:nvSpPr>
          <p:cNvPr id="130" name="Shape 127"/>
          <p:cNvSpPr/>
          <p:nvPr/>
        </p:nvSpPr>
        <p:spPr>
          <a:xfrm>
            <a:off x="1420978" y="5127041"/>
            <a:ext cx="314554" cy="314554"/>
          </a:xfrm>
          <a:prstGeom prst="ellipse">
            <a:avLst/>
          </a:prstGeom>
          <a:solidFill>
            <a:srgbClr val="00277A"/>
          </a:solidFill>
          <a:ln/>
        </p:spPr>
      </p:sp>
      <p:sp>
        <p:nvSpPr>
          <p:cNvPr id="131" name="Shape 128"/>
          <p:cNvSpPr/>
          <p:nvPr/>
        </p:nvSpPr>
        <p:spPr>
          <a:xfrm>
            <a:off x="347472" y="5127041"/>
            <a:ext cx="1230782" cy="314554"/>
          </a:xfrm>
          <a:prstGeom prst="rect">
            <a:avLst/>
          </a:prstGeom>
          <a:solidFill>
            <a:srgbClr val="00277A"/>
          </a:solidFill>
          <a:ln/>
        </p:spPr>
      </p:sp>
      <p:sp>
        <p:nvSpPr>
          <p:cNvPr id="132" name="Shape 129"/>
          <p:cNvSpPr/>
          <p:nvPr/>
        </p:nvSpPr>
        <p:spPr>
          <a:xfrm>
            <a:off x="190195" y="5284318"/>
            <a:ext cx="1545336" cy="0"/>
          </a:xfrm>
          <a:prstGeom prst="rect">
            <a:avLst/>
          </a:prstGeom>
          <a:solidFill>
            <a:srgbClr val="00277A"/>
          </a:solidFill>
          <a:ln/>
        </p:spPr>
      </p:sp>
      <p:sp>
        <p:nvSpPr>
          <p:cNvPr id="133" name="Text 130"/>
          <p:cNvSpPr/>
          <p:nvPr/>
        </p:nvSpPr>
        <p:spPr>
          <a:xfrm>
            <a:off x="190195" y="5127041"/>
            <a:ext cx="154533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수행지원 10점</a:t>
            </a:r>
            <a:endParaRPr lang="en-US" sz="1250" dirty="0"/>
          </a:p>
        </p:txBody>
      </p:sp>
      <p:sp>
        <p:nvSpPr>
          <p:cNvPr id="134" name="Shape 131"/>
          <p:cNvSpPr/>
          <p:nvPr/>
        </p:nvSpPr>
        <p:spPr>
          <a:xfrm>
            <a:off x="1571854" y="523859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Shape 132"/>
          <p:cNvSpPr/>
          <p:nvPr/>
        </p:nvSpPr>
        <p:spPr>
          <a:xfrm>
            <a:off x="3778301" y="5074920"/>
            <a:ext cx="0" cy="471830"/>
          </a:xfrm>
          <a:prstGeom prst="line">
            <a:avLst/>
          </a:prstGeom>
          <a:noFill/>
          <a:ln w="9525">
            <a:solidFill>
              <a:srgbClr val="DCDEE2"/>
            </a:solidFill>
            <a:prstDash val="sysDash"/>
          </a:ln>
        </p:spPr>
      </p:sp>
      <p:sp>
        <p:nvSpPr>
          <p:cNvPr id="136" name="Shape 133"/>
          <p:cNvSpPr/>
          <p:nvPr/>
        </p:nvSpPr>
        <p:spPr>
          <a:xfrm>
            <a:off x="5886907" y="5074920"/>
            <a:ext cx="0" cy="471830"/>
          </a:xfrm>
          <a:prstGeom prst="line">
            <a:avLst/>
          </a:prstGeom>
          <a:noFill/>
          <a:ln w="9525">
            <a:solidFill>
              <a:srgbClr val="DCDEE2"/>
            </a:solidFill>
            <a:prstDash val="sysDash"/>
          </a:ln>
        </p:spPr>
      </p:sp>
      <p:pic>
        <p:nvPicPr>
          <p:cNvPr id="137" name="Image 1" descr="/home/user/kstat-pm/deck/namp-2026/assets/s18-icon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050" y="5042002"/>
            <a:ext cx="503834" cy="511150"/>
          </a:xfrm>
          <a:prstGeom prst="rect">
            <a:avLst/>
          </a:prstGeom>
        </p:spPr>
      </p:pic>
      <p:sp>
        <p:nvSpPr>
          <p:cNvPr id="138" name="Text 134"/>
          <p:cNvSpPr/>
          <p:nvPr/>
        </p:nvSpPr>
        <p:spPr>
          <a:xfrm>
            <a:off x="2606040" y="5101438"/>
            <a:ext cx="110002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수식 포함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엑셀 대시보드</a:t>
            </a:r>
            <a:endParaRPr lang="en-US" sz="1200" dirty="0"/>
          </a:p>
        </p:txBody>
      </p:sp>
      <p:pic>
        <p:nvPicPr>
          <p:cNvPr id="139" name="Image 2" descr="/home/user/kstat-pm/deck/namp-2026/assets/s18-ico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734" y="5042002"/>
            <a:ext cx="503834" cy="511150"/>
          </a:xfrm>
          <a:prstGeom prst="rect">
            <a:avLst/>
          </a:prstGeom>
        </p:spPr>
      </p:pic>
      <p:sp>
        <p:nvSpPr>
          <p:cNvPr id="140" name="Text 135"/>
          <p:cNvSpPr/>
          <p:nvPr/>
        </p:nvSpPr>
        <p:spPr>
          <a:xfrm>
            <a:off x="4656125" y="5101438"/>
            <a:ext cx="11521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3·7영업일 대응</a:t>
            </a:r>
            <a:endParaRPr lang="en-US" sz="1200" dirty="0"/>
          </a:p>
        </p:txBody>
      </p:sp>
      <p:pic>
        <p:nvPicPr>
          <p:cNvPr id="141" name="Image 3" descr="/home/user/kstat-pm/deck/namp-2026/assets/s18-icon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305" y="5042002"/>
            <a:ext cx="503834" cy="511150"/>
          </a:xfrm>
          <a:prstGeom prst="rect">
            <a:avLst/>
          </a:prstGeom>
        </p:spPr>
      </p:pic>
      <p:sp>
        <p:nvSpPr>
          <p:cNvPr id="142" name="Text 136"/>
          <p:cNvSpPr/>
          <p:nvPr/>
        </p:nvSpPr>
        <p:spPr>
          <a:xfrm>
            <a:off x="6705295" y="5101438"/>
            <a:ext cx="157185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종료 후 1년 무상 지원</a:t>
            </a:r>
            <a:endParaRPr lang="en-US" sz="1200" dirty="0"/>
          </a:p>
        </p:txBody>
      </p:sp>
      <p:sp>
        <p:nvSpPr>
          <p:cNvPr id="143" name="Shape 137"/>
          <p:cNvSpPr/>
          <p:nvPr/>
        </p:nvSpPr>
        <p:spPr>
          <a:xfrm>
            <a:off x="170078" y="5749747"/>
            <a:ext cx="261518" cy="261518"/>
          </a:xfrm>
          <a:prstGeom prst="ellipse">
            <a:avLst/>
          </a:prstGeom>
          <a:solidFill>
            <a:srgbClr val="282B30"/>
          </a:solidFill>
          <a:ln/>
        </p:spPr>
      </p:sp>
      <p:sp>
        <p:nvSpPr>
          <p:cNvPr id="144" name="Shape 138"/>
          <p:cNvSpPr/>
          <p:nvPr/>
        </p:nvSpPr>
        <p:spPr>
          <a:xfrm>
            <a:off x="9625889" y="5749747"/>
            <a:ext cx="261518" cy="261518"/>
          </a:xfrm>
          <a:prstGeom prst="ellipse">
            <a:avLst/>
          </a:prstGeom>
          <a:solidFill>
            <a:srgbClr val="282B30"/>
          </a:solidFill>
          <a:ln/>
        </p:spPr>
      </p:sp>
      <p:sp>
        <p:nvSpPr>
          <p:cNvPr id="145" name="Shape 139"/>
          <p:cNvSpPr/>
          <p:nvPr/>
        </p:nvSpPr>
        <p:spPr>
          <a:xfrm>
            <a:off x="170078" y="6292901"/>
            <a:ext cx="261518" cy="261518"/>
          </a:xfrm>
          <a:prstGeom prst="ellipse">
            <a:avLst/>
          </a:prstGeom>
          <a:solidFill>
            <a:srgbClr val="282B30"/>
          </a:solidFill>
          <a:ln/>
        </p:spPr>
      </p:sp>
      <p:sp>
        <p:nvSpPr>
          <p:cNvPr id="146" name="Shape 140"/>
          <p:cNvSpPr/>
          <p:nvPr/>
        </p:nvSpPr>
        <p:spPr>
          <a:xfrm>
            <a:off x="9625889" y="6292901"/>
            <a:ext cx="261518" cy="261518"/>
          </a:xfrm>
          <a:prstGeom prst="ellipse">
            <a:avLst/>
          </a:prstGeom>
          <a:solidFill>
            <a:srgbClr val="282B30"/>
          </a:solidFill>
          <a:ln/>
        </p:spPr>
      </p:sp>
      <p:sp>
        <p:nvSpPr>
          <p:cNvPr id="147" name="Shape 141"/>
          <p:cNvSpPr/>
          <p:nvPr/>
        </p:nvSpPr>
        <p:spPr>
          <a:xfrm>
            <a:off x="300838" y="5749747"/>
            <a:ext cx="9455810" cy="805586"/>
          </a:xfrm>
          <a:prstGeom prst="rect">
            <a:avLst/>
          </a:prstGeom>
          <a:solidFill>
            <a:srgbClr val="282B30"/>
          </a:solidFill>
          <a:ln/>
        </p:spPr>
      </p:sp>
      <p:sp>
        <p:nvSpPr>
          <p:cNvPr id="148" name="Shape 142"/>
          <p:cNvSpPr/>
          <p:nvPr/>
        </p:nvSpPr>
        <p:spPr>
          <a:xfrm>
            <a:off x="170078" y="5880506"/>
            <a:ext cx="9718243" cy="543154"/>
          </a:xfrm>
          <a:prstGeom prst="rect">
            <a:avLst/>
          </a:prstGeom>
          <a:solidFill>
            <a:srgbClr val="282B30"/>
          </a:solidFill>
          <a:ln/>
        </p:spPr>
      </p:sp>
      <p:sp>
        <p:nvSpPr>
          <p:cNvPr id="149" name="Text 143"/>
          <p:cNvSpPr/>
          <p:nvPr/>
        </p:nvSpPr>
        <p:spPr>
          <a:xfrm>
            <a:off x="393192" y="5853989"/>
            <a:ext cx="9049817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보고서 제출에서 끝나지 않고, 성과보고 · 현안 대응 · 제도 개선 · 차년도 설계까지 활용</a:t>
            </a:r>
            <a:endParaRPr lang="en-US" sz="1410" dirty="0"/>
          </a:p>
        </p:txBody>
      </p:sp>
      <p:sp>
        <p:nvSpPr>
          <p:cNvPr id="150" name="Text 144"/>
          <p:cNvSpPr/>
          <p:nvPr/>
        </p:nvSpPr>
        <p:spPr>
          <a:xfrm>
            <a:off x="393192" y="6155741"/>
            <a:ext cx="904981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60" b="1" dirty="0">
                <a:solidFill>
                  <a:srgbClr val="F7D26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재단이 직접 재집계하고 필요한 시점에 바로 확인할 수 있는 실행형 결과물로 납품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6479" y="65837"/>
            <a:ext cx="785835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참여인력별 책임과 투입체계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 flipH="1">
            <a:off x="170078" y="563270"/>
            <a:ext cx="78638" cy="170078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4" name="Text 2"/>
          <p:cNvSpPr/>
          <p:nvPr/>
        </p:nvSpPr>
        <p:spPr>
          <a:xfrm>
            <a:off x="327355" y="536753"/>
            <a:ext cx="523859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조직도 및 업무분장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1826971" y="759866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52790" y="759866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6971" y="1060704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52790" y="1060704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610" y="759866"/>
            <a:ext cx="6325819" cy="45811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6971" y="838505"/>
            <a:ext cx="6483096" cy="30083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610" y="766267"/>
            <a:ext cx="6325819" cy="445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833372" y="838505"/>
            <a:ext cx="6470294" cy="3008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932127" y="785470"/>
            <a:ext cx="393192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9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190" dirty="0"/>
          </a:p>
        </p:txBody>
      </p:sp>
      <p:sp>
        <p:nvSpPr>
          <p:cNvPr id="14" name="Text 12"/>
          <p:cNvSpPr/>
          <p:nvPr/>
        </p:nvSpPr>
        <p:spPr>
          <a:xfrm>
            <a:off x="7812634" y="785470"/>
            <a:ext cx="393192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9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190" dirty="0"/>
          </a:p>
        </p:txBody>
      </p:sp>
      <p:sp>
        <p:nvSpPr>
          <p:cNvPr id="15" name="Text 13"/>
          <p:cNvSpPr/>
          <p:nvPr/>
        </p:nvSpPr>
        <p:spPr>
          <a:xfrm>
            <a:off x="2232965" y="759866"/>
            <a:ext cx="5671109" cy="45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참여인력별 </a:t>
            </a:r>
            <a:pPr algn="ctr" indent="0" marL="0">
              <a:lnSpc>
                <a:spcPct val="120000"/>
              </a:lnSpc>
              <a:buNone/>
            </a:pPr>
            <a:r>
              <a:rPr lang="en-US" sz="146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담당 과업과 투입 단계</a:t>
            </a:r>
            <a:pPr algn="ctr" indent="0" marL="0">
              <a:lnSpc>
                <a:spcPct val="120000"/>
              </a:lnSpc>
              <a:buNone/>
            </a:pPr>
            <a:r>
              <a:rPr lang="en-US" sz="14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를 명시하여 책임 소재를 분명히 함</a:t>
            </a:r>
            <a:endParaRPr lang="en-US" sz="1460" dirty="0"/>
          </a:p>
        </p:txBody>
      </p:sp>
      <p:sp>
        <p:nvSpPr>
          <p:cNvPr id="16" name="Shape 14"/>
          <p:cNvSpPr/>
          <p:nvPr/>
        </p:nvSpPr>
        <p:spPr>
          <a:xfrm>
            <a:off x="3202229" y="1362456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94653" y="1362456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2229" y="1885493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94653" y="1885493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8066" y="1362456"/>
            <a:ext cx="3392424" cy="6547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2229" y="1427378"/>
            <a:ext cx="3523183" cy="523951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68066" y="1368857"/>
            <a:ext cx="3392424" cy="6419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8630" y="1427378"/>
            <a:ext cx="3510382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2229" y="1362456"/>
            <a:ext cx="130759" cy="130759"/>
          </a:xfrm>
          <a:prstGeom prst="ellipse">
            <a:avLst/>
          </a:prstGeom>
          <a:solidFill>
            <a:srgbClr val="11305F"/>
          </a:solidFill>
          <a:ln/>
        </p:spPr>
      </p:sp>
      <p:sp>
        <p:nvSpPr>
          <p:cNvPr id="25" name="Shape 23"/>
          <p:cNvSpPr/>
          <p:nvPr/>
        </p:nvSpPr>
        <p:spPr>
          <a:xfrm>
            <a:off x="6594653" y="1362456"/>
            <a:ext cx="130759" cy="130759"/>
          </a:xfrm>
          <a:prstGeom prst="ellipse">
            <a:avLst/>
          </a:prstGeom>
          <a:solidFill>
            <a:srgbClr val="11305F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2229" y="1460297"/>
            <a:ext cx="130759" cy="130759"/>
          </a:xfrm>
          <a:prstGeom prst="ellipse">
            <a:avLst/>
          </a:prstGeom>
          <a:solidFill>
            <a:srgbClr val="11305F"/>
          </a:solidFill>
          <a:ln/>
        </p:spPr>
      </p:sp>
      <p:sp>
        <p:nvSpPr>
          <p:cNvPr id="27" name="Shape 25"/>
          <p:cNvSpPr/>
          <p:nvPr/>
        </p:nvSpPr>
        <p:spPr>
          <a:xfrm>
            <a:off x="6594653" y="1460297"/>
            <a:ext cx="130759" cy="130759"/>
          </a:xfrm>
          <a:prstGeom prst="ellipse">
            <a:avLst/>
          </a:prstGeom>
          <a:solidFill>
            <a:srgbClr val="11305F"/>
          </a:solidFill>
          <a:ln/>
        </p:spPr>
      </p:sp>
      <p:sp>
        <p:nvSpPr>
          <p:cNvPr id="28" name="Shape 26"/>
          <p:cNvSpPr/>
          <p:nvPr/>
        </p:nvSpPr>
        <p:spPr>
          <a:xfrm>
            <a:off x="3268066" y="1362456"/>
            <a:ext cx="3392424" cy="229514"/>
          </a:xfrm>
          <a:prstGeom prst="rect">
            <a:avLst/>
          </a:prstGeom>
          <a:solidFill>
            <a:srgbClr val="11305F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2229" y="1427378"/>
            <a:ext cx="3523183" cy="97841"/>
          </a:xfrm>
          <a:prstGeom prst="rect">
            <a:avLst/>
          </a:prstGeom>
          <a:solidFill>
            <a:srgbClr val="11305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2229" y="1476756"/>
            <a:ext cx="3523183" cy="114300"/>
          </a:xfrm>
          <a:prstGeom prst="rect">
            <a:avLst/>
          </a:prstGeom>
          <a:solidFill>
            <a:srgbClr val="11305F"/>
          </a:solidFill>
          <a:ln/>
        </p:spPr>
      </p:sp>
      <p:sp>
        <p:nvSpPr>
          <p:cNvPr id="31" name="Text 29"/>
          <p:cNvSpPr/>
          <p:nvPr/>
        </p:nvSpPr>
        <p:spPr>
          <a:xfrm>
            <a:off x="3202229" y="1362456"/>
            <a:ext cx="3523183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총괄 책임</a:t>
            </a:r>
            <a:endParaRPr lang="en-US" sz="1090" dirty="0"/>
          </a:p>
        </p:txBody>
      </p:sp>
      <p:sp>
        <p:nvSpPr>
          <p:cNvPr id="32" name="Text 30"/>
          <p:cNvSpPr/>
          <p:nvPr/>
        </p:nvSpPr>
        <p:spPr>
          <a:xfrm>
            <a:off x="3260750" y="1630375"/>
            <a:ext cx="602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하동균</a:t>
            </a:r>
            <a:endParaRPr lang="en-US" sz="1460" dirty="0"/>
          </a:p>
        </p:txBody>
      </p:sp>
      <p:sp>
        <p:nvSpPr>
          <p:cNvPr id="33" name="Shape 31"/>
          <p:cNvSpPr/>
          <p:nvPr/>
        </p:nvSpPr>
        <p:spPr>
          <a:xfrm>
            <a:off x="3929177" y="1682496"/>
            <a:ext cx="8230" cy="242316"/>
          </a:xfrm>
          <a:prstGeom prst="rect">
            <a:avLst/>
          </a:prstGeom>
          <a:solidFill>
            <a:srgbClr val="D8DCE4"/>
          </a:solidFill>
          <a:ln/>
        </p:spPr>
      </p:sp>
      <p:sp>
        <p:nvSpPr>
          <p:cNvPr id="34" name="Text 32"/>
          <p:cNvSpPr/>
          <p:nvPr/>
        </p:nvSpPr>
        <p:spPr>
          <a:xfrm>
            <a:off x="3981298" y="1630375"/>
            <a:ext cx="206928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과업 총괄 · 발주기관 협의 · 최종보고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9904" y="1682496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36" name="Shape 34"/>
          <p:cNvSpPr/>
          <p:nvPr/>
        </p:nvSpPr>
        <p:spPr>
          <a:xfrm>
            <a:off x="6548018" y="1682496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37" name="Shape 35"/>
          <p:cNvSpPr/>
          <p:nvPr/>
        </p:nvSpPr>
        <p:spPr>
          <a:xfrm>
            <a:off x="6089904" y="1820570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38" name="Shape 36"/>
          <p:cNvSpPr/>
          <p:nvPr/>
        </p:nvSpPr>
        <p:spPr>
          <a:xfrm>
            <a:off x="6548018" y="1820570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39" name="Shape 37"/>
          <p:cNvSpPr/>
          <p:nvPr/>
        </p:nvSpPr>
        <p:spPr>
          <a:xfrm>
            <a:off x="6142025" y="1682496"/>
            <a:ext cx="458114" cy="242316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40" name="Shape 38"/>
          <p:cNvSpPr/>
          <p:nvPr/>
        </p:nvSpPr>
        <p:spPr>
          <a:xfrm>
            <a:off x="6089904" y="1735531"/>
            <a:ext cx="563270" cy="137160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41" name="Text 39"/>
          <p:cNvSpPr/>
          <p:nvPr/>
        </p:nvSpPr>
        <p:spPr>
          <a:xfrm>
            <a:off x="6089904" y="1682496"/>
            <a:ext cx="56327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전 기간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077870" y="2213762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31813" y="2213762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77870" y="2723998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31813" y="2723998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43707" y="2213762"/>
            <a:ext cx="3653942" cy="64190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77870" y="2278685"/>
            <a:ext cx="3784702" cy="511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43707" y="2220163"/>
            <a:ext cx="3653942" cy="6281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3084271" y="2278685"/>
            <a:ext cx="3771900" cy="511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3077870" y="2213762"/>
            <a:ext cx="130759" cy="130759"/>
          </a:xfrm>
          <a:prstGeom prst="ellipse">
            <a:avLst/>
          </a:prstGeom>
          <a:solidFill>
            <a:srgbClr val="11305F"/>
          </a:solidFill>
          <a:ln/>
        </p:spPr>
      </p:sp>
      <p:sp>
        <p:nvSpPr>
          <p:cNvPr id="51" name="Shape 49"/>
          <p:cNvSpPr/>
          <p:nvPr/>
        </p:nvSpPr>
        <p:spPr>
          <a:xfrm>
            <a:off x="6731813" y="2213762"/>
            <a:ext cx="130759" cy="130759"/>
          </a:xfrm>
          <a:prstGeom prst="ellipse">
            <a:avLst/>
          </a:prstGeom>
          <a:solidFill>
            <a:srgbClr val="11305F"/>
          </a:solidFill>
          <a:ln/>
        </p:spPr>
      </p:sp>
      <p:sp>
        <p:nvSpPr>
          <p:cNvPr id="52" name="Shape 50"/>
          <p:cNvSpPr/>
          <p:nvPr/>
        </p:nvSpPr>
        <p:spPr>
          <a:xfrm>
            <a:off x="3077870" y="2318004"/>
            <a:ext cx="130759" cy="130759"/>
          </a:xfrm>
          <a:prstGeom prst="ellipse">
            <a:avLst/>
          </a:prstGeom>
          <a:solidFill>
            <a:srgbClr val="11305F"/>
          </a:solidFill>
          <a:ln/>
        </p:spPr>
      </p:sp>
      <p:sp>
        <p:nvSpPr>
          <p:cNvPr id="53" name="Shape 51"/>
          <p:cNvSpPr/>
          <p:nvPr/>
        </p:nvSpPr>
        <p:spPr>
          <a:xfrm>
            <a:off x="6731813" y="2318004"/>
            <a:ext cx="130759" cy="130759"/>
          </a:xfrm>
          <a:prstGeom prst="ellipse">
            <a:avLst/>
          </a:prstGeom>
          <a:solidFill>
            <a:srgbClr val="11305F"/>
          </a:solidFill>
          <a:ln/>
        </p:spPr>
      </p:sp>
      <p:sp>
        <p:nvSpPr>
          <p:cNvPr id="54" name="Shape 52"/>
          <p:cNvSpPr/>
          <p:nvPr/>
        </p:nvSpPr>
        <p:spPr>
          <a:xfrm>
            <a:off x="3143707" y="2213762"/>
            <a:ext cx="3653942" cy="235915"/>
          </a:xfrm>
          <a:prstGeom prst="rect">
            <a:avLst/>
          </a:prstGeom>
          <a:solidFill>
            <a:srgbClr val="11305F"/>
          </a:solidFill>
          <a:ln/>
        </p:spPr>
      </p:sp>
      <p:sp>
        <p:nvSpPr>
          <p:cNvPr id="55" name="Shape 53"/>
          <p:cNvSpPr/>
          <p:nvPr/>
        </p:nvSpPr>
        <p:spPr>
          <a:xfrm>
            <a:off x="3077870" y="2278685"/>
            <a:ext cx="3784702" cy="105156"/>
          </a:xfrm>
          <a:prstGeom prst="rect">
            <a:avLst/>
          </a:prstGeom>
          <a:solidFill>
            <a:srgbClr val="11305F"/>
          </a:solidFill>
          <a:ln/>
        </p:spPr>
      </p:sp>
      <p:sp>
        <p:nvSpPr>
          <p:cNvPr id="56" name="Shape 54"/>
          <p:cNvSpPr/>
          <p:nvPr/>
        </p:nvSpPr>
        <p:spPr>
          <a:xfrm>
            <a:off x="3077870" y="2330806"/>
            <a:ext cx="3784702" cy="117958"/>
          </a:xfrm>
          <a:prstGeom prst="rect">
            <a:avLst/>
          </a:prstGeom>
          <a:solidFill>
            <a:srgbClr val="11305F"/>
          </a:solidFill>
          <a:ln/>
        </p:spPr>
      </p:sp>
      <p:sp>
        <p:nvSpPr>
          <p:cNvPr id="57" name="Text 55"/>
          <p:cNvSpPr/>
          <p:nvPr/>
        </p:nvSpPr>
        <p:spPr>
          <a:xfrm>
            <a:off x="3077870" y="2213762"/>
            <a:ext cx="3784702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사업 책임(PM)</a:t>
            </a:r>
            <a:endParaRPr lang="en-US" sz="1090" dirty="0"/>
          </a:p>
        </p:txBody>
      </p:sp>
      <p:sp>
        <p:nvSpPr>
          <p:cNvPr id="58" name="Text 56"/>
          <p:cNvSpPr/>
          <p:nvPr/>
        </p:nvSpPr>
        <p:spPr>
          <a:xfrm>
            <a:off x="3129991" y="2488082"/>
            <a:ext cx="550469" cy="327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김유미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3706063" y="2541118"/>
            <a:ext cx="8230" cy="222199"/>
          </a:xfrm>
          <a:prstGeom prst="rect">
            <a:avLst/>
          </a:prstGeom>
          <a:solidFill>
            <a:srgbClr val="D8DCE4"/>
          </a:solidFill>
          <a:ln/>
        </p:spPr>
      </p:sp>
      <p:sp>
        <p:nvSpPr>
          <p:cNvPr id="60" name="Text 58"/>
          <p:cNvSpPr/>
          <p:nvPr/>
        </p:nvSpPr>
        <p:spPr>
          <a:xfrm>
            <a:off x="3759098" y="2488082"/>
            <a:ext cx="2475281" cy="327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과업 설계 · 일정과 품질 관리 · 수시 요청 대응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67298" y="2533802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62" name="Shape 60"/>
          <p:cNvSpPr/>
          <p:nvPr/>
        </p:nvSpPr>
        <p:spPr>
          <a:xfrm>
            <a:off x="6698894" y="2533802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63" name="Shape 61"/>
          <p:cNvSpPr/>
          <p:nvPr/>
        </p:nvSpPr>
        <p:spPr>
          <a:xfrm>
            <a:off x="6267298" y="2665476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64" name="Shape 62"/>
          <p:cNvSpPr/>
          <p:nvPr/>
        </p:nvSpPr>
        <p:spPr>
          <a:xfrm>
            <a:off x="6698894" y="2665476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65" name="Shape 63"/>
          <p:cNvSpPr/>
          <p:nvPr/>
        </p:nvSpPr>
        <p:spPr>
          <a:xfrm>
            <a:off x="6319418" y="2533802"/>
            <a:ext cx="432511" cy="235915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66" name="Shape 64"/>
          <p:cNvSpPr/>
          <p:nvPr/>
        </p:nvSpPr>
        <p:spPr>
          <a:xfrm>
            <a:off x="6267298" y="2586838"/>
            <a:ext cx="536753" cy="130759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67" name="Text 65"/>
          <p:cNvSpPr/>
          <p:nvPr/>
        </p:nvSpPr>
        <p:spPr>
          <a:xfrm>
            <a:off x="6267298" y="2533802"/>
            <a:ext cx="536753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전 기간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970678" y="2017166"/>
            <a:ext cx="0" cy="196596"/>
          </a:xfrm>
          <a:prstGeom prst="line">
            <a:avLst/>
          </a:prstGeom>
          <a:noFill/>
          <a:ln w="19050">
            <a:solidFill>
              <a:srgbClr val="9AA0A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970678" y="2854757"/>
            <a:ext cx="0" cy="157277"/>
          </a:xfrm>
          <a:prstGeom prst="line">
            <a:avLst/>
          </a:prstGeom>
          <a:noFill/>
          <a:ln w="19050">
            <a:solidFill>
              <a:srgbClr val="9AA0A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42339" y="3012034"/>
            <a:ext cx="7392924" cy="0"/>
          </a:xfrm>
          <a:prstGeom prst="line">
            <a:avLst/>
          </a:prstGeom>
          <a:noFill/>
          <a:ln w="19050">
            <a:solidFill>
              <a:srgbClr val="9AA0A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42339" y="3012034"/>
            <a:ext cx="0" cy="242316"/>
          </a:xfrm>
          <a:prstGeom prst="line">
            <a:avLst/>
          </a:prstGeom>
          <a:noFill/>
          <a:ln w="19050">
            <a:solidFill>
              <a:srgbClr val="9AA0A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817620" y="3012034"/>
            <a:ext cx="0" cy="242316"/>
          </a:xfrm>
          <a:prstGeom prst="line">
            <a:avLst/>
          </a:prstGeom>
          <a:noFill/>
          <a:ln w="19050">
            <a:solidFill>
              <a:srgbClr val="9AA0A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53582" y="3012034"/>
            <a:ext cx="0" cy="242316"/>
          </a:xfrm>
          <a:prstGeom prst="line">
            <a:avLst/>
          </a:prstGeom>
          <a:noFill/>
          <a:ln w="19050">
            <a:solidFill>
              <a:srgbClr val="9AA0A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35263" y="3012034"/>
            <a:ext cx="0" cy="242316"/>
          </a:xfrm>
          <a:prstGeom prst="line">
            <a:avLst/>
          </a:prstGeom>
          <a:noFill/>
          <a:ln w="19050">
            <a:solidFill>
              <a:srgbClr val="9AA0A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5039" y="3353105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448763" y="3353105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039" y="5501030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448763" y="5501030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50876" y="3353105"/>
            <a:ext cx="2363724" cy="227868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5039" y="3418027"/>
            <a:ext cx="2495398" cy="214792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50876" y="3359506"/>
            <a:ext cx="2363724" cy="2265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91440" y="3418027"/>
            <a:ext cx="2481682" cy="21479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hape 81"/>
          <p:cNvSpPr/>
          <p:nvPr/>
        </p:nvSpPr>
        <p:spPr>
          <a:xfrm>
            <a:off x="857707" y="3254350"/>
            <a:ext cx="222199" cy="222199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84" name="Shape 82"/>
          <p:cNvSpPr/>
          <p:nvPr/>
        </p:nvSpPr>
        <p:spPr>
          <a:xfrm>
            <a:off x="1617574" y="3254350"/>
            <a:ext cx="222199" cy="222199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85" name="Shape 83"/>
          <p:cNvSpPr/>
          <p:nvPr/>
        </p:nvSpPr>
        <p:spPr>
          <a:xfrm>
            <a:off x="857707" y="3260750"/>
            <a:ext cx="222199" cy="222199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86" name="Shape 84"/>
          <p:cNvSpPr/>
          <p:nvPr/>
        </p:nvSpPr>
        <p:spPr>
          <a:xfrm>
            <a:off x="1617574" y="3260750"/>
            <a:ext cx="222199" cy="222199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87" name="Shape 85"/>
          <p:cNvSpPr/>
          <p:nvPr/>
        </p:nvSpPr>
        <p:spPr>
          <a:xfrm>
            <a:off x="969264" y="3254350"/>
            <a:ext cx="759866" cy="229514"/>
          </a:xfrm>
          <a:prstGeom prst="rect">
            <a:avLst/>
          </a:prstGeom>
          <a:solidFill>
            <a:srgbClr val="062A63"/>
          </a:solidFill>
          <a:ln/>
        </p:spPr>
      </p:sp>
      <p:sp>
        <p:nvSpPr>
          <p:cNvPr id="88" name="Shape 86"/>
          <p:cNvSpPr/>
          <p:nvPr/>
        </p:nvSpPr>
        <p:spPr>
          <a:xfrm>
            <a:off x="857707" y="3365906"/>
            <a:ext cx="982066" cy="6401"/>
          </a:xfrm>
          <a:prstGeom prst="rect">
            <a:avLst/>
          </a:prstGeom>
          <a:solidFill>
            <a:srgbClr val="062A63"/>
          </a:solidFill>
          <a:ln/>
        </p:spPr>
      </p:sp>
      <p:sp>
        <p:nvSpPr>
          <p:cNvPr id="89" name="Text 87"/>
          <p:cNvSpPr/>
          <p:nvPr/>
        </p:nvSpPr>
        <p:spPr>
          <a:xfrm>
            <a:off x="857707" y="3254350"/>
            <a:ext cx="982066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연구·분석</a:t>
            </a:r>
            <a:endParaRPr lang="en-US" sz="1150" dirty="0"/>
          </a:p>
        </p:txBody>
      </p:sp>
      <p:sp>
        <p:nvSpPr>
          <p:cNvPr id="90" name="Text 88"/>
          <p:cNvSpPr/>
          <p:nvPr/>
        </p:nvSpPr>
        <p:spPr>
          <a:xfrm>
            <a:off x="124358" y="3529584"/>
            <a:ext cx="34015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전영일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497434" y="3529584"/>
            <a:ext cx="60259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233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조사 기획과 결과 분석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126541" y="3588106"/>
            <a:ext cx="8230" cy="577901"/>
          </a:xfrm>
          <a:prstGeom prst="rect">
            <a:avLst/>
          </a:prstGeom>
          <a:solidFill>
            <a:srgbClr val="DEE0E4"/>
          </a:solidFill>
          <a:ln/>
        </p:spPr>
      </p:sp>
      <p:sp>
        <p:nvSpPr>
          <p:cNvPr id="93" name="Text 91"/>
          <p:cNvSpPr/>
          <p:nvPr/>
        </p:nvSpPr>
        <p:spPr>
          <a:xfrm>
            <a:off x="1152144" y="3529584"/>
            <a:ext cx="83210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조사항목 설계 · 지표 정의서 · 결과 분석과 보고서 작성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024482" y="3694176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95" name="Shape 93"/>
          <p:cNvSpPr/>
          <p:nvPr/>
        </p:nvSpPr>
        <p:spPr>
          <a:xfrm>
            <a:off x="2435962" y="3694176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96" name="Shape 94"/>
          <p:cNvSpPr/>
          <p:nvPr/>
        </p:nvSpPr>
        <p:spPr>
          <a:xfrm>
            <a:off x="2024482" y="3956609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97" name="Shape 95"/>
          <p:cNvSpPr/>
          <p:nvPr/>
        </p:nvSpPr>
        <p:spPr>
          <a:xfrm>
            <a:off x="2435962" y="3956609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98" name="Shape 96"/>
          <p:cNvSpPr/>
          <p:nvPr/>
        </p:nvSpPr>
        <p:spPr>
          <a:xfrm>
            <a:off x="2076602" y="3694176"/>
            <a:ext cx="411480" cy="366674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99" name="Shape 97"/>
          <p:cNvSpPr/>
          <p:nvPr/>
        </p:nvSpPr>
        <p:spPr>
          <a:xfrm>
            <a:off x="2024482" y="3746297"/>
            <a:ext cx="516636" cy="261518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100" name="Text 98"/>
          <p:cNvSpPr/>
          <p:nvPr/>
        </p:nvSpPr>
        <p:spPr>
          <a:xfrm>
            <a:off x="2024482" y="3694176"/>
            <a:ext cx="516636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D+1주</a:t>
            </a:r>
            <a:endParaRPr lang="en-US" sz="10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~ 종료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50876" y="4258361"/>
            <a:ext cx="2363724" cy="0"/>
          </a:xfrm>
          <a:prstGeom prst="line">
            <a:avLst/>
          </a:prstGeom>
          <a:noFill/>
          <a:ln w="9525">
            <a:solidFill>
              <a:srgbClr val="D6D8DC"/>
            </a:solidFill>
            <a:prstDash val="sysDash"/>
          </a:ln>
        </p:spPr>
      </p:sp>
      <p:sp>
        <p:nvSpPr>
          <p:cNvPr id="102" name="Text 100"/>
          <p:cNvSpPr/>
          <p:nvPr/>
        </p:nvSpPr>
        <p:spPr>
          <a:xfrm>
            <a:off x="124358" y="4291279"/>
            <a:ext cx="34015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공원식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497434" y="4291279"/>
            <a:ext cx="60259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233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결과 검증과 재무정보 연계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1126541" y="4349801"/>
            <a:ext cx="8230" cy="577901"/>
          </a:xfrm>
          <a:prstGeom prst="rect">
            <a:avLst/>
          </a:prstGeom>
          <a:solidFill>
            <a:srgbClr val="DEE0E4"/>
          </a:solidFill>
          <a:ln/>
        </p:spPr>
      </p:sp>
      <p:sp>
        <p:nvSpPr>
          <p:cNvPr id="105" name="Text 103"/>
          <p:cNvSpPr/>
          <p:nvPr/>
        </p:nvSpPr>
        <p:spPr>
          <a:xfrm>
            <a:off x="1152144" y="4291279"/>
            <a:ext cx="83210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응답값 교차검증 · 재무정보 대조 · 이상치 판정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2024482" y="4455871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435962" y="4455871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108" name="Shape 106"/>
          <p:cNvSpPr/>
          <p:nvPr/>
        </p:nvSpPr>
        <p:spPr>
          <a:xfrm>
            <a:off x="2024482" y="4717390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435962" y="4717390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076602" y="4455871"/>
            <a:ext cx="411480" cy="366674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024482" y="4507992"/>
            <a:ext cx="516636" cy="261518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112" name="Text 110"/>
          <p:cNvSpPr/>
          <p:nvPr/>
        </p:nvSpPr>
        <p:spPr>
          <a:xfrm>
            <a:off x="2024482" y="4455871"/>
            <a:ext cx="516636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D+8주</a:t>
            </a:r>
            <a:endParaRPr lang="en-US" sz="10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~ 종료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150876" y="5020056"/>
            <a:ext cx="2363724" cy="0"/>
          </a:xfrm>
          <a:prstGeom prst="line">
            <a:avLst/>
          </a:prstGeom>
          <a:noFill/>
          <a:ln w="9525">
            <a:solidFill>
              <a:srgbClr val="D6D8DC"/>
            </a:solidFill>
            <a:prstDash val="sysDash"/>
          </a:ln>
        </p:spPr>
      </p:sp>
      <p:sp>
        <p:nvSpPr>
          <p:cNvPr id="114" name="Text 112"/>
          <p:cNvSpPr/>
          <p:nvPr/>
        </p:nvSpPr>
        <p:spPr>
          <a:xfrm>
            <a:off x="124358" y="5052974"/>
            <a:ext cx="340157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강지현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497434" y="5052974"/>
            <a:ext cx="602590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233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연구분석 보조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1126541" y="5111496"/>
            <a:ext cx="8230" cy="427939"/>
          </a:xfrm>
          <a:prstGeom prst="rect">
            <a:avLst/>
          </a:prstGeom>
          <a:solidFill>
            <a:srgbClr val="DEE0E4"/>
          </a:solidFill>
          <a:ln/>
        </p:spPr>
      </p:sp>
      <p:sp>
        <p:nvSpPr>
          <p:cNvPr id="117" name="Text 115"/>
          <p:cNvSpPr/>
          <p:nvPr/>
        </p:nvSpPr>
        <p:spPr>
          <a:xfrm>
            <a:off x="1152144" y="5052974"/>
            <a:ext cx="832104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통계표 작성 보조 · 자료 정리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2024482" y="5142586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119" name="Shape 117"/>
          <p:cNvSpPr/>
          <p:nvPr/>
        </p:nvSpPr>
        <p:spPr>
          <a:xfrm>
            <a:off x="2435962" y="5142586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120" name="Shape 118"/>
          <p:cNvSpPr/>
          <p:nvPr/>
        </p:nvSpPr>
        <p:spPr>
          <a:xfrm>
            <a:off x="2024482" y="5404104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121" name="Shape 119"/>
          <p:cNvSpPr/>
          <p:nvPr/>
        </p:nvSpPr>
        <p:spPr>
          <a:xfrm>
            <a:off x="2435962" y="5404104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076602" y="5142586"/>
            <a:ext cx="411480" cy="366674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123" name="Shape 121"/>
          <p:cNvSpPr/>
          <p:nvPr/>
        </p:nvSpPr>
        <p:spPr>
          <a:xfrm>
            <a:off x="2024482" y="5194706"/>
            <a:ext cx="516636" cy="261518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124" name="Text 122"/>
          <p:cNvSpPr/>
          <p:nvPr/>
        </p:nvSpPr>
        <p:spPr>
          <a:xfrm>
            <a:off x="2024482" y="5142586"/>
            <a:ext cx="516636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D+10주</a:t>
            </a:r>
            <a:endParaRPr lang="en-US" sz="10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~ 종료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2626157" y="3353105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944161" y="3353105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626157" y="5501030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944161" y="5501030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691079" y="3353105"/>
            <a:ext cx="2318004" cy="227868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626157" y="3418027"/>
            <a:ext cx="2448763" cy="214792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691079" y="3359506"/>
            <a:ext cx="2318004" cy="2265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2" name="Shape 130"/>
          <p:cNvSpPr/>
          <p:nvPr/>
        </p:nvSpPr>
        <p:spPr>
          <a:xfrm>
            <a:off x="2632558" y="3418027"/>
            <a:ext cx="2435962" cy="21479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Shape 131"/>
          <p:cNvSpPr/>
          <p:nvPr/>
        </p:nvSpPr>
        <p:spPr>
          <a:xfrm>
            <a:off x="3287268" y="3254350"/>
            <a:ext cx="222199" cy="222199"/>
          </a:xfrm>
          <a:prstGeom prst="ellipse">
            <a:avLst/>
          </a:prstGeom>
          <a:solidFill>
            <a:srgbClr val="9D8054"/>
          </a:solidFill>
          <a:ln/>
        </p:spPr>
      </p:sp>
      <p:sp>
        <p:nvSpPr>
          <p:cNvPr id="134" name="Shape 132"/>
          <p:cNvSpPr/>
          <p:nvPr/>
        </p:nvSpPr>
        <p:spPr>
          <a:xfrm>
            <a:off x="4132174" y="3254350"/>
            <a:ext cx="222199" cy="222199"/>
          </a:xfrm>
          <a:prstGeom prst="ellipse">
            <a:avLst/>
          </a:prstGeom>
          <a:solidFill>
            <a:srgbClr val="9D8054"/>
          </a:solidFill>
          <a:ln/>
        </p:spPr>
      </p:sp>
      <p:sp>
        <p:nvSpPr>
          <p:cNvPr id="135" name="Shape 133"/>
          <p:cNvSpPr/>
          <p:nvPr/>
        </p:nvSpPr>
        <p:spPr>
          <a:xfrm>
            <a:off x="3287268" y="3260750"/>
            <a:ext cx="222199" cy="222199"/>
          </a:xfrm>
          <a:prstGeom prst="ellipse">
            <a:avLst/>
          </a:prstGeom>
          <a:solidFill>
            <a:srgbClr val="9D8054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132174" y="3260750"/>
            <a:ext cx="222199" cy="222199"/>
          </a:xfrm>
          <a:prstGeom prst="ellipse">
            <a:avLst/>
          </a:prstGeom>
          <a:solidFill>
            <a:srgbClr val="9D8054"/>
          </a:solidFill>
          <a:ln/>
        </p:spPr>
      </p:sp>
      <p:sp>
        <p:nvSpPr>
          <p:cNvPr id="137" name="Shape 135"/>
          <p:cNvSpPr/>
          <p:nvPr/>
        </p:nvSpPr>
        <p:spPr>
          <a:xfrm>
            <a:off x="3398825" y="3254350"/>
            <a:ext cx="844906" cy="229514"/>
          </a:xfrm>
          <a:prstGeom prst="rect">
            <a:avLst/>
          </a:prstGeom>
          <a:solidFill>
            <a:srgbClr val="9D8054"/>
          </a:solidFill>
          <a:ln/>
        </p:spPr>
      </p:sp>
      <p:sp>
        <p:nvSpPr>
          <p:cNvPr id="138" name="Shape 136"/>
          <p:cNvSpPr/>
          <p:nvPr/>
        </p:nvSpPr>
        <p:spPr>
          <a:xfrm>
            <a:off x="3287268" y="3365906"/>
            <a:ext cx="1067105" cy="6401"/>
          </a:xfrm>
          <a:prstGeom prst="rect">
            <a:avLst/>
          </a:prstGeom>
          <a:solidFill>
            <a:srgbClr val="9D8054"/>
          </a:solidFill>
          <a:ln/>
        </p:spPr>
      </p:sp>
      <p:sp>
        <p:nvSpPr>
          <p:cNvPr id="139" name="Text 137"/>
          <p:cNvSpPr/>
          <p:nvPr/>
        </p:nvSpPr>
        <p:spPr>
          <a:xfrm>
            <a:off x="3287268" y="3254350"/>
            <a:ext cx="1067105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실사·홍보</a:t>
            </a:r>
            <a:endParaRPr lang="en-US" sz="1150" dirty="0"/>
          </a:p>
        </p:txBody>
      </p:sp>
      <p:sp>
        <p:nvSpPr>
          <p:cNvPr id="140" name="Text 138"/>
          <p:cNvSpPr/>
          <p:nvPr/>
        </p:nvSpPr>
        <p:spPr>
          <a:xfrm>
            <a:off x="2665476" y="3529584"/>
            <a:ext cx="340157" cy="655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김은진</a:t>
            </a:r>
            <a:endParaRPr lang="en-US" sz="1000" dirty="0"/>
          </a:p>
        </p:txBody>
      </p:sp>
      <p:sp>
        <p:nvSpPr>
          <p:cNvPr id="141" name="Text 139"/>
          <p:cNvSpPr/>
          <p:nvPr/>
        </p:nvSpPr>
        <p:spPr>
          <a:xfrm>
            <a:off x="3038551" y="3529584"/>
            <a:ext cx="536753" cy="655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8C612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조사 총괄 관리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3601822" y="3588106"/>
            <a:ext cx="8230" cy="537667"/>
          </a:xfrm>
          <a:prstGeom prst="rect">
            <a:avLst/>
          </a:prstGeom>
          <a:solidFill>
            <a:srgbClr val="DEE0E4"/>
          </a:solidFill>
          <a:ln/>
        </p:spPr>
      </p:sp>
      <p:sp>
        <p:nvSpPr>
          <p:cNvPr id="143" name="Text 141"/>
          <p:cNvSpPr/>
          <p:nvPr/>
        </p:nvSpPr>
        <p:spPr>
          <a:xfrm>
            <a:off x="3627425" y="3529584"/>
            <a:ext cx="747979" cy="655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판별조사와 본조사 실사 총괄 · 조사원 교육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4415638" y="3674059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45" name="Shape 143"/>
          <p:cNvSpPr/>
          <p:nvPr/>
        </p:nvSpPr>
        <p:spPr>
          <a:xfrm>
            <a:off x="4931359" y="3674059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415638" y="3935578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47" name="Shape 145"/>
          <p:cNvSpPr/>
          <p:nvPr/>
        </p:nvSpPr>
        <p:spPr>
          <a:xfrm>
            <a:off x="4931359" y="3935578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48" name="Shape 146"/>
          <p:cNvSpPr/>
          <p:nvPr/>
        </p:nvSpPr>
        <p:spPr>
          <a:xfrm>
            <a:off x="4467758" y="3674059"/>
            <a:ext cx="515722" cy="366674"/>
          </a:xfrm>
          <a:prstGeom prst="rect">
            <a:avLst/>
          </a:prstGeom>
          <a:solidFill>
            <a:srgbClr val="F2F0E3"/>
          </a:solidFill>
          <a:ln/>
        </p:spPr>
      </p:sp>
      <p:sp>
        <p:nvSpPr>
          <p:cNvPr id="149" name="Shape 147"/>
          <p:cNvSpPr/>
          <p:nvPr/>
        </p:nvSpPr>
        <p:spPr>
          <a:xfrm>
            <a:off x="4415638" y="3726180"/>
            <a:ext cx="619963" cy="261518"/>
          </a:xfrm>
          <a:prstGeom prst="rect">
            <a:avLst/>
          </a:prstGeom>
          <a:solidFill>
            <a:srgbClr val="F2F0E3"/>
          </a:solidFill>
          <a:ln/>
        </p:spPr>
      </p:sp>
      <p:sp>
        <p:nvSpPr>
          <p:cNvPr id="150" name="Text 148"/>
          <p:cNvSpPr/>
          <p:nvPr/>
        </p:nvSpPr>
        <p:spPr>
          <a:xfrm>
            <a:off x="4415638" y="3674059"/>
            <a:ext cx="619963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4A403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D+3주</a:t>
            </a:r>
            <a:endParaRPr lang="en-US" sz="10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4A403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~ D+13주</a:t>
            </a:r>
            <a:endParaRPr lang="en-US" sz="1000" dirty="0"/>
          </a:p>
        </p:txBody>
      </p:sp>
      <p:sp>
        <p:nvSpPr>
          <p:cNvPr id="151" name="Shape 149"/>
          <p:cNvSpPr/>
          <p:nvPr/>
        </p:nvSpPr>
        <p:spPr>
          <a:xfrm>
            <a:off x="2691079" y="4218127"/>
            <a:ext cx="2318004" cy="0"/>
          </a:xfrm>
          <a:prstGeom prst="line">
            <a:avLst/>
          </a:prstGeom>
          <a:noFill/>
          <a:ln w="9525">
            <a:solidFill>
              <a:srgbClr val="D6D8DC"/>
            </a:solidFill>
            <a:prstDash val="sysDash"/>
          </a:ln>
        </p:spPr>
      </p:sp>
      <p:sp>
        <p:nvSpPr>
          <p:cNvPr id="152" name="Text 150"/>
          <p:cNvSpPr/>
          <p:nvPr/>
        </p:nvSpPr>
        <p:spPr>
          <a:xfrm>
            <a:off x="2665476" y="4251046"/>
            <a:ext cx="340157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김영미</a:t>
            </a:r>
            <a:endParaRPr lang="en-US" sz="1000" dirty="0"/>
          </a:p>
        </p:txBody>
      </p:sp>
      <p:sp>
        <p:nvSpPr>
          <p:cNvPr id="153" name="Text 151"/>
          <p:cNvSpPr/>
          <p:nvPr/>
        </p:nvSpPr>
        <p:spPr>
          <a:xfrm>
            <a:off x="3038551" y="4251046"/>
            <a:ext cx="536753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8C612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사업체조사 관리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3601822" y="4309567"/>
            <a:ext cx="8230" cy="237744"/>
          </a:xfrm>
          <a:prstGeom prst="rect">
            <a:avLst/>
          </a:prstGeom>
          <a:solidFill>
            <a:srgbClr val="DEE0E4"/>
          </a:solidFill>
          <a:ln/>
        </p:spPr>
      </p:sp>
      <p:sp>
        <p:nvSpPr>
          <p:cNvPr id="155" name="Text 153"/>
          <p:cNvSpPr/>
          <p:nvPr/>
        </p:nvSpPr>
        <p:spPr>
          <a:xfrm>
            <a:off x="3627425" y="4251046"/>
            <a:ext cx="747979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CATI 운영 · 통화 모니터링</a:t>
            </a:r>
            <a:endParaRPr lang="en-US" sz="1000" dirty="0"/>
          </a:p>
        </p:txBody>
      </p:sp>
      <p:sp>
        <p:nvSpPr>
          <p:cNvPr id="156" name="Shape 154"/>
          <p:cNvSpPr/>
          <p:nvPr/>
        </p:nvSpPr>
        <p:spPr>
          <a:xfrm>
            <a:off x="4415638" y="4263847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57" name="Shape 155"/>
          <p:cNvSpPr/>
          <p:nvPr/>
        </p:nvSpPr>
        <p:spPr>
          <a:xfrm>
            <a:off x="4931359" y="4263847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58" name="Shape 156"/>
          <p:cNvSpPr/>
          <p:nvPr/>
        </p:nvSpPr>
        <p:spPr>
          <a:xfrm>
            <a:off x="4415638" y="4488790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59" name="Shape 157"/>
          <p:cNvSpPr/>
          <p:nvPr/>
        </p:nvSpPr>
        <p:spPr>
          <a:xfrm>
            <a:off x="4931359" y="4488790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60" name="Shape 158"/>
          <p:cNvSpPr/>
          <p:nvPr/>
        </p:nvSpPr>
        <p:spPr>
          <a:xfrm>
            <a:off x="4467758" y="4263847"/>
            <a:ext cx="515722" cy="329184"/>
          </a:xfrm>
          <a:prstGeom prst="rect">
            <a:avLst/>
          </a:prstGeom>
          <a:solidFill>
            <a:srgbClr val="F2F0E3"/>
          </a:solidFill>
          <a:ln/>
        </p:spPr>
      </p:sp>
      <p:sp>
        <p:nvSpPr>
          <p:cNvPr id="161" name="Shape 159"/>
          <p:cNvSpPr/>
          <p:nvPr/>
        </p:nvSpPr>
        <p:spPr>
          <a:xfrm>
            <a:off x="4415638" y="4315968"/>
            <a:ext cx="619963" cy="224942"/>
          </a:xfrm>
          <a:prstGeom prst="rect">
            <a:avLst/>
          </a:prstGeom>
          <a:solidFill>
            <a:srgbClr val="F2F0E3"/>
          </a:solidFill>
          <a:ln/>
        </p:spPr>
      </p:sp>
      <p:sp>
        <p:nvSpPr>
          <p:cNvPr id="162" name="Text 160"/>
          <p:cNvSpPr/>
          <p:nvPr/>
        </p:nvSpPr>
        <p:spPr>
          <a:xfrm>
            <a:off x="4415638" y="4263847"/>
            <a:ext cx="6199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4A403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D+5주</a:t>
            </a:r>
            <a:endParaRPr lang="en-US" sz="10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4A403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~ D+13주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2691079" y="4638751"/>
            <a:ext cx="2318004" cy="0"/>
          </a:xfrm>
          <a:prstGeom prst="line">
            <a:avLst/>
          </a:prstGeom>
          <a:noFill/>
          <a:ln w="9525">
            <a:solidFill>
              <a:srgbClr val="D6D8DC"/>
            </a:solidFill>
            <a:prstDash val="sysDash"/>
          </a:ln>
        </p:spPr>
      </p:sp>
      <p:sp>
        <p:nvSpPr>
          <p:cNvPr id="164" name="Text 162"/>
          <p:cNvSpPr/>
          <p:nvPr/>
        </p:nvSpPr>
        <p:spPr>
          <a:xfrm>
            <a:off x="2665476" y="4671670"/>
            <a:ext cx="340157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이하나</a:t>
            </a:r>
            <a:endParaRPr lang="en-US" sz="1000" dirty="0"/>
          </a:p>
        </p:txBody>
      </p:sp>
      <p:sp>
        <p:nvSpPr>
          <p:cNvPr id="165" name="Text 163"/>
          <p:cNvSpPr/>
          <p:nvPr/>
        </p:nvSpPr>
        <p:spPr>
          <a:xfrm>
            <a:off x="3038551" y="4671670"/>
            <a:ext cx="536753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8C612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조사 결과 검증</a:t>
            </a:r>
            <a:endParaRPr lang="en-US" sz="1000" dirty="0"/>
          </a:p>
        </p:txBody>
      </p:sp>
      <p:sp>
        <p:nvSpPr>
          <p:cNvPr id="166" name="Shape 164"/>
          <p:cNvSpPr/>
          <p:nvPr/>
        </p:nvSpPr>
        <p:spPr>
          <a:xfrm>
            <a:off x="3601822" y="4731106"/>
            <a:ext cx="8230" cy="237744"/>
          </a:xfrm>
          <a:prstGeom prst="rect">
            <a:avLst/>
          </a:prstGeom>
          <a:solidFill>
            <a:srgbClr val="DEE0E4"/>
          </a:solidFill>
          <a:ln/>
        </p:spPr>
      </p:sp>
      <p:sp>
        <p:nvSpPr>
          <p:cNvPr id="167" name="Text 165"/>
          <p:cNvSpPr/>
          <p:nvPr/>
        </p:nvSpPr>
        <p:spPr>
          <a:xfrm>
            <a:off x="3627425" y="4671670"/>
            <a:ext cx="747979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회수자료 검증 · 미응답 관리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4415638" y="4685386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69" name="Shape 167"/>
          <p:cNvSpPr/>
          <p:nvPr/>
        </p:nvSpPr>
        <p:spPr>
          <a:xfrm>
            <a:off x="4931359" y="4685386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70" name="Shape 168"/>
          <p:cNvSpPr/>
          <p:nvPr/>
        </p:nvSpPr>
        <p:spPr>
          <a:xfrm>
            <a:off x="4415638" y="4909414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71" name="Shape 169"/>
          <p:cNvSpPr/>
          <p:nvPr/>
        </p:nvSpPr>
        <p:spPr>
          <a:xfrm>
            <a:off x="4931359" y="4909414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72" name="Shape 170"/>
          <p:cNvSpPr/>
          <p:nvPr/>
        </p:nvSpPr>
        <p:spPr>
          <a:xfrm>
            <a:off x="4467758" y="4685386"/>
            <a:ext cx="515722" cy="329184"/>
          </a:xfrm>
          <a:prstGeom prst="rect">
            <a:avLst/>
          </a:prstGeom>
          <a:solidFill>
            <a:srgbClr val="F2F0E3"/>
          </a:solidFill>
          <a:ln/>
        </p:spPr>
      </p:sp>
      <p:sp>
        <p:nvSpPr>
          <p:cNvPr id="173" name="Shape 171"/>
          <p:cNvSpPr/>
          <p:nvPr/>
        </p:nvSpPr>
        <p:spPr>
          <a:xfrm>
            <a:off x="4415638" y="4737506"/>
            <a:ext cx="619963" cy="224942"/>
          </a:xfrm>
          <a:prstGeom prst="rect">
            <a:avLst/>
          </a:prstGeom>
          <a:solidFill>
            <a:srgbClr val="F2F0E3"/>
          </a:solidFill>
          <a:ln/>
        </p:spPr>
      </p:sp>
      <p:sp>
        <p:nvSpPr>
          <p:cNvPr id="174" name="Text 172"/>
          <p:cNvSpPr/>
          <p:nvPr/>
        </p:nvSpPr>
        <p:spPr>
          <a:xfrm>
            <a:off x="4415638" y="4685386"/>
            <a:ext cx="6199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4A403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D+6주</a:t>
            </a:r>
            <a:endParaRPr lang="en-US" sz="10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4A403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~ D+14주</a:t>
            </a:r>
            <a:endParaRPr lang="en-US" sz="1000" dirty="0"/>
          </a:p>
        </p:txBody>
      </p:sp>
      <p:sp>
        <p:nvSpPr>
          <p:cNvPr id="175" name="Shape 173"/>
          <p:cNvSpPr/>
          <p:nvPr/>
        </p:nvSpPr>
        <p:spPr>
          <a:xfrm>
            <a:off x="2691079" y="5060290"/>
            <a:ext cx="2318004" cy="0"/>
          </a:xfrm>
          <a:prstGeom prst="line">
            <a:avLst/>
          </a:prstGeom>
          <a:noFill/>
          <a:ln w="9525">
            <a:solidFill>
              <a:srgbClr val="D6D8DC"/>
            </a:solidFill>
            <a:prstDash val="sysDash"/>
          </a:ln>
        </p:spPr>
      </p:sp>
      <p:sp>
        <p:nvSpPr>
          <p:cNvPr id="176" name="Text 174"/>
          <p:cNvSpPr/>
          <p:nvPr/>
        </p:nvSpPr>
        <p:spPr>
          <a:xfrm>
            <a:off x="2665476" y="5093208"/>
            <a:ext cx="34015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유주희</a:t>
            </a:r>
            <a:endParaRPr lang="en-US" sz="1000" dirty="0"/>
          </a:p>
        </p:txBody>
      </p:sp>
      <p:sp>
        <p:nvSpPr>
          <p:cNvPr id="177" name="Text 175"/>
          <p:cNvSpPr/>
          <p:nvPr/>
        </p:nvSpPr>
        <p:spPr>
          <a:xfrm>
            <a:off x="3038551" y="5093208"/>
            <a:ext cx="53675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8C612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조사 홍보자료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3601822" y="5151730"/>
            <a:ext cx="8230" cy="387706"/>
          </a:xfrm>
          <a:prstGeom prst="rect">
            <a:avLst/>
          </a:prstGeom>
          <a:solidFill>
            <a:srgbClr val="DEE0E4"/>
          </a:solidFill>
          <a:ln/>
        </p:spPr>
      </p:sp>
      <p:sp>
        <p:nvSpPr>
          <p:cNvPr id="179" name="Text 177"/>
          <p:cNvSpPr/>
          <p:nvPr/>
        </p:nvSpPr>
        <p:spPr>
          <a:xfrm>
            <a:off x="3627425" y="5093208"/>
            <a:ext cx="7479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협조공문과 안내자료 디자인</a:t>
            </a:r>
            <a:endParaRPr lang="en-US" sz="1000" dirty="0"/>
          </a:p>
        </p:txBody>
      </p:sp>
      <p:sp>
        <p:nvSpPr>
          <p:cNvPr id="180" name="Shape 178"/>
          <p:cNvSpPr/>
          <p:nvPr/>
        </p:nvSpPr>
        <p:spPr>
          <a:xfrm>
            <a:off x="4415638" y="5162702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81" name="Shape 179"/>
          <p:cNvSpPr/>
          <p:nvPr/>
        </p:nvSpPr>
        <p:spPr>
          <a:xfrm>
            <a:off x="4931359" y="5162702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82" name="Shape 180"/>
          <p:cNvSpPr/>
          <p:nvPr/>
        </p:nvSpPr>
        <p:spPr>
          <a:xfrm>
            <a:off x="4415638" y="5424221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83" name="Shape 181"/>
          <p:cNvSpPr/>
          <p:nvPr/>
        </p:nvSpPr>
        <p:spPr>
          <a:xfrm>
            <a:off x="4931359" y="5424221"/>
            <a:ext cx="105156" cy="105156"/>
          </a:xfrm>
          <a:prstGeom prst="ellipse">
            <a:avLst/>
          </a:prstGeom>
          <a:solidFill>
            <a:srgbClr val="F2F0E3"/>
          </a:solidFill>
          <a:ln/>
        </p:spPr>
      </p:sp>
      <p:sp>
        <p:nvSpPr>
          <p:cNvPr id="184" name="Shape 182"/>
          <p:cNvSpPr/>
          <p:nvPr/>
        </p:nvSpPr>
        <p:spPr>
          <a:xfrm>
            <a:off x="4467758" y="5162702"/>
            <a:ext cx="515722" cy="366674"/>
          </a:xfrm>
          <a:prstGeom prst="rect">
            <a:avLst/>
          </a:prstGeom>
          <a:solidFill>
            <a:srgbClr val="F2F0E3"/>
          </a:solidFill>
          <a:ln/>
        </p:spPr>
      </p:sp>
      <p:sp>
        <p:nvSpPr>
          <p:cNvPr id="185" name="Shape 183"/>
          <p:cNvSpPr/>
          <p:nvPr/>
        </p:nvSpPr>
        <p:spPr>
          <a:xfrm>
            <a:off x="4415638" y="5214823"/>
            <a:ext cx="619963" cy="261518"/>
          </a:xfrm>
          <a:prstGeom prst="rect">
            <a:avLst/>
          </a:prstGeom>
          <a:solidFill>
            <a:srgbClr val="F2F0E3"/>
          </a:solidFill>
          <a:ln/>
        </p:spPr>
      </p:sp>
      <p:sp>
        <p:nvSpPr>
          <p:cNvPr id="186" name="Text 184"/>
          <p:cNvSpPr/>
          <p:nvPr/>
        </p:nvSpPr>
        <p:spPr>
          <a:xfrm>
            <a:off x="4415638" y="5162702"/>
            <a:ext cx="619963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4A403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D+2주</a:t>
            </a:r>
            <a:endParaRPr lang="en-US" sz="10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4A403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~ D+4주</a:t>
            </a:r>
            <a:endParaRPr lang="en-US" sz="1000" dirty="0"/>
          </a:p>
        </p:txBody>
      </p:sp>
      <p:sp>
        <p:nvSpPr>
          <p:cNvPr id="187" name="Shape 185"/>
          <p:cNvSpPr/>
          <p:nvPr/>
        </p:nvSpPr>
        <p:spPr>
          <a:xfrm>
            <a:off x="5114239" y="3353105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334402" y="3353105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5114239" y="5501030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334402" y="5501030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5180076" y="3353105"/>
            <a:ext cx="2220163" cy="227868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5114239" y="3418027"/>
            <a:ext cx="2350922" cy="214792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5180076" y="3359506"/>
            <a:ext cx="2220163" cy="2265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4" name="Shape 192"/>
          <p:cNvSpPr/>
          <p:nvPr/>
        </p:nvSpPr>
        <p:spPr>
          <a:xfrm>
            <a:off x="5120640" y="3418027"/>
            <a:ext cx="2338121" cy="21479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5" name="Shape 193"/>
          <p:cNvSpPr/>
          <p:nvPr/>
        </p:nvSpPr>
        <p:spPr>
          <a:xfrm>
            <a:off x="5677510" y="3254350"/>
            <a:ext cx="222199" cy="222199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196" name="Shape 194"/>
          <p:cNvSpPr/>
          <p:nvPr/>
        </p:nvSpPr>
        <p:spPr>
          <a:xfrm>
            <a:off x="6613855" y="3254350"/>
            <a:ext cx="222199" cy="222199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197" name="Shape 195"/>
          <p:cNvSpPr/>
          <p:nvPr/>
        </p:nvSpPr>
        <p:spPr>
          <a:xfrm>
            <a:off x="5677510" y="3260750"/>
            <a:ext cx="222199" cy="222199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198" name="Shape 196"/>
          <p:cNvSpPr/>
          <p:nvPr/>
        </p:nvSpPr>
        <p:spPr>
          <a:xfrm>
            <a:off x="6613855" y="3260750"/>
            <a:ext cx="222199" cy="222199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199" name="Shape 197"/>
          <p:cNvSpPr/>
          <p:nvPr/>
        </p:nvSpPr>
        <p:spPr>
          <a:xfrm>
            <a:off x="5789066" y="3254350"/>
            <a:ext cx="936346" cy="229514"/>
          </a:xfrm>
          <a:prstGeom prst="rect">
            <a:avLst/>
          </a:prstGeom>
          <a:solidFill>
            <a:srgbClr val="062A63"/>
          </a:solidFill>
          <a:ln/>
        </p:spPr>
      </p:sp>
      <p:sp>
        <p:nvSpPr>
          <p:cNvPr id="200" name="Shape 198"/>
          <p:cNvSpPr/>
          <p:nvPr/>
        </p:nvSpPr>
        <p:spPr>
          <a:xfrm>
            <a:off x="5677510" y="3365906"/>
            <a:ext cx="1159459" cy="6401"/>
          </a:xfrm>
          <a:prstGeom prst="rect">
            <a:avLst/>
          </a:prstGeom>
          <a:solidFill>
            <a:srgbClr val="062A63"/>
          </a:solidFill>
          <a:ln/>
        </p:spPr>
      </p:sp>
      <p:sp>
        <p:nvSpPr>
          <p:cNvPr id="201" name="Text 199"/>
          <p:cNvSpPr/>
          <p:nvPr/>
        </p:nvSpPr>
        <p:spPr>
          <a:xfrm>
            <a:off x="5677510" y="3254350"/>
            <a:ext cx="1159459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자료처리·검증</a:t>
            </a:r>
            <a:endParaRPr lang="en-US" sz="1150" dirty="0"/>
          </a:p>
        </p:txBody>
      </p:sp>
      <p:sp>
        <p:nvSpPr>
          <p:cNvPr id="202" name="Text 200"/>
          <p:cNvSpPr/>
          <p:nvPr/>
        </p:nvSpPr>
        <p:spPr>
          <a:xfrm>
            <a:off x="5153558" y="3529584"/>
            <a:ext cx="340157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진병운</a:t>
            </a:r>
            <a:endParaRPr lang="en-US" sz="1000" dirty="0"/>
          </a:p>
        </p:txBody>
      </p:sp>
      <p:sp>
        <p:nvSpPr>
          <p:cNvPr id="203" name="Text 201"/>
          <p:cNvSpPr/>
          <p:nvPr/>
        </p:nvSpPr>
        <p:spPr>
          <a:xfrm>
            <a:off x="5526634" y="3529584"/>
            <a:ext cx="497434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233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자료처리 총괄</a:t>
            </a:r>
            <a:endParaRPr lang="en-US" sz="1000" dirty="0"/>
          </a:p>
        </p:txBody>
      </p:sp>
      <p:sp>
        <p:nvSpPr>
          <p:cNvPr id="204" name="Shape 202"/>
          <p:cNvSpPr/>
          <p:nvPr/>
        </p:nvSpPr>
        <p:spPr>
          <a:xfrm>
            <a:off x="6050585" y="3588106"/>
            <a:ext cx="8230" cy="427939"/>
          </a:xfrm>
          <a:prstGeom prst="rect">
            <a:avLst/>
          </a:prstGeom>
          <a:solidFill>
            <a:srgbClr val="DEE0E4"/>
          </a:solidFill>
          <a:ln/>
        </p:spPr>
      </p:sp>
      <p:sp>
        <p:nvSpPr>
          <p:cNvPr id="205" name="Text 203"/>
          <p:cNvSpPr/>
          <p:nvPr/>
        </p:nvSpPr>
        <p:spPr>
          <a:xfrm>
            <a:off x="6077102" y="3529584"/>
            <a:ext cx="689458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데이터 검증 체계 운영</a:t>
            </a:r>
            <a:endParaRPr lang="en-US" sz="1000" dirty="0"/>
          </a:p>
        </p:txBody>
      </p:sp>
      <p:sp>
        <p:nvSpPr>
          <p:cNvPr id="206" name="Shape 204"/>
          <p:cNvSpPr/>
          <p:nvPr/>
        </p:nvSpPr>
        <p:spPr>
          <a:xfrm>
            <a:off x="6805879" y="3619195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07" name="Shape 205"/>
          <p:cNvSpPr/>
          <p:nvPr/>
        </p:nvSpPr>
        <p:spPr>
          <a:xfrm>
            <a:off x="7321601" y="3619195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08" name="Shape 206"/>
          <p:cNvSpPr/>
          <p:nvPr/>
        </p:nvSpPr>
        <p:spPr>
          <a:xfrm>
            <a:off x="6805879" y="3881628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09" name="Shape 207"/>
          <p:cNvSpPr/>
          <p:nvPr/>
        </p:nvSpPr>
        <p:spPr>
          <a:xfrm>
            <a:off x="7321601" y="3881628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10" name="Shape 208"/>
          <p:cNvSpPr/>
          <p:nvPr/>
        </p:nvSpPr>
        <p:spPr>
          <a:xfrm>
            <a:off x="6858000" y="3619195"/>
            <a:ext cx="515722" cy="366674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211" name="Shape 209"/>
          <p:cNvSpPr/>
          <p:nvPr/>
        </p:nvSpPr>
        <p:spPr>
          <a:xfrm>
            <a:off x="6805879" y="3671316"/>
            <a:ext cx="619963" cy="261518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212" name="Text 210"/>
          <p:cNvSpPr/>
          <p:nvPr/>
        </p:nvSpPr>
        <p:spPr>
          <a:xfrm>
            <a:off x="6805879" y="3619195"/>
            <a:ext cx="619963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D+8주</a:t>
            </a:r>
            <a:endParaRPr lang="en-US" sz="10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~ 종료</a:t>
            </a:r>
            <a:endParaRPr lang="en-US" sz="1000" dirty="0"/>
          </a:p>
        </p:txBody>
      </p:sp>
      <p:sp>
        <p:nvSpPr>
          <p:cNvPr id="213" name="Shape 211"/>
          <p:cNvSpPr/>
          <p:nvPr/>
        </p:nvSpPr>
        <p:spPr>
          <a:xfrm>
            <a:off x="5180076" y="4108399"/>
            <a:ext cx="2220163" cy="0"/>
          </a:xfrm>
          <a:prstGeom prst="line">
            <a:avLst/>
          </a:prstGeom>
          <a:noFill/>
          <a:ln w="9525">
            <a:solidFill>
              <a:srgbClr val="D6D8DC"/>
            </a:solidFill>
            <a:prstDash val="sysDash"/>
          </a:ln>
        </p:spPr>
      </p:sp>
      <p:sp>
        <p:nvSpPr>
          <p:cNvPr id="214" name="Text 212"/>
          <p:cNvSpPr/>
          <p:nvPr/>
        </p:nvSpPr>
        <p:spPr>
          <a:xfrm>
            <a:off x="5153558" y="4141318"/>
            <a:ext cx="34015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김진영</a:t>
            </a:r>
            <a:endParaRPr lang="en-US" sz="1000" dirty="0"/>
          </a:p>
        </p:txBody>
      </p:sp>
      <p:sp>
        <p:nvSpPr>
          <p:cNvPr id="215" name="Text 213"/>
          <p:cNvSpPr/>
          <p:nvPr/>
        </p:nvSpPr>
        <p:spPr>
          <a:xfrm>
            <a:off x="5526634" y="4141318"/>
            <a:ext cx="49743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233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에디팅과 코딩 관리</a:t>
            </a:r>
            <a:endParaRPr lang="en-US" sz="1000" dirty="0"/>
          </a:p>
        </p:txBody>
      </p:sp>
      <p:sp>
        <p:nvSpPr>
          <p:cNvPr id="216" name="Shape 214"/>
          <p:cNvSpPr/>
          <p:nvPr/>
        </p:nvSpPr>
        <p:spPr>
          <a:xfrm>
            <a:off x="6050585" y="4199839"/>
            <a:ext cx="8230" cy="577901"/>
          </a:xfrm>
          <a:prstGeom prst="rect">
            <a:avLst/>
          </a:prstGeom>
          <a:solidFill>
            <a:srgbClr val="DEE0E4"/>
          </a:solidFill>
          <a:ln/>
        </p:spPr>
      </p:sp>
      <p:sp>
        <p:nvSpPr>
          <p:cNvPr id="217" name="Text 215"/>
          <p:cNvSpPr/>
          <p:nvPr/>
        </p:nvSpPr>
        <p:spPr>
          <a:xfrm>
            <a:off x="6077102" y="4141318"/>
            <a:ext cx="689458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자료 정제 · 코드값 부여</a:t>
            </a:r>
            <a:endParaRPr lang="en-US" sz="1000" dirty="0"/>
          </a:p>
        </p:txBody>
      </p:sp>
      <p:sp>
        <p:nvSpPr>
          <p:cNvPr id="218" name="Shape 216"/>
          <p:cNvSpPr/>
          <p:nvPr/>
        </p:nvSpPr>
        <p:spPr>
          <a:xfrm>
            <a:off x="6805879" y="4305910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19" name="Shape 217"/>
          <p:cNvSpPr/>
          <p:nvPr/>
        </p:nvSpPr>
        <p:spPr>
          <a:xfrm>
            <a:off x="7321601" y="4305910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20" name="Shape 218"/>
          <p:cNvSpPr/>
          <p:nvPr/>
        </p:nvSpPr>
        <p:spPr>
          <a:xfrm>
            <a:off x="6805879" y="4568342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21" name="Shape 219"/>
          <p:cNvSpPr/>
          <p:nvPr/>
        </p:nvSpPr>
        <p:spPr>
          <a:xfrm>
            <a:off x="7321601" y="4568342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22" name="Shape 220"/>
          <p:cNvSpPr/>
          <p:nvPr/>
        </p:nvSpPr>
        <p:spPr>
          <a:xfrm>
            <a:off x="6858000" y="4305910"/>
            <a:ext cx="515722" cy="366674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223" name="Shape 221"/>
          <p:cNvSpPr/>
          <p:nvPr/>
        </p:nvSpPr>
        <p:spPr>
          <a:xfrm>
            <a:off x="6805879" y="4358030"/>
            <a:ext cx="619963" cy="261518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224" name="Text 222"/>
          <p:cNvSpPr/>
          <p:nvPr/>
        </p:nvSpPr>
        <p:spPr>
          <a:xfrm>
            <a:off x="6805879" y="4305910"/>
            <a:ext cx="619963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D+10주</a:t>
            </a:r>
            <a:endParaRPr lang="en-US" sz="10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~ D+14주</a:t>
            </a:r>
            <a:endParaRPr lang="en-US" sz="1000" dirty="0"/>
          </a:p>
        </p:txBody>
      </p:sp>
      <p:sp>
        <p:nvSpPr>
          <p:cNvPr id="225" name="Shape 223"/>
          <p:cNvSpPr/>
          <p:nvPr/>
        </p:nvSpPr>
        <p:spPr>
          <a:xfrm>
            <a:off x="5180076" y="4870094"/>
            <a:ext cx="2220163" cy="0"/>
          </a:xfrm>
          <a:prstGeom prst="line">
            <a:avLst/>
          </a:prstGeom>
          <a:noFill/>
          <a:ln w="9525">
            <a:solidFill>
              <a:srgbClr val="D6D8DC"/>
            </a:solidFill>
            <a:prstDash val="sysDash"/>
          </a:ln>
        </p:spPr>
      </p:sp>
      <p:sp>
        <p:nvSpPr>
          <p:cNvPr id="226" name="Text 224"/>
          <p:cNvSpPr/>
          <p:nvPr/>
        </p:nvSpPr>
        <p:spPr>
          <a:xfrm>
            <a:off x="5153558" y="4903013"/>
            <a:ext cx="34015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이환</a:t>
            </a:r>
            <a:endParaRPr lang="en-US" sz="1150" dirty="0"/>
          </a:p>
        </p:txBody>
      </p:sp>
      <p:sp>
        <p:nvSpPr>
          <p:cNvPr id="227" name="Text 225"/>
          <p:cNvSpPr/>
          <p:nvPr/>
        </p:nvSpPr>
        <p:spPr>
          <a:xfrm>
            <a:off x="5526634" y="4903013"/>
            <a:ext cx="49743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233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데이터 검증과 자료처리</a:t>
            </a:r>
            <a:endParaRPr lang="en-US" sz="1000" dirty="0"/>
          </a:p>
        </p:txBody>
      </p:sp>
      <p:sp>
        <p:nvSpPr>
          <p:cNvPr id="228" name="Shape 226"/>
          <p:cNvSpPr/>
          <p:nvPr/>
        </p:nvSpPr>
        <p:spPr>
          <a:xfrm>
            <a:off x="6050585" y="4961534"/>
            <a:ext cx="8230" cy="577901"/>
          </a:xfrm>
          <a:prstGeom prst="rect">
            <a:avLst/>
          </a:prstGeom>
          <a:solidFill>
            <a:srgbClr val="DEE0E4"/>
          </a:solidFill>
          <a:ln/>
        </p:spPr>
      </p:sp>
      <p:sp>
        <p:nvSpPr>
          <p:cNvPr id="229" name="Text 227"/>
          <p:cNvSpPr/>
          <p:nvPr/>
        </p:nvSpPr>
        <p:spPr>
          <a:xfrm>
            <a:off x="6077102" y="4903013"/>
            <a:ext cx="689458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내검 규칙 적용 · 가중치 산정</a:t>
            </a:r>
            <a:endParaRPr lang="en-US" sz="1000" dirty="0"/>
          </a:p>
        </p:txBody>
      </p:sp>
      <p:sp>
        <p:nvSpPr>
          <p:cNvPr id="230" name="Shape 228"/>
          <p:cNvSpPr/>
          <p:nvPr/>
        </p:nvSpPr>
        <p:spPr>
          <a:xfrm>
            <a:off x="6805879" y="5067605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31" name="Shape 229"/>
          <p:cNvSpPr/>
          <p:nvPr/>
        </p:nvSpPr>
        <p:spPr>
          <a:xfrm>
            <a:off x="7321601" y="5067605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32" name="Shape 230"/>
          <p:cNvSpPr/>
          <p:nvPr/>
        </p:nvSpPr>
        <p:spPr>
          <a:xfrm>
            <a:off x="6805879" y="5329123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33" name="Shape 231"/>
          <p:cNvSpPr/>
          <p:nvPr/>
        </p:nvSpPr>
        <p:spPr>
          <a:xfrm>
            <a:off x="7321601" y="5329123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34" name="Shape 232"/>
          <p:cNvSpPr/>
          <p:nvPr/>
        </p:nvSpPr>
        <p:spPr>
          <a:xfrm>
            <a:off x="6858000" y="5067605"/>
            <a:ext cx="515722" cy="366674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235" name="Shape 233"/>
          <p:cNvSpPr/>
          <p:nvPr/>
        </p:nvSpPr>
        <p:spPr>
          <a:xfrm>
            <a:off x="6805879" y="5119726"/>
            <a:ext cx="619963" cy="261518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236" name="Text 234"/>
          <p:cNvSpPr/>
          <p:nvPr/>
        </p:nvSpPr>
        <p:spPr>
          <a:xfrm>
            <a:off x="6805879" y="5067605"/>
            <a:ext cx="619963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D+10주</a:t>
            </a:r>
            <a:endParaRPr lang="en-US" sz="10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~ 종료</a:t>
            </a:r>
            <a:endParaRPr lang="en-US" sz="1000" dirty="0"/>
          </a:p>
        </p:txBody>
      </p:sp>
      <p:sp>
        <p:nvSpPr>
          <p:cNvPr id="237" name="Shape 235"/>
          <p:cNvSpPr/>
          <p:nvPr/>
        </p:nvSpPr>
        <p:spPr>
          <a:xfrm>
            <a:off x="7517282" y="3353105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803282" y="3353105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517282" y="5501030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803282" y="5501030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7583119" y="3353105"/>
            <a:ext cx="2285086" cy="227868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7517282" y="3418027"/>
            <a:ext cx="2416759" cy="214792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7583119" y="3359506"/>
            <a:ext cx="2285086" cy="2265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4" name="Shape 242"/>
          <p:cNvSpPr/>
          <p:nvPr/>
        </p:nvSpPr>
        <p:spPr>
          <a:xfrm>
            <a:off x="7524598" y="3418027"/>
            <a:ext cx="2403043" cy="21479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5" name="Shape 243"/>
          <p:cNvSpPr/>
          <p:nvPr/>
        </p:nvSpPr>
        <p:spPr>
          <a:xfrm>
            <a:off x="8133588" y="3254350"/>
            <a:ext cx="222199" cy="222199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246" name="Shape 244"/>
          <p:cNvSpPr/>
          <p:nvPr/>
        </p:nvSpPr>
        <p:spPr>
          <a:xfrm>
            <a:off x="9076334" y="3254350"/>
            <a:ext cx="222199" cy="222199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247" name="Shape 245"/>
          <p:cNvSpPr/>
          <p:nvPr/>
        </p:nvSpPr>
        <p:spPr>
          <a:xfrm>
            <a:off x="8133588" y="3260750"/>
            <a:ext cx="222199" cy="222199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248" name="Shape 246"/>
          <p:cNvSpPr/>
          <p:nvPr/>
        </p:nvSpPr>
        <p:spPr>
          <a:xfrm>
            <a:off x="9076334" y="3260750"/>
            <a:ext cx="222199" cy="222199"/>
          </a:xfrm>
          <a:prstGeom prst="ellipse">
            <a:avLst/>
          </a:prstGeom>
          <a:solidFill>
            <a:srgbClr val="062A63"/>
          </a:solidFill>
          <a:ln/>
        </p:spPr>
      </p:sp>
      <p:sp>
        <p:nvSpPr>
          <p:cNvPr id="249" name="Shape 247"/>
          <p:cNvSpPr/>
          <p:nvPr/>
        </p:nvSpPr>
        <p:spPr>
          <a:xfrm>
            <a:off x="8244230" y="3254350"/>
            <a:ext cx="942746" cy="229514"/>
          </a:xfrm>
          <a:prstGeom prst="rect">
            <a:avLst/>
          </a:prstGeom>
          <a:solidFill>
            <a:srgbClr val="062A63"/>
          </a:solidFill>
          <a:ln/>
        </p:spPr>
      </p:sp>
      <p:sp>
        <p:nvSpPr>
          <p:cNvPr id="250" name="Shape 248"/>
          <p:cNvSpPr/>
          <p:nvPr/>
        </p:nvSpPr>
        <p:spPr>
          <a:xfrm>
            <a:off x="8133588" y="3365906"/>
            <a:ext cx="1165860" cy="6401"/>
          </a:xfrm>
          <a:prstGeom prst="rect">
            <a:avLst/>
          </a:prstGeom>
          <a:solidFill>
            <a:srgbClr val="062A63"/>
          </a:solidFill>
          <a:ln/>
        </p:spPr>
      </p:sp>
      <p:sp>
        <p:nvSpPr>
          <p:cNvPr id="251" name="Text 249"/>
          <p:cNvSpPr/>
          <p:nvPr/>
        </p:nvSpPr>
        <p:spPr>
          <a:xfrm>
            <a:off x="8133588" y="3254350"/>
            <a:ext cx="1165860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시스템·명부</a:t>
            </a:r>
            <a:endParaRPr lang="en-US" sz="1150" dirty="0"/>
          </a:p>
        </p:txBody>
      </p:sp>
      <p:sp>
        <p:nvSpPr>
          <p:cNvPr id="252" name="Text 250"/>
          <p:cNvSpPr/>
          <p:nvPr/>
        </p:nvSpPr>
        <p:spPr>
          <a:xfrm>
            <a:off x="7556602" y="3529584"/>
            <a:ext cx="340157" cy="1002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박진오</a:t>
            </a:r>
            <a:endParaRPr lang="en-US" sz="1000" dirty="0"/>
          </a:p>
        </p:txBody>
      </p:sp>
      <p:sp>
        <p:nvSpPr>
          <p:cNvPr id="253" name="Text 251"/>
          <p:cNvSpPr/>
          <p:nvPr/>
        </p:nvSpPr>
        <p:spPr>
          <a:xfrm>
            <a:off x="7930591" y="3529584"/>
            <a:ext cx="556870" cy="1002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233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온라인 조사 시스템 개발</a:t>
            </a:r>
            <a:endParaRPr lang="en-US" sz="1000" dirty="0"/>
          </a:p>
        </p:txBody>
      </p:sp>
      <p:sp>
        <p:nvSpPr>
          <p:cNvPr id="254" name="Shape 252"/>
          <p:cNvSpPr/>
          <p:nvPr/>
        </p:nvSpPr>
        <p:spPr>
          <a:xfrm>
            <a:off x="8513064" y="3588106"/>
            <a:ext cx="8230" cy="884225"/>
          </a:xfrm>
          <a:prstGeom prst="rect">
            <a:avLst/>
          </a:prstGeom>
          <a:solidFill>
            <a:srgbClr val="DEE0E4"/>
          </a:solidFill>
          <a:ln/>
        </p:spPr>
      </p:sp>
      <p:sp>
        <p:nvSpPr>
          <p:cNvPr id="255" name="Text 253"/>
          <p:cNvSpPr/>
          <p:nvPr/>
        </p:nvSpPr>
        <p:spPr>
          <a:xfrm>
            <a:off x="8539582" y="3529584"/>
            <a:ext cx="767182" cy="1002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 페이지 구축 · 사전 입력 구현</a:t>
            </a:r>
            <a:endParaRPr lang="en-US" sz="1000" dirty="0"/>
          </a:p>
        </p:txBody>
      </p:sp>
      <p:sp>
        <p:nvSpPr>
          <p:cNvPr id="256" name="Shape 254"/>
          <p:cNvSpPr/>
          <p:nvPr/>
        </p:nvSpPr>
        <p:spPr>
          <a:xfrm>
            <a:off x="9346082" y="3846881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57" name="Shape 255"/>
          <p:cNvSpPr/>
          <p:nvPr/>
        </p:nvSpPr>
        <p:spPr>
          <a:xfrm>
            <a:off x="9789566" y="3846881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58" name="Shape 256"/>
          <p:cNvSpPr/>
          <p:nvPr/>
        </p:nvSpPr>
        <p:spPr>
          <a:xfrm>
            <a:off x="9346082" y="4109314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59" name="Shape 257"/>
          <p:cNvSpPr/>
          <p:nvPr/>
        </p:nvSpPr>
        <p:spPr>
          <a:xfrm>
            <a:off x="9789566" y="4109314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60" name="Shape 258"/>
          <p:cNvSpPr/>
          <p:nvPr/>
        </p:nvSpPr>
        <p:spPr>
          <a:xfrm>
            <a:off x="9398203" y="3846881"/>
            <a:ext cx="444398" cy="366674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261" name="Shape 259"/>
          <p:cNvSpPr/>
          <p:nvPr/>
        </p:nvSpPr>
        <p:spPr>
          <a:xfrm>
            <a:off x="9346082" y="3899916"/>
            <a:ext cx="548640" cy="261518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262" name="Text 260"/>
          <p:cNvSpPr/>
          <p:nvPr/>
        </p:nvSpPr>
        <p:spPr>
          <a:xfrm>
            <a:off x="9346082" y="3846881"/>
            <a:ext cx="548640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D+2주</a:t>
            </a:r>
            <a:endParaRPr lang="en-US" sz="10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~ D+6주</a:t>
            </a:r>
            <a:endParaRPr lang="en-US" sz="1000" dirty="0"/>
          </a:p>
        </p:txBody>
      </p:sp>
      <p:sp>
        <p:nvSpPr>
          <p:cNvPr id="263" name="Shape 261"/>
          <p:cNvSpPr/>
          <p:nvPr/>
        </p:nvSpPr>
        <p:spPr>
          <a:xfrm>
            <a:off x="7583119" y="4564685"/>
            <a:ext cx="2285086" cy="0"/>
          </a:xfrm>
          <a:prstGeom prst="line">
            <a:avLst/>
          </a:prstGeom>
          <a:noFill/>
          <a:ln w="9525">
            <a:solidFill>
              <a:srgbClr val="D6D8DC"/>
            </a:solidFill>
            <a:prstDash val="sysDash"/>
          </a:ln>
        </p:spPr>
      </p:sp>
      <p:sp>
        <p:nvSpPr>
          <p:cNvPr id="264" name="Text 262"/>
          <p:cNvSpPr/>
          <p:nvPr/>
        </p:nvSpPr>
        <p:spPr>
          <a:xfrm>
            <a:off x="7556602" y="4596689"/>
            <a:ext cx="340157" cy="1002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김동철</a:t>
            </a:r>
            <a:endParaRPr lang="en-US" sz="1000" dirty="0"/>
          </a:p>
        </p:txBody>
      </p:sp>
      <p:sp>
        <p:nvSpPr>
          <p:cNvPr id="265" name="Text 263"/>
          <p:cNvSpPr/>
          <p:nvPr/>
        </p:nvSpPr>
        <p:spPr>
          <a:xfrm>
            <a:off x="7930591" y="4596689"/>
            <a:ext cx="556870" cy="1002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233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표본명부 관리</a:t>
            </a:r>
            <a:endParaRPr lang="en-US" sz="1000" dirty="0"/>
          </a:p>
        </p:txBody>
      </p:sp>
      <p:sp>
        <p:nvSpPr>
          <p:cNvPr id="266" name="Shape 264"/>
          <p:cNvSpPr/>
          <p:nvPr/>
        </p:nvSpPr>
        <p:spPr>
          <a:xfrm>
            <a:off x="8513064" y="4656125"/>
            <a:ext cx="8230" cy="884225"/>
          </a:xfrm>
          <a:prstGeom prst="rect">
            <a:avLst/>
          </a:prstGeom>
          <a:solidFill>
            <a:srgbClr val="DEE0E4"/>
          </a:solidFill>
          <a:ln/>
        </p:spPr>
      </p:sp>
      <p:sp>
        <p:nvSpPr>
          <p:cNvPr id="267" name="Text 265"/>
          <p:cNvSpPr/>
          <p:nvPr/>
        </p:nvSpPr>
        <p:spPr>
          <a:xfrm>
            <a:off x="8539582" y="4596689"/>
            <a:ext cx="767182" cy="1002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SBR 명부 현행화 · 연락처 확보 관리</a:t>
            </a:r>
            <a:endParaRPr lang="en-US" sz="1000" dirty="0"/>
          </a:p>
        </p:txBody>
      </p:sp>
      <p:sp>
        <p:nvSpPr>
          <p:cNvPr id="268" name="Shape 266"/>
          <p:cNvSpPr/>
          <p:nvPr/>
        </p:nvSpPr>
        <p:spPr>
          <a:xfrm>
            <a:off x="9346082" y="4914900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69" name="Shape 267"/>
          <p:cNvSpPr/>
          <p:nvPr/>
        </p:nvSpPr>
        <p:spPr>
          <a:xfrm>
            <a:off x="9789566" y="4914900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70" name="Shape 268"/>
          <p:cNvSpPr/>
          <p:nvPr/>
        </p:nvSpPr>
        <p:spPr>
          <a:xfrm>
            <a:off x="9346082" y="5176418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71" name="Shape 269"/>
          <p:cNvSpPr/>
          <p:nvPr/>
        </p:nvSpPr>
        <p:spPr>
          <a:xfrm>
            <a:off x="9789566" y="5176418"/>
            <a:ext cx="105156" cy="105156"/>
          </a:xfrm>
          <a:prstGeom prst="ellipse">
            <a:avLst/>
          </a:prstGeom>
          <a:solidFill>
            <a:srgbClr val="DDE5F2"/>
          </a:solidFill>
          <a:ln/>
        </p:spPr>
      </p:sp>
      <p:sp>
        <p:nvSpPr>
          <p:cNvPr id="272" name="Shape 270"/>
          <p:cNvSpPr/>
          <p:nvPr/>
        </p:nvSpPr>
        <p:spPr>
          <a:xfrm>
            <a:off x="9398203" y="4914900"/>
            <a:ext cx="444398" cy="366674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273" name="Shape 271"/>
          <p:cNvSpPr/>
          <p:nvPr/>
        </p:nvSpPr>
        <p:spPr>
          <a:xfrm>
            <a:off x="9346082" y="4967021"/>
            <a:ext cx="548640" cy="261518"/>
          </a:xfrm>
          <a:prstGeom prst="rect">
            <a:avLst/>
          </a:prstGeom>
          <a:solidFill>
            <a:srgbClr val="DDE5F2"/>
          </a:solidFill>
          <a:ln/>
        </p:spPr>
      </p:sp>
      <p:sp>
        <p:nvSpPr>
          <p:cNvPr id="274" name="Text 272"/>
          <p:cNvSpPr/>
          <p:nvPr/>
        </p:nvSpPr>
        <p:spPr>
          <a:xfrm>
            <a:off x="9346082" y="4914900"/>
            <a:ext cx="548640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D+1주</a:t>
            </a:r>
            <a:endParaRPr lang="en-US" sz="10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575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~ D+8주</a:t>
            </a:r>
            <a:endParaRPr lang="en-US" sz="1000" dirty="0"/>
          </a:p>
        </p:txBody>
      </p:sp>
      <p:sp>
        <p:nvSpPr>
          <p:cNvPr id="275" name="Shape 273"/>
          <p:cNvSpPr/>
          <p:nvPr/>
        </p:nvSpPr>
        <p:spPr>
          <a:xfrm>
            <a:off x="288036" y="5723230"/>
            <a:ext cx="235915" cy="235915"/>
          </a:xfrm>
          <a:prstGeom prst="ellipse">
            <a:avLst/>
          </a:prstGeom>
          <a:solidFill>
            <a:srgbClr val="0A2650"/>
          </a:solidFill>
          <a:ln/>
        </p:spPr>
      </p:sp>
      <p:sp>
        <p:nvSpPr>
          <p:cNvPr id="276" name="Shape 274"/>
          <p:cNvSpPr/>
          <p:nvPr/>
        </p:nvSpPr>
        <p:spPr>
          <a:xfrm>
            <a:off x="9547250" y="5723230"/>
            <a:ext cx="235915" cy="235915"/>
          </a:xfrm>
          <a:prstGeom prst="ellipse">
            <a:avLst/>
          </a:prstGeom>
          <a:solidFill>
            <a:srgbClr val="0A2650"/>
          </a:solidFill>
          <a:ln/>
        </p:spPr>
      </p:sp>
      <p:sp>
        <p:nvSpPr>
          <p:cNvPr id="277" name="Shape 275"/>
          <p:cNvSpPr/>
          <p:nvPr/>
        </p:nvSpPr>
        <p:spPr>
          <a:xfrm>
            <a:off x="288036" y="6188659"/>
            <a:ext cx="235915" cy="235915"/>
          </a:xfrm>
          <a:prstGeom prst="ellipse">
            <a:avLst/>
          </a:prstGeom>
          <a:solidFill>
            <a:srgbClr val="0A2650"/>
          </a:solidFill>
          <a:ln/>
        </p:spPr>
      </p:sp>
      <p:sp>
        <p:nvSpPr>
          <p:cNvPr id="278" name="Shape 276"/>
          <p:cNvSpPr/>
          <p:nvPr/>
        </p:nvSpPr>
        <p:spPr>
          <a:xfrm>
            <a:off x="9547250" y="6188659"/>
            <a:ext cx="235915" cy="235915"/>
          </a:xfrm>
          <a:prstGeom prst="ellipse">
            <a:avLst/>
          </a:prstGeom>
          <a:solidFill>
            <a:srgbClr val="0A2650"/>
          </a:solidFill>
          <a:ln/>
        </p:spPr>
      </p:sp>
      <p:sp>
        <p:nvSpPr>
          <p:cNvPr id="279" name="Shape 277"/>
          <p:cNvSpPr/>
          <p:nvPr/>
        </p:nvSpPr>
        <p:spPr>
          <a:xfrm>
            <a:off x="405994" y="5723230"/>
            <a:ext cx="9259214" cy="700430"/>
          </a:xfrm>
          <a:prstGeom prst="rect">
            <a:avLst/>
          </a:prstGeom>
          <a:solidFill>
            <a:srgbClr val="0A2650"/>
          </a:solidFill>
          <a:ln/>
        </p:spPr>
      </p:sp>
      <p:sp>
        <p:nvSpPr>
          <p:cNvPr id="280" name="Shape 278"/>
          <p:cNvSpPr/>
          <p:nvPr/>
        </p:nvSpPr>
        <p:spPr>
          <a:xfrm>
            <a:off x="288036" y="5841187"/>
            <a:ext cx="9495130" cy="464515"/>
          </a:xfrm>
          <a:prstGeom prst="rect">
            <a:avLst/>
          </a:prstGeom>
          <a:solidFill>
            <a:srgbClr val="0A2650"/>
          </a:solidFill>
          <a:ln/>
        </p:spPr>
      </p:sp>
      <p:sp>
        <p:nvSpPr>
          <p:cNvPr id="281" name="Shape 279"/>
          <p:cNvSpPr/>
          <p:nvPr/>
        </p:nvSpPr>
        <p:spPr>
          <a:xfrm>
            <a:off x="589788" y="6037783"/>
            <a:ext cx="72238" cy="7223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2" name="Shape 280"/>
          <p:cNvSpPr/>
          <p:nvPr/>
        </p:nvSpPr>
        <p:spPr>
          <a:xfrm>
            <a:off x="9410090" y="6037783"/>
            <a:ext cx="72238" cy="7223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3" name="Text 281"/>
          <p:cNvSpPr/>
          <p:nvPr/>
        </p:nvSpPr>
        <p:spPr>
          <a:xfrm>
            <a:off x="785470" y="5801868"/>
            <a:ext cx="850026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총괄 책임과 PM이 전 기간을 관리하고, 연구 · 실사 · 자료처리 · 시스템 기능을 단계별로 투입</a:t>
            </a:r>
            <a:endParaRPr lang="en-US" sz="1410" dirty="0"/>
          </a:p>
        </p:txBody>
      </p:sp>
      <p:sp>
        <p:nvSpPr>
          <p:cNvPr id="284" name="Text 282"/>
          <p:cNvSpPr/>
          <p:nvPr/>
        </p:nvSpPr>
        <p:spPr>
          <a:xfrm>
            <a:off x="785470" y="6077102"/>
            <a:ext cx="8500262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F8E37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담당 과업과 투입 시점을 사전에 고정하여 일정 · 품질 · 산출물의 책임 소재를 명확화</a:t>
            </a:r>
            <a:endParaRPr lang="en-US" sz="14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케이스탯리서치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납품대금 연동제 실태조사 제안서</dc:title>
  <dc:subject>PptxGenJS Presentation</dc:subject>
  <dc:creator>케이스탯리서치</dc:creator>
  <cp:lastModifiedBy>케이스탯리서치</cp:lastModifiedBy>
  <cp:revision>1</cp:revision>
  <dcterms:created xsi:type="dcterms:W3CDTF">2026-08-11T10:44:50Z</dcterms:created>
  <dcterms:modified xsi:type="dcterms:W3CDTF">2026-08-11T10:44:50Z</dcterms:modified>
</cp:coreProperties>
</file>